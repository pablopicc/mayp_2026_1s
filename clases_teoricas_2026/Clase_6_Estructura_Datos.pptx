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</p:sldIdLst>
  <p:sldSz cy="6858000" cx="9144000"/>
  <p:notesSz cx="6858000" cy="9144000"/>
  <p:embeddedFontLst>
    <p:embeddedFont>
      <p:font typeface="Tahoma"/>
      <p:regular r:id="rId39"/>
      <p:bold r:id="rId4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Tahoma-bold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font" Target="fonts/Tahoma-regular.fntdata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9" name="Google Shape;89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c8257ede51_0_0:notes"/>
          <p:cNvSpPr txBox="1"/>
          <p:nvPr>
            <p:ph idx="1" type="body"/>
          </p:nvPr>
        </p:nvSpPr>
        <p:spPr>
          <a:xfrm>
            <a:off x="685785" y="4343383"/>
            <a:ext cx="54867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200" lIns="171200" spcFirstLastPara="1" rIns="171200" wrap="square" tIns="1712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t/>
            </a:r>
            <a:endParaRPr/>
          </a:p>
        </p:txBody>
      </p:sp>
      <p:sp>
        <p:nvSpPr>
          <p:cNvPr id="97" name="Google Shape;97;g3c8257ede51_0_0:notes"/>
          <p:cNvSpPr/>
          <p:nvPr>
            <p:ph idx="2" type="sldImg"/>
          </p:nvPr>
        </p:nvSpPr>
        <p:spPr>
          <a:xfrm>
            <a:off x="1141124" y="685783"/>
            <a:ext cx="45762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78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7" name="Google Shape;107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9" name="Google Shape;129;p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0" name="Google Shape;140;p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c8257ede51_0_189:notes"/>
          <p:cNvSpPr txBox="1"/>
          <p:nvPr>
            <p:ph idx="1" type="body"/>
          </p:nvPr>
        </p:nvSpPr>
        <p:spPr>
          <a:xfrm>
            <a:off x="685785" y="4343383"/>
            <a:ext cx="54867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200" lIns="171200" spcFirstLastPara="1" rIns="171200" wrap="square" tIns="1712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t/>
            </a:r>
            <a:endParaRPr/>
          </a:p>
        </p:txBody>
      </p:sp>
      <p:sp>
        <p:nvSpPr>
          <p:cNvPr id="152" name="Google Shape;152;g3c8257ede51_0_189:notes"/>
          <p:cNvSpPr/>
          <p:nvPr>
            <p:ph idx="2" type="sldImg"/>
          </p:nvPr>
        </p:nvSpPr>
        <p:spPr>
          <a:xfrm>
            <a:off x="1141124" y="685783"/>
            <a:ext cx="45762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78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2" name="Google Shape;162;p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3" name="Google Shape;173;p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4" name="Google Shape;184;p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5" name="Google Shape;195;p1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c8257ede51_0_280:notes"/>
          <p:cNvSpPr txBox="1"/>
          <p:nvPr>
            <p:ph idx="1" type="body"/>
          </p:nvPr>
        </p:nvSpPr>
        <p:spPr>
          <a:xfrm>
            <a:off x="685785" y="4343383"/>
            <a:ext cx="54867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200" lIns="171200" spcFirstLastPara="1" rIns="171200" wrap="square" tIns="1712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t/>
            </a:r>
            <a:endParaRPr/>
          </a:p>
        </p:txBody>
      </p:sp>
      <p:sp>
        <p:nvSpPr>
          <p:cNvPr id="207" name="Google Shape;207;g3c8257ede51_0_280:notes"/>
          <p:cNvSpPr/>
          <p:nvPr>
            <p:ph idx="2" type="sldImg"/>
          </p:nvPr>
        </p:nvSpPr>
        <p:spPr>
          <a:xfrm>
            <a:off x="1141124" y="685783"/>
            <a:ext cx="45762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78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7" name="Google Shape;217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8" name="Google Shape;228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9" name="Google Shape;239;p1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50" name="Google Shape;250;p1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63" name="Google Shape;263;p1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3c8257ede51_0_371:notes"/>
          <p:cNvSpPr txBox="1"/>
          <p:nvPr>
            <p:ph idx="1" type="body"/>
          </p:nvPr>
        </p:nvSpPr>
        <p:spPr>
          <a:xfrm>
            <a:off x="685785" y="4343383"/>
            <a:ext cx="54867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200" lIns="171200" spcFirstLastPara="1" rIns="171200" wrap="square" tIns="1712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t/>
            </a:r>
            <a:endParaRPr/>
          </a:p>
        </p:txBody>
      </p:sp>
      <p:sp>
        <p:nvSpPr>
          <p:cNvPr id="274" name="Google Shape;274;g3c8257ede51_0_371:notes"/>
          <p:cNvSpPr/>
          <p:nvPr>
            <p:ph idx="2" type="sldImg"/>
          </p:nvPr>
        </p:nvSpPr>
        <p:spPr>
          <a:xfrm>
            <a:off x="1141124" y="685783"/>
            <a:ext cx="45762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78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84" name="Google Shape;284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95" name="Google Shape;295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06" name="Google Shape;306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c8257ede51_0_462:notes"/>
          <p:cNvSpPr txBox="1"/>
          <p:nvPr>
            <p:ph idx="1" type="body"/>
          </p:nvPr>
        </p:nvSpPr>
        <p:spPr>
          <a:xfrm>
            <a:off x="685785" y="4343383"/>
            <a:ext cx="54867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200" lIns="171200" spcFirstLastPara="1" rIns="171200" wrap="square" tIns="1712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t/>
            </a:r>
            <a:endParaRPr/>
          </a:p>
        </p:txBody>
      </p:sp>
      <p:sp>
        <p:nvSpPr>
          <p:cNvPr id="317" name="Google Shape;317;g3c8257ede51_0_462:notes"/>
          <p:cNvSpPr/>
          <p:nvPr>
            <p:ph idx="2" type="sldImg"/>
          </p:nvPr>
        </p:nvSpPr>
        <p:spPr>
          <a:xfrm>
            <a:off x="1141124" y="685783"/>
            <a:ext cx="45762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78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27" name="Google Shape;327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38" name="Google Shape;338;p2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49" name="Google Shape;349;p2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60" name="Google Shape;360;p2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71" name="Google Shape;371;p2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3c8257ede51_0_553:notes"/>
          <p:cNvSpPr txBox="1"/>
          <p:nvPr>
            <p:ph idx="1" type="body"/>
          </p:nvPr>
        </p:nvSpPr>
        <p:spPr>
          <a:xfrm>
            <a:off x="685785" y="4343383"/>
            <a:ext cx="54867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200" lIns="171200" spcFirstLastPara="1" rIns="171200" wrap="square" tIns="1712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t/>
            </a:r>
            <a:endParaRPr/>
          </a:p>
        </p:txBody>
      </p:sp>
      <p:sp>
        <p:nvSpPr>
          <p:cNvPr id="382" name="Google Shape;382;g3c8257ede51_0_553:notes"/>
          <p:cNvSpPr/>
          <p:nvPr>
            <p:ph idx="2" type="sldImg"/>
          </p:nvPr>
        </p:nvSpPr>
        <p:spPr>
          <a:xfrm>
            <a:off x="1141124" y="685783"/>
            <a:ext cx="45762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78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92" name="Google Shape;392;p2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3c8257ede51_0_644:notes"/>
          <p:cNvSpPr txBox="1"/>
          <p:nvPr>
            <p:ph idx="1" type="body"/>
          </p:nvPr>
        </p:nvSpPr>
        <p:spPr>
          <a:xfrm>
            <a:off x="685785" y="4343383"/>
            <a:ext cx="54867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200" lIns="171200" spcFirstLastPara="1" rIns="171200" wrap="square" tIns="1712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t/>
            </a:r>
            <a:endParaRPr/>
          </a:p>
        </p:txBody>
      </p:sp>
      <p:sp>
        <p:nvSpPr>
          <p:cNvPr id="403" name="Google Shape;403;g3c8257ede51_0_644:notes"/>
          <p:cNvSpPr/>
          <p:nvPr>
            <p:ph idx="2" type="sldImg"/>
          </p:nvPr>
        </p:nvSpPr>
        <p:spPr>
          <a:xfrm>
            <a:off x="1141124" y="685783"/>
            <a:ext cx="45762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78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13" name="Google Shape;413;p3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24" name="Google Shape;424;p3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35" name="Google Shape;435;p3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 showMasterSp="0">
  <p:cSld name="Blank">
    <p:bg>
      <p:bgPr>
        <a:solidFill>
          <a:schemeClr val="lt1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3"/>
          <p:cNvSpPr/>
          <p:nvPr/>
        </p:nvSpPr>
        <p:spPr>
          <a:xfrm>
            <a:off x="0" y="0"/>
            <a:ext cx="9135747" cy="6852123"/>
          </a:xfrm>
          <a:custGeom>
            <a:rect b="b" l="l" r="r" t="t"/>
            <a:pathLst>
              <a:path extrusionOk="0" h="3456304" w="4608195">
                <a:moveTo>
                  <a:pt x="4608004" y="0"/>
                </a:moveTo>
                <a:lnTo>
                  <a:pt x="0" y="0"/>
                </a:lnTo>
                <a:lnTo>
                  <a:pt x="0" y="3456000"/>
                </a:lnTo>
                <a:lnTo>
                  <a:pt x="4608004" y="3456000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33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3"/>
          <p:cNvSpPr txBox="1"/>
          <p:nvPr>
            <p:ph idx="11" type="ftr"/>
          </p:nvPr>
        </p:nvSpPr>
        <p:spPr>
          <a:xfrm>
            <a:off x="3108960" y="6377939"/>
            <a:ext cx="2925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3" name="Google Shape;83;p13"/>
          <p:cNvSpPr txBox="1"/>
          <p:nvPr>
            <p:ph idx="10" type="dt"/>
          </p:nvPr>
        </p:nvSpPr>
        <p:spPr>
          <a:xfrm>
            <a:off x="457200" y="6377939"/>
            <a:ext cx="2103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4" name="Google Shape;84;p13"/>
          <p:cNvSpPr txBox="1"/>
          <p:nvPr>
            <p:ph idx="12" type="sldNum"/>
          </p:nvPr>
        </p:nvSpPr>
        <p:spPr>
          <a:xfrm>
            <a:off x="8724559" y="6622449"/>
            <a:ext cx="302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1397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3333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1397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3333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1397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3333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1397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3333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1397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3333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1397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3333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1397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3333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1397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3333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1397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3333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1397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2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3"/>
          <p:cNvSpPr/>
          <p:nvPr/>
        </p:nvSpPr>
        <p:spPr>
          <a:xfrm flipH="1" rot="10800000">
            <a:off x="-16364" y="6294231"/>
            <a:ext cx="9176700" cy="3282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79315" rotWithShape="0" dir="5400000" dist="45606">
              <a:srgbClr val="000000">
                <a:alpha val="34510"/>
              </a:srgbClr>
            </a:outerShdw>
          </a:effectLst>
        </p:spPr>
        <p:txBody>
          <a:bodyPr anchorCtr="0" anchor="ctr" bIns="90625" lIns="181275" spcFirstLastPara="1" rIns="181275" wrap="square" tIns="906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t/>
            </a:r>
            <a:endParaRPr b="0" i="0" sz="36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151240" y="6343001"/>
            <a:ext cx="1588800" cy="2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364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6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5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5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5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5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5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4"/>
          <p:cNvSpPr txBox="1"/>
          <p:nvPr/>
        </p:nvSpPr>
        <p:spPr>
          <a:xfrm>
            <a:off x="274320" y="13716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4"/>
          <p:cNvSpPr txBox="1"/>
          <p:nvPr/>
        </p:nvSpPr>
        <p:spPr>
          <a:xfrm>
            <a:off x="1444547" y="1984968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Estructuras de Datos, Strings e Iteración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14"/>
          <p:cNvSpPr txBox="1"/>
          <p:nvPr/>
        </p:nvSpPr>
        <p:spPr>
          <a:xfrm>
            <a:off x="1574216" y="3620557"/>
            <a:ext cx="8496300" cy="52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en-US" sz="2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Profesor: 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4"/>
          <p:cNvSpPr txBox="1"/>
          <p:nvPr/>
        </p:nvSpPr>
        <p:spPr>
          <a:xfrm>
            <a:off x="1574216" y="4219890"/>
            <a:ext cx="84963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Auxiliares: Daniela Longas - M Victoria Tolosa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5"/>
          <p:cNvSpPr txBox="1"/>
          <p:nvPr/>
        </p:nvSpPr>
        <p:spPr>
          <a:xfrm>
            <a:off x="2240672" y="3207687"/>
            <a:ext cx="3676800" cy="36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22650">
            <a:spAutoFit/>
          </a:bodyPr>
          <a:lstStyle/>
          <a:p>
            <a:pPr indent="0" lvl="0" marL="25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cap="small">
                <a:solidFill>
                  <a:srgbClr val="F4F2ED"/>
                </a:solidFill>
                <a:latin typeface="Tahoma"/>
                <a:ea typeface="Tahoma"/>
                <a:cs typeface="Tahoma"/>
                <a:sym typeface="Tahoma"/>
              </a:rPr>
              <a:t>TUPLAS</a:t>
            </a:r>
            <a:endParaRPr b="0" i="0" sz="2200" u="none" cap="none" strike="noStrik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grpSp>
        <p:nvGrpSpPr>
          <p:cNvPr id="100" name="Google Shape;100;p15"/>
          <p:cNvGrpSpPr/>
          <p:nvPr/>
        </p:nvGrpSpPr>
        <p:grpSpPr>
          <a:xfrm>
            <a:off x="2260855" y="3600041"/>
            <a:ext cx="4642600" cy="50335"/>
            <a:chOff x="1133919" y="1518500"/>
            <a:chExt cx="2340610" cy="25400"/>
          </a:xfrm>
        </p:grpSpPr>
        <p:sp>
          <p:nvSpPr>
            <p:cNvPr id="101" name="Google Shape;101;p15"/>
            <p:cNvSpPr/>
            <p:nvPr/>
          </p:nvSpPr>
          <p:spPr>
            <a:xfrm>
              <a:off x="1133919" y="1518500"/>
              <a:ext cx="2340610" cy="25400"/>
            </a:xfrm>
            <a:custGeom>
              <a:rect b="b" l="l" r="r" t="t"/>
              <a:pathLst>
                <a:path extrusionOk="0" h="25400" w="2340610">
                  <a:moveTo>
                    <a:pt x="0" y="25305"/>
                  </a:moveTo>
                  <a:lnTo>
                    <a:pt x="0" y="0"/>
                  </a:lnTo>
                  <a:lnTo>
                    <a:pt x="2340180" y="0"/>
                  </a:lnTo>
                  <a:lnTo>
                    <a:pt x="2340180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F4F2ED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" name="Google Shape;102;p15"/>
            <p:cNvSpPr/>
            <p:nvPr/>
          </p:nvSpPr>
          <p:spPr>
            <a:xfrm>
              <a:off x="1133919" y="1518500"/>
              <a:ext cx="2340610" cy="25400"/>
            </a:xfrm>
            <a:custGeom>
              <a:rect b="b" l="l" r="r" t="t"/>
              <a:pathLst>
                <a:path extrusionOk="0" h="25400" w="2340610">
                  <a:moveTo>
                    <a:pt x="0" y="25305"/>
                  </a:moveTo>
                  <a:lnTo>
                    <a:pt x="0" y="0"/>
                  </a:lnTo>
                  <a:lnTo>
                    <a:pt x="2340180" y="0"/>
                  </a:lnTo>
                  <a:lnTo>
                    <a:pt x="2340180" y="25305"/>
                  </a:lnTo>
                  <a:lnTo>
                    <a:pt x="0" y="25305"/>
                  </a:lnTo>
                  <a:close/>
                </a:path>
              </a:pathLst>
            </a:custGeom>
            <a:noFill/>
            <a:ln cap="flat" cmpd="sng" w="18875">
              <a:solidFill>
                <a:srgbClr val="F4F2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" name="Google Shape;103;p15"/>
            <p:cNvSpPr/>
            <p:nvPr/>
          </p:nvSpPr>
          <p:spPr>
            <a:xfrm>
              <a:off x="1133919" y="1518500"/>
              <a:ext cx="1221105" cy="25400"/>
            </a:xfrm>
            <a:custGeom>
              <a:rect b="b" l="l" r="r" t="t"/>
              <a:pathLst>
                <a:path extrusionOk="0" h="25400" w="1221105">
                  <a:moveTo>
                    <a:pt x="0" y="25305"/>
                  </a:moveTo>
                  <a:lnTo>
                    <a:pt x="0" y="0"/>
                  </a:lnTo>
                  <a:lnTo>
                    <a:pt x="1220943" y="0"/>
                  </a:lnTo>
                  <a:lnTo>
                    <a:pt x="1220943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006DB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" name="Google Shape;104;p15"/>
            <p:cNvSpPr/>
            <p:nvPr/>
          </p:nvSpPr>
          <p:spPr>
            <a:xfrm>
              <a:off x="1133919" y="1518500"/>
              <a:ext cx="1221105" cy="25400"/>
            </a:xfrm>
            <a:custGeom>
              <a:rect b="b" l="l" r="r" t="t"/>
              <a:pathLst>
                <a:path extrusionOk="0" h="25400" w="1221105">
                  <a:moveTo>
                    <a:pt x="0" y="25305"/>
                  </a:moveTo>
                  <a:lnTo>
                    <a:pt x="0" y="0"/>
                  </a:lnTo>
                  <a:lnTo>
                    <a:pt x="1220943" y="0"/>
                  </a:lnTo>
                  <a:lnTo>
                    <a:pt x="1220943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FFD966"/>
            </a:solidFill>
            <a:ln cap="flat" cmpd="sng" w="18875">
              <a:solidFill>
                <a:srgbClr val="F1C23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>
    <p:fade thruBlk="1"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6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6"/>
          <p:cNvSpPr txBox="1"/>
          <p:nvPr/>
        </p:nvSpPr>
        <p:spPr>
          <a:xfrm>
            <a:off x="274320" y="13716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16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6"/>
          <p:cNvSpPr txBox="1"/>
          <p:nvPr/>
        </p:nvSpPr>
        <p:spPr>
          <a:xfrm>
            <a:off x="274320" y="653796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16"/>
          <p:cNvSpPr txBox="1"/>
          <p:nvPr/>
        </p:nvSpPr>
        <p:spPr>
          <a:xfrm>
            <a:off x="365760" y="73152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Tuplas: Conceptos Básicos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16"/>
          <p:cNvSpPr txBox="1"/>
          <p:nvPr/>
        </p:nvSpPr>
        <p:spPr>
          <a:xfrm>
            <a:off x="457200" y="1645920"/>
            <a:ext cx="7772400" cy="3416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1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Idea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Estructura para almacenar secuencias fijas de valores.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Característica principal: Son </a:t>
            </a: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INMUTABLES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(no se pueden modificar).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Operaciones: Crear con una tupla (a, b), saber cuántos elementos tiene una tupla con len(), acceder a los elementos con [ ].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1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Ejemplo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 = ('hola', 1, 2.5)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print(t)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(‘hola’, 1, 25.5)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di_tella2.png" id="115" name="Google Shape;115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7"/>
          <p:cNvSpPr txBox="1"/>
          <p:nvPr/>
        </p:nvSpPr>
        <p:spPr>
          <a:xfrm>
            <a:off x="274320" y="13716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17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7"/>
          <p:cNvSpPr txBox="1"/>
          <p:nvPr/>
        </p:nvSpPr>
        <p:spPr>
          <a:xfrm>
            <a:off x="274320" y="653796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17"/>
          <p:cNvSpPr txBox="1"/>
          <p:nvPr/>
        </p:nvSpPr>
        <p:spPr>
          <a:xfrm>
            <a:off x="170550" y="594350"/>
            <a:ext cx="4572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Tuplas: Aspectos Particulares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7"/>
          <p:cNvSpPr txBox="1"/>
          <p:nvPr/>
        </p:nvSpPr>
        <p:spPr>
          <a:xfrm>
            <a:off x="457200" y="1188720"/>
            <a:ext cx="8229600" cy="49859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Puede un elemento de la tupla ser mutable?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Consideremos el siguiente caso, donde la tercera componente es una lista.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l = [1 , 2 , 3]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t = 'a' ,'b' ,l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print(t)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('a','b',[1,2,3])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l[1] = 200  # Que pasa con t 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print( t)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 este caso, la tupla guarda una referencia a la lista.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 caso de suma utilidad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En muchas situaciones, tenemos funciones que queremos que devuelvan </a:t>
            </a: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más 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 un resultado. La función puede devolver una tupla con los resultados deseados.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def min_max_lista(l) 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2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return min(l) , max(l)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def main( ):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2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l = [1, 5, 3,  3, 2 , 1, 3, 4]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2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minimo , maximo = min_max_lista l)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2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 = min_max_lista (l)</a:t>
            </a:r>
            <a:endParaRPr b="0" i="0" sz="1600" u="none" cap="none" strike="noStrike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descr="di_tella2.png" id="126" name="Google Shape;126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8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8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18"/>
          <p:cNvSpPr txBox="1"/>
          <p:nvPr/>
        </p:nvSpPr>
        <p:spPr>
          <a:xfrm>
            <a:off x="170550" y="594350"/>
            <a:ext cx="4572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Tuplas: Resumen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8"/>
          <p:cNvSpPr txBox="1"/>
          <p:nvPr/>
        </p:nvSpPr>
        <p:spPr>
          <a:xfrm>
            <a:off x="457200" y="1188720"/>
            <a:ext cx="8229600" cy="507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Por qué son esencialmente diferentes de las listas?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los fines prácticos funcionan igual, sólo que son inmutables. Solemos usar tuplas en los </a:t>
            </a:r>
            <a:r>
              <a:rPr b="1" i="0" lang="en-US" sz="18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returns</a:t>
            </a: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de las functions cuando las mismas tienen más de un resultado. Es una cuestión de convención. 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Son estructuras más livianas que las listas.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Los tipos de datos en su interior suelen variar (a diferencia de las listas, que se espera que los tipos de datos dentro sean homogéneos). 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Las listas se comportan como un conjunto de objetos, las tuplas como un objeto de varias partes (por eso su tamaño es fijo).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 cada elemento de la tupla es inmutable; son hasheables: pueden pertenecer a un set y ser key de diccionarios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di_tella2.png" id="137" name="Google Shape;13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9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9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19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9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19"/>
          <p:cNvSpPr txBox="1"/>
          <p:nvPr/>
        </p:nvSpPr>
        <p:spPr>
          <a:xfrm>
            <a:off x="170550" y="594350"/>
            <a:ext cx="5849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Tuplas: Probar estos comandos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di_tella2.png" id="147" name="Google Shape;14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21975" y="1266950"/>
            <a:ext cx="6353175" cy="322897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9"/>
          <p:cNvSpPr txBox="1"/>
          <p:nvPr/>
        </p:nvSpPr>
        <p:spPr>
          <a:xfrm>
            <a:off x="457200" y="4841770"/>
            <a:ext cx="82296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Todas las tuplas son inmutables, no todas son hasheables!!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0"/>
          <p:cNvSpPr txBox="1"/>
          <p:nvPr/>
        </p:nvSpPr>
        <p:spPr>
          <a:xfrm>
            <a:off x="2240672" y="3207687"/>
            <a:ext cx="3676800" cy="36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22650">
            <a:spAutoFit/>
          </a:bodyPr>
          <a:lstStyle/>
          <a:p>
            <a:pPr indent="0" lvl="0" marL="25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cap="small">
                <a:solidFill>
                  <a:srgbClr val="F4F2ED"/>
                </a:solidFill>
                <a:latin typeface="Tahoma"/>
                <a:ea typeface="Tahoma"/>
                <a:cs typeface="Tahoma"/>
                <a:sym typeface="Tahoma"/>
              </a:rPr>
              <a:t>SETS</a:t>
            </a:r>
            <a:endParaRPr b="0" i="0" sz="2200" u="none" cap="none" strike="noStrik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grpSp>
        <p:nvGrpSpPr>
          <p:cNvPr id="155" name="Google Shape;155;p20"/>
          <p:cNvGrpSpPr/>
          <p:nvPr/>
        </p:nvGrpSpPr>
        <p:grpSpPr>
          <a:xfrm>
            <a:off x="2260855" y="3600041"/>
            <a:ext cx="4642600" cy="50335"/>
            <a:chOff x="1133919" y="1518500"/>
            <a:chExt cx="2340610" cy="25400"/>
          </a:xfrm>
        </p:grpSpPr>
        <p:sp>
          <p:nvSpPr>
            <p:cNvPr id="156" name="Google Shape;156;p20"/>
            <p:cNvSpPr/>
            <p:nvPr/>
          </p:nvSpPr>
          <p:spPr>
            <a:xfrm>
              <a:off x="1133919" y="1518500"/>
              <a:ext cx="2340610" cy="25400"/>
            </a:xfrm>
            <a:custGeom>
              <a:rect b="b" l="l" r="r" t="t"/>
              <a:pathLst>
                <a:path extrusionOk="0" h="25400" w="2340610">
                  <a:moveTo>
                    <a:pt x="0" y="25305"/>
                  </a:moveTo>
                  <a:lnTo>
                    <a:pt x="0" y="0"/>
                  </a:lnTo>
                  <a:lnTo>
                    <a:pt x="2340180" y="0"/>
                  </a:lnTo>
                  <a:lnTo>
                    <a:pt x="2340180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F4F2ED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Google Shape;157;p20"/>
            <p:cNvSpPr/>
            <p:nvPr/>
          </p:nvSpPr>
          <p:spPr>
            <a:xfrm>
              <a:off x="1133919" y="1518500"/>
              <a:ext cx="2340610" cy="25400"/>
            </a:xfrm>
            <a:custGeom>
              <a:rect b="b" l="l" r="r" t="t"/>
              <a:pathLst>
                <a:path extrusionOk="0" h="25400" w="2340610">
                  <a:moveTo>
                    <a:pt x="0" y="25305"/>
                  </a:moveTo>
                  <a:lnTo>
                    <a:pt x="0" y="0"/>
                  </a:lnTo>
                  <a:lnTo>
                    <a:pt x="2340180" y="0"/>
                  </a:lnTo>
                  <a:lnTo>
                    <a:pt x="2340180" y="25305"/>
                  </a:lnTo>
                  <a:lnTo>
                    <a:pt x="0" y="25305"/>
                  </a:lnTo>
                  <a:close/>
                </a:path>
              </a:pathLst>
            </a:custGeom>
            <a:noFill/>
            <a:ln cap="flat" cmpd="sng" w="18875">
              <a:solidFill>
                <a:srgbClr val="F4F2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" name="Google Shape;158;p20"/>
            <p:cNvSpPr/>
            <p:nvPr/>
          </p:nvSpPr>
          <p:spPr>
            <a:xfrm>
              <a:off x="1133919" y="1518500"/>
              <a:ext cx="1221105" cy="25400"/>
            </a:xfrm>
            <a:custGeom>
              <a:rect b="b" l="l" r="r" t="t"/>
              <a:pathLst>
                <a:path extrusionOk="0" h="25400" w="1221105">
                  <a:moveTo>
                    <a:pt x="0" y="25305"/>
                  </a:moveTo>
                  <a:lnTo>
                    <a:pt x="0" y="0"/>
                  </a:lnTo>
                  <a:lnTo>
                    <a:pt x="1220943" y="0"/>
                  </a:lnTo>
                  <a:lnTo>
                    <a:pt x="1220943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006DB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" name="Google Shape;159;p20"/>
            <p:cNvSpPr/>
            <p:nvPr/>
          </p:nvSpPr>
          <p:spPr>
            <a:xfrm>
              <a:off x="1133919" y="1518500"/>
              <a:ext cx="1221105" cy="25400"/>
            </a:xfrm>
            <a:custGeom>
              <a:rect b="b" l="l" r="r" t="t"/>
              <a:pathLst>
                <a:path extrusionOk="0" h="25400" w="1221105">
                  <a:moveTo>
                    <a:pt x="0" y="25305"/>
                  </a:moveTo>
                  <a:lnTo>
                    <a:pt x="0" y="0"/>
                  </a:lnTo>
                  <a:lnTo>
                    <a:pt x="1220943" y="0"/>
                  </a:lnTo>
                  <a:lnTo>
                    <a:pt x="1220943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FFD966"/>
            </a:solidFill>
            <a:ln cap="flat" cmpd="sng" w="18875">
              <a:solidFill>
                <a:srgbClr val="F1C23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>
    <p:fade thruBlk="1"/>
  </p:transition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1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21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1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21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21"/>
          <p:cNvSpPr txBox="1"/>
          <p:nvPr/>
        </p:nvSpPr>
        <p:spPr>
          <a:xfrm>
            <a:off x="170550" y="594350"/>
            <a:ext cx="5849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Sobre los sets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di_tella2.png" id="169" name="Google Shape;169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1"/>
          <p:cNvSpPr txBox="1"/>
          <p:nvPr/>
        </p:nvSpPr>
        <p:spPr>
          <a:xfrm>
            <a:off x="457200" y="1645920"/>
            <a:ext cx="7772400" cy="36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 set es el equivalente en python de lo que matemáticamente se llama </a:t>
            </a: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conjunto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Sus elementos deben ser inhasheables.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 poseen elementos repetidos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diferencia de las tuplas y las listas, no están ordenadas de manera secuencial. Si set_1 es el nombre de una variable cuyo type es set, decir set_1[0] no significa nada. No respetan un orden.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Poseen una serie de operaciones que en matemática conocemos como </a:t>
            </a: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operaciones de conjuntos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2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22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22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22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2"/>
          <p:cNvSpPr txBox="1"/>
          <p:nvPr/>
        </p:nvSpPr>
        <p:spPr>
          <a:xfrm>
            <a:off x="170550" y="594350"/>
            <a:ext cx="5849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Sobre los sets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di_tella2.png" id="180" name="Google Shape;180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22"/>
          <p:cNvSpPr txBox="1"/>
          <p:nvPr/>
        </p:nvSpPr>
        <p:spPr>
          <a:xfrm>
            <a:off x="457200" y="1645920"/>
            <a:ext cx="7772400" cy="36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 set es el equivalente en python de lo que matemáticamente se llama </a:t>
            </a: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conjunto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Sus elementos deben ser inhasheables.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 poseen elementos repetidos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diferencia de las tuplas y las listas, no están ordenadas de manera secuencial. Si set_1 es el nombre de una variable cuyo type es set, decir set_1[0] no significa nada. No respetan un orden.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Poseen una serie de operaciones que en matemática conocemos como </a:t>
            </a: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operaciones de conjuntos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3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23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23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23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23"/>
          <p:cNvSpPr txBox="1"/>
          <p:nvPr/>
        </p:nvSpPr>
        <p:spPr>
          <a:xfrm>
            <a:off x="170550" y="594350"/>
            <a:ext cx="5849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Sobre los sets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di_tella2.png" id="191" name="Google Shape;191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47150" y="1298587"/>
            <a:ext cx="5849700" cy="44437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4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4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24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24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4"/>
          <p:cNvSpPr txBox="1"/>
          <p:nvPr/>
        </p:nvSpPr>
        <p:spPr>
          <a:xfrm>
            <a:off x="170550" y="594350"/>
            <a:ext cx="5849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Sobre los sets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di_tella2.png" id="202" name="Google Shape;202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931225" y="1163200"/>
            <a:ext cx="5281550" cy="3980300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24"/>
          <p:cNvSpPr txBox="1"/>
          <p:nvPr/>
        </p:nvSpPr>
        <p:spPr>
          <a:xfrm>
            <a:off x="457200" y="5270395"/>
            <a:ext cx="82296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Los sets son inmutables? Son hasheables?</a:t>
            </a:r>
            <a:endParaRPr b="1" i="0" sz="1800" u="none" cap="none" strike="noStrik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5"/>
          <p:cNvSpPr txBox="1"/>
          <p:nvPr/>
        </p:nvSpPr>
        <p:spPr>
          <a:xfrm>
            <a:off x="2240672" y="3207687"/>
            <a:ext cx="3676800" cy="36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22650">
            <a:spAutoFit/>
          </a:bodyPr>
          <a:lstStyle/>
          <a:p>
            <a:pPr indent="0" lvl="0" marL="25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cap="small">
                <a:solidFill>
                  <a:srgbClr val="F4F2ED"/>
                </a:solidFill>
                <a:latin typeface="Tahoma"/>
                <a:ea typeface="Tahoma"/>
                <a:cs typeface="Tahoma"/>
                <a:sym typeface="Tahoma"/>
              </a:rPr>
              <a:t>FOR LOOP</a:t>
            </a:r>
            <a:endParaRPr b="0" i="0" sz="2200" u="none" cap="none" strike="noStrik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grpSp>
        <p:nvGrpSpPr>
          <p:cNvPr id="210" name="Google Shape;210;p25"/>
          <p:cNvGrpSpPr/>
          <p:nvPr/>
        </p:nvGrpSpPr>
        <p:grpSpPr>
          <a:xfrm>
            <a:off x="2260855" y="3600041"/>
            <a:ext cx="4642600" cy="50335"/>
            <a:chOff x="1133919" y="1518500"/>
            <a:chExt cx="2340610" cy="25400"/>
          </a:xfrm>
        </p:grpSpPr>
        <p:sp>
          <p:nvSpPr>
            <p:cNvPr id="211" name="Google Shape;211;p25"/>
            <p:cNvSpPr/>
            <p:nvPr/>
          </p:nvSpPr>
          <p:spPr>
            <a:xfrm>
              <a:off x="1133919" y="1518500"/>
              <a:ext cx="2340610" cy="25400"/>
            </a:xfrm>
            <a:custGeom>
              <a:rect b="b" l="l" r="r" t="t"/>
              <a:pathLst>
                <a:path extrusionOk="0" h="25400" w="2340610">
                  <a:moveTo>
                    <a:pt x="0" y="25305"/>
                  </a:moveTo>
                  <a:lnTo>
                    <a:pt x="0" y="0"/>
                  </a:lnTo>
                  <a:lnTo>
                    <a:pt x="2340180" y="0"/>
                  </a:lnTo>
                  <a:lnTo>
                    <a:pt x="2340180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F4F2ED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" name="Google Shape;212;p25"/>
            <p:cNvSpPr/>
            <p:nvPr/>
          </p:nvSpPr>
          <p:spPr>
            <a:xfrm>
              <a:off x="1133919" y="1518500"/>
              <a:ext cx="2340610" cy="25400"/>
            </a:xfrm>
            <a:custGeom>
              <a:rect b="b" l="l" r="r" t="t"/>
              <a:pathLst>
                <a:path extrusionOk="0" h="25400" w="2340610">
                  <a:moveTo>
                    <a:pt x="0" y="25305"/>
                  </a:moveTo>
                  <a:lnTo>
                    <a:pt x="0" y="0"/>
                  </a:lnTo>
                  <a:lnTo>
                    <a:pt x="2340180" y="0"/>
                  </a:lnTo>
                  <a:lnTo>
                    <a:pt x="2340180" y="25305"/>
                  </a:lnTo>
                  <a:lnTo>
                    <a:pt x="0" y="25305"/>
                  </a:lnTo>
                  <a:close/>
                </a:path>
              </a:pathLst>
            </a:custGeom>
            <a:noFill/>
            <a:ln cap="flat" cmpd="sng" w="18875">
              <a:solidFill>
                <a:srgbClr val="F4F2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" name="Google Shape;213;p25"/>
            <p:cNvSpPr/>
            <p:nvPr/>
          </p:nvSpPr>
          <p:spPr>
            <a:xfrm>
              <a:off x="1133919" y="1518500"/>
              <a:ext cx="1221105" cy="25400"/>
            </a:xfrm>
            <a:custGeom>
              <a:rect b="b" l="l" r="r" t="t"/>
              <a:pathLst>
                <a:path extrusionOk="0" h="25400" w="1221105">
                  <a:moveTo>
                    <a:pt x="0" y="25305"/>
                  </a:moveTo>
                  <a:lnTo>
                    <a:pt x="0" y="0"/>
                  </a:lnTo>
                  <a:lnTo>
                    <a:pt x="1220943" y="0"/>
                  </a:lnTo>
                  <a:lnTo>
                    <a:pt x="1220943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006DB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" name="Google Shape;214;p25"/>
            <p:cNvSpPr/>
            <p:nvPr/>
          </p:nvSpPr>
          <p:spPr>
            <a:xfrm>
              <a:off x="1133919" y="1518500"/>
              <a:ext cx="1221105" cy="25400"/>
            </a:xfrm>
            <a:custGeom>
              <a:rect b="b" l="l" r="r" t="t"/>
              <a:pathLst>
                <a:path extrusionOk="0" h="25400" w="1221105">
                  <a:moveTo>
                    <a:pt x="0" y="25305"/>
                  </a:moveTo>
                  <a:lnTo>
                    <a:pt x="0" y="0"/>
                  </a:lnTo>
                  <a:lnTo>
                    <a:pt x="1220943" y="0"/>
                  </a:lnTo>
                  <a:lnTo>
                    <a:pt x="1220943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FFD966"/>
            </a:solidFill>
            <a:ln cap="flat" cmpd="sng" w="18875">
              <a:solidFill>
                <a:srgbClr val="F1C23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>
    <p:fade thruBlk="1"/>
  </p:transition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6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6"/>
          <p:cNvSpPr txBox="1"/>
          <p:nvPr/>
        </p:nvSpPr>
        <p:spPr>
          <a:xfrm>
            <a:off x="274320" y="13716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26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6"/>
          <p:cNvSpPr txBox="1"/>
          <p:nvPr/>
        </p:nvSpPr>
        <p:spPr>
          <a:xfrm>
            <a:off x="274320" y="653796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26"/>
          <p:cNvSpPr txBox="1"/>
          <p:nvPr/>
        </p:nvSpPr>
        <p:spPr>
          <a:xfrm>
            <a:off x="365760" y="731520"/>
            <a:ext cx="1548181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Ciclos for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/>
        </p:nvSpPr>
        <p:spPr>
          <a:xfrm>
            <a:off x="274320" y="1013817"/>
            <a:ext cx="8725842" cy="54784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 queremos iterar sobre los índices de una lista, podemos utilizar la estructura de control for: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Ejemplo 1: 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recorrer una lista.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l = ['a', 'b', 'c', 'd', 'e']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for i in range(len(l)):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print(i, l[i])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l = ['a','b', 'c', 'd', 'e']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i = 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while i &lt; len (l):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print (i, l[i])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i = i + 1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Ejemplo 2: 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imprimir números pares entre 1 y 20.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for i in range(2, 20, 2):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print(i)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i =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while i &lt; 20: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print(i)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i = i +2</a:t>
            </a:r>
            <a:endParaRPr b="0" i="0" sz="1600" u="none" cap="none" strike="noStrike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descr="di_tella2.png" id="225" name="Google Shape;225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7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27"/>
          <p:cNvSpPr txBox="1"/>
          <p:nvPr/>
        </p:nvSpPr>
        <p:spPr>
          <a:xfrm>
            <a:off x="274320" y="13716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27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7"/>
          <p:cNvSpPr txBox="1"/>
          <p:nvPr/>
        </p:nvSpPr>
        <p:spPr>
          <a:xfrm>
            <a:off x="274320" y="653796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27"/>
          <p:cNvSpPr txBox="1"/>
          <p:nvPr/>
        </p:nvSpPr>
        <p:spPr>
          <a:xfrm>
            <a:off x="365760" y="73152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Ciclos: La función range()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7"/>
          <p:cNvSpPr txBox="1"/>
          <p:nvPr/>
        </p:nvSpPr>
        <p:spPr>
          <a:xfrm>
            <a:off x="319148" y="1691640"/>
            <a:ext cx="8824800" cy="40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1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Idea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Al momento de iterar, muchas veces es necesario hacerlo siguiendo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progresiones aritméticas con determinados patrones. La función range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cumple esta tarea.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range(start, stop, step): Genera una secuencia de números enteros en el rango [start,stop) 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1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paso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step. Técnicamente no es una lista pero podemos usarlo como si generara una.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sng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b="0" i="0" lang="en-US" sz="1800" u="sng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step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son opcionales.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range (10) # Toma start = 0 y end = 10. step =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range (2,10) # step =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range (2,10,3) # Que secuencia genera 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range (10,2,-1) # Que secuencia genera 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type (range(10)) # class range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l = list(range(10)) # obtiene la lista de manera explicita</a:t>
            </a:r>
            <a:endParaRPr b="0" i="0" sz="1600" u="none" cap="none" strike="noStrike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descr="di_tella2.png" id="236" name="Google Shape;236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8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8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28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8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28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For vs while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28"/>
          <p:cNvSpPr txBox="1"/>
          <p:nvPr/>
        </p:nvSpPr>
        <p:spPr>
          <a:xfrm>
            <a:off x="274323" y="2850865"/>
            <a:ext cx="88248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Cuál es la principal diferencia de iterar con </a:t>
            </a: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vs iterar con </a:t>
            </a: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while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Los ciclos for necesitan un contador? Necesitan variables que se actualizan?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 única manera de recorrer un for loop es mediante el uso de range?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di_tella2.png" id="247" name="Google Shape;247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9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9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29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29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29"/>
          <p:cNvSpPr txBox="1"/>
          <p:nvPr/>
        </p:nvSpPr>
        <p:spPr>
          <a:xfrm>
            <a:off x="365760" y="731520"/>
            <a:ext cx="8229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Usar for con un alias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29"/>
          <p:cNvSpPr txBox="1"/>
          <p:nvPr/>
        </p:nvSpPr>
        <p:spPr>
          <a:xfrm>
            <a:off x="206123" y="1711115"/>
            <a:ext cx="88248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 le llama sugar syntax a cuando un lenguaje de programación se actualiza y modifica su sintaxis para facilitarle la vida a los devs.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Dentro de este universo está el alias en los for loops: podés nombrar a los elementos de una estructura como quieras.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di_tella2.png" id="258" name="Google Shape;2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798725" y="2911732"/>
            <a:ext cx="4416350" cy="1640350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29"/>
          <p:cNvSpPr txBox="1"/>
          <p:nvPr/>
        </p:nvSpPr>
        <p:spPr>
          <a:xfrm>
            <a:off x="206123" y="4746990"/>
            <a:ext cx="88248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 ventaja es obvia: mayor comodidad y entendimiento del código.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 les ocurren </a:t>
            </a:r>
            <a:r>
              <a:rPr b="1" i="0" lang="en-US" sz="18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desventajas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de iterar así?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0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30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30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30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30"/>
          <p:cNvSpPr txBox="1"/>
          <p:nvPr/>
        </p:nvSpPr>
        <p:spPr>
          <a:xfrm>
            <a:off x="170550" y="594350"/>
            <a:ext cx="5849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Ejercicio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di_tella2.png" id="270" name="Google Shape;270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30"/>
          <p:cNvSpPr txBox="1"/>
          <p:nvPr/>
        </p:nvSpPr>
        <p:spPr>
          <a:xfrm>
            <a:off x="379275" y="1441995"/>
            <a:ext cx="8229600" cy="203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Ahora una function recibe 2 listas y un set. El set es de los DNIs de alumnos que no rindieron, las 2 listas son los DNI de los alumnos que si rindieron y sus notas.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El output debe ser un diccionario cuya clave sea el DNI del alumno y su valor sea la nota que se sacó en el examen.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31"/>
          <p:cNvSpPr txBox="1"/>
          <p:nvPr/>
        </p:nvSpPr>
        <p:spPr>
          <a:xfrm>
            <a:off x="2240672" y="3207687"/>
            <a:ext cx="3676800" cy="36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22650">
            <a:spAutoFit/>
          </a:bodyPr>
          <a:lstStyle/>
          <a:p>
            <a:pPr indent="0" lvl="0" marL="25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cap="small">
                <a:solidFill>
                  <a:srgbClr val="F4F2ED"/>
                </a:solidFill>
                <a:latin typeface="Tahoma"/>
                <a:ea typeface="Tahoma"/>
                <a:cs typeface="Tahoma"/>
                <a:sym typeface="Tahoma"/>
              </a:rPr>
              <a:t>OPERACIONES CON LISTAS</a:t>
            </a:r>
            <a:endParaRPr b="0" i="0" sz="2200" u="none" cap="none" strike="noStrik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grpSp>
        <p:nvGrpSpPr>
          <p:cNvPr id="277" name="Google Shape;277;p31"/>
          <p:cNvGrpSpPr/>
          <p:nvPr/>
        </p:nvGrpSpPr>
        <p:grpSpPr>
          <a:xfrm>
            <a:off x="2260855" y="3600041"/>
            <a:ext cx="4642600" cy="50335"/>
            <a:chOff x="1133919" y="1518500"/>
            <a:chExt cx="2340610" cy="25400"/>
          </a:xfrm>
        </p:grpSpPr>
        <p:sp>
          <p:nvSpPr>
            <p:cNvPr id="278" name="Google Shape;278;p31"/>
            <p:cNvSpPr/>
            <p:nvPr/>
          </p:nvSpPr>
          <p:spPr>
            <a:xfrm>
              <a:off x="1133919" y="1518500"/>
              <a:ext cx="2340610" cy="25400"/>
            </a:xfrm>
            <a:custGeom>
              <a:rect b="b" l="l" r="r" t="t"/>
              <a:pathLst>
                <a:path extrusionOk="0" h="25400" w="2340610">
                  <a:moveTo>
                    <a:pt x="0" y="25305"/>
                  </a:moveTo>
                  <a:lnTo>
                    <a:pt x="0" y="0"/>
                  </a:lnTo>
                  <a:lnTo>
                    <a:pt x="2340180" y="0"/>
                  </a:lnTo>
                  <a:lnTo>
                    <a:pt x="2340180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F4F2ED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" name="Google Shape;279;p31"/>
            <p:cNvSpPr/>
            <p:nvPr/>
          </p:nvSpPr>
          <p:spPr>
            <a:xfrm>
              <a:off x="1133919" y="1518500"/>
              <a:ext cx="2340610" cy="25400"/>
            </a:xfrm>
            <a:custGeom>
              <a:rect b="b" l="l" r="r" t="t"/>
              <a:pathLst>
                <a:path extrusionOk="0" h="25400" w="2340610">
                  <a:moveTo>
                    <a:pt x="0" y="25305"/>
                  </a:moveTo>
                  <a:lnTo>
                    <a:pt x="0" y="0"/>
                  </a:lnTo>
                  <a:lnTo>
                    <a:pt x="2340180" y="0"/>
                  </a:lnTo>
                  <a:lnTo>
                    <a:pt x="2340180" y="25305"/>
                  </a:lnTo>
                  <a:lnTo>
                    <a:pt x="0" y="25305"/>
                  </a:lnTo>
                  <a:close/>
                </a:path>
              </a:pathLst>
            </a:custGeom>
            <a:noFill/>
            <a:ln cap="flat" cmpd="sng" w="18875">
              <a:solidFill>
                <a:srgbClr val="F4F2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" name="Google Shape;280;p31"/>
            <p:cNvSpPr/>
            <p:nvPr/>
          </p:nvSpPr>
          <p:spPr>
            <a:xfrm>
              <a:off x="1133919" y="1518500"/>
              <a:ext cx="1221105" cy="25400"/>
            </a:xfrm>
            <a:custGeom>
              <a:rect b="b" l="l" r="r" t="t"/>
              <a:pathLst>
                <a:path extrusionOk="0" h="25400" w="1221105">
                  <a:moveTo>
                    <a:pt x="0" y="25305"/>
                  </a:moveTo>
                  <a:lnTo>
                    <a:pt x="0" y="0"/>
                  </a:lnTo>
                  <a:lnTo>
                    <a:pt x="1220943" y="0"/>
                  </a:lnTo>
                  <a:lnTo>
                    <a:pt x="1220943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006DB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" name="Google Shape;281;p31"/>
            <p:cNvSpPr/>
            <p:nvPr/>
          </p:nvSpPr>
          <p:spPr>
            <a:xfrm>
              <a:off x="1133919" y="1518500"/>
              <a:ext cx="1221105" cy="25400"/>
            </a:xfrm>
            <a:custGeom>
              <a:rect b="b" l="l" r="r" t="t"/>
              <a:pathLst>
                <a:path extrusionOk="0" h="25400" w="1221105">
                  <a:moveTo>
                    <a:pt x="0" y="25305"/>
                  </a:moveTo>
                  <a:lnTo>
                    <a:pt x="0" y="0"/>
                  </a:lnTo>
                  <a:lnTo>
                    <a:pt x="1220943" y="0"/>
                  </a:lnTo>
                  <a:lnTo>
                    <a:pt x="1220943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FFD966"/>
            </a:solidFill>
            <a:ln cap="flat" cmpd="sng" w="18875">
              <a:solidFill>
                <a:srgbClr val="F1C23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>
    <p:fade thruBlk="1"/>
  </p:transition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32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32"/>
          <p:cNvSpPr txBox="1"/>
          <p:nvPr/>
        </p:nvSpPr>
        <p:spPr>
          <a:xfrm>
            <a:off x="274320" y="13716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32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32"/>
          <p:cNvSpPr txBox="1"/>
          <p:nvPr/>
        </p:nvSpPr>
        <p:spPr>
          <a:xfrm>
            <a:off x="274320" y="653796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32"/>
          <p:cNvSpPr txBox="1"/>
          <p:nvPr/>
        </p:nvSpPr>
        <p:spPr>
          <a:xfrm>
            <a:off x="365760" y="731520"/>
            <a:ext cx="172239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Más Listas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32"/>
          <p:cNvSpPr txBox="1"/>
          <p:nvPr/>
        </p:nvSpPr>
        <p:spPr>
          <a:xfrm>
            <a:off x="274320" y="1013817"/>
            <a:ext cx="8725842" cy="50783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Concatenación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El operador + permite </a:t>
            </a:r>
            <a:r>
              <a:rPr b="0" i="1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concatenar 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dos listas, retornando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una nueva (sin modificar las listas originales).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l 1 = [ 4 , 5 , 6 ]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l 2 = [ 1 , 2 , 3 ]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l 3 = l 1 + l 2 # l 1 y l 2 no se modifican 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[ 4 , 5 , 6 , 1 , 2 , 3 ]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Así como la </a:t>
            </a:r>
            <a:r>
              <a:rPr b="0" i="1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suma 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representa la concatenación, también podemos definir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 multiplicación de una lista por un escalar.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l 1 = [ 4 , 5 , 6 ]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l 4 = l 1 *3 # Que l i s t a es l 4 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 queremos generar una lista con n posiciones con un valor por default,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cómo podemos hacer?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Extender una lista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Sirve para agregar una lista al final de otra.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l 1 = [ 4 , 5 , 6 ]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l 2 = [ 1 , 2 , 3 ]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l 2 . extend ( l 1 ) # Como quedan l 2 y l 1 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Cuál es la principal diferencia entre + y extend?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di_tella2.png" id="292" name="Google Shape;292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3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33"/>
          <p:cNvSpPr txBox="1"/>
          <p:nvPr/>
        </p:nvSpPr>
        <p:spPr>
          <a:xfrm>
            <a:off x="274320" y="13716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33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33"/>
          <p:cNvSpPr txBox="1"/>
          <p:nvPr/>
        </p:nvSpPr>
        <p:spPr>
          <a:xfrm>
            <a:off x="274320" y="653796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33"/>
          <p:cNvSpPr txBox="1"/>
          <p:nvPr/>
        </p:nvSpPr>
        <p:spPr>
          <a:xfrm>
            <a:off x="365760" y="731520"/>
            <a:ext cx="712887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Algunas funciones/procedimientos adicionales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33"/>
          <p:cNvSpPr txBox="1"/>
          <p:nvPr/>
        </p:nvSpPr>
        <p:spPr>
          <a:xfrm>
            <a:off x="274320" y="1013817"/>
            <a:ext cx="8725800" cy="526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Sorting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(ordenar). Procedimiento que ordena los elementos de la lista (por ahora, de menor a mayor).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l = [ 1 , 4 , 6 , 3 , 2 , 1 8 , 2 5 , 2 3 , 1 ]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l.sort()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print(l)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Operaciones varias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Python tiene disponibles funciones básicas para aplicar sobre listas.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l = [1,4,6,3,2,18,25,23,1]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sum(l)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83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min(l)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max(l)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25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l2 = sorted(l)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sorted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toma la lista y devuelve una nueva con los mismos elementos,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pero ordenados.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di_tella2.png" id="303" name="Google Shape;303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34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34"/>
          <p:cNvSpPr txBox="1"/>
          <p:nvPr/>
        </p:nvSpPr>
        <p:spPr>
          <a:xfrm>
            <a:off x="274320" y="13716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3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34"/>
          <p:cNvSpPr txBox="1"/>
          <p:nvPr/>
        </p:nvSpPr>
        <p:spPr>
          <a:xfrm>
            <a:off x="274320" y="653796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34"/>
          <p:cNvSpPr txBox="1"/>
          <p:nvPr/>
        </p:nvSpPr>
        <p:spPr>
          <a:xfrm>
            <a:off x="365760" y="731520"/>
            <a:ext cx="1425134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Ejercicio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di_tella2.png" id="313" name="Google Shape;3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314" name="Google Shape;314;p34"/>
          <p:cNvSpPr txBox="1"/>
          <p:nvPr/>
        </p:nvSpPr>
        <p:spPr>
          <a:xfrm>
            <a:off x="898987" y="3105834"/>
            <a:ext cx="76902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Tenemos una lista con valores numéricos. Implementar una función que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calcule la </a:t>
            </a:r>
            <a:r>
              <a:rPr b="0" i="1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5"/>
          <p:cNvSpPr txBox="1"/>
          <p:nvPr/>
        </p:nvSpPr>
        <p:spPr>
          <a:xfrm>
            <a:off x="2240672" y="3207687"/>
            <a:ext cx="3676800" cy="36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22650">
            <a:spAutoFit/>
          </a:bodyPr>
          <a:lstStyle/>
          <a:p>
            <a:pPr indent="0" lvl="0" marL="25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cap="small">
                <a:solidFill>
                  <a:srgbClr val="F4F2ED"/>
                </a:solidFill>
                <a:latin typeface="Tahoma"/>
                <a:ea typeface="Tahoma"/>
                <a:cs typeface="Tahoma"/>
                <a:sym typeface="Tahoma"/>
              </a:rPr>
              <a:t>STRINGS</a:t>
            </a:r>
            <a:endParaRPr b="0" i="0" sz="2200" u="none" cap="none" strike="noStrik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grpSp>
        <p:nvGrpSpPr>
          <p:cNvPr id="320" name="Google Shape;320;p35"/>
          <p:cNvGrpSpPr/>
          <p:nvPr/>
        </p:nvGrpSpPr>
        <p:grpSpPr>
          <a:xfrm>
            <a:off x="2260855" y="3600041"/>
            <a:ext cx="4642600" cy="50335"/>
            <a:chOff x="1133919" y="1518500"/>
            <a:chExt cx="2340610" cy="25400"/>
          </a:xfrm>
        </p:grpSpPr>
        <p:sp>
          <p:nvSpPr>
            <p:cNvPr id="321" name="Google Shape;321;p35"/>
            <p:cNvSpPr/>
            <p:nvPr/>
          </p:nvSpPr>
          <p:spPr>
            <a:xfrm>
              <a:off x="1133919" y="1518500"/>
              <a:ext cx="2340610" cy="25400"/>
            </a:xfrm>
            <a:custGeom>
              <a:rect b="b" l="l" r="r" t="t"/>
              <a:pathLst>
                <a:path extrusionOk="0" h="25400" w="2340610">
                  <a:moveTo>
                    <a:pt x="0" y="25305"/>
                  </a:moveTo>
                  <a:lnTo>
                    <a:pt x="0" y="0"/>
                  </a:lnTo>
                  <a:lnTo>
                    <a:pt x="2340180" y="0"/>
                  </a:lnTo>
                  <a:lnTo>
                    <a:pt x="2340180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F4F2ED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2" name="Google Shape;322;p35"/>
            <p:cNvSpPr/>
            <p:nvPr/>
          </p:nvSpPr>
          <p:spPr>
            <a:xfrm>
              <a:off x="1133919" y="1518500"/>
              <a:ext cx="2340610" cy="25400"/>
            </a:xfrm>
            <a:custGeom>
              <a:rect b="b" l="l" r="r" t="t"/>
              <a:pathLst>
                <a:path extrusionOk="0" h="25400" w="2340610">
                  <a:moveTo>
                    <a:pt x="0" y="25305"/>
                  </a:moveTo>
                  <a:lnTo>
                    <a:pt x="0" y="0"/>
                  </a:lnTo>
                  <a:lnTo>
                    <a:pt x="2340180" y="0"/>
                  </a:lnTo>
                  <a:lnTo>
                    <a:pt x="2340180" y="25305"/>
                  </a:lnTo>
                  <a:lnTo>
                    <a:pt x="0" y="25305"/>
                  </a:lnTo>
                  <a:close/>
                </a:path>
              </a:pathLst>
            </a:custGeom>
            <a:noFill/>
            <a:ln cap="flat" cmpd="sng" w="18875">
              <a:solidFill>
                <a:srgbClr val="F4F2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3" name="Google Shape;323;p35"/>
            <p:cNvSpPr/>
            <p:nvPr/>
          </p:nvSpPr>
          <p:spPr>
            <a:xfrm>
              <a:off x="1133919" y="1518500"/>
              <a:ext cx="1221105" cy="25400"/>
            </a:xfrm>
            <a:custGeom>
              <a:rect b="b" l="l" r="r" t="t"/>
              <a:pathLst>
                <a:path extrusionOk="0" h="25400" w="1221105">
                  <a:moveTo>
                    <a:pt x="0" y="25305"/>
                  </a:moveTo>
                  <a:lnTo>
                    <a:pt x="0" y="0"/>
                  </a:lnTo>
                  <a:lnTo>
                    <a:pt x="1220943" y="0"/>
                  </a:lnTo>
                  <a:lnTo>
                    <a:pt x="1220943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006DB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4" name="Google Shape;324;p35"/>
            <p:cNvSpPr/>
            <p:nvPr/>
          </p:nvSpPr>
          <p:spPr>
            <a:xfrm>
              <a:off x="1133919" y="1518500"/>
              <a:ext cx="1221105" cy="25400"/>
            </a:xfrm>
            <a:custGeom>
              <a:rect b="b" l="l" r="r" t="t"/>
              <a:pathLst>
                <a:path extrusionOk="0" h="25400" w="1221105">
                  <a:moveTo>
                    <a:pt x="0" y="25305"/>
                  </a:moveTo>
                  <a:lnTo>
                    <a:pt x="0" y="0"/>
                  </a:lnTo>
                  <a:lnTo>
                    <a:pt x="1220943" y="0"/>
                  </a:lnTo>
                  <a:lnTo>
                    <a:pt x="1220943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FFD966"/>
            </a:solidFill>
            <a:ln cap="flat" cmpd="sng" w="18875">
              <a:solidFill>
                <a:srgbClr val="F1C23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>
    <p:fade thruBlk="1"/>
  </p:transition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6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36"/>
          <p:cNvSpPr txBox="1"/>
          <p:nvPr/>
        </p:nvSpPr>
        <p:spPr>
          <a:xfrm>
            <a:off x="274320" y="13716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36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36"/>
          <p:cNvSpPr txBox="1"/>
          <p:nvPr/>
        </p:nvSpPr>
        <p:spPr>
          <a:xfrm>
            <a:off x="274320" y="653796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36"/>
          <p:cNvSpPr txBox="1"/>
          <p:nvPr/>
        </p:nvSpPr>
        <p:spPr>
          <a:xfrm>
            <a:off x="365760" y="73152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Strings: Nociones Básicas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36"/>
          <p:cNvSpPr txBox="1"/>
          <p:nvPr/>
        </p:nvSpPr>
        <p:spPr>
          <a:xfrm>
            <a:off x="114300" y="1134754"/>
            <a:ext cx="8915400" cy="53245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 </a:t>
            </a: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string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es una secuencia, ordenada, de </a:t>
            </a:r>
            <a:r>
              <a:rPr b="0" i="1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caracteres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Es similar a tener una lista donde cada posición es un caracter, y que no puede tener elementos de otro tipo. Posee, sin embargo, algunas diferencias con las listas.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fruit = 'banana'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name = 'John‘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Los strings, de forma análoga a las listas, soportan la utilización del operador [] para acceder a los elementos. Éstos también están ordenados de 0 a len(s) - 1.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fruit = 'banana'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print(len(fruit))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letter = fruit[1] # Obtenermos 2do caracter</a:t>
            </a:r>
            <a:endParaRPr b="0" i="0" sz="1600" u="none" cap="none" strike="noStrike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fruit[1] = ‘o’ # queremos escribir bonano. Se puede?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Los índices deben ser enteros y pueden ser expresiones que evalúen a enteros. Los strings son immutables (al igual que las tuplas). 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Soportan slicing y operadores como '+' (concatenar) e 'in' (pertenencia).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di_tella2.png" id="335" name="Google Shape;335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37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37"/>
          <p:cNvSpPr txBox="1"/>
          <p:nvPr/>
        </p:nvSpPr>
        <p:spPr>
          <a:xfrm>
            <a:off x="274320" y="13716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37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37"/>
          <p:cNvSpPr txBox="1"/>
          <p:nvPr/>
        </p:nvSpPr>
        <p:spPr>
          <a:xfrm>
            <a:off x="274320" y="653796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37"/>
          <p:cNvSpPr txBox="1"/>
          <p:nvPr/>
        </p:nvSpPr>
        <p:spPr>
          <a:xfrm>
            <a:off x="0" y="54864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Strings: Nociones Básicas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37"/>
          <p:cNvSpPr txBox="1"/>
          <p:nvPr/>
        </p:nvSpPr>
        <p:spPr>
          <a:xfrm>
            <a:off x="0" y="695901"/>
            <a:ext cx="8915400" cy="584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Concatenar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Dados dos string, el operador + genera uno nuevo con la concatenación de ambos.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fruit1 = 'banana'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fruit2 = 'apple'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concat_wospace = fruit1 + fruit2 # Que deberia devolver 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concat_wspace = fruit1 + ' ' + fruit2 # Que deberia devolver 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Cómo se implementaría algo </a:t>
            </a:r>
            <a:r>
              <a:rPr b="0" i="1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análogo 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 append de las listas?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Comparación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Al igual que otros tipos de datos, se pueden definir operaciones de comparación sobre las listas.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fruit1 = ' banana '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fruit2 = ' apple '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fruit1 == ' apple ' # V o F?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fruit_upper = ' Banana '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fruit_upper &lt; fruit1 # V o F?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Pertenencia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El operador in permite verificar si un string está contenido como </a:t>
            </a:r>
            <a:r>
              <a:rPr b="0" i="1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subcadena 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 otro.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Slicing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Funciona de la misma forma que para las listas.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Existen muchas otros métodos: upper(), lower(), find(), etc. (ver la documentación)</a:t>
            </a:r>
            <a:endParaRPr b="0" i="0" sz="1600" u="none" cap="none" strike="noStrike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descr="di_tella2.png" id="346" name="Google Shape;346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8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38"/>
          <p:cNvSpPr txBox="1"/>
          <p:nvPr/>
        </p:nvSpPr>
        <p:spPr>
          <a:xfrm>
            <a:off x="274320" y="13716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38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38"/>
          <p:cNvSpPr txBox="1"/>
          <p:nvPr/>
        </p:nvSpPr>
        <p:spPr>
          <a:xfrm>
            <a:off x="274320" y="653796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38"/>
          <p:cNvSpPr txBox="1"/>
          <p:nvPr/>
        </p:nvSpPr>
        <p:spPr>
          <a:xfrm>
            <a:off x="0" y="548640"/>
            <a:ext cx="2524794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Iterando strings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38"/>
          <p:cNvSpPr txBox="1"/>
          <p:nvPr/>
        </p:nvSpPr>
        <p:spPr>
          <a:xfrm>
            <a:off x="108154" y="1097280"/>
            <a:ext cx="8807245" cy="3908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Por su estructura, los strings pueden ser </a:t>
            </a:r>
            <a:r>
              <a:rPr b="0" i="1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recorridos 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 forma análoga a las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listas usando while y for.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Qué hace el siguiente código?</a:t>
            </a:r>
            <a:endParaRPr b="0" i="0" sz="1600" u="none" cap="none" strike="noStrike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def ej _string(s):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ret = ' '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for letter in s: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	ret = letter + ret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return ret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def main() 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quote = 'YVAN EHT NIOJ'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 = ej_string(quote) # Que string tiene s?</a:t>
            </a:r>
            <a:endParaRPr b="0" i="0" sz="1600" u="none" cap="none" strike="noStrike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descr="di_tella2.png" id="357" name="Google Shape;357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39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39"/>
          <p:cNvSpPr txBox="1"/>
          <p:nvPr/>
        </p:nvSpPr>
        <p:spPr>
          <a:xfrm>
            <a:off x="274320" y="13716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39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39"/>
          <p:cNvSpPr txBox="1"/>
          <p:nvPr/>
        </p:nvSpPr>
        <p:spPr>
          <a:xfrm>
            <a:off x="274320" y="653796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39"/>
          <p:cNvSpPr txBox="1"/>
          <p:nvPr/>
        </p:nvSpPr>
        <p:spPr>
          <a:xfrm>
            <a:off x="0" y="548640"/>
            <a:ext cx="1425134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Ejercicio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39"/>
          <p:cNvSpPr txBox="1"/>
          <p:nvPr/>
        </p:nvSpPr>
        <p:spPr>
          <a:xfrm>
            <a:off x="108154" y="1097280"/>
            <a:ext cx="8807245" cy="29546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Implementar la función find_char con el siguiente comportamiento: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Toma dos parámetros: un string s y un caracter (string de longitud 1) c.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def find_char(s,c):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	pass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Devuelve un int correspondiente al menor índice de una aparición de 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 s, si c está en s, y -1 en caso que c no esté en s. Ejemlos: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def main():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 = 'banana'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pos_n = f ind_char ( s , 'n ' ) # pos_a = 2 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pos_c = f ind_char ( s , ' c ' ) # pos_c = -1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368" name="Google Shape;368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40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40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40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40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40"/>
          <p:cNvSpPr txBox="1"/>
          <p:nvPr/>
        </p:nvSpPr>
        <p:spPr>
          <a:xfrm>
            <a:off x="0" y="548650"/>
            <a:ext cx="18315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Duda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40"/>
          <p:cNvSpPr txBox="1"/>
          <p:nvPr/>
        </p:nvSpPr>
        <p:spPr>
          <a:xfrm>
            <a:off x="108154" y="1097280"/>
            <a:ext cx="8807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Los strings son mutables? Son hasheables?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379" name="Google Shape;379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41"/>
          <p:cNvSpPr txBox="1"/>
          <p:nvPr/>
        </p:nvSpPr>
        <p:spPr>
          <a:xfrm>
            <a:off x="2240672" y="3207687"/>
            <a:ext cx="3676800" cy="36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22650">
            <a:spAutoFit/>
          </a:bodyPr>
          <a:lstStyle/>
          <a:p>
            <a:pPr indent="0" lvl="0" marL="25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cap="small">
                <a:solidFill>
                  <a:srgbClr val="F4F2ED"/>
                </a:solidFill>
                <a:latin typeface="Tahoma"/>
                <a:ea typeface="Tahoma"/>
                <a:cs typeface="Tahoma"/>
                <a:sym typeface="Tahoma"/>
              </a:rPr>
              <a:t>SOBRE LOS HASHES</a:t>
            </a:r>
            <a:endParaRPr b="0" i="0" sz="2200" u="none" cap="none" strike="noStrik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grpSp>
        <p:nvGrpSpPr>
          <p:cNvPr id="385" name="Google Shape;385;p41"/>
          <p:cNvGrpSpPr/>
          <p:nvPr/>
        </p:nvGrpSpPr>
        <p:grpSpPr>
          <a:xfrm>
            <a:off x="2260855" y="3600041"/>
            <a:ext cx="4642600" cy="50335"/>
            <a:chOff x="1133919" y="1518500"/>
            <a:chExt cx="2340610" cy="25400"/>
          </a:xfrm>
        </p:grpSpPr>
        <p:sp>
          <p:nvSpPr>
            <p:cNvPr id="386" name="Google Shape;386;p41"/>
            <p:cNvSpPr/>
            <p:nvPr/>
          </p:nvSpPr>
          <p:spPr>
            <a:xfrm>
              <a:off x="1133919" y="1518500"/>
              <a:ext cx="2340610" cy="25400"/>
            </a:xfrm>
            <a:custGeom>
              <a:rect b="b" l="l" r="r" t="t"/>
              <a:pathLst>
                <a:path extrusionOk="0" h="25400" w="2340610">
                  <a:moveTo>
                    <a:pt x="0" y="25305"/>
                  </a:moveTo>
                  <a:lnTo>
                    <a:pt x="0" y="0"/>
                  </a:lnTo>
                  <a:lnTo>
                    <a:pt x="2340180" y="0"/>
                  </a:lnTo>
                  <a:lnTo>
                    <a:pt x="2340180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F4F2ED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" name="Google Shape;387;p41"/>
            <p:cNvSpPr/>
            <p:nvPr/>
          </p:nvSpPr>
          <p:spPr>
            <a:xfrm>
              <a:off x="1133919" y="1518500"/>
              <a:ext cx="2340610" cy="25400"/>
            </a:xfrm>
            <a:custGeom>
              <a:rect b="b" l="l" r="r" t="t"/>
              <a:pathLst>
                <a:path extrusionOk="0" h="25400" w="2340610">
                  <a:moveTo>
                    <a:pt x="0" y="25305"/>
                  </a:moveTo>
                  <a:lnTo>
                    <a:pt x="0" y="0"/>
                  </a:lnTo>
                  <a:lnTo>
                    <a:pt x="2340180" y="0"/>
                  </a:lnTo>
                  <a:lnTo>
                    <a:pt x="2340180" y="25305"/>
                  </a:lnTo>
                  <a:lnTo>
                    <a:pt x="0" y="25305"/>
                  </a:lnTo>
                  <a:close/>
                </a:path>
              </a:pathLst>
            </a:custGeom>
            <a:noFill/>
            <a:ln cap="flat" cmpd="sng" w="18875">
              <a:solidFill>
                <a:srgbClr val="F4F2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" name="Google Shape;388;p41"/>
            <p:cNvSpPr/>
            <p:nvPr/>
          </p:nvSpPr>
          <p:spPr>
            <a:xfrm>
              <a:off x="1133919" y="1518500"/>
              <a:ext cx="1221105" cy="25400"/>
            </a:xfrm>
            <a:custGeom>
              <a:rect b="b" l="l" r="r" t="t"/>
              <a:pathLst>
                <a:path extrusionOk="0" h="25400" w="1221105">
                  <a:moveTo>
                    <a:pt x="0" y="25305"/>
                  </a:moveTo>
                  <a:lnTo>
                    <a:pt x="0" y="0"/>
                  </a:lnTo>
                  <a:lnTo>
                    <a:pt x="1220943" y="0"/>
                  </a:lnTo>
                  <a:lnTo>
                    <a:pt x="1220943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006DB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9" name="Google Shape;389;p41"/>
            <p:cNvSpPr/>
            <p:nvPr/>
          </p:nvSpPr>
          <p:spPr>
            <a:xfrm>
              <a:off x="1133919" y="1518500"/>
              <a:ext cx="1221105" cy="25400"/>
            </a:xfrm>
            <a:custGeom>
              <a:rect b="b" l="l" r="r" t="t"/>
              <a:pathLst>
                <a:path extrusionOk="0" h="25400" w="1221105">
                  <a:moveTo>
                    <a:pt x="0" y="25305"/>
                  </a:moveTo>
                  <a:lnTo>
                    <a:pt x="0" y="0"/>
                  </a:lnTo>
                  <a:lnTo>
                    <a:pt x="1220943" y="0"/>
                  </a:lnTo>
                  <a:lnTo>
                    <a:pt x="1220943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FFD966"/>
            </a:solidFill>
            <a:ln cap="flat" cmpd="sng" w="18875">
              <a:solidFill>
                <a:srgbClr val="F1C23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>
    <p:fade thruBlk="1"/>
  </p:transition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42"/>
          <p:cNvSpPr/>
          <p:nvPr/>
        </p:nvSpPr>
        <p:spPr>
          <a:xfrm>
            <a:off x="0" y="0"/>
            <a:ext cx="9144000" cy="54870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42"/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42"/>
          <p:cNvSpPr/>
          <p:nvPr/>
        </p:nvSpPr>
        <p:spPr>
          <a:xfrm>
            <a:off x="0" y="6492240"/>
            <a:ext cx="9144000" cy="36570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42"/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42"/>
          <p:cNvSpPr txBox="1"/>
          <p:nvPr/>
        </p:nvSpPr>
        <p:spPr>
          <a:xfrm>
            <a:off x="0" y="548650"/>
            <a:ext cx="18315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Hash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42"/>
          <p:cNvSpPr txBox="1"/>
          <p:nvPr/>
        </p:nvSpPr>
        <p:spPr>
          <a:xfrm>
            <a:off x="108150" y="1097274"/>
            <a:ext cx="8892900" cy="39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Venimos diciendo que para que algo sea hasheable debe ser inmutable y todos sus elementos también.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Además, que algos sea hasheable implica que puede ser la key de un diccionario.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Ahora bien, que es un hash?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 hash es una secuencia de caracteres (un string).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Son generados por un algoritmo complicado que hace las veces de “caja negra”.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 el caso de las keys de los diccionarios, python hashea las keys para manejrlas con más velocidad a la hora de hacr operaciones.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Mediante una técnica llamada “hashMap” python busca exactamente la key del diccionario que está buscando, en lugar de repasar las keys una a una.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Algunos algoritmos comunes de hshing son el  SHA-256 y el SHA-3   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di_tella2.png" id="400" name="Google Shape;400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43"/>
          <p:cNvSpPr txBox="1"/>
          <p:nvPr/>
        </p:nvSpPr>
        <p:spPr>
          <a:xfrm>
            <a:off x="2240675" y="3207675"/>
            <a:ext cx="6156900" cy="36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22650">
            <a:spAutoFit/>
          </a:bodyPr>
          <a:lstStyle/>
          <a:p>
            <a:pPr indent="0" lvl="0" marL="25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cap="small">
                <a:solidFill>
                  <a:srgbClr val="F4F2ED"/>
                </a:solidFill>
                <a:latin typeface="Tahoma"/>
                <a:ea typeface="Tahoma"/>
                <a:cs typeface="Tahoma"/>
                <a:sym typeface="Tahoma"/>
              </a:rPr>
              <a:t>DICCIONARIOS: COMENTARIOS ADICIONALES</a:t>
            </a:r>
            <a:endParaRPr b="0" i="0" sz="2200" u="none" cap="none" strike="noStrik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grpSp>
        <p:nvGrpSpPr>
          <p:cNvPr id="406" name="Google Shape;406;p43"/>
          <p:cNvGrpSpPr/>
          <p:nvPr/>
        </p:nvGrpSpPr>
        <p:grpSpPr>
          <a:xfrm>
            <a:off x="2260855" y="3600041"/>
            <a:ext cx="4642600" cy="50335"/>
            <a:chOff x="1133919" y="1518500"/>
            <a:chExt cx="2340610" cy="25400"/>
          </a:xfrm>
        </p:grpSpPr>
        <p:sp>
          <p:nvSpPr>
            <p:cNvPr id="407" name="Google Shape;407;p43"/>
            <p:cNvSpPr/>
            <p:nvPr/>
          </p:nvSpPr>
          <p:spPr>
            <a:xfrm>
              <a:off x="1133919" y="1518500"/>
              <a:ext cx="2340610" cy="25400"/>
            </a:xfrm>
            <a:custGeom>
              <a:rect b="b" l="l" r="r" t="t"/>
              <a:pathLst>
                <a:path extrusionOk="0" h="25400" w="2340610">
                  <a:moveTo>
                    <a:pt x="0" y="25305"/>
                  </a:moveTo>
                  <a:lnTo>
                    <a:pt x="0" y="0"/>
                  </a:lnTo>
                  <a:lnTo>
                    <a:pt x="2340180" y="0"/>
                  </a:lnTo>
                  <a:lnTo>
                    <a:pt x="2340180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F4F2ED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8" name="Google Shape;408;p43"/>
            <p:cNvSpPr/>
            <p:nvPr/>
          </p:nvSpPr>
          <p:spPr>
            <a:xfrm>
              <a:off x="1133919" y="1518500"/>
              <a:ext cx="2340610" cy="25400"/>
            </a:xfrm>
            <a:custGeom>
              <a:rect b="b" l="l" r="r" t="t"/>
              <a:pathLst>
                <a:path extrusionOk="0" h="25400" w="2340610">
                  <a:moveTo>
                    <a:pt x="0" y="25305"/>
                  </a:moveTo>
                  <a:lnTo>
                    <a:pt x="0" y="0"/>
                  </a:lnTo>
                  <a:lnTo>
                    <a:pt x="2340180" y="0"/>
                  </a:lnTo>
                  <a:lnTo>
                    <a:pt x="2340180" y="25305"/>
                  </a:lnTo>
                  <a:lnTo>
                    <a:pt x="0" y="25305"/>
                  </a:lnTo>
                  <a:close/>
                </a:path>
              </a:pathLst>
            </a:custGeom>
            <a:noFill/>
            <a:ln cap="flat" cmpd="sng" w="18875">
              <a:solidFill>
                <a:srgbClr val="F4F2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9" name="Google Shape;409;p43"/>
            <p:cNvSpPr/>
            <p:nvPr/>
          </p:nvSpPr>
          <p:spPr>
            <a:xfrm>
              <a:off x="1133919" y="1518500"/>
              <a:ext cx="1221105" cy="25400"/>
            </a:xfrm>
            <a:custGeom>
              <a:rect b="b" l="l" r="r" t="t"/>
              <a:pathLst>
                <a:path extrusionOk="0" h="25400" w="1221105">
                  <a:moveTo>
                    <a:pt x="0" y="25305"/>
                  </a:moveTo>
                  <a:lnTo>
                    <a:pt x="0" y="0"/>
                  </a:lnTo>
                  <a:lnTo>
                    <a:pt x="1220943" y="0"/>
                  </a:lnTo>
                  <a:lnTo>
                    <a:pt x="1220943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006DB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0" name="Google Shape;410;p43"/>
            <p:cNvSpPr/>
            <p:nvPr/>
          </p:nvSpPr>
          <p:spPr>
            <a:xfrm>
              <a:off x="1133919" y="1518500"/>
              <a:ext cx="1221105" cy="25400"/>
            </a:xfrm>
            <a:custGeom>
              <a:rect b="b" l="l" r="r" t="t"/>
              <a:pathLst>
                <a:path extrusionOk="0" h="25400" w="1221105">
                  <a:moveTo>
                    <a:pt x="0" y="25305"/>
                  </a:moveTo>
                  <a:lnTo>
                    <a:pt x="0" y="0"/>
                  </a:lnTo>
                  <a:lnTo>
                    <a:pt x="1220943" y="0"/>
                  </a:lnTo>
                  <a:lnTo>
                    <a:pt x="1220943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FFD966"/>
            </a:solidFill>
            <a:ln cap="flat" cmpd="sng" w="18875">
              <a:solidFill>
                <a:srgbClr val="F1C23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>
    <p:fade thruBlk="1"/>
  </p:transition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44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44"/>
          <p:cNvSpPr txBox="1"/>
          <p:nvPr/>
        </p:nvSpPr>
        <p:spPr>
          <a:xfrm>
            <a:off x="274320" y="13716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44"/>
          <p:cNvSpPr txBox="1"/>
          <p:nvPr/>
        </p:nvSpPr>
        <p:spPr>
          <a:xfrm>
            <a:off x="274320" y="653796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44"/>
          <p:cNvSpPr txBox="1"/>
          <p:nvPr/>
        </p:nvSpPr>
        <p:spPr>
          <a:xfrm>
            <a:off x="0" y="548650"/>
            <a:ext cx="6936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Más diccionarios: Claves, significados e items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44"/>
          <p:cNvSpPr txBox="1"/>
          <p:nvPr/>
        </p:nvSpPr>
        <p:spPr>
          <a:xfrm>
            <a:off x="336755" y="1428869"/>
            <a:ext cx="8807100" cy="40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Algunas operaciones más sobre diccionarios: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Longiud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Llamar a la función </a:t>
            </a:r>
            <a:r>
              <a:rPr b="0" i="1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len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con un diccionario como parámetro devuelve la cantidad de items que posee.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Obtener las claves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El método </a:t>
            </a:r>
            <a:r>
              <a:rPr b="0" i="1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keys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devuelve las claves.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Obtener los significados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El método values devuelve todos los significados.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Obtener los items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El método items devuelve todos los ítems. Cada elemento es una tupla donde la primera</a:t>
            </a:r>
            <a:r>
              <a:rPr b="0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componente es la clave y la segunda el significado.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eng2sp = { 'one': 'uno' , 'two' : 'dos' , 'three' : 'one'}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list(eng2sp.keys())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['one', 'two', 'three']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list(eng2sp.values()) # Notar que incluye repeticiones 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[ 'uno', 'dos', 'uno']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 list(eng2sp.items())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[('one', 'uno'), ('two', 'dos'), ('three', 'uno')]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420" name="Google Shape;420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421" name="Google Shape;421;p44"/>
          <p:cNvSpPr txBox="1"/>
          <p:nvPr/>
        </p:nvSpPr>
        <p:spPr>
          <a:xfrm>
            <a:off x="274330" y="5984419"/>
            <a:ext cx="88071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Notar que el tipo de datos de dict.keys(), dict.values() o dict.items()  es uno </a:t>
            </a:r>
            <a:r>
              <a:rPr b="1" i="0" lang="en-US" sz="18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endémico del objeto diccionario</a:t>
            </a:r>
            <a:r>
              <a:rPr b="0" i="0" lang="en-US" sz="18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. Para hacerlo más “manejable” se lo pasa a lista usando “list”</a:t>
            </a:r>
            <a:endParaRPr b="0" i="0" sz="14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45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45"/>
          <p:cNvSpPr txBox="1"/>
          <p:nvPr/>
        </p:nvSpPr>
        <p:spPr>
          <a:xfrm>
            <a:off x="274320" y="13716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45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45"/>
          <p:cNvSpPr txBox="1"/>
          <p:nvPr/>
        </p:nvSpPr>
        <p:spPr>
          <a:xfrm>
            <a:off x="274320" y="653796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45"/>
          <p:cNvSpPr txBox="1"/>
          <p:nvPr/>
        </p:nvSpPr>
        <p:spPr>
          <a:xfrm>
            <a:off x="365760" y="731520"/>
            <a:ext cx="1425134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Ejercicio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45"/>
          <p:cNvSpPr txBox="1"/>
          <p:nvPr/>
        </p:nvSpPr>
        <p:spPr>
          <a:xfrm>
            <a:off x="457200" y="1645920"/>
            <a:ext cx="8313174" cy="258532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Consideren el siguiente diccionario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diccionario = { 'primero' : 1 , 'segundo' : 2 , 'tercero' : 3}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Usando las funciones que vimos hasta el momento, escribir un código que imprima la clave y el significado, separados por “ “ y uno por línea.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Aclaración: 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el código debe ser genérico. No se puede asumir que tiene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ítems.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di_tella2.png" id="432" name="Google Shape;432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46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FFD96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46"/>
          <p:cNvSpPr txBox="1"/>
          <p:nvPr/>
        </p:nvSpPr>
        <p:spPr>
          <a:xfrm>
            <a:off x="274320" y="13716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46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2828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46"/>
          <p:cNvSpPr txBox="1"/>
          <p:nvPr/>
        </p:nvSpPr>
        <p:spPr>
          <a:xfrm>
            <a:off x="274320" y="653796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46"/>
          <p:cNvSpPr txBox="1"/>
          <p:nvPr/>
        </p:nvSpPr>
        <p:spPr>
          <a:xfrm>
            <a:off x="0" y="485602"/>
            <a:ext cx="3323923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Iterando diccionarios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46"/>
          <p:cNvSpPr txBox="1"/>
          <p:nvPr/>
        </p:nvSpPr>
        <p:spPr>
          <a:xfrm>
            <a:off x="0" y="884372"/>
            <a:ext cx="9099498" cy="58477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Existen disintas formas de iterar un diccionario. Escencialmente, con poder acceder a las claves alcanza. Sin embargo, Python provee algo de </a:t>
            </a:r>
            <a:r>
              <a:rPr b="0" i="1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syntactic sugar 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para que sea mas simple.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def main ():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 = {'primero': 1 , 'segundo’: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2 , ' tercero' : 3}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for key in d.keys():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print(key,d[key])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def main():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 = {'primero':1 , 'segundo':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2 , 'tercero': 3}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for key in d: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print (key, d[key])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Otra alternativa podría ser iterar las </a:t>
            </a:r>
            <a:r>
              <a:rPr b="0" i="1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tuplas 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 items del diccinario.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def main():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 = {'primero':1, 'segundo':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2, 'tercero': 3}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for t in d.items():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print(t[0], t[1])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def main() 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 = { 'primero': 1 , 'segundo’: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	2, 'tercero': 3}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for key , val in d 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print key, val)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443" name="Google Shape;443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