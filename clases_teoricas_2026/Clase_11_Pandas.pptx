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3460750" cx="4610100"/>
  <p:notesSz cx="4610100" cy="3460750"/>
  <p:embeddedFontLst>
    <p:embeddedFont>
      <p:font typeface="Tahoma"/>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92F578-C45A-4C0B-8CAA-E3865B34D857}">
  <a:tblStyle styleId="{A792F578-C45A-4C0B-8CAA-E3865B34D85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Tahoma-regular.fntdata"/><Relationship Id="rId50" Type="http://schemas.openxmlformats.org/officeDocument/2006/relationships/slide" Target="slides/slide44.xml"/><Relationship Id="rId52" Type="http://schemas.openxmlformats.org/officeDocument/2006/relationships/font" Target="fonts/Tahom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461000" y="1643850"/>
            <a:ext cx="3688075" cy="155732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461000" y="1643850"/>
            <a:ext cx="3688075" cy="15573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 name="Google Shape;81;p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1" type="body"/>
          </p:nvPr>
        </p:nvSpPr>
        <p:spPr>
          <a:xfrm>
            <a:off x="461000" y="1643850"/>
            <a:ext cx="3688075" cy="15573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461000" y="1643850"/>
            <a:ext cx="3688075" cy="15573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3fab9b8ee_0_1: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g393fab9b8ee_0_1: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3fab9b8ee_0_3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393fab9b8ee_0_3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3fab9b8ee_0_47: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g393fab9b8ee_0_47: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3fab9b8ee_0_59: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93fab9b8ee_0_59: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3fab9b8ee_0_71: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393fab9b8ee_0_71: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3fab9b8ee_0_90: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393fab9b8ee_0_90: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3fab9b8ee_0_100: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93fab9b8ee_0_100: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3fab9b8ee_0_112: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g393fab9b8ee_0_112: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3fab9b8ee_0_12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00" name="Google Shape;200;g393fab9b8ee_0_12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3fab9b8ee_0_13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11" name="Google Shape;211;g393fab9b8ee_0_13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3fab9b8ee_0_144: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22" name="Google Shape;222;g393fab9b8ee_0_144: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3fab9b8ee_0_16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35" name="Google Shape;235;g393fab9b8ee_0_16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93fab9b8ee_0_17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48" name="Google Shape;248;g393fab9b8ee_0_17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3fab9b8ee_0_189: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61" name="Google Shape;261;g393fab9b8ee_0_189: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3fab9b8ee_0_202: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74" name="Google Shape;274;g393fab9b8ee_0_202: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3fab9b8ee_0_214: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393fab9b8ee_0_214: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93fab9b8ee_0_22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297" name="Google Shape;297;g393fab9b8ee_0_22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3fab9b8ee_0_23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08" name="Google Shape;308;g393fab9b8ee_0_23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3fab9b8ee_0_248: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21" name="Google Shape;321;g393fab9b8ee_0_248: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3fab9b8ee_0_259: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34" name="Google Shape;334;g393fab9b8ee_0_259: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42fc2f60c_0_1: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g3942fc2f60c_0_1: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ca6dadd347_0_0: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57" name="Google Shape;357;g3ca6dadd347_0_0: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a6dadd347_0_1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68" name="Google Shape;368;g3ca6dadd347_0_1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ca6dadd347_0_2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79" name="Google Shape;379;g3ca6dadd347_0_2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a6dadd347_0_33: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390" name="Google Shape;390;g3ca6dadd347_0_3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ca6dadd347_0_4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01" name="Google Shape;401;g3ca6dadd347_0_4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ca6dadd347_0_5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12" name="Google Shape;412;g3ca6dadd347_0_5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ca6dadd347_0_6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23" name="Google Shape;423;g3ca6dadd347_0_6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ca6dadd347_0_7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34" name="Google Shape;434;g3ca6dadd347_0_7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ca6dadd347_0_8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45" name="Google Shape;445;g3ca6dadd347_0_8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ca6dadd347_0_9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56" name="Google Shape;456;g3ca6dadd347_0_9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ca6dadd347_0_10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67" name="Google Shape;467;g3ca6dadd347_0_10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ca6dadd347_0_11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78" name="Google Shape;478;g3ca6dadd347_0_11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a6dadd347_0_125: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489" name="Google Shape;489;g3ca6dadd347_0_12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ca6dadd347_0_13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501" name="Google Shape;501;g3ca6dadd347_0_13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ca6dadd347_0_147: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 name="Google Shape;512;g3ca6dadd347_0_147: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ca6dadd347_0_15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522" name="Google Shape;522;g3ca6dadd347_0_15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ca6dadd347_0_16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533" name="Google Shape;533;g3ca6dadd347_0_16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ca6dadd347_0_17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544" name="Google Shape;544;g3ca6dadd347_0_17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ca6dadd347_0_18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555" name="Google Shape;555;g3ca6dadd347_0_18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ca6dadd347_0_196:notes"/>
          <p:cNvSpPr txBox="1"/>
          <p:nvPr>
            <p:ph idx="1" type="body"/>
          </p:nvPr>
        </p:nvSpPr>
        <p:spPr>
          <a:xfrm>
            <a:off x="461000" y="1643850"/>
            <a:ext cx="3688200" cy="1557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Vas a tener que dar un ejemplo en el pizarron de cada uno de estos casos</a:t>
            </a:r>
            <a:endParaRPr/>
          </a:p>
        </p:txBody>
      </p:sp>
      <p:sp>
        <p:nvSpPr>
          <p:cNvPr id="566" name="Google Shape;566;g3ca6dadd347_0_19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 name="Shape 9"/>
        <p:cNvGrpSpPr/>
        <p:nvPr/>
      </p:nvGrpSpPr>
      <p:grpSpPr>
        <a:xfrm>
          <a:off x="0" y="0"/>
          <a:ext cx="0" cy="0"/>
          <a:chOff x="0" y="0"/>
          <a:chExt cx="0" cy="0"/>
        </a:xfrm>
      </p:grpSpPr>
      <p:sp>
        <p:nvSpPr>
          <p:cNvPr id="10" name="Google Shape;10;p2"/>
          <p:cNvSpPr txBox="1"/>
          <p:nvPr>
            <p:ph type="title"/>
          </p:nvPr>
        </p:nvSpPr>
        <p:spPr>
          <a:xfrm>
            <a:off x="95300" y="18464"/>
            <a:ext cx="3158400" cy="191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b="0" i="0" sz="1100">
                <a:solidFill>
                  <a:srgbClr val="F4F2ED"/>
                </a:solidFill>
                <a:latin typeface="Tahoma"/>
                <a:ea typeface="Tahoma"/>
                <a:cs typeface="Tahoma"/>
                <a:sym typeface="Tahoma"/>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11" name="Google Shape;11;p2"/>
          <p:cNvSpPr txBox="1"/>
          <p:nvPr>
            <p:ph idx="1" type="body"/>
          </p:nvPr>
        </p:nvSpPr>
        <p:spPr>
          <a:xfrm>
            <a:off x="347294" y="665280"/>
            <a:ext cx="3794100" cy="204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000"/>
              <a:buFont typeface="Calibri"/>
              <a:buNone/>
              <a:defRPr i="0" sz="900">
                <a:solidFill>
                  <a:srgbClr val="333333"/>
                </a:solidFill>
                <a:latin typeface="Calibri"/>
                <a:ea typeface="Calibri"/>
                <a:cs typeface="Calibri"/>
                <a:sym typeface="Calibri"/>
              </a:defRPr>
            </a:lvl1pPr>
            <a:lvl2pPr indent="-228600" lvl="1" marL="914400" algn="l">
              <a:lnSpc>
                <a:spcPct val="115000"/>
              </a:lnSpc>
              <a:spcBef>
                <a:spcPts val="700"/>
              </a:spcBef>
              <a:spcAft>
                <a:spcPts val="0"/>
              </a:spcAft>
              <a:buSzPts val="800"/>
              <a:buFont typeface="Calibri"/>
              <a:buNone/>
              <a:defRPr/>
            </a:lvl2pPr>
            <a:lvl3pPr indent="-228600" lvl="2" marL="1371600" algn="l">
              <a:lnSpc>
                <a:spcPct val="115000"/>
              </a:lnSpc>
              <a:spcBef>
                <a:spcPts val="700"/>
              </a:spcBef>
              <a:spcAft>
                <a:spcPts val="0"/>
              </a:spcAft>
              <a:buSzPts val="800"/>
              <a:buFont typeface="Calibri"/>
              <a:buNone/>
              <a:defRPr/>
            </a:lvl3pPr>
            <a:lvl4pPr indent="-228600" lvl="3" marL="1828800" algn="l">
              <a:lnSpc>
                <a:spcPct val="115000"/>
              </a:lnSpc>
              <a:spcBef>
                <a:spcPts val="700"/>
              </a:spcBef>
              <a:spcAft>
                <a:spcPts val="0"/>
              </a:spcAft>
              <a:buSzPts val="800"/>
              <a:buFont typeface="Calibri"/>
              <a:buNone/>
              <a:defRPr/>
            </a:lvl4pPr>
            <a:lvl5pPr indent="-228600" lvl="4" marL="2286000" algn="l">
              <a:lnSpc>
                <a:spcPct val="115000"/>
              </a:lnSpc>
              <a:spcBef>
                <a:spcPts val="700"/>
              </a:spcBef>
              <a:spcAft>
                <a:spcPts val="0"/>
              </a:spcAft>
              <a:buSzPts val="800"/>
              <a:buFont typeface="Calibri"/>
              <a:buNone/>
              <a:defRPr/>
            </a:lvl5pPr>
            <a:lvl6pPr indent="-228600" lvl="5" marL="2743200" algn="l">
              <a:lnSpc>
                <a:spcPct val="115000"/>
              </a:lnSpc>
              <a:spcBef>
                <a:spcPts val="700"/>
              </a:spcBef>
              <a:spcAft>
                <a:spcPts val="0"/>
              </a:spcAft>
              <a:buSzPts val="800"/>
              <a:buFont typeface="Calibri"/>
              <a:buNone/>
              <a:defRPr/>
            </a:lvl6pPr>
            <a:lvl7pPr indent="-228600" lvl="6" marL="3200400" algn="l">
              <a:lnSpc>
                <a:spcPct val="115000"/>
              </a:lnSpc>
              <a:spcBef>
                <a:spcPts val="700"/>
              </a:spcBef>
              <a:spcAft>
                <a:spcPts val="0"/>
              </a:spcAft>
              <a:buSzPts val="800"/>
              <a:buFont typeface="Calibri"/>
              <a:buNone/>
              <a:defRPr/>
            </a:lvl7pPr>
            <a:lvl8pPr indent="-228600" lvl="7" marL="3657600" algn="l">
              <a:lnSpc>
                <a:spcPct val="115000"/>
              </a:lnSpc>
              <a:spcBef>
                <a:spcPts val="700"/>
              </a:spcBef>
              <a:spcAft>
                <a:spcPts val="0"/>
              </a:spcAft>
              <a:buSzPts val="800"/>
              <a:buFont typeface="Calibri"/>
              <a:buNone/>
              <a:defRPr/>
            </a:lvl8pPr>
            <a:lvl9pPr indent="-228600" lvl="8" marL="4114800" algn="l">
              <a:lnSpc>
                <a:spcPct val="115000"/>
              </a:lnSpc>
              <a:spcBef>
                <a:spcPts val="700"/>
              </a:spcBef>
              <a:spcAft>
                <a:spcPts val="700"/>
              </a:spcAft>
              <a:buSzPts val="800"/>
              <a:buFont typeface="Calibri"/>
              <a:buNone/>
              <a:defRPr/>
            </a:lvl9pPr>
          </a:lstStyle>
          <a:p/>
        </p:txBody>
      </p:sp>
      <p:sp>
        <p:nvSpPr>
          <p:cNvPr id="12" name="Google Shape;12;p2"/>
          <p:cNvSpPr txBox="1"/>
          <p:nvPr>
            <p:ph idx="11" type="ftr"/>
          </p:nvPr>
        </p:nvSpPr>
        <p:spPr>
          <a:xfrm>
            <a:off x="1567434" y="3218497"/>
            <a:ext cx="1475100" cy="173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2"/>
          <p:cNvSpPr txBox="1"/>
          <p:nvPr>
            <p:ph idx="10" type="dt"/>
          </p:nvPr>
        </p:nvSpPr>
        <p:spPr>
          <a:xfrm>
            <a:off x="230505" y="3218497"/>
            <a:ext cx="1060200" cy="173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2"/>
          <p:cNvSpPr txBox="1"/>
          <p:nvPr>
            <p:ph idx="12" type="sldNum"/>
          </p:nvPr>
        </p:nvSpPr>
        <p:spPr>
          <a:xfrm>
            <a:off x="4398632" y="3341884"/>
            <a:ext cx="152400" cy="77100"/>
          </a:xfrm>
          <a:prstGeom prst="rect">
            <a:avLst/>
          </a:prstGeom>
          <a:noFill/>
          <a:ln>
            <a:noFill/>
          </a:ln>
        </p:spPr>
        <p:txBody>
          <a:bodyPr anchorCtr="0" anchor="t" bIns="0" lIns="0" spcFirstLastPara="1" rIns="0" wrap="square" tIns="0">
            <a:spAutoFit/>
          </a:bodyPr>
          <a:lstStyle>
            <a:lvl1pPr indent="0" lvl="0"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1pPr>
            <a:lvl2pPr indent="0" lvl="1"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2pPr>
            <a:lvl3pPr indent="0" lvl="2"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3pPr>
            <a:lvl4pPr indent="0" lvl="3"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4pPr>
            <a:lvl5pPr indent="0" lvl="4"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5pPr>
            <a:lvl6pPr indent="0" lvl="5"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6pPr>
            <a:lvl7pPr indent="0" lvl="6"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7pPr>
            <a:lvl8pPr indent="0" lvl="7"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8pPr>
            <a:lvl9pPr indent="0" lvl="8"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9pPr>
          </a:lstStyle>
          <a:p>
            <a:pPr indent="0" lvl="0" marL="69215" rtl="0" algn="r">
              <a:spcBef>
                <a:spcPts val="0"/>
              </a:spcBef>
              <a:spcAft>
                <a:spcPts val="0"/>
              </a:spcAft>
              <a:buNone/>
            </a:pPr>
            <a:fld id="{00000000-1234-1234-1234-123412341234}" type="slidenum">
              <a:rPr lang="en-US"/>
              <a:t>‹#›</a:t>
            </a:fld>
            <a:endParaRPr sz="600">
              <a:solidFill>
                <a:schemeClr val="dk2"/>
              </a:solidFill>
              <a:latin typeface="Arial"/>
              <a:ea typeface="Arial"/>
              <a:cs typeface="Arial"/>
              <a:sym typeface="Arial"/>
            </a:endParaRPr>
          </a:p>
        </p:txBody>
      </p:sp>
      <p:sp>
        <p:nvSpPr>
          <p:cNvPr id="15" name="Google Shape;15;p2"/>
          <p:cNvSpPr/>
          <p:nvPr/>
        </p:nvSpPr>
        <p:spPr>
          <a:xfrm flipH="1" rot="10800000">
            <a:off x="-8250" y="3176275"/>
            <a:ext cx="4626600" cy="165600"/>
          </a:xfrm>
          <a:prstGeom prst="rect">
            <a:avLst/>
          </a:prstGeom>
          <a:solidFill>
            <a:srgbClr val="2D2D2D"/>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 name="Google Shape;16;p2"/>
          <p:cNvSpPr txBox="1"/>
          <p:nvPr/>
        </p:nvSpPr>
        <p:spPr>
          <a:xfrm>
            <a:off x="76250" y="3200866"/>
            <a:ext cx="801000" cy="111000"/>
          </a:xfrm>
          <a:prstGeom prst="rect">
            <a:avLst/>
          </a:prstGeom>
          <a:noFill/>
          <a:ln>
            <a:noFill/>
          </a:ln>
        </p:spPr>
        <p:txBody>
          <a:bodyPr anchorCtr="0" anchor="t" bIns="0" lIns="0" spcFirstLastPara="1" rIns="0" wrap="square" tIns="18400">
            <a:spAutoFit/>
          </a:bodyPr>
          <a:lstStyle/>
          <a:p>
            <a:pPr indent="0" lvl="0" marL="0" marR="0" rtl="0" algn="l">
              <a:lnSpc>
                <a:spcPct val="100000"/>
              </a:lnSpc>
              <a:spcBef>
                <a:spcPts val="0"/>
              </a:spcBef>
              <a:spcAft>
                <a:spcPts val="0"/>
              </a:spcAft>
              <a:buClr>
                <a:srgbClr val="000000"/>
              </a:buClr>
              <a:buSzPts val="2800"/>
              <a:buFont typeface="Arial"/>
              <a:buNone/>
            </a:pPr>
            <a:r>
              <a:rPr b="0" i="0" lang="en-US" sz="600" u="none" cap="none" strike="noStrike">
                <a:solidFill>
                  <a:schemeClr val="lt1"/>
                </a:solidFill>
                <a:latin typeface="Calibri"/>
                <a:ea typeface="Calibri"/>
                <a:cs typeface="Calibri"/>
                <a:sym typeface="Calibri"/>
              </a:rPr>
              <a:t>Pablo J Piccoli Bornia</a:t>
            </a:r>
            <a:endParaRPr b="0" i="0" sz="300" u="none" cap="none" strike="noStrik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7" name="Shape 17"/>
        <p:cNvGrpSpPr/>
        <p:nvPr/>
      </p:nvGrpSpPr>
      <p:grpSpPr>
        <a:xfrm>
          <a:off x="0" y="0"/>
          <a:ext cx="0" cy="0"/>
          <a:chOff x="0" y="0"/>
          <a:chExt cx="0" cy="0"/>
        </a:xfrm>
      </p:grpSpPr>
      <p:sp>
        <p:nvSpPr>
          <p:cNvPr id="18" name="Google Shape;18;p3"/>
          <p:cNvSpPr/>
          <p:nvPr/>
        </p:nvSpPr>
        <p:spPr>
          <a:xfrm>
            <a:off x="0" y="0"/>
            <a:ext cx="4608195" cy="3456304"/>
          </a:xfrm>
          <a:custGeom>
            <a:rect b="b" l="l" r="r" t="t"/>
            <a:pathLst>
              <a:path extrusionOk="0" h="3456304" w="4608195">
                <a:moveTo>
                  <a:pt x="4608004" y="0"/>
                </a:moveTo>
                <a:lnTo>
                  <a:pt x="0" y="0"/>
                </a:lnTo>
                <a:lnTo>
                  <a:pt x="0" y="3456000"/>
                </a:lnTo>
                <a:lnTo>
                  <a:pt x="4608004" y="3456000"/>
                </a:lnTo>
                <a:lnTo>
                  <a:pt x="4608004" y="0"/>
                </a:lnTo>
                <a:close/>
              </a:path>
            </a:pathLst>
          </a:custGeom>
          <a:solidFill>
            <a:srgbClr val="33333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txBox="1"/>
          <p:nvPr>
            <p:ph idx="11" type="ftr"/>
          </p:nvPr>
        </p:nvSpPr>
        <p:spPr>
          <a:xfrm>
            <a:off x="1567434" y="3218497"/>
            <a:ext cx="1475100" cy="173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3"/>
          <p:cNvSpPr txBox="1"/>
          <p:nvPr>
            <p:ph idx="10" type="dt"/>
          </p:nvPr>
        </p:nvSpPr>
        <p:spPr>
          <a:xfrm>
            <a:off x="230505" y="3218497"/>
            <a:ext cx="1060200" cy="173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p3"/>
          <p:cNvSpPr txBox="1"/>
          <p:nvPr>
            <p:ph idx="12" type="sldNum"/>
          </p:nvPr>
        </p:nvSpPr>
        <p:spPr>
          <a:xfrm>
            <a:off x="4398632" y="3341884"/>
            <a:ext cx="152400" cy="77100"/>
          </a:xfrm>
          <a:prstGeom prst="rect">
            <a:avLst/>
          </a:prstGeom>
          <a:noFill/>
          <a:ln>
            <a:noFill/>
          </a:ln>
        </p:spPr>
        <p:txBody>
          <a:bodyPr anchorCtr="0" anchor="t" bIns="0" lIns="0" spcFirstLastPara="1" rIns="0" wrap="square" tIns="0">
            <a:spAutoFit/>
          </a:bodyPr>
          <a:lstStyle>
            <a:lvl1pPr indent="0" lvl="0"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1pPr>
            <a:lvl2pPr indent="0" lvl="1"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2pPr>
            <a:lvl3pPr indent="0" lvl="2"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3pPr>
            <a:lvl4pPr indent="0" lvl="3"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4pPr>
            <a:lvl5pPr indent="0" lvl="4"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5pPr>
            <a:lvl6pPr indent="0" lvl="5"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6pPr>
            <a:lvl7pPr indent="0" lvl="6"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7pPr>
            <a:lvl8pPr indent="0" lvl="7"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8pPr>
            <a:lvl9pPr indent="0" lvl="8"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9pPr>
          </a:lstStyle>
          <a:p>
            <a:pPr indent="0" lvl="0" marL="69215" rtl="0" algn="r">
              <a:spcBef>
                <a:spcPts val="0"/>
              </a:spcBef>
              <a:spcAft>
                <a:spcPts val="0"/>
              </a:spcAft>
              <a:buNone/>
            </a:pPr>
            <a:fld id="{00000000-1234-1234-1234-123412341234}" type="slidenum">
              <a:rPr lang="en-US"/>
              <a:t>‹#›</a:t>
            </a:fld>
            <a:endParaRPr sz="600">
              <a:solidFill>
                <a:schemeClr val="dk2"/>
              </a:solidFill>
              <a:latin typeface="Arial"/>
              <a:ea typeface="Arial"/>
              <a:cs typeface="Arial"/>
              <a:sym typeface="Arial"/>
            </a:endParaRPr>
          </a:p>
        </p:txBody>
      </p:sp>
      <p:sp>
        <p:nvSpPr>
          <p:cNvPr id="22" name="Google Shape;22;p3"/>
          <p:cNvSpPr/>
          <p:nvPr/>
        </p:nvSpPr>
        <p:spPr>
          <a:xfrm flipH="1" rot="10800000">
            <a:off x="-8250" y="3176275"/>
            <a:ext cx="4626600" cy="165600"/>
          </a:xfrm>
          <a:prstGeom prst="rect">
            <a:avLst/>
          </a:prstGeom>
          <a:solidFill>
            <a:srgbClr val="2D2D2D"/>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 name="Google Shape;23;p3"/>
          <p:cNvSpPr txBox="1"/>
          <p:nvPr/>
        </p:nvSpPr>
        <p:spPr>
          <a:xfrm>
            <a:off x="76250" y="3200866"/>
            <a:ext cx="801000" cy="111000"/>
          </a:xfrm>
          <a:prstGeom prst="rect">
            <a:avLst/>
          </a:prstGeom>
          <a:noFill/>
          <a:ln>
            <a:noFill/>
          </a:ln>
        </p:spPr>
        <p:txBody>
          <a:bodyPr anchorCtr="0" anchor="t" bIns="0" lIns="0" spcFirstLastPara="1" rIns="0" wrap="square" tIns="18400">
            <a:spAutoFit/>
          </a:bodyPr>
          <a:lstStyle/>
          <a:p>
            <a:pPr indent="0" lvl="0" marL="0" marR="0" rtl="0" algn="l">
              <a:lnSpc>
                <a:spcPct val="100000"/>
              </a:lnSpc>
              <a:spcBef>
                <a:spcPts val="0"/>
              </a:spcBef>
              <a:spcAft>
                <a:spcPts val="0"/>
              </a:spcAft>
              <a:buClr>
                <a:srgbClr val="000000"/>
              </a:buClr>
              <a:buSzPts val="2800"/>
              <a:buFont typeface="Arial"/>
              <a:buNone/>
            </a:pPr>
            <a:r>
              <a:rPr b="0" i="0" lang="en-US" sz="600" u="none" cap="none" strike="noStrike">
                <a:solidFill>
                  <a:schemeClr val="lt1"/>
                </a:solidFill>
                <a:latin typeface="Calibri"/>
                <a:ea typeface="Calibri"/>
                <a:cs typeface="Calibri"/>
                <a:sym typeface="Calibri"/>
              </a:rPr>
              <a:t>Pablo J Piccoli Bornia</a:t>
            </a:r>
            <a:endParaRPr b="0" i="0" sz="300" u="none" cap="none" strike="noStrik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 name="Shape 24"/>
        <p:cNvGrpSpPr/>
        <p:nvPr/>
      </p:nvGrpSpPr>
      <p:grpSpPr>
        <a:xfrm>
          <a:off x="0" y="0"/>
          <a:ext cx="0" cy="0"/>
          <a:chOff x="0" y="0"/>
          <a:chExt cx="0" cy="0"/>
        </a:xfrm>
      </p:grpSpPr>
      <p:sp>
        <p:nvSpPr>
          <p:cNvPr id="25" name="Google Shape;25;p4"/>
          <p:cNvSpPr txBox="1"/>
          <p:nvPr>
            <p:ph type="ctrTitle"/>
          </p:nvPr>
        </p:nvSpPr>
        <p:spPr>
          <a:xfrm>
            <a:off x="95300" y="18464"/>
            <a:ext cx="736500" cy="191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b="0" i="0" sz="1100">
                <a:solidFill>
                  <a:srgbClr val="F4F2ED"/>
                </a:solidFill>
                <a:latin typeface="Tahoma"/>
                <a:ea typeface="Tahoma"/>
                <a:cs typeface="Tahoma"/>
                <a:sym typeface="Tahoma"/>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6" name="Google Shape;26;p4"/>
          <p:cNvSpPr txBox="1"/>
          <p:nvPr>
            <p:ph idx="1" type="subTitle"/>
          </p:nvPr>
        </p:nvSpPr>
        <p:spPr>
          <a:xfrm>
            <a:off x="691515" y="1938020"/>
            <a:ext cx="3227100" cy="865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000"/>
              <a:buFont typeface="Calibri"/>
              <a:buNone/>
              <a:defRPr i="0" sz="900">
                <a:solidFill>
                  <a:srgbClr val="333333"/>
                </a:solidFill>
                <a:latin typeface="Calibri"/>
                <a:ea typeface="Calibri"/>
                <a:cs typeface="Calibri"/>
                <a:sym typeface="Calibri"/>
              </a:defRPr>
            </a:lvl1pPr>
            <a:lvl2pPr lvl="1" algn="l">
              <a:lnSpc>
                <a:spcPct val="115000"/>
              </a:lnSpc>
              <a:spcBef>
                <a:spcPts val="700"/>
              </a:spcBef>
              <a:spcAft>
                <a:spcPts val="0"/>
              </a:spcAft>
              <a:buSzPts val="800"/>
              <a:buNone/>
              <a:defRPr/>
            </a:lvl2pPr>
            <a:lvl3pPr lvl="2" algn="l">
              <a:lnSpc>
                <a:spcPct val="115000"/>
              </a:lnSpc>
              <a:spcBef>
                <a:spcPts val="700"/>
              </a:spcBef>
              <a:spcAft>
                <a:spcPts val="0"/>
              </a:spcAft>
              <a:buSzPts val="800"/>
              <a:buNone/>
              <a:defRPr/>
            </a:lvl3pPr>
            <a:lvl4pPr lvl="3" algn="l">
              <a:lnSpc>
                <a:spcPct val="115000"/>
              </a:lnSpc>
              <a:spcBef>
                <a:spcPts val="700"/>
              </a:spcBef>
              <a:spcAft>
                <a:spcPts val="0"/>
              </a:spcAft>
              <a:buSzPts val="800"/>
              <a:buNone/>
              <a:defRPr/>
            </a:lvl4pPr>
            <a:lvl5pPr lvl="4" algn="l">
              <a:lnSpc>
                <a:spcPct val="115000"/>
              </a:lnSpc>
              <a:spcBef>
                <a:spcPts val="700"/>
              </a:spcBef>
              <a:spcAft>
                <a:spcPts val="0"/>
              </a:spcAft>
              <a:buSzPts val="800"/>
              <a:buNone/>
              <a:defRPr/>
            </a:lvl5pPr>
            <a:lvl6pPr lvl="5" algn="l">
              <a:lnSpc>
                <a:spcPct val="115000"/>
              </a:lnSpc>
              <a:spcBef>
                <a:spcPts val="700"/>
              </a:spcBef>
              <a:spcAft>
                <a:spcPts val="0"/>
              </a:spcAft>
              <a:buSzPts val="800"/>
              <a:buNone/>
              <a:defRPr/>
            </a:lvl6pPr>
            <a:lvl7pPr lvl="6" algn="l">
              <a:lnSpc>
                <a:spcPct val="115000"/>
              </a:lnSpc>
              <a:spcBef>
                <a:spcPts val="700"/>
              </a:spcBef>
              <a:spcAft>
                <a:spcPts val="0"/>
              </a:spcAft>
              <a:buSzPts val="800"/>
              <a:buNone/>
              <a:defRPr/>
            </a:lvl7pPr>
            <a:lvl8pPr lvl="7" algn="l">
              <a:lnSpc>
                <a:spcPct val="115000"/>
              </a:lnSpc>
              <a:spcBef>
                <a:spcPts val="700"/>
              </a:spcBef>
              <a:spcAft>
                <a:spcPts val="0"/>
              </a:spcAft>
              <a:buSzPts val="800"/>
              <a:buNone/>
              <a:defRPr/>
            </a:lvl8pPr>
            <a:lvl9pPr lvl="8" algn="l">
              <a:lnSpc>
                <a:spcPct val="115000"/>
              </a:lnSpc>
              <a:spcBef>
                <a:spcPts val="700"/>
              </a:spcBef>
              <a:spcAft>
                <a:spcPts val="700"/>
              </a:spcAft>
              <a:buSzPts val="800"/>
              <a:buNone/>
              <a:defRPr/>
            </a:lvl9pPr>
          </a:lstStyle>
          <a:p/>
        </p:txBody>
      </p:sp>
      <p:sp>
        <p:nvSpPr>
          <p:cNvPr id="27" name="Google Shape;27;p4"/>
          <p:cNvSpPr txBox="1"/>
          <p:nvPr>
            <p:ph idx="11" type="ftr"/>
          </p:nvPr>
        </p:nvSpPr>
        <p:spPr>
          <a:xfrm>
            <a:off x="1567434" y="3218497"/>
            <a:ext cx="1475100" cy="173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4"/>
          <p:cNvSpPr txBox="1"/>
          <p:nvPr>
            <p:ph idx="10" type="dt"/>
          </p:nvPr>
        </p:nvSpPr>
        <p:spPr>
          <a:xfrm>
            <a:off x="230505" y="3218497"/>
            <a:ext cx="1060200" cy="173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p4"/>
          <p:cNvSpPr txBox="1"/>
          <p:nvPr>
            <p:ph idx="12" type="sldNum"/>
          </p:nvPr>
        </p:nvSpPr>
        <p:spPr>
          <a:xfrm>
            <a:off x="4398632" y="3341884"/>
            <a:ext cx="152400" cy="77100"/>
          </a:xfrm>
          <a:prstGeom prst="rect">
            <a:avLst/>
          </a:prstGeom>
          <a:noFill/>
          <a:ln>
            <a:noFill/>
          </a:ln>
        </p:spPr>
        <p:txBody>
          <a:bodyPr anchorCtr="0" anchor="t" bIns="0" lIns="0" spcFirstLastPara="1" rIns="0" wrap="square" tIns="0">
            <a:spAutoFit/>
          </a:bodyPr>
          <a:lstStyle>
            <a:lvl1pPr indent="0" lvl="0"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1pPr>
            <a:lvl2pPr indent="0" lvl="1"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2pPr>
            <a:lvl3pPr indent="0" lvl="2"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3pPr>
            <a:lvl4pPr indent="0" lvl="3"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4pPr>
            <a:lvl5pPr indent="0" lvl="4"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5pPr>
            <a:lvl6pPr indent="0" lvl="5"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6pPr>
            <a:lvl7pPr indent="0" lvl="6"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7pPr>
            <a:lvl8pPr indent="0" lvl="7"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8pPr>
            <a:lvl9pPr indent="0" lvl="8"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9pPr>
          </a:lstStyle>
          <a:p>
            <a:pPr indent="0" lvl="0" marL="69215" rtl="0" algn="r">
              <a:spcBef>
                <a:spcPts val="0"/>
              </a:spcBef>
              <a:spcAft>
                <a:spcPts val="0"/>
              </a:spcAft>
              <a:buNone/>
            </a:pPr>
            <a:fld id="{00000000-1234-1234-1234-123412341234}" type="slidenum">
              <a:rPr lang="en-US"/>
              <a:t>‹#›</a:t>
            </a:fld>
            <a:endParaRPr sz="600">
              <a:solidFill>
                <a:schemeClr val="dk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30" name="Shape 30"/>
        <p:cNvGrpSpPr/>
        <p:nvPr/>
      </p:nvGrpSpPr>
      <p:grpSpPr>
        <a:xfrm>
          <a:off x="0" y="0"/>
          <a:ext cx="0" cy="0"/>
          <a:chOff x="0" y="0"/>
          <a:chExt cx="0" cy="0"/>
        </a:xfrm>
      </p:grpSpPr>
      <p:sp>
        <p:nvSpPr>
          <p:cNvPr id="31" name="Google Shape;31;p5"/>
          <p:cNvSpPr/>
          <p:nvPr/>
        </p:nvSpPr>
        <p:spPr>
          <a:xfrm>
            <a:off x="0" y="0"/>
            <a:ext cx="4608195" cy="3456304"/>
          </a:xfrm>
          <a:custGeom>
            <a:rect b="b" l="l" r="r" t="t"/>
            <a:pathLst>
              <a:path extrusionOk="0" h="3456304" w="4608195">
                <a:moveTo>
                  <a:pt x="4608004" y="0"/>
                </a:moveTo>
                <a:lnTo>
                  <a:pt x="0" y="0"/>
                </a:lnTo>
                <a:lnTo>
                  <a:pt x="0" y="3456000"/>
                </a:lnTo>
                <a:lnTo>
                  <a:pt x="4608004" y="3456000"/>
                </a:lnTo>
                <a:lnTo>
                  <a:pt x="4608004" y="0"/>
                </a:lnTo>
                <a:close/>
              </a:path>
            </a:pathLst>
          </a:custGeom>
          <a:solidFill>
            <a:srgbClr val="33333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5"/>
          <p:cNvSpPr txBox="1"/>
          <p:nvPr>
            <p:ph type="title"/>
          </p:nvPr>
        </p:nvSpPr>
        <p:spPr>
          <a:xfrm>
            <a:off x="95300" y="18464"/>
            <a:ext cx="3158400" cy="191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b="0" i="0" sz="1100">
                <a:solidFill>
                  <a:srgbClr val="F4F2ED"/>
                </a:solidFill>
                <a:latin typeface="Tahoma"/>
                <a:ea typeface="Tahoma"/>
                <a:cs typeface="Tahoma"/>
                <a:sym typeface="Tahoma"/>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3" name="Google Shape;33;p5"/>
          <p:cNvSpPr txBox="1"/>
          <p:nvPr>
            <p:ph idx="11" type="ftr"/>
          </p:nvPr>
        </p:nvSpPr>
        <p:spPr>
          <a:xfrm>
            <a:off x="1567434" y="3218497"/>
            <a:ext cx="1475100" cy="173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p5"/>
          <p:cNvSpPr txBox="1"/>
          <p:nvPr>
            <p:ph idx="10" type="dt"/>
          </p:nvPr>
        </p:nvSpPr>
        <p:spPr>
          <a:xfrm>
            <a:off x="230505" y="3218497"/>
            <a:ext cx="1060200" cy="173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p5"/>
          <p:cNvSpPr txBox="1"/>
          <p:nvPr>
            <p:ph idx="12" type="sldNum"/>
          </p:nvPr>
        </p:nvSpPr>
        <p:spPr>
          <a:xfrm>
            <a:off x="4398632" y="3341884"/>
            <a:ext cx="152400" cy="77100"/>
          </a:xfrm>
          <a:prstGeom prst="rect">
            <a:avLst/>
          </a:prstGeom>
          <a:noFill/>
          <a:ln>
            <a:noFill/>
          </a:ln>
        </p:spPr>
        <p:txBody>
          <a:bodyPr anchorCtr="0" anchor="t" bIns="0" lIns="0" spcFirstLastPara="1" rIns="0" wrap="square" tIns="0">
            <a:spAutoFit/>
          </a:bodyPr>
          <a:lstStyle>
            <a:lvl1pPr indent="0" lvl="0"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1pPr>
            <a:lvl2pPr indent="0" lvl="1"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2pPr>
            <a:lvl3pPr indent="0" lvl="2"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3pPr>
            <a:lvl4pPr indent="0" lvl="3"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4pPr>
            <a:lvl5pPr indent="0" lvl="4"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5pPr>
            <a:lvl6pPr indent="0" lvl="5"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6pPr>
            <a:lvl7pPr indent="0" lvl="6"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7pPr>
            <a:lvl8pPr indent="0" lvl="7"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8pPr>
            <a:lvl9pPr indent="0" lvl="8" marL="69215" marR="0" algn="r">
              <a:lnSpc>
                <a:spcPct val="100000"/>
              </a:lnSpc>
              <a:spcBef>
                <a:spcPts val="0"/>
              </a:spcBef>
              <a:spcAft>
                <a:spcPts val="0"/>
              </a:spcAft>
              <a:buClr>
                <a:srgbClr val="000000"/>
              </a:buClr>
              <a:buSzPts val="500"/>
              <a:buFont typeface="Arial"/>
              <a:buNone/>
              <a:defRPr b="0" i="0" sz="500" u="none" cap="none" strike="noStrike">
                <a:solidFill>
                  <a:srgbClr val="333333"/>
                </a:solidFill>
                <a:latin typeface="Times New Roman"/>
                <a:ea typeface="Times New Roman"/>
                <a:cs typeface="Times New Roman"/>
                <a:sym typeface="Times New Roman"/>
              </a:defRPr>
            </a:lvl9pPr>
          </a:lstStyle>
          <a:p>
            <a:pPr indent="0" lvl="0" marL="69215" rtl="0" algn="r">
              <a:spcBef>
                <a:spcPts val="0"/>
              </a:spcBef>
              <a:spcAft>
                <a:spcPts val="0"/>
              </a:spcAft>
              <a:buNone/>
            </a:pPr>
            <a:fld id="{00000000-1234-1234-1234-123412341234}" type="slidenum">
              <a:rPr lang="en-US"/>
              <a:t>‹#›</a:t>
            </a:fld>
            <a:endParaRPr sz="600">
              <a:solidFill>
                <a:schemeClr val="dk2"/>
              </a:solidFill>
              <a:latin typeface="Arial"/>
              <a:ea typeface="Arial"/>
              <a:cs typeface="Arial"/>
              <a:sym typeface="Arial"/>
            </a:endParaRPr>
          </a:p>
        </p:txBody>
      </p:sp>
      <p:sp>
        <p:nvSpPr>
          <p:cNvPr id="36" name="Google Shape;36;p5"/>
          <p:cNvSpPr/>
          <p:nvPr/>
        </p:nvSpPr>
        <p:spPr>
          <a:xfrm flipH="1" rot="10800000">
            <a:off x="-8250" y="3176275"/>
            <a:ext cx="4626600" cy="165600"/>
          </a:xfrm>
          <a:prstGeom prst="rect">
            <a:avLst/>
          </a:prstGeom>
          <a:solidFill>
            <a:srgbClr val="2D2D2D"/>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 name="Google Shape;37;p5"/>
          <p:cNvSpPr txBox="1"/>
          <p:nvPr/>
        </p:nvSpPr>
        <p:spPr>
          <a:xfrm>
            <a:off x="76250" y="3200866"/>
            <a:ext cx="801000" cy="111000"/>
          </a:xfrm>
          <a:prstGeom prst="rect">
            <a:avLst/>
          </a:prstGeom>
          <a:noFill/>
          <a:ln>
            <a:noFill/>
          </a:ln>
        </p:spPr>
        <p:txBody>
          <a:bodyPr anchorCtr="0" anchor="t" bIns="0" lIns="0" spcFirstLastPara="1" rIns="0" wrap="square" tIns="18400">
            <a:spAutoFit/>
          </a:bodyPr>
          <a:lstStyle/>
          <a:p>
            <a:pPr indent="0" lvl="0" marL="0" marR="0" rtl="0" algn="l">
              <a:lnSpc>
                <a:spcPct val="100000"/>
              </a:lnSpc>
              <a:spcBef>
                <a:spcPts val="0"/>
              </a:spcBef>
              <a:spcAft>
                <a:spcPts val="0"/>
              </a:spcAft>
              <a:buClr>
                <a:srgbClr val="000000"/>
              </a:buClr>
              <a:buSzPts val="2800"/>
              <a:buFont typeface="Arial"/>
              <a:buNone/>
            </a:pPr>
            <a:r>
              <a:rPr b="0" i="0" lang="en-US" sz="600" u="none" cap="none" strike="noStrike">
                <a:solidFill>
                  <a:schemeClr val="lt1"/>
                </a:solidFill>
                <a:latin typeface="Calibri"/>
                <a:ea typeface="Calibri"/>
                <a:cs typeface="Calibri"/>
                <a:sym typeface="Calibri"/>
              </a:rPr>
              <a:t>Pablo J Piccoli Bornia</a:t>
            </a:r>
            <a:endParaRPr b="0" i="0" sz="300" u="none" cap="none" strike="noStrik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6"/>
          <p:cNvSpPr txBox="1"/>
          <p:nvPr>
            <p:ph type="ctrTitle"/>
          </p:nvPr>
        </p:nvSpPr>
        <p:spPr>
          <a:xfrm>
            <a:off x="157153" y="500979"/>
            <a:ext cx="4295700" cy="1381200"/>
          </a:xfrm>
          <a:prstGeom prst="rect">
            <a:avLst/>
          </a:prstGeom>
          <a:noFill/>
          <a:ln>
            <a:noFill/>
          </a:ln>
        </p:spPr>
        <p:txBody>
          <a:bodyPr anchorCtr="0" anchor="b" bIns="51225" lIns="51225" spcFirstLastPara="1" rIns="51225" wrap="square" tIns="51225">
            <a:normAutofit/>
          </a:bodyPr>
          <a:lstStyle>
            <a:lvl1pPr lvl="0" algn="ctr">
              <a:lnSpc>
                <a:spcPct val="100000"/>
              </a:lnSpc>
              <a:spcBef>
                <a:spcPts val="0"/>
              </a:spcBef>
              <a:spcAft>
                <a:spcPts val="0"/>
              </a:spcAft>
              <a:buSzPts val="2900"/>
              <a:buNone/>
              <a:defRPr sz="29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
        <p:nvSpPr>
          <p:cNvPr id="40" name="Google Shape;40;p6"/>
          <p:cNvSpPr txBox="1"/>
          <p:nvPr>
            <p:ph idx="1" type="subTitle"/>
          </p:nvPr>
        </p:nvSpPr>
        <p:spPr>
          <a:xfrm>
            <a:off x="157149" y="1906911"/>
            <a:ext cx="4295700" cy="533400"/>
          </a:xfrm>
          <a:prstGeom prst="rect">
            <a:avLst/>
          </a:prstGeom>
          <a:noFill/>
          <a:ln>
            <a:noFill/>
          </a:ln>
        </p:spPr>
        <p:txBody>
          <a:bodyPr anchorCtr="0" anchor="t" bIns="51225" lIns="51225" spcFirstLastPara="1" rIns="51225" wrap="square" tIns="51225">
            <a:norm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1" name="Google Shape;41;p6"/>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7"/>
          <p:cNvSpPr txBox="1"/>
          <p:nvPr>
            <p:ph type="title"/>
          </p:nvPr>
        </p:nvSpPr>
        <p:spPr>
          <a:xfrm>
            <a:off x="157149" y="1447177"/>
            <a:ext cx="4295700" cy="566400"/>
          </a:xfrm>
          <a:prstGeom prst="rect">
            <a:avLst/>
          </a:prstGeom>
          <a:noFill/>
          <a:ln>
            <a:noFill/>
          </a:ln>
        </p:spPr>
        <p:txBody>
          <a:bodyPr anchorCtr="0" anchor="ctr" bIns="51225" lIns="51225" spcFirstLastPara="1" rIns="51225" wrap="square" tIns="51225">
            <a:normAutofit/>
          </a:bodyPr>
          <a:lstStyle>
            <a:lvl1pPr lvl="0" algn="ctr">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44" name="Google Shape;44;p7"/>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sp>
        <p:nvSpPr>
          <p:cNvPr id="46" name="Google Shape;46;p8"/>
          <p:cNvSpPr txBox="1"/>
          <p:nvPr>
            <p:ph type="title"/>
          </p:nvPr>
        </p:nvSpPr>
        <p:spPr>
          <a:xfrm>
            <a:off x="157149" y="299430"/>
            <a:ext cx="4295700" cy="385200"/>
          </a:xfrm>
          <a:prstGeom prst="rect">
            <a:avLst/>
          </a:prstGeom>
          <a:noFill/>
          <a:ln>
            <a:noFill/>
          </a:ln>
        </p:spPr>
        <p:txBody>
          <a:bodyPr anchorCtr="0" anchor="t" bIns="51225" lIns="51225" spcFirstLastPara="1" rIns="51225" wrap="square" tIns="51225">
            <a:norm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7" name="Google Shape;47;p8"/>
          <p:cNvSpPr txBox="1"/>
          <p:nvPr>
            <p:ph idx="1" type="body"/>
          </p:nvPr>
        </p:nvSpPr>
        <p:spPr>
          <a:xfrm>
            <a:off x="157149" y="775431"/>
            <a:ext cx="4295700" cy="2298600"/>
          </a:xfrm>
          <a:prstGeom prst="rect">
            <a:avLst/>
          </a:prstGeom>
          <a:noFill/>
          <a:ln>
            <a:noFill/>
          </a:ln>
        </p:spPr>
        <p:txBody>
          <a:bodyPr anchorCtr="0" anchor="t" bIns="51225" lIns="51225" spcFirstLastPara="1" rIns="51225" wrap="square" tIns="512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a:lvl3pPr>
            <a:lvl4pPr indent="-279400" lvl="3" marL="1828800" algn="l">
              <a:lnSpc>
                <a:spcPct val="115000"/>
              </a:lnSpc>
              <a:spcBef>
                <a:spcPts val="0"/>
              </a:spcBef>
              <a:spcAft>
                <a:spcPts val="0"/>
              </a:spcAft>
              <a:buSzPts val="800"/>
              <a:buChar char="●"/>
              <a:defRPr/>
            </a:lvl4pPr>
            <a:lvl5pPr indent="-279400" lvl="4" marL="2286000" algn="l">
              <a:lnSpc>
                <a:spcPct val="115000"/>
              </a:lnSpc>
              <a:spcBef>
                <a:spcPts val="0"/>
              </a:spcBef>
              <a:spcAft>
                <a:spcPts val="0"/>
              </a:spcAft>
              <a:buSzPts val="800"/>
              <a:buChar char="○"/>
              <a:defRPr/>
            </a:lvl5pPr>
            <a:lvl6pPr indent="-279400" lvl="5" marL="2743200" algn="l">
              <a:lnSpc>
                <a:spcPct val="115000"/>
              </a:lnSpc>
              <a:spcBef>
                <a:spcPts val="0"/>
              </a:spcBef>
              <a:spcAft>
                <a:spcPts val="0"/>
              </a:spcAft>
              <a:buSzPts val="800"/>
              <a:buChar char="■"/>
              <a:defRPr/>
            </a:lvl6pPr>
            <a:lvl7pPr indent="-279400" lvl="6" marL="3200400" algn="l">
              <a:lnSpc>
                <a:spcPct val="115000"/>
              </a:lnSpc>
              <a:spcBef>
                <a:spcPts val="0"/>
              </a:spcBef>
              <a:spcAft>
                <a:spcPts val="0"/>
              </a:spcAft>
              <a:buSzPts val="800"/>
              <a:buChar char="●"/>
              <a:defRPr/>
            </a:lvl7pPr>
            <a:lvl8pPr indent="-279400" lvl="7" marL="3657600" algn="l">
              <a:lnSpc>
                <a:spcPct val="115000"/>
              </a:lnSpc>
              <a:spcBef>
                <a:spcPts val="0"/>
              </a:spcBef>
              <a:spcAft>
                <a:spcPts val="0"/>
              </a:spcAft>
              <a:buSzPts val="800"/>
              <a:buChar char="○"/>
              <a:defRPr/>
            </a:lvl8pPr>
            <a:lvl9pPr indent="-279400" lvl="8" marL="4114800" algn="l">
              <a:lnSpc>
                <a:spcPct val="115000"/>
              </a:lnSpc>
              <a:spcBef>
                <a:spcPts val="0"/>
              </a:spcBef>
              <a:spcAft>
                <a:spcPts val="0"/>
              </a:spcAft>
              <a:buSzPts val="800"/>
              <a:buChar char="■"/>
              <a:defRPr/>
            </a:lvl9pPr>
          </a:lstStyle>
          <a:p/>
        </p:txBody>
      </p:sp>
      <p:sp>
        <p:nvSpPr>
          <p:cNvPr id="48" name="Google Shape;48;p8"/>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p9"/>
          <p:cNvSpPr txBox="1"/>
          <p:nvPr>
            <p:ph type="title"/>
          </p:nvPr>
        </p:nvSpPr>
        <p:spPr>
          <a:xfrm>
            <a:off x="157149" y="299430"/>
            <a:ext cx="4295700" cy="385200"/>
          </a:xfrm>
          <a:prstGeom prst="rect">
            <a:avLst/>
          </a:prstGeom>
          <a:noFill/>
          <a:ln>
            <a:noFill/>
          </a:ln>
        </p:spPr>
        <p:txBody>
          <a:bodyPr anchorCtr="0" anchor="t" bIns="51225" lIns="51225" spcFirstLastPara="1" rIns="51225" wrap="square" tIns="51225">
            <a:norm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51" name="Google Shape;51;p9"/>
          <p:cNvSpPr txBox="1"/>
          <p:nvPr>
            <p:ph idx="1" type="body"/>
          </p:nvPr>
        </p:nvSpPr>
        <p:spPr>
          <a:xfrm>
            <a:off x="157149" y="775431"/>
            <a:ext cx="2016600" cy="2298600"/>
          </a:xfrm>
          <a:prstGeom prst="rect">
            <a:avLst/>
          </a:prstGeom>
          <a:noFill/>
          <a:ln>
            <a:noFill/>
          </a:ln>
        </p:spPr>
        <p:txBody>
          <a:bodyPr anchorCtr="0" anchor="t" bIns="51225" lIns="51225" spcFirstLastPara="1" rIns="51225" wrap="square" tIns="51225">
            <a:normAutofit/>
          </a:bodyPr>
          <a:lstStyle>
            <a:lvl1pPr indent="-279400" lvl="0" marL="457200" algn="l">
              <a:lnSpc>
                <a:spcPct val="115000"/>
              </a:lnSpc>
              <a:spcBef>
                <a:spcPts val="0"/>
              </a:spcBef>
              <a:spcAft>
                <a:spcPts val="0"/>
              </a:spcAft>
              <a:buSzPts val="800"/>
              <a:buChar char="●"/>
              <a:defRPr sz="8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52" name="Google Shape;52;p9"/>
          <p:cNvSpPr txBox="1"/>
          <p:nvPr>
            <p:ph idx="2" type="body"/>
          </p:nvPr>
        </p:nvSpPr>
        <p:spPr>
          <a:xfrm>
            <a:off x="2436335" y="775431"/>
            <a:ext cx="2016600" cy="2298600"/>
          </a:xfrm>
          <a:prstGeom prst="rect">
            <a:avLst/>
          </a:prstGeom>
          <a:noFill/>
          <a:ln>
            <a:noFill/>
          </a:ln>
        </p:spPr>
        <p:txBody>
          <a:bodyPr anchorCtr="0" anchor="t" bIns="51225" lIns="51225" spcFirstLastPara="1" rIns="51225" wrap="square" tIns="51225">
            <a:normAutofit/>
          </a:bodyPr>
          <a:lstStyle>
            <a:lvl1pPr indent="-279400" lvl="0" marL="457200" algn="l">
              <a:lnSpc>
                <a:spcPct val="115000"/>
              </a:lnSpc>
              <a:spcBef>
                <a:spcPts val="0"/>
              </a:spcBef>
              <a:spcAft>
                <a:spcPts val="0"/>
              </a:spcAft>
              <a:buSzPts val="800"/>
              <a:buChar char="●"/>
              <a:defRPr sz="8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53" name="Google Shape;53;p9"/>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0"/>
          <p:cNvSpPr txBox="1"/>
          <p:nvPr>
            <p:ph type="title"/>
          </p:nvPr>
        </p:nvSpPr>
        <p:spPr>
          <a:xfrm>
            <a:off x="157149" y="299430"/>
            <a:ext cx="4295700" cy="385200"/>
          </a:xfrm>
          <a:prstGeom prst="rect">
            <a:avLst/>
          </a:prstGeom>
          <a:noFill/>
          <a:ln>
            <a:noFill/>
          </a:ln>
        </p:spPr>
        <p:txBody>
          <a:bodyPr anchorCtr="0" anchor="t" bIns="51225" lIns="51225" spcFirstLastPara="1" rIns="51225" wrap="square" tIns="51225">
            <a:norm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56" name="Google Shape;56;p10"/>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7" name="Shape 57"/>
        <p:cNvGrpSpPr/>
        <p:nvPr/>
      </p:nvGrpSpPr>
      <p:grpSpPr>
        <a:xfrm>
          <a:off x="0" y="0"/>
          <a:ext cx="0" cy="0"/>
          <a:chOff x="0" y="0"/>
          <a:chExt cx="0" cy="0"/>
        </a:xfrm>
      </p:grpSpPr>
      <p:sp>
        <p:nvSpPr>
          <p:cNvPr id="58" name="Google Shape;58;p11"/>
          <p:cNvSpPr txBox="1"/>
          <p:nvPr>
            <p:ph type="title"/>
          </p:nvPr>
        </p:nvSpPr>
        <p:spPr>
          <a:xfrm>
            <a:off x="157149" y="373830"/>
            <a:ext cx="1415700" cy="508500"/>
          </a:xfrm>
          <a:prstGeom prst="rect">
            <a:avLst/>
          </a:prstGeom>
          <a:noFill/>
          <a:ln>
            <a:noFill/>
          </a:ln>
        </p:spPr>
        <p:txBody>
          <a:bodyPr anchorCtr="0" anchor="b" bIns="51225" lIns="51225" spcFirstLastPara="1" rIns="51225" wrap="square" tIns="51225">
            <a:norm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59" name="Google Shape;59;p11"/>
          <p:cNvSpPr txBox="1"/>
          <p:nvPr>
            <p:ph idx="1" type="body"/>
          </p:nvPr>
        </p:nvSpPr>
        <p:spPr>
          <a:xfrm>
            <a:off x="157149" y="934978"/>
            <a:ext cx="1415700" cy="2139300"/>
          </a:xfrm>
          <a:prstGeom prst="rect">
            <a:avLst/>
          </a:prstGeom>
          <a:noFill/>
          <a:ln>
            <a:noFill/>
          </a:ln>
        </p:spPr>
        <p:txBody>
          <a:bodyPr anchorCtr="0" anchor="t" bIns="51225" lIns="51225" spcFirstLastPara="1" rIns="51225" wrap="square" tIns="51225">
            <a:normAutofit/>
          </a:bodyPr>
          <a:lstStyle>
            <a:lvl1pPr indent="-273050" lvl="0" marL="457200" algn="l">
              <a:lnSpc>
                <a:spcPct val="115000"/>
              </a:lnSpc>
              <a:spcBef>
                <a:spcPts val="0"/>
              </a:spcBef>
              <a:spcAft>
                <a:spcPts val="0"/>
              </a:spcAft>
              <a:buSzPts val="700"/>
              <a:buChar char="●"/>
              <a:defRPr sz="7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60" name="Google Shape;60;p11"/>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 name="Shape 61"/>
        <p:cNvGrpSpPr/>
        <p:nvPr/>
      </p:nvGrpSpPr>
      <p:grpSpPr>
        <a:xfrm>
          <a:off x="0" y="0"/>
          <a:ext cx="0" cy="0"/>
          <a:chOff x="0" y="0"/>
          <a:chExt cx="0" cy="0"/>
        </a:xfrm>
      </p:grpSpPr>
      <p:sp>
        <p:nvSpPr>
          <p:cNvPr id="62" name="Google Shape;62;p12"/>
          <p:cNvSpPr txBox="1"/>
          <p:nvPr>
            <p:ph type="title"/>
          </p:nvPr>
        </p:nvSpPr>
        <p:spPr>
          <a:xfrm>
            <a:off x="247168" y="302879"/>
            <a:ext cx="3210300" cy="2752500"/>
          </a:xfrm>
          <a:prstGeom prst="rect">
            <a:avLst/>
          </a:prstGeom>
          <a:noFill/>
          <a:ln>
            <a:noFill/>
          </a:ln>
        </p:spPr>
        <p:txBody>
          <a:bodyPr anchorCtr="0" anchor="ctr" bIns="51225" lIns="51225" spcFirstLastPara="1" rIns="51225" wrap="square" tIns="51225">
            <a:norm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3" name="Google Shape;63;p12"/>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4" name="Shape 64"/>
        <p:cNvGrpSpPr/>
        <p:nvPr/>
      </p:nvGrpSpPr>
      <p:grpSpPr>
        <a:xfrm>
          <a:off x="0" y="0"/>
          <a:ext cx="0" cy="0"/>
          <a:chOff x="0" y="0"/>
          <a:chExt cx="0" cy="0"/>
        </a:xfrm>
      </p:grpSpPr>
      <p:sp>
        <p:nvSpPr>
          <p:cNvPr id="65" name="Google Shape;65;p13"/>
          <p:cNvSpPr/>
          <p:nvPr/>
        </p:nvSpPr>
        <p:spPr>
          <a:xfrm>
            <a:off x="2305050" y="-84"/>
            <a:ext cx="2305200" cy="3460800"/>
          </a:xfrm>
          <a:prstGeom prst="rect">
            <a:avLst/>
          </a:prstGeom>
          <a:solidFill>
            <a:schemeClr val="lt2"/>
          </a:solidFill>
          <a:ln>
            <a:noFill/>
          </a:ln>
        </p:spPr>
        <p:txBody>
          <a:bodyPr anchorCtr="0" anchor="ctr" bIns="51225" lIns="51225" spcFirstLastPara="1" rIns="51225" wrap="square" tIns="5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3"/>
          <p:cNvSpPr txBox="1"/>
          <p:nvPr>
            <p:ph type="title"/>
          </p:nvPr>
        </p:nvSpPr>
        <p:spPr>
          <a:xfrm>
            <a:off x="133856" y="829729"/>
            <a:ext cx="2039400" cy="997500"/>
          </a:xfrm>
          <a:prstGeom prst="rect">
            <a:avLst/>
          </a:prstGeom>
          <a:noFill/>
          <a:ln>
            <a:noFill/>
          </a:ln>
        </p:spPr>
        <p:txBody>
          <a:bodyPr anchorCtr="0" anchor="b" bIns="51225" lIns="51225" spcFirstLastPara="1" rIns="51225" wrap="square" tIns="512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7" name="Google Shape;67;p13"/>
          <p:cNvSpPr txBox="1"/>
          <p:nvPr>
            <p:ph idx="1" type="subTitle"/>
          </p:nvPr>
        </p:nvSpPr>
        <p:spPr>
          <a:xfrm>
            <a:off x="133856" y="1886020"/>
            <a:ext cx="2039400" cy="831000"/>
          </a:xfrm>
          <a:prstGeom prst="rect">
            <a:avLst/>
          </a:prstGeom>
          <a:noFill/>
          <a:ln>
            <a:noFill/>
          </a:ln>
        </p:spPr>
        <p:txBody>
          <a:bodyPr anchorCtr="0" anchor="t" bIns="51225" lIns="51225" spcFirstLastPara="1" rIns="51225" wrap="square" tIns="51225">
            <a:norm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68" name="Google Shape;68;p13"/>
          <p:cNvSpPr txBox="1"/>
          <p:nvPr>
            <p:ph idx="2" type="body"/>
          </p:nvPr>
        </p:nvSpPr>
        <p:spPr>
          <a:xfrm>
            <a:off x="2490331" y="487186"/>
            <a:ext cx="1934400" cy="2486100"/>
          </a:xfrm>
          <a:prstGeom prst="rect">
            <a:avLst/>
          </a:prstGeom>
          <a:noFill/>
          <a:ln>
            <a:noFill/>
          </a:ln>
        </p:spPr>
        <p:txBody>
          <a:bodyPr anchorCtr="0" anchor="ctr" bIns="51225" lIns="51225" spcFirstLastPara="1" rIns="51225" wrap="square" tIns="512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a:lvl3pPr>
            <a:lvl4pPr indent="-279400" lvl="3" marL="1828800" algn="l">
              <a:lnSpc>
                <a:spcPct val="115000"/>
              </a:lnSpc>
              <a:spcBef>
                <a:spcPts val="0"/>
              </a:spcBef>
              <a:spcAft>
                <a:spcPts val="0"/>
              </a:spcAft>
              <a:buSzPts val="800"/>
              <a:buChar char="●"/>
              <a:defRPr/>
            </a:lvl4pPr>
            <a:lvl5pPr indent="-279400" lvl="4" marL="2286000" algn="l">
              <a:lnSpc>
                <a:spcPct val="115000"/>
              </a:lnSpc>
              <a:spcBef>
                <a:spcPts val="0"/>
              </a:spcBef>
              <a:spcAft>
                <a:spcPts val="0"/>
              </a:spcAft>
              <a:buSzPts val="800"/>
              <a:buChar char="○"/>
              <a:defRPr/>
            </a:lvl5pPr>
            <a:lvl6pPr indent="-279400" lvl="5" marL="2743200" algn="l">
              <a:lnSpc>
                <a:spcPct val="115000"/>
              </a:lnSpc>
              <a:spcBef>
                <a:spcPts val="0"/>
              </a:spcBef>
              <a:spcAft>
                <a:spcPts val="0"/>
              </a:spcAft>
              <a:buSzPts val="800"/>
              <a:buChar char="■"/>
              <a:defRPr/>
            </a:lvl6pPr>
            <a:lvl7pPr indent="-279400" lvl="6" marL="3200400" algn="l">
              <a:lnSpc>
                <a:spcPct val="115000"/>
              </a:lnSpc>
              <a:spcBef>
                <a:spcPts val="0"/>
              </a:spcBef>
              <a:spcAft>
                <a:spcPts val="0"/>
              </a:spcAft>
              <a:buSzPts val="800"/>
              <a:buChar char="●"/>
              <a:defRPr/>
            </a:lvl7pPr>
            <a:lvl8pPr indent="-279400" lvl="7" marL="3657600" algn="l">
              <a:lnSpc>
                <a:spcPct val="115000"/>
              </a:lnSpc>
              <a:spcBef>
                <a:spcPts val="0"/>
              </a:spcBef>
              <a:spcAft>
                <a:spcPts val="0"/>
              </a:spcAft>
              <a:buSzPts val="800"/>
              <a:buChar char="○"/>
              <a:defRPr/>
            </a:lvl8pPr>
            <a:lvl9pPr indent="-279400" lvl="8" marL="4114800" algn="l">
              <a:lnSpc>
                <a:spcPct val="115000"/>
              </a:lnSpc>
              <a:spcBef>
                <a:spcPts val="0"/>
              </a:spcBef>
              <a:spcAft>
                <a:spcPts val="0"/>
              </a:spcAft>
              <a:buSzPts val="800"/>
              <a:buChar char="■"/>
              <a:defRPr/>
            </a:lvl9pPr>
          </a:lstStyle>
          <a:p/>
        </p:txBody>
      </p:sp>
      <p:sp>
        <p:nvSpPr>
          <p:cNvPr id="69" name="Google Shape;69;p13"/>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4"/>
          <p:cNvSpPr txBox="1"/>
          <p:nvPr>
            <p:ph idx="1" type="body"/>
          </p:nvPr>
        </p:nvSpPr>
        <p:spPr>
          <a:xfrm>
            <a:off x="157149" y="2846498"/>
            <a:ext cx="3024300" cy="407100"/>
          </a:xfrm>
          <a:prstGeom prst="rect">
            <a:avLst/>
          </a:prstGeom>
          <a:noFill/>
          <a:ln>
            <a:noFill/>
          </a:ln>
        </p:spPr>
        <p:txBody>
          <a:bodyPr anchorCtr="0" anchor="ctr" bIns="51225" lIns="51225" spcFirstLastPara="1" rIns="51225" wrap="square" tIns="51225">
            <a:normAutofit/>
          </a:bodyPr>
          <a:lstStyle>
            <a:lvl1pPr indent="-228600" lvl="0" marL="457200" algn="l">
              <a:lnSpc>
                <a:spcPct val="100000"/>
              </a:lnSpc>
              <a:spcBef>
                <a:spcPts val="0"/>
              </a:spcBef>
              <a:spcAft>
                <a:spcPts val="0"/>
              </a:spcAft>
              <a:buSzPts val="1000"/>
              <a:buNone/>
              <a:defRPr/>
            </a:lvl1pPr>
          </a:lstStyle>
          <a:p/>
        </p:txBody>
      </p:sp>
      <p:sp>
        <p:nvSpPr>
          <p:cNvPr id="72" name="Google Shape;72;p14"/>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15"/>
          <p:cNvSpPr txBox="1"/>
          <p:nvPr>
            <p:ph hasCustomPrompt="1" type="title"/>
          </p:nvPr>
        </p:nvSpPr>
        <p:spPr>
          <a:xfrm>
            <a:off x="157149" y="744245"/>
            <a:ext cx="4295700" cy="1321200"/>
          </a:xfrm>
          <a:prstGeom prst="rect">
            <a:avLst/>
          </a:prstGeom>
          <a:noFill/>
          <a:ln>
            <a:noFill/>
          </a:ln>
        </p:spPr>
        <p:txBody>
          <a:bodyPr anchorCtr="0" anchor="b" bIns="51225" lIns="51225" spcFirstLastPara="1" rIns="51225" wrap="square" tIns="51225">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r>
              <a:t>xx%</a:t>
            </a:r>
          </a:p>
        </p:txBody>
      </p:sp>
      <p:sp>
        <p:nvSpPr>
          <p:cNvPr id="75" name="Google Shape;75;p15"/>
          <p:cNvSpPr txBox="1"/>
          <p:nvPr>
            <p:ph idx="1" type="body"/>
          </p:nvPr>
        </p:nvSpPr>
        <p:spPr>
          <a:xfrm>
            <a:off x="157149" y="2120942"/>
            <a:ext cx="4295700" cy="875100"/>
          </a:xfrm>
          <a:prstGeom prst="rect">
            <a:avLst/>
          </a:prstGeom>
          <a:noFill/>
          <a:ln>
            <a:noFill/>
          </a:ln>
        </p:spPr>
        <p:txBody>
          <a:bodyPr anchorCtr="0" anchor="t" bIns="51225" lIns="51225" spcFirstLastPara="1" rIns="51225" wrap="square" tIns="51225">
            <a:normAutofit/>
          </a:bodyPr>
          <a:lstStyle>
            <a:lvl1pPr indent="-292100" lvl="0" marL="457200" algn="ctr">
              <a:lnSpc>
                <a:spcPct val="115000"/>
              </a:lnSpc>
              <a:spcBef>
                <a:spcPts val="0"/>
              </a:spcBef>
              <a:spcAft>
                <a:spcPts val="0"/>
              </a:spcAft>
              <a:buSzPts val="1000"/>
              <a:buChar char="●"/>
              <a:defRPr/>
            </a:lvl1pPr>
            <a:lvl2pPr indent="-279400" lvl="1" marL="914400" algn="ctr">
              <a:lnSpc>
                <a:spcPct val="115000"/>
              </a:lnSpc>
              <a:spcBef>
                <a:spcPts val="0"/>
              </a:spcBef>
              <a:spcAft>
                <a:spcPts val="0"/>
              </a:spcAft>
              <a:buSzPts val="800"/>
              <a:buChar char="○"/>
              <a:defRPr/>
            </a:lvl2pPr>
            <a:lvl3pPr indent="-279400" lvl="2" marL="1371600" algn="ctr">
              <a:lnSpc>
                <a:spcPct val="115000"/>
              </a:lnSpc>
              <a:spcBef>
                <a:spcPts val="0"/>
              </a:spcBef>
              <a:spcAft>
                <a:spcPts val="0"/>
              </a:spcAft>
              <a:buSzPts val="800"/>
              <a:buChar char="■"/>
              <a:defRPr/>
            </a:lvl3pPr>
            <a:lvl4pPr indent="-279400" lvl="3" marL="1828800" algn="ctr">
              <a:lnSpc>
                <a:spcPct val="115000"/>
              </a:lnSpc>
              <a:spcBef>
                <a:spcPts val="0"/>
              </a:spcBef>
              <a:spcAft>
                <a:spcPts val="0"/>
              </a:spcAft>
              <a:buSzPts val="800"/>
              <a:buChar char="●"/>
              <a:defRPr/>
            </a:lvl4pPr>
            <a:lvl5pPr indent="-279400" lvl="4" marL="2286000" algn="ctr">
              <a:lnSpc>
                <a:spcPct val="115000"/>
              </a:lnSpc>
              <a:spcBef>
                <a:spcPts val="0"/>
              </a:spcBef>
              <a:spcAft>
                <a:spcPts val="0"/>
              </a:spcAft>
              <a:buSzPts val="800"/>
              <a:buChar char="○"/>
              <a:defRPr/>
            </a:lvl5pPr>
            <a:lvl6pPr indent="-279400" lvl="5" marL="2743200" algn="ctr">
              <a:lnSpc>
                <a:spcPct val="115000"/>
              </a:lnSpc>
              <a:spcBef>
                <a:spcPts val="0"/>
              </a:spcBef>
              <a:spcAft>
                <a:spcPts val="0"/>
              </a:spcAft>
              <a:buSzPts val="800"/>
              <a:buChar char="■"/>
              <a:defRPr/>
            </a:lvl6pPr>
            <a:lvl7pPr indent="-279400" lvl="6" marL="3200400" algn="ctr">
              <a:lnSpc>
                <a:spcPct val="115000"/>
              </a:lnSpc>
              <a:spcBef>
                <a:spcPts val="0"/>
              </a:spcBef>
              <a:spcAft>
                <a:spcPts val="0"/>
              </a:spcAft>
              <a:buSzPts val="800"/>
              <a:buChar char="●"/>
              <a:defRPr/>
            </a:lvl7pPr>
            <a:lvl8pPr indent="-279400" lvl="7" marL="3657600" algn="ctr">
              <a:lnSpc>
                <a:spcPct val="115000"/>
              </a:lnSpc>
              <a:spcBef>
                <a:spcPts val="0"/>
              </a:spcBef>
              <a:spcAft>
                <a:spcPts val="0"/>
              </a:spcAft>
              <a:buSzPts val="800"/>
              <a:buChar char="○"/>
              <a:defRPr/>
            </a:lvl8pPr>
            <a:lvl9pPr indent="-279400" lvl="8" marL="4114800" algn="ctr">
              <a:lnSpc>
                <a:spcPct val="115000"/>
              </a:lnSpc>
              <a:spcBef>
                <a:spcPts val="0"/>
              </a:spcBef>
              <a:spcAft>
                <a:spcPts val="0"/>
              </a:spcAft>
              <a:buSzPts val="800"/>
              <a:buChar char="■"/>
              <a:defRPr/>
            </a:lvl9pPr>
          </a:lstStyle>
          <a:p/>
        </p:txBody>
      </p:sp>
      <p:sp>
        <p:nvSpPr>
          <p:cNvPr id="76" name="Google Shape;76;p15"/>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6"/>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57149" y="299430"/>
            <a:ext cx="4295700" cy="385200"/>
          </a:xfrm>
          <a:prstGeom prst="rect">
            <a:avLst/>
          </a:prstGeom>
          <a:noFill/>
          <a:ln>
            <a:noFill/>
          </a:ln>
        </p:spPr>
        <p:txBody>
          <a:bodyPr anchorCtr="0" anchor="t" bIns="51225" lIns="51225" spcFirstLastPara="1" rIns="51225" wrap="square" tIns="51225">
            <a:normAutofit/>
          </a:bodyPr>
          <a:lstStyle>
            <a:lvl1pPr lvl="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157149" y="775431"/>
            <a:ext cx="4295700" cy="2298600"/>
          </a:xfrm>
          <a:prstGeom prst="rect">
            <a:avLst/>
          </a:prstGeom>
          <a:noFill/>
          <a:ln>
            <a:noFill/>
          </a:ln>
        </p:spPr>
        <p:txBody>
          <a:bodyPr anchorCtr="0" anchor="t" bIns="51225" lIns="51225" spcFirstLastPara="1" rIns="51225" wrap="square" tIns="51225">
            <a:normAutofit/>
          </a:bodyPr>
          <a:lstStyle>
            <a:lvl1pPr indent="-292100" lvl="0" marL="457200" marR="0" rtl="0" algn="l">
              <a:lnSpc>
                <a:spcPct val="115000"/>
              </a:lnSpc>
              <a:spcBef>
                <a:spcPts val="0"/>
              </a:spcBef>
              <a:spcAft>
                <a:spcPts val="0"/>
              </a:spcAft>
              <a:buClr>
                <a:schemeClr val="dk2"/>
              </a:buClr>
              <a:buSzPts val="1000"/>
              <a:buFont typeface="Arial"/>
              <a:buChar char="●"/>
              <a:defRPr b="0" i="0" sz="1000" u="none" cap="none" strike="noStrike">
                <a:solidFill>
                  <a:schemeClr val="dk2"/>
                </a:solidFill>
                <a:latin typeface="Arial"/>
                <a:ea typeface="Arial"/>
                <a:cs typeface="Arial"/>
                <a:sym typeface="Arial"/>
              </a:defRPr>
            </a:lvl1pPr>
            <a:lvl2pPr indent="-279400" lvl="1" marL="9144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2pPr>
            <a:lvl3pPr indent="-279400" lvl="2" marL="13716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3pPr>
            <a:lvl4pPr indent="-279400" lvl="3" marL="18288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4pPr>
            <a:lvl5pPr indent="-279400" lvl="4" marL="22860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5pPr>
            <a:lvl6pPr indent="-279400" lvl="5" marL="27432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6pPr>
            <a:lvl7pPr indent="-279400" lvl="6" marL="32004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7pPr>
            <a:lvl8pPr indent="-279400" lvl="7" marL="36576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8pPr>
            <a:lvl9pPr indent="-279400" lvl="8" marL="4114800" marR="0" rtl="0" algn="l">
              <a:lnSpc>
                <a:spcPct val="115000"/>
              </a:lnSpc>
              <a:spcBef>
                <a:spcPts val="0"/>
              </a:spcBef>
              <a:spcAft>
                <a:spcPts val="0"/>
              </a:spcAft>
              <a:buClr>
                <a:schemeClr val="dk2"/>
              </a:buClr>
              <a:buSzPts val="800"/>
              <a:buFont typeface="Arial"/>
              <a:buChar char="■"/>
              <a:defRPr b="0" i="0" sz="8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4271531" y="3137596"/>
            <a:ext cx="276600" cy="264900"/>
          </a:xfrm>
          <a:prstGeom prst="rect">
            <a:avLst/>
          </a:prstGeom>
          <a:noFill/>
          <a:ln>
            <a:noFill/>
          </a:ln>
        </p:spPr>
        <p:txBody>
          <a:bodyPr anchorCtr="0" anchor="ctr" bIns="51225" lIns="51225" spcFirstLastPara="1" rIns="51225" wrap="square" tIns="51225">
            <a:norm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 name="Shape 82"/>
        <p:cNvGrpSpPr/>
        <p:nvPr/>
      </p:nvGrpSpPr>
      <p:grpSpPr>
        <a:xfrm>
          <a:off x="0" y="0"/>
          <a:ext cx="0" cy="0"/>
          <a:chOff x="0" y="0"/>
          <a:chExt cx="0" cy="0"/>
        </a:xfrm>
      </p:grpSpPr>
      <p:sp>
        <p:nvSpPr>
          <p:cNvPr id="83" name="Google Shape;83;p17"/>
          <p:cNvSpPr txBox="1"/>
          <p:nvPr/>
        </p:nvSpPr>
        <p:spPr>
          <a:xfrm>
            <a:off x="347294" y="2037529"/>
            <a:ext cx="2508900" cy="1662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Times New Roman"/>
              <a:ea typeface="Times New Roman"/>
              <a:cs typeface="Times New Roman"/>
              <a:sym typeface="Times New Roman"/>
            </a:endParaRPr>
          </a:p>
        </p:txBody>
      </p:sp>
      <p:pic>
        <p:nvPicPr>
          <p:cNvPr id="84" name="Google Shape;84;p17"/>
          <p:cNvPicPr preferRelativeResize="0"/>
          <p:nvPr/>
        </p:nvPicPr>
        <p:blipFill rotWithShape="1">
          <a:blip r:embed="rId3">
            <a:alphaModFix/>
          </a:blip>
          <a:srcRect b="0" l="0" r="0" t="0"/>
          <a:stretch/>
        </p:blipFill>
        <p:spPr>
          <a:xfrm>
            <a:off x="3275040" y="3115462"/>
            <a:ext cx="948648" cy="145945"/>
          </a:xfrm>
          <a:prstGeom prst="rect">
            <a:avLst/>
          </a:prstGeom>
          <a:noFill/>
          <a:ln>
            <a:noFill/>
          </a:ln>
        </p:spPr>
      </p:pic>
      <p:sp>
        <p:nvSpPr>
          <p:cNvPr id="85" name="Google Shape;85;p17"/>
          <p:cNvSpPr txBox="1"/>
          <p:nvPr/>
        </p:nvSpPr>
        <p:spPr>
          <a:xfrm>
            <a:off x="293900" y="939250"/>
            <a:ext cx="37584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1500">
                <a:solidFill>
                  <a:srgbClr val="2D2D2D"/>
                </a:solidFill>
                <a:latin typeface="Calibri"/>
                <a:ea typeface="Calibri"/>
                <a:cs typeface="Calibri"/>
                <a:sym typeface="Calibri"/>
              </a:rPr>
              <a:t>Pandas y Bases de Datos: manejo de DataFrames</a:t>
            </a:r>
            <a:endParaRPr b="1" i="0" sz="1500" u="none" cap="none" strike="noStrike">
              <a:solidFill>
                <a:srgbClr val="2D2D2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1" i="0" sz="1500" u="none" cap="none" strike="noStrike">
              <a:solidFill>
                <a:srgbClr val="2D2D2D"/>
              </a:solidFill>
              <a:latin typeface="Calibri"/>
              <a:ea typeface="Calibri"/>
              <a:cs typeface="Calibri"/>
              <a:sym typeface="Calibri"/>
            </a:endParaRPr>
          </a:p>
        </p:txBody>
      </p:sp>
      <p:sp>
        <p:nvSpPr>
          <p:cNvPr id="86" name="Google Shape;86;p17"/>
          <p:cNvSpPr txBox="1"/>
          <p:nvPr/>
        </p:nvSpPr>
        <p:spPr>
          <a:xfrm>
            <a:off x="362525" y="1966650"/>
            <a:ext cx="8496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1000" u="none" cap="none" strike="noStrike">
                <a:solidFill>
                  <a:srgbClr val="2D2D2D"/>
                </a:solidFill>
                <a:latin typeface="Calibri"/>
                <a:ea typeface="Calibri"/>
                <a:cs typeface="Calibri"/>
                <a:sym typeface="Calibri"/>
              </a:rPr>
              <a:t>Profesor: Pablo J Piccoli Bornia</a:t>
            </a:r>
            <a:endParaRPr b="0" i="0" sz="100" u="none" cap="none" strike="noStrike">
              <a:solidFill>
                <a:srgbClr val="000000"/>
              </a:solidFill>
              <a:latin typeface="Arial"/>
              <a:ea typeface="Arial"/>
              <a:cs typeface="Arial"/>
              <a:sym typeface="Arial"/>
            </a:endParaRPr>
          </a:p>
        </p:txBody>
      </p:sp>
      <p:sp>
        <p:nvSpPr>
          <p:cNvPr id="87" name="Google Shape;87;p17"/>
          <p:cNvSpPr txBox="1"/>
          <p:nvPr/>
        </p:nvSpPr>
        <p:spPr>
          <a:xfrm>
            <a:off x="362525" y="2233175"/>
            <a:ext cx="84963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900" u="none" cap="none" strike="noStrike">
                <a:solidFill>
                  <a:srgbClr val="2D2D2D"/>
                </a:solidFill>
                <a:latin typeface="Calibri"/>
                <a:ea typeface="Calibri"/>
                <a:cs typeface="Calibri"/>
                <a:sym typeface="Calibri"/>
              </a:rPr>
              <a:t>Auxiliares: Daniela Longas, M Victoria Tolosa</a:t>
            </a:r>
            <a:endParaRPr b="0" i="0" sz="400" u="none" cap="none" strike="noStrike">
              <a:solidFill>
                <a:srgbClr val="000000"/>
              </a:solidFill>
              <a:latin typeface="Arial"/>
              <a:ea typeface="Arial"/>
              <a:cs typeface="Arial"/>
              <a:sym typeface="Aria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nvSpPr>
        <p:spPr>
          <a:xfrm>
            <a:off x="1129646" y="1618700"/>
            <a:ext cx="2568000" cy="1962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200"/>
              <a:buFont typeface="Arial"/>
              <a:buNone/>
            </a:pPr>
            <a:r>
              <a:rPr lang="en-US" sz="1200">
                <a:solidFill>
                  <a:srgbClr val="F4F2ED"/>
                </a:solidFill>
                <a:latin typeface="Calibri"/>
                <a:ea typeface="Calibri"/>
                <a:cs typeface="Calibri"/>
                <a:sym typeface="Calibri"/>
              </a:rPr>
              <a:t>BASES DE DATOS</a:t>
            </a:r>
            <a:endParaRPr b="0" i="0" sz="1200" u="none" cap="none" strike="noStrike">
              <a:solidFill>
                <a:srgbClr val="000000"/>
              </a:solidFill>
              <a:latin typeface="Calibri"/>
              <a:ea typeface="Calibri"/>
              <a:cs typeface="Calibri"/>
              <a:sym typeface="Calibri"/>
            </a:endParaRPr>
          </a:p>
        </p:txBody>
      </p:sp>
      <p:grpSp>
        <p:nvGrpSpPr>
          <p:cNvPr id="93" name="Google Shape;93;p18"/>
          <p:cNvGrpSpPr/>
          <p:nvPr/>
        </p:nvGrpSpPr>
        <p:grpSpPr>
          <a:xfrm>
            <a:off x="1139819" y="1816646"/>
            <a:ext cx="2340610" cy="25400"/>
            <a:chOff x="1133919" y="1515833"/>
            <a:chExt cx="2340610" cy="25400"/>
          </a:xfrm>
        </p:grpSpPr>
        <p:sp>
          <p:nvSpPr>
            <p:cNvPr id="94" name="Google Shape;94;p18"/>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a:effectLst>
              <a:outerShdw blurRad="57150" rotWithShape="0" algn="bl" dir="5400000" dist="19050">
                <a:srgbClr val="000000">
                  <a:alpha val="50196"/>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8"/>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9525">
              <a:solidFill>
                <a:srgbClr val="F4F2ED"/>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8"/>
            <p:cNvSpPr/>
            <p:nvPr/>
          </p:nvSpPr>
          <p:spPr>
            <a:xfrm>
              <a:off x="1133919" y="1515833"/>
              <a:ext cx="305435" cy="25400"/>
            </a:xfrm>
            <a:custGeom>
              <a:rect b="b" l="l" r="r" t="t"/>
              <a:pathLst>
                <a:path extrusionOk="0" h="25400" w="305434">
                  <a:moveTo>
                    <a:pt x="0" y="25305"/>
                  </a:moveTo>
                  <a:lnTo>
                    <a:pt x="0" y="0"/>
                  </a:lnTo>
                  <a:lnTo>
                    <a:pt x="305235" y="0"/>
                  </a:lnTo>
                  <a:lnTo>
                    <a:pt x="305235" y="25305"/>
                  </a:lnTo>
                  <a:lnTo>
                    <a:pt x="0" y="25305"/>
                  </a:lnTo>
                  <a:close/>
                </a:path>
              </a:pathLst>
            </a:custGeom>
            <a:solidFill>
              <a:srgbClr val="006DBF"/>
            </a:solidFill>
            <a:ln>
              <a:noFill/>
            </a:ln>
            <a:effectLst>
              <a:outerShdw blurRad="57150" rotWithShape="0" algn="bl" dir="5400000" dist="19050">
                <a:srgbClr val="000000">
                  <a:alpha val="50196"/>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8"/>
            <p:cNvSpPr/>
            <p:nvPr/>
          </p:nvSpPr>
          <p:spPr>
            <a:xfrm>
              <a:off x="1133919" y="1515833"/>
              <a:ext cx="305435" cy="25400"/>
            </a:xfrm>
            <a:custGeom>
              <a:rect b="b" l="l" r="r" t="t"/>
              <a:pathLst>
                <a:path extrusionOk="0" h="25400" w="305434">
                  <a:moveTo>
                    <a:pt x="0" y="25305"/>
                  </a:moveTo>
                  <a:lnTo>
                    <a:pt x="0" y="0"/>
                  </a:lnTo>
                  <a:lnTo>
                    <a:pt x="305235" y="0"/>
                  </a:lnTo>
                  <a:lnTo>
                    <a:pt x="305235" y="25305"/>
                  </a:lnTo>
                  <a:lnTo>
                    <a:pt x="0" y="25305"/>
                  </a:lnTo>
                  <a:close/>
                </a:path>
              </a:pathLst>
            </a:custGeom>
            <a:solidFill>
              <a:srgbClr val="FFDC64"/>
            </a:solidFill>
            <a:ln cap="flat" cmpd="sng" w="9525">
              <a:solidFill>
                <a:srgbClr val="FFDC64"/>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03" name="Google Shape;103;p19"/>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04" name="Google Shape;104;p19"/>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05" name="Google Shape;105;p19"/>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06" name="Google Shape;106;p19"/>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07" name="Google Shape;107;p19"/>
          <p:cNvSpPr txBox="1"/>
          <p:nvPr/>
        </p:nvSpPr>
        <p:spPr>
          <a:xfrm>
            <a:off x="91500" y="979925"/>
            <a:ext cx="4146300" cy="2109900"/>
          </a:xfrm>
          <a:prstGeom prst="rect">
            <a:avLst/>
          </a:prstGeom>
          <a:noFill/>
          <a:ln>
            <a:noFill/>
          </a:ln>
        </p:spPr>
        <p:txBody>
          <a:bodyPr anchorCtr="0" anchor="t" bIns="45000" lIns="90000" spcFirstLastPara="1" rIns="90000" wrap="square" tIns="45000">
            <a:noAutofit/>
          </a:bodyPr>
          <a:lstStyle/>
          <a:p>
            <a:pPr indent="-146050" lvl="0" marL="228600" rtl="0" algn="l">
              <a:lnSpc>
                <a:spcPct val="90000"/>
              </a:lnSpc>
              <a:spcBef>
                <a:spcPts val="0"/>
              </a:spcBef>
              <a:spcAft>
                <a:spcPts val="0"/>
              </a:spcAft>
              <a:buSzPts val="1500"/>
              <a:buChar char="•"/>
            </a:pPr>
            <a:r>
              <a:rPr lang="en-US" sz="1500">
                <a:latin typeface="Calibri"/>
                <a:ea typeface="Calibri"/>
                <a:cs typeface="Calibri"/>
                <a:sym typeface="Calibri"/>
              </a:rPr>
              <a:t>Muchas veces en la industria se confunde BBDD con SGBD</a:t>
            </a:r>
            <a:endParaRPr sz="1500"/>
          </a:p>
          <a:p>
            <a:pPr indent="-146050" lvl="0" marL="228600" rtl="0" algn="l">
              <a:lnSpc>
                <a:spcPct val="90000"/>
              </a:lnSpc>
              <a:spcBef>
                <a:spcPts val="1001"/>
              </a:spcBef>
              <a:spcAft>
                <a:spcPts val="0"/>
              </a:spcAft>
              <a:buSzPts val="1500"/>
              <a:buChar char="•"/>
            </a:pPr>
            <a:r>
              <a:rPr lang="en-US" sz="1500">
                <a:latin typeface="Calibri"/>
                <a:ea typeface="Calibri"/>
                <a:cs typeface="Calibri"/>
                <a:sym typeface="Calibri"/>
              </a:rPr>
              <a:t>Una BBDD es un </a:t>
            </a:r>
            <a:r>
              <a:rPr b="1" lang="en-US" sz="1500">
                <a:latin typeface="Calibri"/>
                <a:ea typeface="Calibri"/>
                <a:cs typeface="Calibri"/>
                <a:sym typeface="Calibri"/>
              </a:rPr>
              <a:t>conjunto interrelacionado de datos.</a:t>
            </a:r>
            <a:r>
              <a:rPr lang="en-US" sz="1500">
                <a:latin typeface="Calibri"/>
                <a:ea typeface="Calibri"/>
                <a:cs typeface="Calibri"/>
                <a:sym typeface="Calibri"/>
              </a:rPr>
              <a:t> Puede ser tranquilamente una serie de cuadernos analógicos escritos en lapiz y papel.</a:t>
            </a:r>
            <a:endParaRPr sz="1500"/>
          </a:p>
          <a:p>
            <a:pPr indent="-146050" lvl="0" marL="228600" rtl="0" algn="l">
              <a:lnSpc>
                <a:spcPct val="90000"/>
              </a:lnSpc>
              <a:spcBef>
                <a:spcPts val="1001"/>
              </a:spcBef>
              <a:spcAft>
                <a:spcPts val="0"/>
              </a:spcAft>
              <a:buSzPts val="1500"/>
              <a:buChar char="•"/>
            </a:pPr>
            <a:r>
              <a:rPr lang="en-US" sz="1500">
                <a:latin typeface="Calibri"/>
                <a:ea typeface="Calibri"/>
                <a:cs typeface="Calibri"/>
                <a:sym typeface="Calibri"/>
              </a:rPr>
              <a:t>Un SGBD es un gestor de base de datos. Es un software específico para manejar bases de datos digitales.</a:t>
            </a:r>
            <a:endParaRPr sz="1500"/>
          </a:p>
        </p:txBody>
      </p:sp>
      <p:sp>
        <p:nvSpPr>
          <p:cNvPr id="108" name="Google Shape;108;p19"/>
          <p:cNvSpPr txBox="1"/>
          <p:nvPr/>
        </p:nvSpPr>
        <p:spPr>
          <a:xfrm>
            <a:off x="206700" y="388425"/>
            <a:ext cx="2256300" cy="432600"/>
          </a:xfrm>
          <a:prstGeom prst="rect">
            <a:avLst/>
          </a:prstGeom>
          <a:noFill/>
          <a:ln>
            <a:noFill/>
          </a:ln>
        </p:spPr>
        <p:txBody>
          <a:bodyPr anchorCtr="0" anchor="t" bIns="45000" lIns="90000" spcFirstLastPara="1" rIns="90000" wrap="square" tIns="45000">
            <a:noAutofit/>
          </a:bodyPr>
          <a:lstStyle/>
          <a:p>
            <a:pPr indent="0" lvl="0" marL="0" rtl="0" algn="l">
              <a:lnSpc>
                <a:spcPct val="90000"/>
              </a:lnSpc>
              <a:spcBef>
                <a:spcPts val="1001"/>
              </a:spcBef>
              <a:spcAft>
                <a:spcPts val="0"/>
              </a:spcAft>
              <a:buNone/>
            </a:pPr>
            <a:r>
              <a:rPr b="1" lang="en-US" sz="1500">
                <a:latin typeface="Calibri"/>
                <a:ea typeface="Calibri"/>
                <a:cs typeface="Calibri"/>
                <a:sym typeface="Calibri"/>
              </a:rPr>
              <a:t>Definiciones</a:t>
            </a:r>
            <a:endParaRPr b="1" sz="1500"/>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14" name="Google Shape;114;p20"/>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15" name="Google Shape;115;p20"/>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16" name="Google Shape;116;p20"/>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17" name="Google Shape;117;p20"/>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18" name="Google Shape;118;p20"/>
          <p:cNvSpPr txBox="1"/>
          <p:nvPr/>
        </p:nvSpPr>
        <p:spPr>
          <a:xfrm>
            <a:off x="91500" y="449649"/>
            <a:ext cx="3919800" cy="276900"/>
          </a:xfrm>
          <a:prstGeom prst="rect">
            <a:avLst/>
          </a:prstGeom>
          <a:noFill/>
          <a:ln>
            <a:noFill/>
          </a:ln>
        </p:spPr>
        <p:txBody>
          <a:bodyPr anchorCtr="0" anchor="ctr" bIns="45000" lIns="90000" spcFirstLastPara="1" rIns="90000" wrap="square" tIns="45000">
            <a:noAutofit/>
          </a:bodyPr>
          <a:lstStyle/>
          <a:p>
            <a:pPr indent="0" lvl="0" marL="0" rtl="0" algn="l">
              <a:lnSpc>
                <a:spcPct val="90000"/>
              </a:lnSpc>
              <a:spcBef>
                <a:spcPts val="0"/>
              </a:spcBef>
              <a:spcAft>
                <a:spcPts val="0"/>
              </a:spcAft>
              <a:buNone/>
            </a:pPr>
            <a:r>
              <a:rPr b="1" lang="en-US" sz="1500">
                <a:latin typeface="Calibri"/>
                <a:ea typeface="Calibri"/>
                <a:cs typeface="Calibri"/>
                <a:sym typeface="Calibri"/>
              </a:rPr>
              <a:t>Comparación</a:t>
            </a:r>
            <a:endParaRPr b="1" sz="1500"/>
          </a:p>
        </p:txBody>
      </p:sp>
      <p:graphicFrame>
        <p:nvGraphicFramePr>
          <p:cNvPr id="119" name="Google Shape;119;p20"/>
          <p:cNvGraphicFramePr/>
          <p:nvPr/>
        </p:nvGraphicFramePr>
        <p:xfrm>
          <a:off x="185355" y="812985"/>
          <a:ext cx="3000000" cy="3000000"/>
        </p:xfrm>
        <a:graphic>
          <a:graphicData uri="http://schemas.openxmlformats.org/drawingml/2006/table">
            <a:tbl>
              <a:tblPr>
                <a:noFill/>
                <a:tableStyleId>{A792F578-C45A-4C0B-8CAA-E3865B34D857}</a:tableStyleId>
              </a:tblPr>
              <a:tblGrid>
                <a:gridCol w="2181700"/>
                <a:gridCol w="2031600"/>
              </a:tblGrid>
              <a:tr h="208600">
                <a:tc>
                  <a:txBody>
                    <a:bodyPr/>
                    <a:lstStyle/>
                    <a:p>
                      <a:pPr indent="0" lvl="0" marL="0" marR="0" rtl="0" algn="l">
                        <a:lnSpc>
                          <a:spcPct val="100000"/>
                        </a:lnSpc>
                        <a:spcBef>
                          <a:spcPts val="0"/>
                        </a:spcBef>
                        <a:spcAft>
                          <a:spcPts val="0"/>
                        </a:spcAft>
                        <a:buClr>
                          <a:srgbClr val="FFFFFF"/>
                        </a:buClr>
                        <a:buSzPts val="1800"/>
                        <a:buFont typeface="Calibri"/>
                        <a:buNone/>
                      </a:pPr>
                      <a:r>
                        <a:rPr b="1" lang="en-US" sz="900" u="none" cap="none" strike="noStrike">
                          <a:solidFill>
                            <a:srgbClr val="FFFFFF"/>
                          </a:solidFill>
                          <a:latin typeface="Calibri"/>
                          <a:ea typeface="Calibri"/>
                          <a:cs typeface="Calibri"/>
                          <a:sym typeface="Calibri"/>
                        </a:rPr>
                        <a:t>Relacional (SQL)</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lang="en-US" sz="900" u="none" cap="none" strike="noStrike">
                          <a:solidFill>
                            <a:srgbClr val="FFFFFF"/>
                          </a:solidFill>
                          <a:latin typeface="Calibri"/>
                          <a:ea typeface="Calibri"/>
                          <a:cs typeface="Calibri"/>
                          <a:sym typeface="Calibri"/>
                        </a:rPr>
                        <a:t>MongoDB</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4472C4"/>
                    </a:solidFill>
                  </a:tcPr>
                </a:tc>
              </a:tr>
              <a:tr h="208600">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Tablas</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Conjuntos</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r>
              <a:tr h="208600">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Registros</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Documentos</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r>
              <a:tr h="208600">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Atributos/campos</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Clave/valor</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r>
              <a:tr h="456575">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Las tablas se relacionan entre si</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Los conjuntos no están relacionados entre </a:t>
                      </a:r>
                      <a:r>
                        <a:rPr lang="en-US" sz="900">
                          <a:latin typeface="Calibri"/>
                          <a:ea typeface="Calibri"/>
                          <a:cs typeface="Calibri"/>
                          <a:sym typeface="Calibri"/>
                        </a:rPr>
                        <a:t>sí</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r>
              <a:tr h="593575">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Consulta SQL (universal para todos los SGBD realcionales)</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Lenguaje de consulta propio</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r>
              <a:tr h="208600">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Estático</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900" u="none" cap="none" strike="noStrike">
                          <a:solidFill>
                            <a:srgbClr val="000000"/>
                          </a:solidFill>
                          <a:latin typeface="Calibri"/>
                          <a:ea typeface="Calibri"/>
                          <a:cs typeface="Calibri"/>
                          <a:sym typeface="Calibri"/>
                        </a:rPr>
                        <a:t>Flexible</a:t>
                      </a:r>
                      <a:endParaRPr b="0" sz="9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r>
            </a:tbl>
          </a:graphicData>
        </a:graphic>
      </p:graphicFrame>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25" name="Google Shape;125;p21"/>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26" name="Google Shape;126;p21"/>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27" name="Google Shape;127;p21"/>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28" name="Google Shape;128;p21"/>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29" name="Google Shape;129;p21"/>
          <p:cNvSpPr txBox="1"/>
          <p:nvPr/>
        </p:nvSpPr>
        <p:spPr>
          <a:xfrm>
            <a:off x="91500" y="449649"/>
            <a:ext cx="3919800" cy="276900"/>
          </a:xfrm>
          <a:prstGeom prst="rect">
            <a:avLst/>
          </a:prstGeom>
          <a:noFill/>
          <a:ln>
            <a:noFill/>
          </a:ln>
        </p:spPr>
        <p:txBody>
          <a:bodyPr anchorCtr="0" anchor="ctr" bIns="45000" lIns="90000" spcFirstLastPara="1" rIns="90000" wrap="square" tIns="45000">
            <a:noAutofit/>
          </a:bodyPr>
          <a:lstStyle/>
          <a:p>
            <a:pPr indent="0" lvl="0" marL="0" rtl="0" algn="l">
              <a:lnSpc>
                <a:spcPct val="90000"/>
              </a:lnSpc>
              <a:spcBef>
                <a:spcPts val="0"/>
              </a:spcBef>
              <a:spcAft>
                <a:spcPts val="0"/>
              </a:spcAft>
              <a:buNone/>
            </a:pPr>
            <a:r>
              <a:rPr b="1" lang="en-US" sz="1500">
                <a:latin typeface="Calibri"/>
                <a:ea typeface="Calibri"/>
                <a:cs typeface="Calibri"/>
                <a:sym typeface="Calibri"/>
              </a:rPr>
              <a:t>Comparación</a:t>
            </a:r>
            <a:endParaRPr b="1" sz="1500"/>
          </a:p>
        </p:txBody>
      </p:sp>
      <p:graphicFrame>
        <p:nvGraphicFramePr>
          <p:cNvPr id="130" name="Google Shape;130;p21"/>
          <p:cNvGraphicFramePr/>
          <p:nvPr/>
        </p:nvGraphicFramePr>
        <p:xfrm>
          <a:off x="91510" y="976605"/>
          <a:ext cx="3000000" cy="3000000"/>
        </p:xfrm>
        <a:graphic>
          <a:graphicData uri="http://schemas.openxmlformats.org/drawingml/2006/table">
            <a:tbl>
              <a:tblPr>
                <a:noFill/>
                <a:tableStyleId>{A792F578-C45A-4C0B-8CAA-E3865B34D857}</a:tableStyleId>
              </a:tblPr>
              <a:tblGrid>
                <a:gridCol w="938125"/>
                <a:gridCol w="938125"/>
                <a:gridCol w="938575"/>
              </a:tblGrid>
              <a:tr h="270000">
                <a:tc>
                  <a:txBody>
                    <a:bodyPr/>
                    <a:lstStyle/>
                    <a:p>
                      <a:pPr indent="0" lvl="0" marL="0" marR="0" rtl="0" algn="l">
                        <a:lnSpc>
                          <a:spcPct val="100000"/>
                        </a:lnSpc>
                        <a:spcBef>
                          <a:spcPts val="0"/>
                        </a:spcBef>
                        <a:spcAft>
                          <a:spcPts val="0"/>
                        </a:spcAft>
                        <a:buClr>
                          <a:srgbClr val="FFFFFF"/>
                        </a:buClr>
                        <a:buSzPts val="1800"/>
                        <a:buFont typeface="Calibri"/>
                        <a:buNone/>
                      </a:pPr>
                      <a:r>
                        <a:rPr b="1" lang="en-US" sz="1100" u="none" cap="none" strike="noStrike">
                          <a:solidFill>
                            <a:srgbClr val="FFFFFF"/>
                          </a:solidFill>
                          <a:latin typeface="Calibri"/>
                          <a:ea typeface="Calibri"/>
                          <a:cs typeface="Calibri"/>
                          <a:sym typeface="Calibri"/>
                        </a:rPr>
                        <a:t>Nombre </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lang="en-US" sz="1100" u="none" cap="none" strike="noStrike">
                          <a:solidFill>
                            <a:srgbClr val="FFFFFF"/>
                          </a:solidFill>
                          <a:latin typeface="Calibri"/>
                          <a:ea typeface="Calibri"/>
                          <a:cs typeface="Calibri"/>
                          <a:sym typeface="Calibri"/>
                        </a:rPr>
                        <a:t>Apellido</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FFFFFF"/>
                        </a:buClr>
                        <a:buSzPts val="1800"/>
                        <a:buFont typeface="Calibri"/>
                        <a:buNone/>
                      </a:pPr>
                      <a:r>
                        <a:rPr b="1" lang="en-US" sz="1100" u="none" cap="none" strike="noStrike">
                          <a:solidFill>
                            <a:srgbClr val="FFFFFF"/>
                          </a:solidFill>
                          <a:latin typeface="Calibri"/>
                          <a:ea typeface="Calibri"/>
                          <a:cs typeface="Calibri"/>
                          <a:sym typeface="Calibri"/>
                        </a:rPr>
                        <a:t>DNI</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4472C4"/>
                    </a:solidFill>
                  </a:tcPr>
                </a:tc>
              </a:tr>
              <a:tr h="270000">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Juan</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Perez</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355556363</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r>
              <a:tr h="270000">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Julian</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Peña</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489993245</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r>
              <a:tr h="270000">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Julieta</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Fogolin</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20999321</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CFD5E9"/>
                    </a:solidFill>
                  </a:tcPr>
                </a:tc>
              </a:tr>
              <a:tr h="270000">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Mirna</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Cubero</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c>
                  <a:txBody>
                    <a:bodyPr/>
                    <a:lstStyle/>
                    <a:p>
                      <a:pPr indent="0" lvl="0" marL="0" marR="0" rtl="0" algn="l">
                        <a:lnSpc>
                          <a:spcPct val="100000"/>
                        </a:lnSpc>
                        <a:spcBef>
                          <a:spcPts val="0"/>
                        </a:spcBef>
                        <a:spcAft>
                          <a:spcPts val="0"/>
                        </a:spcAft>
                        <a:buClr>
                          <a:srgbClr val="000000"/>
                        </a:buClr>
                        <a:buSzPts val="1800"/>
                        <a:buFont typeface="Calibri"/>
                        <a:buNone/>
                      </a:pPr>
                      <a:r>
                        <a:rPr b="0" lang="en-US" sz="1100" u="none" cap="none" strike="noStrike">
                          <a:solidFill>
                            <a:srgbClr val="000000"/>
                          </a:solidFill>
                          <a:latin typeface="Calibri"/>
                          <a:ea typeface="Calibri"/>
                          <a:cs typeface="Calibri"/>
                          <a:sym typeface="Calibri"/>
                        </a:rPr>
                        <a:t>null</a:t>
                      </a:r>
                      <a:endParaRPr b="0" sz="110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8EBF4"/>
                    </a:solidFill>
                  </a:tcPr>
                </a:tc>
              </a:tr>
            </a:tbl>
          </a:graphicData>
        </a:graphic>
      </p:graphicFrame>
      <p:sp>
        <p:nvSpPr>
          <p:cNvPr id="131" name="Google Shape;131;p21"/>
          <p:cNvSpPr/>
          <p:nvPr/>
        </p:nvSpPr>
        <p:spPr>
          <a:xfrm>
            <a:off x="2968125" y="431675"/>
            <a:ext cx="1582800" cy="25974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“nombre”: ”Juan”;</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“apellido”: ”Perez”;</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“DNI”: ” 355556363”</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“nombre”: ”Julian”;</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“apellido”: ”Peña”;</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“DNI”: ” 489993245”</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“nombre”: ”Julieta”;</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“apellido”: ”Foglin”;</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“DNI”: ” 20999321”</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“nombre”: ”Mirna”;</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“apellido”: ”Cubero”;</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Calibri"/>
              <a:buNone/>
            </a:pPr>
            <a:r>
              <a:rPr b="0" i="0" lang="en-US" sz="900" u="none" cap="none" strike="noStrike">
                <a:solidFill>
                  <a:srgbClr val="000000"/>
                </a:solidFill>
                <a:latin typeface="Calibri"/>
                <a:ea typeface="Calibri"/>
                <a:cs typeface="Calibri"/>
                <a:sym typeface="Calibri"/>
              </a:rPr>
              <a:t>},</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SzPts val="1800"/>
              <a:buFont typeface="Arial"/>
              <a:buNone/>
            </a:pPr>
            <a:r>
              <a:t/>
            </a:r>
            <a:endParaRPr b="0" i="0" sz="900" u="none" cap="none" strike="noStrike">
              <a:latin typeface="Arial"/>
              <a:ea typeface="Arial"/>
              <a:cs typeface="Arial"/>
              <a:sym typeface="Arial"/>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37" name="Google Shape;137;p22"/>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38" name="Google Shape;138;p22"/>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39" name="Google Shape;139;p22"/>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40" name="Google Shape;140;p22"/>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41" name="Google Shape;141;p22"/>
          <p:cNvSpPr txBox="1"/>
          <p:nvPr/>
        </p:nvSpPr>
        <p:spPr>
          <a:xfrm>
            <a:off x="91500" y="449649"/>
            <a:ext cx="3919800" cy="276900"/>
          </a:xfrm>
          <a:prstGeom prst="rect">
            <a:avLst/>
          </a:prstGeom>
          <a:noFill/>
          <a:ln>
            <a:noFill/>
          </a:ln>
        </p:spPr>
        <p:txBody>
          <a:bodyPr anchorCtr="0" anchor="ctr" bIns="45000" lIns="90000" spcFirstLastPara="1" rIns="90000" wrap="square" tIns="45000">
            <a:noAutofit/>
          </a:bodyPr>
          <a:lstStyle/>
          <a:p>
            <a:pPr indent="0" lvl="0" marL="0" rtl="0" algn="l">
              <a:lnSpc>
                <a:spcPct val="90000"/>
              </a:lnSpc>
              <a:spcBef>
                <a:spcPts val="0"/>
              </a:spcBef>
              <a:spcAft>
                <a:spcPts val="0"/>
              </a:spcAft>
              <a:buClr>
                <a:schemeClr val="dk1"/>
              </a:buClr>
              <a:buSzPts val="4400"/>
              <a:buFont typeface="Calibri"/>
              <a:buNone/>
            </a:pPr>
            <a:r>
              <a:rPr b="1" lang="en-US" sz="1500">
                <a:solidFill>
                  <a:schemeClr val="dk1"/>
                </a:solidFill>
                <a:latin typeface="Calibri"/>
                <a:ea typeface="Calibri"/>
                <a:cs typeface="Calibri"/>
                <a:sym typeface="Calibri"/>
              </a:rPr>
              <a:t>Otros tipos de BBDD no relacionales</a:t>
            </a:r>
            <a:endParaRPr b="1" sz="1500"/>
          </a:p>
        </p:txBody>
      </p:sp>
      <p:sp>
        <p:nvSpPr>
          <p:cNvPr id="142" name="Google Shape;142;p22"/>
          <p:cNvSpPr txBox="1"/>
          <p:nvPr/>
        </p:nvSpPr>
        <p:spPr>
          <a:xfrm>
            <a:off x="91500" y="971000"/>
            <a:ext cx="4307100" cy="2089500"/>
          </a:xfrm>
          <a:prstGeom prst="rect">
            <a:avLst/>
          </a:prstGeom>
          <a:noFill/>
          <a:ln>
            <a:noFill/>
          </a:ln>
        </p:spPr>
        <p:txBody>
          <a:bodyPr anchorCtr="0" anchor="t" bIns="45000" lIns="90000" spcFirstLastPara="1" rIns="90000" wrap="square" tIns="45000">
            <a:noAutofit/>
          </a:bodyPr>
          <a:lstStyle/>
          <a:p>
            <a:pPr indent="-339239" lvl="0" marL="431999" rtl="0" algn="l">
              <a:lnSpc>
                <a:spcPct val="90000"/>
              </a:lnSpc>
              <a:spcBef>
                <a:spcPts val="0"/>
              </a:spcBef>
              <a:spcAft>
                <a:spcPts val="0"/>
              </a:spcAft>
              <a:buSzPts val="1500"/>
              <a:buFont typeface="Noto Sans Symbols"/>
              <a:buChar char="●"/>
            </a:pPr>
            <a:r>
              <a:rPr lang="en-US" sz="1500">
                <a:latin typeface="Calibri"/>
                <a:ea typeface="Calibri"/>
                <a:cs typeface="Calibri"/>
                <a:sym typeface="Calibri"/>
              </a:rPr>
              <a:t>Concepto de “Big Table”: Cassandra</a:t>
            </a:r>
            <a:endParaRPr sz="1500"/>
          </a:p>
          <a:p>
            <a:pPr indent="-339239" lvl="0" marL="431999" rtl="0" algn="l">
              <a:lnSpc>
                <a:spcPct val="90000"/>
              </a:lnSpc>
              <a:spcBef>
                <a:spcPts val="1417"/>
              </a:spcBef>
              <a:spcAft>
                <a:spcPts val="0"/>
              </a:spcAft>
              <a:buSzPts val="1500"/>
              <a:buFont typeface="Noto Sans Symbols"/>
              <a:buChar char="●"/>
            </a:pPr>
            <a:r>
              <a:rPr lang="en-US" sz="1500">
                <a:latin typeface="Calibri"/>
                <a:ea typeface="Calibri"/>
                <a:cs typeface="Calibri"/>
                <a:sym typeface="Calibri"/>
              </a:rPr>
              <a:t>Concepto de “base de datos de grafos”: node4J</a:t>
            </a:r>
            <a:endParaRPr sz="1500"/>
          </a:p>
          <a:p>
            <a:pPr indent="-339239" lvl="0" marL="431999" rtl="0" algn="l">
              <a:lnSpc>
                <a:spcPct val="90000"/>
              </a:lnSpc>
              <a:spcBef>
                <a:spcPts val="1417"/>
              </a:spcBef>
              <a:spcAft>
                <a:spcPts val="0"/>
              </a:spcAft>
              <a:buSzPts val="1500"/>
              <a:buFont typeface="Noto Sans Symbols"/>
              <a:buChar char="●"/>
            </a:pPr>
            <a:r>
              <a:rPr lang="en-US" sz="1500">
                <a:latin typeface="Calibri"/>
                <a:ea typeface="Calibri"/>
                <a:cs typeface="Calibri"/>
                <a:sym typeface="Calibri"/>
              </a:rPr>
              <a:t>Redis, bases de datos en memoria</a:t>
            </a:r>
            <a:endParaRPr sz="1500"/>
          </a:p>
          <a:p>
            <a:pPr indent="-339239" lvl="0" marL="431999" rtl="0" algn="l">
              <a:lnSpc>
                <a:spcPct val="90000"/>
              </a:lnSpc>
              <a:spcBef>
                <a:spcPts val="1417"/>
              </a:spcBef>
              <a:spcAft>
                <a:spcPts val="0"/>
              </a:spcAft>
              <a:buSzPts val="1500"/>
              <a:buFont typeface="Noto Sans Symbols"/>
              <a:buChar char="●"/>
            </a:pPr>
            <a:r>
              <a:rPr lang="en-US" sz="1500">
                <a:latin typeface="Calibri"/>
                <a:ea typeface="Calibri"/>
                <a:cs typeface="Calibri"/>
                <a:sym typeface="Calibri"/>
              </a:rPr>
              <a:t>Son todas soluciones puntuales a problemas de la industria en los cuales SQL responde mal</a:t>
            </a:r>
            <a:endParaRPr sz="1500"/>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48" name="Google Shape;148;p23"/>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49" name="Google Shape;149;p23"/>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50" name="Google Shape;150;p23"/>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51" name="Google Shape;151;p23"/>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52" name="Google Shape;152;p23"/>
          <p:cNvSpPr txBox="1"/>
          <p:nvPr/>
        </p:nvSpPr>
        <p:spPr>
          <a:xfrm>
            <a:off x="91501" y="388425"/>
            <a:ext cx="3495000" cy="344400"/>
          </a:xfrm>
          <a:prstGeom prst="rect">
            <a:avLst/>
          </a:prstGeom>
          <a:noFill/>
          <a:ln>
            <a:noFill/>
          </a:ln>
        </p:spPr>
        <p:txBody>
          <a:bodyPr anchorCtr="0" anchor="ctr" bIns="45000" lIns="90000" spcFirstLastPara="1" rIns="90000" wrap="square" tIns="45000">
            <a:noAutofit/>
          </a:bodyPr>
          <a:lstStyle/>
          <a:p>
            <a:pPr indent="0" lvl="0" marL="0" rtl="0" algn="l">
              <a:lnSpc>
                <a:spcPct val="90000"/>
              </a:lnSpc>
              <a:spcBef>
                <a:spcPts val="0"/>
              </a:spcBef>
              <a:spcAft>
                <a:spcPts val="0"/>
              </a:spcAft>
              <a:buNone/>
            </a:pPr>
            <a:r>
              <a:rPr b="1" lang="en-US" sz="1500">
                <a:latin typeface="Calibri"/>
                <a:ea typeface="Calibri"/>
                <a:cs typeface="Calibri"/>
                <a:sym typeface="Calibri"/>
              </a:rPr>
              <a:t>Al final volvemos a excel</a:t>
            </a:r>
            <a:endParaRPr b="1" sz="1500"/>
          </a:p>
        </p:txBody>
      </p:sp>
      <p:sp>
        <p:nvSpPr>
          <p:cNvPr id="153" name="Google Shape;153;p23"/>
          <p:cNvSpPr txBox="1"/>
          <p:nvPr/>
        </p:nvSpPr>
        <p:spPr>
          <a:xfrm>
            <a:off x="58200" y="732825"/>
            <a:ext cx="4493700" cy="1868400"/>
          </a:xfrm>
          <a:prstGeom prst="rect">
            <a:avLst/>
          </a:prstGeom>
          <a:noFill/>
          <a:ln>
            <a:noFill/>
          </a:ln>
        </p:spPr>
        <p:txBody>
          <a:bodyPr anchorCtr="0" anchor="t" bIns="45000" lIns="90000" spcFirstLastPara="1" rIns="90000" wrap="square" tIns="45000">
            <a:noAutofit/>
          </a:bodyPr>
          <a:lstStyle/>
          <a:p>
            <a:pPr indent="-146050" lvl="0" marL="228600" rtl="0" algn="l">
              <a:lnSpc>
                <a:spcPct val="90000"/>
              </a:lnSpc>
              <a:spcBef>
                <a:spcPts val="0"/>
              </a:spcBef>
              <a:spcAft>
                <a:spcPts val="0"/>
              </a:spcAft>
              <a:buSzPts val="1500"/>
              <a:buChar char="•"/>
            </a:pPr>
            <a:r>
              <a:rPr lang="en-US" sz="1500">
                <a:latin typeface="Calibri"/>
                <a:ea typeface="Calibri"/>
                <a:cs typeface="Calibri"/>
                <a:sym typeface="Calibri"/>
              </a:rPr>
              <a:t>A pesar de tener varias opciones para almacenar nuestros datos, muchas empresas (especialmente pymes) poseen su información en planillas de cálculo.</a:t>
            </a:r>
            <a:endParaRPr sz="1500"/>
          </a:p>
          <a:p>
            <a:pPr indent="-146050" lvl="0" marL="228600" rtl="0" algn="l">
              <a:lnSpc>
                <a:spcPct val="90000"/>
              </a:lnSpc>
              <a:spcBef>
                <a:spcPts val="1001"/>
              </a:spcBef>
              <a:spcAft>
                <a:spcPts val="0"/>
              </a:spcAft>
              <a:buSzPts val="1500"/>
              <a:buChar char="•"/>
            </a:pPr>
            <a:r>
              <a:rPr lang="en-US" sz="1500">
                <a:latin typeface="Calibri"/>
                <a:ea typeface="Calibri"/>
                <a:cs typeface="Calibri"/>
                <a:sym typeface="Calibri"/>
              </a:rPr>
              <a:t>Una serie de datos desparramados en innumerables gsheets, excels y csvs es lo más cercano que tienen a una BBDD</a:t>
            </a:r>
            <a:endParaRPr sz="1500">
              <a:latin typeface="Calibri"/>
              <a:ea typeface="Calibri"/>
              <a:cs typeface="Calibri"/>
              <a:sym typeface="Calibri"/>
            </a:endParaRPr>
          </a:p>
          <a:p>
            <a:pPr indent="-146050" lvl="0" marL="228600" rtl="0" algn="l">
              <a:lnSpc>
                <a:spcPct val="90000"/>
              </a:lnSpc>
              <a:spcBef>
                <a:spcPts val="1001"/>
              </a:spcBef>
              <a:spcAft>
                <a:spcPts val="0"/>
              </a:spcAft>
              <a:buSzPts val="1500"/>
              <a:buFont typeface="Calibri"/>
              <a:buChar char="•"/>
            </a:pPr>
            <a:r>
              <a:rPr lang="en-US" sz="1500">
                <a:latin typeface="Calibri"/>
                <a:ea typeface="Calibri"/>
                <a:cs typeface="Calibri"/>
                <a:sym typeface="Calibri"/>
              </a:rPr>
              <a:t>Por este motivo resulta pertinente aprender </a:t>
            </a:r>
            <a:r>
              <a:rPr b="1" lang="en-US" sz="1500">
                <a:latin typeface="Calibri"/>
                <a:ea typeface="Calibri"/>
                <a:cs typeface="Calibri"/>
                <a:sym typeface="Calibri"/>
              </a:rPr>
              <a:t>PANDAS</a:t>
            </a:r>
            <a:r>
              <a:rPr lang="en-US" sz="1500">
                <a:latin typeface="Calibri"/>
                <a:ea typeface="Calibri"/>
                <a:cs typeface="Calibri"/>
                <a:sym typeface="Calibri"/>
              </a:rPr>
              <a:t>. Aunque antes debeemos aprender operaciones de conjunto entre tablas.</a:t>
            </a:r>
            <a:endParaRPr sz="1500">
              <a:latin typeface="Calibri"/>
              <a:ea typeface="Calibri"/>
              <a:cs typeface="Calibri"/>
              <a:sym typeface="Calibri"/>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nvSpPr>
        <p:spPr>
          <a:xfrm>
            <a:off x="1129651" y="1618700"/>
            <a:ext cx="3231600" cy="1962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200"/>
              <a:buFont typeface="Arial"/>
              <a:buNone/>
            </a:pPr>
            <a:r>
              <a:rPr lang="en-US" sz="1200">
                <a:solidFill>
                  <a:srgbClr val="F4F2ED"/>
                </a:solidFill>
                <a:latin typeface="Calibri"/>
                <a:ea typeface="Calibri"/>
                <a:cs typeface="Calibri"/>
                <a:sym typeface="Calibri"/>
              </a:rPr>
              <a:t>JOINS</a:t>
            </a:r>
            <a:endParaRPr b="0" i="0" sz="1200" u="none" cap="none" strike="noStrike">
              <a:solidFill>
                <a:srgbClr val="000000"/>
              </a:solidFill>
              <a:latin typeface="Calibri"/>
              <a:ea typeface="Calibri"/>
              <a:cs typeface="Calibri"/>
              <a:sym typeface="Calibri"/>
            </a:endParaRPr>
          </a:p>
        </p:txBody>
      </p:sp>
      <p:grpSp>
        <p:nvGrpSpPr>
          <p:cNvPr id="159" name="Google Shape;159;p24"/>
          <p:cNvGrpSpPr/>
          <p:nvPr/>
        </p:nvGrpSpPr>
        <p:grpSpPr>
          <a:xfrm>
            <a:off x="1139819" y="1816646"/>
            <a:ext cx="2340610" cy="25400"/>
            <a:chOff x="1133919" y="1515833"/>
            <a:chExt cx="2340610" cy="25400"/>
          </a:xfrm>
        </p:grpSpPr>
        <p:sp>
          <p:nvSpPr>
            <p:cNvPr id="160" name="Google Shape;160;p24"/>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4"/>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9525">
              <a:solidFill>
                <a:srgbClr val="F4F2ED"/>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4"/>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006DBF"/>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4"/>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FFDC64"/>
            </a:solidFill>
            <a:ln cap="flat" cmpd="sng" w="9525">
              <a:solidFill>
                <a:srgbClr val="FFDC64"/>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69" name="Google Shape;169;p25"/>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70" name="Google Shape;170;p25"/>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71" name="Google Shape;171;p25"/>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72" name="Google Shape;172;p25"/>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73" name="Google Shape;173;p25"/>
          <p:cNvSpPr txBox="1"/>
          <p:nvPr/>
        </p:nvSpPr>
        <p:spPr>
          <a:xfrm>
            <a:off x="-38925" y="561738"/>
            <a:ext cx="23892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Conceptos: PK, FK</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174" name="Google Shape;174;p25"/>
          <p:cNvSpPr txBox="1"/>
          <p:nvPr/>
        </p:nvSpPr>
        <p:spPr>
          <a:xfrm>
            <a:off x="58200" y="1011962"/>
            <a:ext cx="4493700" cy="1868400"/>
          </a:xfrm>
          <a:prstGeom prst="rect">
            <a:avLst/>
          </a:prstGeom>
          <a:noFill/>
          <a:ln>
            <a:noFill/>
          </a:ln>
        </p:spPr>
        <p:txBody>
          <a:bodyPr anchorCtr="0" anchor="t" bIns="45000" lIns="90000" spcFirstLastPara="1" rIns="90000" wrap="square" tIns="45000">
            <a:noAutofit/>
          </a:bodyPr>
          <a:lstStyle/>
          <a:p>
            <a:pPr indent="-95250" lvl="0" marL="0" rtl="0" algn="l">
              <a:spcBef>
                <a:spcPts val="0"/>
              </a:spcBef>
              <a:spcAft>
                <a:spcPts val="0"/>
              </a:spcAft>
              <a:buClr>
                <a:schemeClr val="dk1"/>
              </a:buClr>
              <a:buSzPts val="1500"/>
              <a:buFont typeface="Noto Sans Symbols"/>
              <a:buChar char="•"/>
            </a:pPr>
            <a:r>
              <a:rPr lang="en-US" sz="1500">
                <a:solidFill>
                  <a:schemeClr val="dk1"/>
                </a:solidFill>
              </a:rPr>
              <a:t>En el entorno de una BBDD relacional, una Primary Key (PK) es el mínimo conjunto de atributos que pueden identificar un registro.</a:t>
            </a:r>
            <a:endParaRPr sz="1500">
              <a:solidFill>
                <a:schemeClr val="dk1"/>
              </a:solidFill>
            </a:endParaRPr>
          </a:p>
          <a:p>
            <a:pPr indent="-95250" lvl="0" marL="0" rtl="0" algn="l">
              <a:spcBef>
                <a:spcPts val="1060"/>
              </a:spcBef>
              <a:spcAft>
                <a:spcPts val="0"/>
              </a:spcAft>
              <a:buClr>
                <a:schemeClr val="dk1"/>
              </a:buClr>
              <a:buSzPts val="1500"/>
              <a:buFont typeface="Noto Sans Symbols"/>
              <a:buChar char="•"/>
            </a:pPr>
            <a:r>
              <a:rPr lang="en-US" sz="1500">
                <a:solidFill>
                  <a:schemeClr val="dk1"/>
                </a:solidFill>
              </a:rPr>
              <a:t>Una FK es un atributo (o conjunto de ellos) que hace referencia a la PK de otra tabla y permite linkear (relacionar) una tabla con la otra</a:t>
            </a:r>
            <a:endParaRPr sz="15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80" name="Google Shape;180;p26"/>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81" name="Google Shape;181;p26"/>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82" name="Google Shape;182;p26"/>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83" name="Google Shape;183;p26"/>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84" name="Google Shape;184;p26"/>
          <p:cNvSpPr txBox="1"/>
          <p:nvPr/>
        </p:nvSpPr>
        <p:spPr>
          <a:xfrm>
            <a:off x="-38925" y="561738"/>
            <a:ext cx="23892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Conceptos: PK, FK</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pic>
        <p:nvPicPr>
          <p:cNvPr id="185" name="Google Shape;185;p26"/>
          <p:cNvPicPr preferRelativeResize="0"/>
          <p:nvPr/>
        </p:nvPicPr>
        <p:blipFill rotWithShape="1">
          <a:blip r:embed="rId4">
            <a:alphaModFix/>
          </a:blip>
          <a:srcRect b="0" l="0" r="0" t="0"/>
          <a:stretch/>
        </p:blipFill>
        <p:spPr>
          <a:xfrm>
            <a:off x="142575" y="882825"/>
            <a:ext cx="4112749" cy="1183400"/>
          </a:xfrm>
          <a:prstGeom prst="rect">
            <a:avLst/>
          </a:prstGeom>
          <a:noFill/>
          <a:ln>
            <a:noFill/>
          </a:ln>
        </p:spPr>
      </p:pic>
      <p:sp>
        <p:nvSpPr>
          <p:cNvPr id="186" name="Google Shape;186;p26"/>
          <p:cNvSpPr txBox="1"/>
          <p:nvPr/>
        </p:nvSpPr>
        <p:spPr>
          <a:xfrm>
            <a:off x="142575" y="2110400"/>
            <a:ext cx="4473300" cy="1031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strike="noStrike">
                <a:solidFill>
                  <a:schemeClr val="dk1"/>
                </a:solidFill>
                <a:latin typeface="Arial"/>
                <a:ea typeface="Arial"/>
                <a:cs typeface="Arial"/>
                <a:sym typeface="Arial"/>
              </a:rPr>
              <a:t>Vemos que la cédula de profesor alcanza para identificar un profesor (entonces decimos que es PK de la tabla “profesor”). El número de cubículo alcanza para identificar a un cubículo, por lo tanto es PK de su tabla. Profesor y Cubículo se relacionan entre sí mediante el campo Cédula, que es PK de Profesor y FK de cubículo</a:t>
            </a:r>
            <a:endParaRPr b="0" sz="1500" strike="noStrike">
              <a:solidFill>
                <a:schemeClr val="dk1"/>
              </a:solidFill>
              <a:latin typeface="Arial"/>
              <a:ea typeface="Arial"/>
              <a:cs typeface="Arial"/>
              <a:sym typeface="Arial"/>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192" name="Google Shape;192;p27"/>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193" name="Google Shape;193;p27"/>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194" name="Google Shape;194;p27"/>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195" name="Google Shape;195;p27"/>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196" name="Google Shape;196;p27"/>
          <p:cNvSpPr txBox="1"/>
          <p:nvPr/>
        </p:nvSpPr>
        <p:spPr>
          <a:xfrm>
            <a:off x="-38925" y="561738"/>
            <a:ext cx="23892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Conceptos: PK, FK</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197" name="Google Shape;197;p27"/>
          <p:cNvSpPr txBox="1"/>
          <p:nvPr/>
        </p:nvSpPr>
        <p:spPr>
          <a:xfrm>
            <a:off x="0" y="1011975"/>
            <a:ext cx="4551000" cy="1813200"/>
          </a:xfrm>
          <a:prstGeom prst="rect">
            <a:avLst/>
          </a:prstGeom>
          <a:noFill/>
          <a:ln>
            <a:noFill/>
          </a:ln>
        </p:spPr>
        <p:txBody>
          <a:bodyPr anchorCtr="0" anchor="t" bIns="0" lIns="0" spcFirstLastPara="1" rIns="0" wrap="square" tIns="0">
            <a:noAutofit/>
          </a:bodyPr>
          <a:lstStyle/>
          <a:p>
            <a:pPr indent="-323850" lvl="0" marL="457200" marR="0" rtl="0" algn="l">
              <a:spcBef>
                <a:spcPts val="0"/>
              </a:spcBef>
              <a:spcAft>
                <a:spcPts val="0"/>
              </a:spcAft>
              <a:buClr>
                <a:schemeClr val="dk1"/>
              </a:buClr>
              <a:buSzPts val="1500"/>
              <a:buFont typeface="Arial"/>
              <a:buChar char="●"/>
            </a:pPr>
            <a:r>
              <a:rPr b="0" lang="en-US" sz="1500" strike="noStrike">
                <a:solidFill>
                  <a:schemeClr val="dk1"/>
                </a:solidFill>
                <a:latin typeface="Arial"/>
                <a:ea typeface="Arial"/>
                <a:cs typeface="Arial"/>
                <a:sym typeface="Arial"/>
              </a:rPr>
              <a:t>Vemos que la cédula de profesor alcanza para identificar un profesor (entonces decimos que es PK de la tabla “profesor”). </a:t>
            </a:r>
            <a:endParaRPr b="0" sz="1500" strike="noStrike">
              <a:solidFill>
                <a:schemeClr val="dk1"/>
              </a:solidFill>
              <a:latin typeface="Arial"/>
              <a:ea typeface="Arial"/>
              <a:cs typeface="Arial"/>
              <a:sym typeface="Arial"/>
            </a:endParaRPr>
          </a:p>
          <a:p>
            <a:pPr indent="-323850" lvl="0" marL="457200" marR="0" rtl="0" algn="l">
              <a:spcBef>
                <a:spcPts val="0"/>
              </a:spcBef>
              <a:spcAft>
                <a:spcPts val="0"/>
              </a:spcAft>
              <a:buClr>
                <a:schemeClr val="dk1"/>
              </a:buClr>
              <a:buSzPts val="1500"/>
              <a:buFont typeface="Arial"/>
              <a:buChar char="●"/>
            </a:pPr>
            <a:r>
              <a:rPr b="0" lang="en-US" sz="1500" strike="noStrike">
                <a:solidFill>
                  <a:schemeClr val="dk1"/>
                </a:solidFill>
                <a:latin typeface="Arial"/>
                <a:ea typeface="Arial"/>
                <a:cs typeface="Arial"/>
                <a:sym typeface="Arial"/>
              </a:rPr>
              <a:t>El número de cubículo alcanza para identificar a un cubículo, por lo tanto es PK de su tabla. </a:t>
            </a:r>
            <a:endParaRPr b="0" sz="1500" strike="noStrike">
              <a:solidFill>
                <a:schemeClr val="dk1"/>
              </a:solidFill>
              <a:latin typeface="Arial"/>
              <a:ea typeface="Arial"/>
              <a:cs typeface="Arial"/>
              <a:sym typeface="Arial"/>
            </a:endParaRPr>
          </a:p>
          <a:p>
            <a:pPr indent="-323850" lvl="0" marL="457200" marR="0" rtl="0" algn="l">
              <a:spcBef>
                <a:spcPts val="0"/>
              </a:spcBef>
              <a:spcAft>
                <a:spcPts val="0"/>
              </a:spcAft>
              <a:buClr>
                <a:schemeClr val="dk1"/>
              </a:buClr>
              <a:buSzPts val="1500"/>
              <a:buFont typeface="Arial"/>
              <a:buChar char="●"/>
            </a:pPr>
            <a:r>
              <a:rPr b="0" lang="en-US" sz="1500" strike="noStrike">
                <a:solidFill>
                  <a:schemeClr val="dk1"/>
                </a:solidFill>
                <a:latin typeface="Arial"/>
                <a:ea typeface="Arial"/>
                <a:cs typeface="Arial"/>
                <a:sym typeface="Arial"/>
              </a:rPr>
              <a:t>Profesor y Cubículo se relacionan entre sí mediante el campo Cédula, que es PK de Profesor y FK de cubículo</a:t>
            </a:r>
            <a:endParaRPr b="0" sz="1500" strike="noStrike">
              <a:solidFill>
                <a:schemeClr val="dk1"/>
              </a:solidFill>
              <a:latin typeface="Arial"/>
              <a:ea typeface="Arial"/>
              <a:cs typeface="Arial"/>
              <a:sym typeface="Arial"/>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03" name="Google Shape;203;p28"/>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04" name="Google Shape;204;p28"/>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05" name="Google Shape;205;p28"/>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06" name="Google Shape;206;p28"/>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07" name="Google Shape;207;p28"/>
          <p:cNvSpPr txBox="1"/>
          <p:nvPr/>
        </p:nvSpPr>
        <p:spPr>
          <a:xfrm>
            <a:off x="0" y="432575"/>
            <a:ext cx="32877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Conceptos: Cardinalidad</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208" name="Google Shape;208;p28"/>
          <p:cNvSpPr txBox="1"/>
          <p:nvPr/>
        </p:nvSpPr>
        <p:spPr>
          <a:xfrm>
            <a:off x="0" y="623525"/>
            <a:ext cx="4551000" cy="181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500">
                <a:solidFill>
                  <a:schemeClr val="dk1"/>
                </a:solidFill>
              </a:rPr>
              <a:t>La cardinalidad muestra con cuantos registros de una tabla Y se relaciona un registro de la tabla X. Estas pueden ser:</a:t>
            </a:r>
            <a:endParaRPr sz="1500">
              <a:solidFill>
                <a:schemeClr val="dk1"/>
              </a:solidFill>
            </a:endParaRPr>
          </a:p>
          <a:p>
            <a:pPr indent="-292100" lvl="0" marL="457200" rtl="0" algn="l">
              <a:spcBef>
                <a:spcPts val="850"/>
              </a:spcBef>
              <a:spcAft>
                <a:spcPts val="0"/>
              </a:spcAft>
              <a:buClr>
                <a:schemeClr val="dk1"/>
              </a:buClr>
              <a:buSzPts val="1000"/>
              <a:buChar char="●"/>
            </a:pPr>
            <a:r>
              <a:rPr lang="en-US" sz="1000">
                <a:solidFill>
                  <a:schemeClr val="dk1"/>
                </a:solidFill>
              </a:rPr>
              <a:t>1:1: Un registro de la tabla X se relaciona con un solo registro d la tabla Y. Una tabla persona y otra historial médico. Dada una persona hay un historial médico posible y visceversa.</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1: N : Un registro de la tabla X se relaciona con muchos de la tabla Y, pero no al revés. Tabla club de futbol y tabla hinchas: un hincha puede tener solo un club, un club puede tener varios hinchas.</a:t>
            </a:r>
            <a:endParaRPr sz="1000">
              <a:solidFill>
                <a:schemeClr val="dk1"/>
              </a:solidFill>
            </a:endParaRPr>
          </a:p>
          <a:p>
            <a:pPr indent="-292100" lvl="0" marL="457200" rtl="0" algn="l">
              <a:spcBef>
                <a:spcPts val="0"/>
              </a:spcBef>
              <a:spcAft>
                <a:spcPts val="0"/>
              </a:spcAft>
              <a:buClr>
                <a:schemeClr val="dk1"/>
              </a:buClr>
              <a:buSzPts val="1000"/>
              <a:buChar char="●"/>
            </a:pPr>
            <a:r>
              <a:rPr lang="en-US" sz="1000">
                <a:solidFill>
                  <a:schemeClr val="dk1"/>
                </a:solidFill>
              </a:rPr>
              <a:t>N:N : Muchos a muchos, un registro de la tabla X se relaciona con varios de la tabla Y y al revés también. Tabla vuelos y tabla turista. Un turista puede tener varios vuelos, un vuelo suele tener varios turistas </a:t>
            </a:r>
            <a:endParaRPr sz="1000">
              <a:solidFill>
                <a:schemeClr val="dk1"/>
              </a:solidFill>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9"/>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14" name="Google Shape;214;p29"/>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15" name="Google Shape;215;p29"/>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16" name="Google Shape;216;p29"/>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17" name="Google Shape;217;p29"/>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18" name="Google Shape;218;p29"/>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Conceptos: Operaciones de conjuntos</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pic>
        <p:nvPicPr>
          <p:cNvPr id="219" name="Google Shape;219;p29"/>
          <p:cNvPicPr preferRelativeResize="0"/>
          <p:nvPr/>
        </p:nvPicPr>
        <p:blipFill rotWithShape="1">
          <a:blip r:embed="rId4">
            <a:alphaModFix/>
          </a:blip>
          <a:srcRect b="0" l="0" r="0" t="0"/>
          <a:stretch/>
        </p:blipFill>
        <p:spPr>
          <a:xfrm>
            <a:off x="91500" y="712100"/>
            <a:ext cx="4397038" cy="2157312"/>
          </a:xfrm>
          <a:prstGeom prst="rect">
            <a:avLst/>
          </a:prstGeom>
          <a:noFill/>
          <a:ln>
            <a:noFill/>
          </a:ln>
        </p:spPr>
      </p:pic>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25" name="Google Shape;225;p30"/>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26" name="Google Shape;226;p30"/>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27" name="Google Shape;227;p30"/>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28" name="Google Shape;228;p30"/>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29" name="Google Shape;229;p30"/>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Inner Join</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230" name="Google Shape;230;p30"/>
          <p:cNvGraphicFramePr/>
          <p:nvPr/>
        </p:nvGraphicFramePr>
        <p:xfrm>
          <a:off x="49320" y="616745"/>
          <a:ext cx="3000000" cy="3000000"/>
        </p:xfrm>
        <a:graphic>
          <a:graphicData uri="http://schemas.openxmlformats.org/drawingml/2006/table">
            <a:tbl>
              <a:tblPr>
                <a:noFill/>
                <a:tableStyleId>{A792F578-C45A-4C0B-8CAA-E3865B34D857}</a:tableStyleId>
              </a:tblPr>
              <a:tblGrid>
                <a:gridCol w="710400"/>
                <a:gridCol w="725825"/>
                <a:gridCol w="595775"/>
              </a:tblGrid>
              <a:tr h="340400">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38999432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Damian Lopez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231" name="Google Shape;231;p30"/>
          <p:cNvGraphicFramePr/>
          <p:nvPr/>
        </p:nvGraphicFramePr>
        <p:xfrm>
          <a:off x="2201490" y="656510"/>
          <a:ext cx="3000000" cy="3000000"/>
        </p:xfrm>
        <a:graphic>
          <a:graphicData uri="http://schemas.openxmlformats.org/drawingml/2006/table">
            <a:tbl>
              <a:tblPr>
                <a:noFill/>
                <a:tableStyleId>{A792F578-C45A-4C0B-8CAA-E3865B34D857}</a:tableStyleId>
              </a:tblPr>
              <a:tblGrid>
                <a:gridCol w="860875"/>
                <a:gridCol w="1095975"/>
                <a:gridCol w="392675"/>
              </a:tblGrid>
              <a:tr h="289550">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80575">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r>
              <a:tr h="246350">
                <a:tc>
                  <a:txBody>
                    <a:bodyPr/>
                    <a:lstStyle/>
                    <a:p>
                      <a:pPr indent="0" lvl="0" marL="0" marR="0" rtl="0" algn="l">
                        <a:spcBef>
                          <a:spcPts val="0"/>
                        </a:spcBef>
                        <a:spcAft>
                          <a:spcPts val="0"/>
                        </a:spcAft>
                        <a:buNone/>
                      </a:pPr>
                      <a:r>
                        <a:rPr b="0" lang="en-US" sz="900" strike="noStrike">
                          <a:latin typeface="Arial"/>
                          <a:ea typeface="Arial"/>
                          <a:cs typeface="Arial"/>
                          <a:sym typeface="Arial"/>
                        </a:rPr>
                        <a:t>Boca Juniors</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1905</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2</a:t>
                      </a:r>
                      <a:endParaRPr b="0" sz="9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232" name="Google Shape;232;p30"/>
          <p:cNvGraphicFramePr/>
          <p:nvPr/>
        </p:nvGraphicFramePr>
        <p:xfrm>
          <a:off x="26652" y="2181857"/>
          <a:ext cx="3000000" cy="3000000"/>
        </p:xfrm>
        <a:graphic>
          <a:graphicData uri="http://schemas.openxmlformats.org/drawingml/2006/table">
            <a:tbl>
              <a:tblPr>
                <a:noFill/>
                <a:tableStyleId>{A792F578-C45A-4C0B-8CAA-E3865B34D857}</a:tableStyleId>
              </a:tblPr>
              <a:tblGrid>
                <a:gridCol w="837000"/>
                <a:gridCol w="975350"/>
                <a:gridCol w="620975"/>
                <a:gridCol w="969025"/>
                <a:gridCol w="1154425"/>
              </a:tblGrid>
              <a:tr h="213600">
                <a:tc>
                  <a:txBody>
                    <a:bodyPr/>
                    <a:lstStyle/>
                    <a:p>
                      <a:pPr indent="0" lvl="0" marL="0" marR="0" rtl="0" algn="l">
                        <a:spcBef>
                          <a:spcPts val="0"/>
                        </a:spcBef>
                        <a:spcAft>
                          <a:spcPts val="0"/>
                        </a:spcAft>
                        <a:buNone/>
                      </a:pPr>
                      <a:r>
                        <a:rPr b="0" lang="en-US" sz="1000" strike="noStrike">
                          <a:latin typeface="Arial"/>
                          <a:ea typeface="Arial"/>
                          <a:cs typeface="Arial"/>
                          <a:sym typeface="Arial"/>
                        </a:rPr>
                        <a:t>DNI</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Nombre</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id_club</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Nombre_club</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año_fundacion</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11175">
                <a:tc>
                  <a:txBody>
                    <a:bodyPr/>
                    <a:lstStyle/>
                    <a:p>
                      <a:pPr indent="0" lvl="0" marL="0" marR="0" rtl="0" algn="l">
                        <a:spcBef>
                          <a:spcPts val="0"/>
                        </a:spcBef>
                        <a:spcAft>
                          <a:spcPts val="0"/>
                        </a:spcAft>
                        <a:buNone/>
                      </a:pPr>
                      <a:r>
                        <a:rPr b="0" lang="en-US" sz="1000" strike="noStrike">
                          <a:latin typeface="Arial"/>
                          <a:ea typeface="Arial"/>
                          <a:cs typeface="Arial"/>
                          <a:sym typeface="Arial"/>
                        </a:rPr>
                        <a:t>41555676</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Juan Perez</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1</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River Plate</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1901</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178950">
                <a:tc>
                  <a:txBody>
                    <a:bodyPr/>
                    <a:lstStyle/>
                    <a:p>
                      <a:pPr indent="0" lvl="0" marL="0" marR="0" rtl="0" algn="l">
                        <a:spcBef>
                          <a:spcPts val="0"/>
                        </a:spcBef>
                        <a:spcAft>
                          <a:spcPts val="0"/>
                        </a:spcAft>
                        <a:buNone/>
                      </a:pPr>
                      <a:r>
                        <a:rPr b="0" lang="en-US" sz="1000" strike="noStrike">
                          <a:latin typeface="Arial"/>
                          <a:ea typeface="Arial"/>
                          <a:cs typeface="Arial"/>
                          <a:sym typeface="Arial"/>
                        </a:rPr>
                        <a:t>33455654</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Julio Suarez</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1</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River Plate</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1000" strike="noStrike">
                          <a:latin typeface="Arial"/>
                          <a:ea typeface="Arial"/>
                          <a:cs typeface="Arial"/>
                          <a:sym typeface="Arial"/>
                        </a:rPr>
                        <a:t>1901</a:t>
                      </a:r>
                      <a:endParaRPr b="0" sz="10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bl>
          </a:graphicData>
        </a:graphic>
      </p:graphicFrame>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38" name="Google Shape;238;p31"/>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39" name="Google Shape;239;p31"/>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40" name="Google Shape;240;p31"/>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41" name="Google Shape;241;p31"/>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42" name="Google Shape;242;p31"/>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Left </a:t>
            </a:r>
            <a:r>
              <a:rPr b="1" lang="en-US" sz="1500">
                <a:solidFill>
                  <a:schemeClr val="dk1"/>
                </a:solidFill>
              </a:rPr>
              <a:t>Join</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243" name="Google Shape;243;p31"/>
          <p:cNvGraphicFramePr/>
          <p:nvPr/>
        </p:nvGraphicFramePr>
        <p:xfrm>
          <a:off x="49320" y="616745"/>
          <a:ext cx="3000000" cy="3000000"/>
        </p:xfrm>
        <a:graphic>
          <a:graphicData uri="http://schemas.openxmlformats.org/drawingml/2006/table">
            <a:tbl>
              <a:tblPr>
                <a:noFill/>
                <a:tableStyleId>{A792F578-C45A-4C0B-8CAA-E3865B34D857}</a:tableStyleId>
              </a:tblPr>
              <a:tblGrid>
                <a:gridCol w="710400"/>
                <a:gridCol w="725825"/>
                <a:gridCol w="595775"/>
              </a:tblGrid>
              <a:tr h="340400">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38999432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Damian Lopez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244" name="Google Shape;244;p31"/>
          <p:cNvGraphicFramePr/>
          <p:nvPr/>
        </p:nvGraphicFramePr>
        <p:xfrm>
          <a:off x="2201490" y="656510"/>
          <a:ext cx="3000000" cy="3000000"/>
        </p:xfrm>
        <a:graphic>
          <a:graphicData uri="http://schemas.openxmlformats.org/drawingml/2006/table">
            <a:tbl>
              <a:tblPr>
                <a:noFill/>
                <a:tableStyleId>{A792F578-C45A-4C0B-8CAA-E3865B34D857}</a:tableStyleId>
              </a:tblPr>
              <a:tblGrid>
                <a:gridCol w="860875"/>
                <a:gridCol w="1095975"/>
                <a:gridCol w="392675"/>
              </a:tblGrid>
              <a:tr h="289550">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80575">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r>
              <a:tr h="246350">
                <a:tc>
                  <a:txBody>
                    <a:bodyPr/>
                    <a:lstStyle/>
                    <a:p>
                      <a:pPr indent="0" lvl="0" marL="0" marR="0" rtl="0" algn="l">
                        <a:spcBef>
                          <a:spcPts val="0"/>
                        </a:spcBef>
                        <a:spcAft>
                          <a:spcPts val="0"/>
                        </a:spcAft>
                        <a:buNone/>
                      </a:pPr>
                      <a:r>
                        <a:rPr b="0" lang="en-US" sz="900" strike="noStrike">
                          <a:latin typeface="Arial"/>
                          <a:ea typeface="Arial"/>
                          <a:cs typeface="Arial"/>
                          <a:sym typeface="Arial"/>
                        </a:rPr>
                        <a:t>Boca Juniors</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1905</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2</a:t>
                      </a:r>
                      <a:endParaRPr b="0" sz="9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245" name="Google Shape;245;p31"/>
          <p:cNvGraphicFramePr/>
          <p:nvPr/>
        </p:nvGraphicFramePr>
        <p:xfrm>
          <a:off x="49327" y="2098045"/>
          <a:ext cx="3000000" cy="3000000"/>
        </p:xfrm>
        <a:graphic>
          <a:graphicData uri="http://schemas.openxmlformats.org/drawingml/2006/table">
            <a:tbl>
              <a:tblPr>
                <a:noFill/>
                <a:tableStyleId>{A792F578-C45A-4C0B-8CAA-E3865B34D857}</a:tableStyleId>
              </a:tblPr>
              <a:tblGrid>
                <a:gridCol w="777700"/>
                <a:gridCol w="1005425"/>
                <a:gridCol w="670250"/>
                <a:gridCol w="873050"/>
                <a:gridCol w="1133100"/>
              </a:tblGrid>
              <a:tr h="269275">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1706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166800">
                <a:tc>
                  <a:txBody>
                    <a:bodyPr/>
                    <a:lstStyle/>
                    <a:p>
                      <a:pPr indent="0" lvl="0" marL="0" marR="0" rtl="0" algn="l">
                        <a:spcBef>
                          <a:spcPts val="0"/>
                        </a:spcBef>
                        <a:spcAft>
                          <a:spcPts val="0"/>
                        </a:spcAft>
                        <a:buNone/>
                      </a:pPr>
                      <a:r>
                        <a:rPr b="0" lang="en-US" sz="900" strike="noStrike">
                          <a:latin typeface="Arial"/>
                          <a:ea typeface="Arial"/>
                          <a:cs typeface="Arial"/>
                          <a:sym typeface="Arial"/>
                        </a:rPr>
                        <a:t>38999432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Damian Lopez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null</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null</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r>
              <a:tr h="178550">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51" name="Google Shape;251;p32"/>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52" name="Google Shape;252;p32"/>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53" name="Google Shape;253;p32"/>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54" name="Google Shape;254;p32"/>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55" name="Google Shape;255;p32"/>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Right </a:t>
            </a:r>
            <a:r>
              <a:rPr b="1" lang="en-US" sz="1500">
                <a:solidFill>
                  <a:schemeClr val="dk1"/>
                </a:solidFill>
              </a:rPr>
              <a:t>Join</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256" name="Google Shape;256;p32"/>
          <p:cNvGraphicFramePr/>
          <p:nvPr/>
        </p:nvGraphicFramePr>
        <p:xfrm>
          <a:off x="49320" y="616745"/>
          <a:ext cx="3000000" cy="3000000"/>
        </p:xfrm>
        <a:graphic>
          <a:graphicData uri="http://schemas.openxmlformats.org/drawingml/2006/table">
            <a:tbl>
              <a:tblPr>
                <a:noFill/>
                <a:tableStyleId>{A792F578-C45A-4C0B-8CAA-E3865B34D857}</a:tableStyleId>
              </a:tblPr>
              <a:tblGrid>
                <a:gridCol w="710400"/>
                <a:gridCol w="725825"/>
                <a:gridCol w="595775"/>
              </a:tblGrid>
              <a:tr h="340400">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38999432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Damian Lopez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257" name="Google Shape;257;p32"/>
          <p:cNvGraphicFramePr/>
          <p:nvPr/>
        </p:nvGraphicFramePr>
        <p:xfrm>
          <a:off x="2201490" y="656510"/>
          <a:ext cx="3000000" cy="3000000"/>
        </p:xfrm>
        <a:graphic>
          <a:graphicData uri="http://schemas.openxmlformats.org/drawingml/2006/table">
            <a:tbl>
              <a:tblPr>
                <a:noFill/>
                <a:tableStyleId>{A792F578-C45A-4C0B-8CAA-E3865B34D857}</a:tableStyleId>
              </a:tblPr>
              <a:tblGrid>
                <a:gridCol w="860875"/>
                <a:gridCol w="1095975"/>
                <a:gridCol w="392675"/>
              </a:tblGrid>
              <a:tr h="289550">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80575">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r>
              <a:tr h="246350">
                <a:tc>
                  <a:txBody>
                    <a:bodyPr/>
                    <a:lstStyle/>
                    <a:p>
                      <a:pPr indent="0" lvl="0" marL="0" marR="0" rtl="0" algn="l">
                        <a:spcBef>
                          <a:spcPts val="0"/>
                        </a:spcBef>
                        <a:spcAft>
                          <a:spcPts val="0"/>
                        </a:spcAft>
                        <a:buNone/>
                      </a:pPr>
                      <a:r>
                        <a:rPr b="0" lang="en-US" sz="900" strike="noStrike">
                          <a:latin typeface="Arial"/>
                          <a:ea typeface="Arial"/>
                          <a:cs typeface="Arial"/>
                          <a:sym typeface="Arial"/>
                        </a:rPr>
                        <a:t>Boca Juniors</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1905</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2</a:t>
                      </a:r>
                      <a:endParaRPr b="0" sz="9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258" name="Google Shape;258;p32"/>
          <p:cNvGraphicFramePr/>
          <p:nvPr/>
        </p:nvGraphicFramePr>
        <p:xfrm>
          <a:off x="49315" y="2098045"/>
          <a:ext cx="3000000" cy="3000000"/>
        </p:xfrm>
        <a:graphic>
          <a:graphicData uri="http://schemas.openxmlformats.org/drawingml/2006/table">
            <a:tbl>
              <a:tblPr>
                <a:noFill/>
                <a:tableStyleId>{A792F578-C45A-4C0B-8CAA-E3865B34D857}</a:tableStyleId>
              </a:tblPr>
              <a:tblGrid>
                <a:gridCol w="801325"/>
                <a:gridCol w="1145075"/>
                <a:gridCol w="579825"/>
                <a:gridCol w="873825"/>
                <a:gridCol w="962400"/>
              </a:tblGrid>
              <a:tr h="355475">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Nombre_apellido</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a:t>
                      </a:r>
                      <a:r>
                        <a:rPr lang="en-US" sz="900"/>
                        <a:t>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221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22175">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22175">
                <a:tc>
                  <a:txBody>
                    <a:bodyPr/>
                    <a:lstStyle/>
                    <a:p>
                      <a:pPr indent="0" lvl="0" marL="0" marR="0" rtl="0" algn="l">
                        <a:spcBef>
                          <a:spcPts val="0"/>
                        </a:spcBef>
                        <a:spcAft>
                          <a:spcPts val="0"/>
                        </a:spcAft>
                        <a:buNone/>
                      </a:pPr>
                      <a:r>
                        <a:rPr b="0" lang="en-US" sz="900" strike="noStrike">
                          <a:latin typeface="Arial"/>
                          <a:ea typeface="Arial"/>
                          <a:cs typeface="Arial"/>
                          <a:sym typeface="Arial"/>
                        </a:rPr>
                        <a:t>null</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null</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Boca Juniors</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1905</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64" name="Google Shape;264;p33"/>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65" name="Google Shape;265;p33"/>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66" name="Google Shape;266;p33"/>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67" name="Google Shape;267;p33"/>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68" name="Google Shape;268;p33"/>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Outer</a:t>
            </a:r>
            <a:r>
              <a:rPr b="1" lang="en-US" sz="1500">
                <a:solidFill>
                  <a:schemeClr val="dk1"/>
                </a:solidFill>
              </a:rPr>
              <a:t> Join</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269" name="Google Shape;269;p33"/>
          <p:cNvGraphicFramePr/>
          <p:nvPr/>
        </p:nvGraphicFramePr>
        <p:xfrm>
          <a:off x="49320" y="616745"/>
          <a:ext cx="3000000" cy="3000000"/>
        </p:xfrm>
        <a:graphic>
          <a:graphicData uri="http://schemas.openxmlformats.org/drawingml/2006/table">
            <a:tbl>
              <a:tblPr>
                <a:noFill/>
                <a:tableStyleId>{A792F578-C45A-4C0B-8CAA-E3865B34D857}</a:tableStyleId>
              </a:tblPr>
              <a:tblGrid>
                <a:gridCol w="710400"/>
                <a:gridCol w="725825"/>
                <a:gridCol w="595775"/>
              </a:tblGrid>
              <a:tr h="340400">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38999432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Damian Lopez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270" name="Google Shape;270;p33"/>
          <p:cNvGraphicFramePr/>
          <p:nvPr/>
        </p:nvGraphicFramePr>
        <p:xfrm>
          <a:off x="2201490" y="656510"/>
          <a:ext cx="3000000" cy="3000000"/>
        </p:xfrm>
        <a:graphic>
          <a:graphicData uri="http://schemas.openxmlformats.org/drawingml/2006/table">
            <a:tbl>
              <a:tblPr>
                <a:noFill/>
                <a:tableStyleId>{A792F578-C45A-4C0B-8CAA-E3865B34D857}</a:tableStyleId>
              </a:tblPr>
              <a:tblGrid>
                <a:gridCol w="860875"/>
                <a:gridCol w="1095975"/>
                <a:gridCol w="392675"/>
              </a:tblGrid>
              <a:tr h="289550">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80575">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r>
              <a:tr h="246350">
                <a:tc>
                  <a:txBody>
                    <a:bodyPr/>
                    <a:lstStyle/>
                    <a:p>
                      <a:pPr indent="0" lvl="0" marL="0" marR="0" rtl="0" algn="l">
                        <a:spcBef>
                          <a:spcPts val="0"/>
                        </a:spcBef>
                        <a:spcAft>
                          <a:spcPts val="0"/>
                        </a:spcAft>
                        <a:buNone/>
                      </a:pPr>
                      <a:r>
                        <a:rPr b="0" lang="en-US" sz="900" strike="noStrike">
                          <a:latin typeface="Arial"/>
                          <a:ea typeface="Arial"/>
                          <a:cs typeface="Arial"/>
                          <a:sym typeface="Arial"/>
                        </a:rPr>
                        <a:t>Boca Juniors</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1905</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2</a:t>
                      </a:r>
                      <a:endParaRPr b="0" sz="9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271" name="Google Shape;271;p33"/>
          <p:cNvGraphicFramePr/>
          <p:nvPr/>
        </p:nvGraphicFramePr>
        <p:xfrm>
          <a:off x="105730" y="2090460"/>
          <a:ext cx="3000000" cy="3000000"/>
        </p:xfrm>
        <a:graphic>
          <a:graphicData uri="http://schemas.openxmlformats.org/drawingml/2006/table">
            <a:tbl>
              <a:tblPr>
                <a:noFill/>
                <a:tableStyleId>{A792F578-C45A-4C0B-8CAA-E3865B34D857}</a:tableStyleId>
              </a:tblPr>
              <a:tblGrid>
                <a:gridCol w="807950"/>
                <a:gridCol w="1154575"/>
                <a:gridCol w="531250"/>
                <a:gridCol w="934475"/>
                <a:gridCol w="970375"/>
              </a:tblGrid>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año_fundacion</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River Plate</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1901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38999432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Damian Lopez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r>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33455654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Julio Suarez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River Plate</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1901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116250">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Boca Juniors</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1905</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bl>
          </a:graphicData>
        </a:graphic>
      </p:graphicFrame>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277" name="Google Shape;277;p34"/>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278" name="Google Shape;278;p34"/>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279" name="Google Shape;279;p34"/>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280" name="Google Shape;280;p34"/>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281" name="Google Shape;281;p34"/>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Outer Join</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282" name="Google Shape;282;p34"/>
          <p:cNvGraphicFramePr/>
          <p:nvPr/>
        </p:nvGraphicFramePr>
        <p:xfrm>
          <a:off x="49320" y="616745"/>
          <a:ext cx="3000000" cy="3000000"/>
        </p:xfrm>
        <a:graphic>
          <a:graphicData uri="http://schemas.openxmlformats.org/drawingml/2006/table">
            <a:tbl>
              <a:tblPr>
                <a:noFill/>
                <a:tableStyleId>{A792F578-C45A-4C0B-8CAA-E3865B34D857}</a:tableStyleId>
              </a:tblPr>
              <a:tblGrid>
                <a:gridCol w="710400"/>
                <a:gridCol w="725825"/>
                <a:gridCol w="595775"/>
              </a:tblGrid>
              <a:tr h="340400">
                <a:tc>
                  <a:txBody>
                    <a:bodyPr/>
                    <a:lstStyle/>
                    <a:p>
                      <a:pPr indent="0" lvl="0" marL="0" marR="0" rtl="0" algn="l">
                        <a:spcBef>
                          <a:spcPts val="0"/>
                        </a:spcBef>
                        <a:spcAft>
                          <a:spcPts val="0"/>
                        </a:spcAft>
                        <a:buNone/>
                      </a:pPr>
                      <a:r>
                        <a:rPr b="0" lang="en-US" sz="900" strike="noStrike">
                          <a:latin typeface="Arial"/>
                          <a:ea typeface="Arial"/>
                          <a:cs typeface="Arial"/>
                          <a:sym typeface="Arial"/>
                        </a:rPr>
                        <a:t>DNI</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Nombre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41555676</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Juan Perez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38999432</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Damian Lopez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09475">
                <a:tc>
                  <a:txBody>
                    <a:bodyPr/>
                    <a:lstStyle/>
                    <a:p>
                      <a:pPr indent="0" lvl="0" marL="0" marR="0" rtl="0" algn="l">
                        <a:spcBef>
                          <a:spcPts val="0"/>
                        </a:spcBef>
                        <a:spcAft>
                          <a:spcPts val="0"/>
                        </a:spcAft>
                        <a:buNone/>
                      </a:pPr>
                      <a:r>
                        <a:rPr b="0" lang="en-US" sz="900" strike="noStrike">
                          <a:latin typeface="Arial"/>
                          <a:ea typeface="Arial"/>
                          <a:cs typeface="Arial"/>
                          <a:sym typeface="Arial"/>
                        </a:rPr>
                        <a:t>33455654</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Julio Suarez</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283" name="Google Shape;283;p34"/>
          <p:cNvGraphicFramePr/>
          <p:nvPr/>
        </p:nvGraphicFramePr>
        <p:xfrm>
          <a:off x="2201490" y="656510"/>
          <a:ext cx="3000000" cy="3000000"/>
        </p:xfrm>
        <a:graphic>
          <a:graphicData uri="http://schemas.openxmlformats.org/drawingml/2006/table">
            <a:tbl>
              <a:tblPr>
                <a:noFill/>
                <a:tableStyleId>{A792F578-C45A-4C0B-8CAA-E3865B34D857}</a:tableStyleId>
              </a:tblPr>
              <a:tblGrid>
                <a:gridCol w="860875"/>
                <a:gridCol w="1095975"/>
                <a:gridCol w="392675"/>
              </a:tblGrid>
              <a:tr h="289550">
                <a:tc>
                  <a:txBody>
                    <a:bodyPr/>
                    <a:lstStyle/>
                    <a:p>
                      <a:pPr indent="0" lvl="0" marL="0" marR="0" rtl="0" algn="l">
                        <a:spcBef>
                          <a:spcPts val="0"/>
                        </a:spcBef>
                        <a:spcAft>
                          <a:spcPts val="0"/>
                        </a:spcAft>
                        <a:buNone/>
                      </a:pPr>
                      <a:r>
                        <a:rPr b="0" lang="en-US" sz="900" strike="noStrike">
                          <a:latin typeface="Arial"/>
                          <a:ea typeface="Arial"/>
                          <a:cs typeface="Arial"/>
                          <a:sym typeface="Arial"/>
                        </a:rPr>
                        <a:t>Nombre_club</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año_fundacion</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id</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80575">
                <a:tc>
                  <a:txBody>
                    <a:bodyPr/>
                    <a:lstStyle/>
                    <a:p>
                      <a:pPr indent="0" lvl="0" marL="0" marR="0" rtl="0" algn="l">
                        <a:spcBef>
                          <a:spcPts val="0"/>
                        </a:spcBef>
                        <a:spcAft>
                          <a:spcPts val="0"/>
                        </a:spcAft>
                        <a:buNone/>
                      </a:pPr>
                      <a:r>
                        <a:rPr b="0" lang="en-US" sz="900" strike="noStrike">
                          <a:latin typeface="Arial"/>
                          <a:ea typeface="Arial"/>
                          <a:cs typeface="Arial"/>
                          <a:sym typeface="Arial"/>
                        </a:rPr>
                        <a:t>River Plate</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a:t>
                      </a:r>
                      <a:endParaRPr b="0" sz="9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r>
              <a:tr h="246350">
                <a:tc>
                  <a:txBody>
                    <a:bodyPr/>
                    <a:lstStyle/>
                    <a:p>
                      <a:pPr indent="0" lvl="0" marL="0" marR="0" rtl="0" algn="l">
                        <a:spcBef>
                          <a:spcPts val="0"/>
                        </a:spcBef>
                        <a:spcAft>
                          <a:spcPts val="0"/>
                        </a:spcAft>
                        <a:buNone/>
                      </a:pPr>
                      <a:r>
                        <a:rPr b="0" lang="en-US" sz="900" strike="noStrike">
                          <a:latin typeface="Arial"/>
                          <a:ea typeface="Arial"/>
                          <a:cs typeface="Arial"/>
                          <a:sym typeface="Arial"/>
                        </a:rPr>
                        <a:t>Boca Juniors</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1905</a:t>
                      </a:r>
                      <a:endParaRPr b="0" sz="9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900" strike="noStrike">
                          <a:latin typeface="Arial"/>
                          <a:ea typeface="Arial"/>
                          <a:cs typeface="Arial"/>
                          <a:sym typeface="Arial"/>
                        </a:rPr>
                        <a:t>2</a:t>
                      </a:r>
                      <a:endParaRPr b="0" sz="9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284" name="Google Shape;284;p34"/>
          <p:cNvGraphicFramePr/>
          <p:nvPr/>
        </p:nvGraphicFramePr>
        <p:xfrm>
          <a:off x="105730" y="2090460"/>
          <a:ext cx="3000000" cy="3000000"/>
        </p:xfrm>
        <a:graphic>
          <a:graphicData uri="http://schemas.openxmlformats.org/drawingml/2006/table">
            <a:tbl>
              <a:tblPr>
                <a:noFill/>
                <a:tableStyleId>{A792F578-C45A-4C0B-8CAA-E3865B34D857}</a:tableStyleId>
              </a:tblPr>
              <a:tblGrid>
                <a:gridCol w="807950"/>
                <a:gridCol w="1154575"/>
                <a:gridCol w="531250"/>
                <a:gridCol w="934475"/>
                <a:gridCol w="970375"/>
              </a:tblGrid>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año_fundacion</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River Plate</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1901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38999432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Damian Lopez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r>
              <a:tr h="185725">
                <a:tc>
                  <a:txBody>
                    <a:bodyPr/>
                    <a:lstStyle/>
                    <a:p>
                      <a:pPr indent="0" lvl="0" marL="0" marR="0" rtl="0" algn="l">
                        <a:spcBef>
                          <a:spcPts val="0"/>
                        </a:spcBef>
                        <a:spcAft>
                          <a:spcPts val="0"/>
                        </a:spcAft>
                        <a:buNone/>
                      </a:pPr>
                      <a:r>
                        <a:rPr b="0" lang="en-US" sz="800" strike="noStrike">
                          <a:latin typeface="Arial"/>
                          <a:ea typeface="Arial"/>
                          <a:cs typeface="Arial"/>
                          <a:sym typeface="Arial"/>
                        </a:rPr>
                        <a:t>33455654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Julio Suarez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River Plate</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1901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116250">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null</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Boca Juniors</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1905</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bl>
          </a:graphicData>
        </a:graphic>
      </p:graphicFrame>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nvSpPr>
        <p:spPr>
          <a:xfrm>
            <a:off x="1129651" y="1618700"/>
            <a:ext cx="3231600" cy="1962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200"/>
              <a:buFont typeface="Arial"/>
              <a:buNone/>
            </a:pPr>
            <a:r>
              <a:rPr lang="en-US" sz="1200">
                <a:solidFill>
                  <a:srgbClr val="F4F2ED"/>
                </a:solidFill>
                <a:latin typeface="Calibri"/>
                <a:ea typeface="Calibri"/>
                <a:cs typeface="Calibri"/>
                <a:sym typeface="Calibri"/>
              </a:rPr>
              <a:t>OPERACIONES DE CONJUNTO CON TABLAS</a:t>
            </a:r>
            <a:endParaRPr b="0" i="0" sz="1200" u="none" cap="none" strike="noStrike">
              <a:solidFill>
                <a:srgbClr val="000000"/>
              </a:solidFill>
              <a:latin typeface="Calibri"/>
              <a:ea typeface="Calibri"/>
              <a:cs typeface="Calibri"/>
              <a:sym typeface="Calibri"/>
            </a:endParaRPr>
          </a:p>
        </p:txBody>
      </p:sp>
      <p:grpSp>
        <p:nvGrpSpPr>
          <p:cNvPr id="290" name="Google Shape;290;p35"/>
          <p:cNvGrpSpPr/>
          <p:nvPr/>
        </p:nvGrpSpPr>
        <p:grpSpPr>
          <a:xfrm>
            <a:off x="1139819" y="1816646"/>
            <a:ext cx="2340610" cy="25400"/>
            <a:chOff x="1133919" y="1515833"/>
            <a:chExt cx="2340610" cy="25400"/>
          </a:xfrm>
        </p:grpSpPr>
        <p:sp>
          <p:nvSpPr>
            <p:cNvPr id="291" name="Google Shape;291;p35"/>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5"/>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9525">
              <a:solidFill>
                <a:srgbClr val="F4F2ED"/>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5"/>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006DBF"/>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5"/>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FFDC64"/>
            </a:solidFill>
            <a:ln cap="flat" cmpd="sng" w="9525">
              <a:solidFill>
                <a:srgbClr val="FFDC64"/>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6"/>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00" name="Google Shape;300;p36"/>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01" name="Google Shape;301;p36"/>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02" name="Google Shape;302;p36"/>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03" name="Google Shape;303;p36"/>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04" name="Google Shape;304;p36"/>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Operaciones de conjunto</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305" name="Google Shape;305;p36"/>
          <p:cNvSpPr txBox="1"/>
          <p:nvPr/>
        </p:nvSpPr>
        <p:spPr>
          <a:xfrm>
            <a:off x="29550" y="861250"/>
            <a:ext cx="4551000" cy="18132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Noto Sans Symbols"/>
              <a:buChar char="●"/>
            </a:pPr>
            <a:r>
              <a:rPr lang="en-US" sz="1500">
                <a:solidFill>
                  <a:schemeClr val="dk1"/>
                </a:solidFill>
              </a:rPr>
              <a:t>Unión: Básicamente es un append. Es necesario que las 2 o mas tablas participantes tengan coumnas con el mismo tipo de datos.</a:t>
            </a:r>
            <a:endParaRPr sz="1500">
              <a:solidFill>
                <a:schemeClr val="dk1"/>
              </a:solidFill>
            </a:endParaRPr>
          </a:p>
          <a:p>
            <a:pPr indent="-323850" lvl="0" marL="457200" rtl="0" algn="l">
              <a:spcBef>
                <a:spcPts val="1060"/>
              </a:spcBef>
              <a:spcAft>
                <a:spcPts val="0"/>
              </a:spcAft>
              <a:buClr>
                <a:schemeClr val="dk1"/>
              </a:buClr>
              <a:buSzPts val="1500"/>
              <a:buFont typeface="Noto Sans Symbols"/>
              <a:buChar char="●"/>
            </a:pPr>
            <a:r>
              <a:rPr lang="en-US" sz="1500">
                <a:solidFill>
                  <a:schemeClr val="dk1"/>
                </a:solidFill>
              </a:rPr>
              <a:t>Excepción: Entre 2 tablas nos quedamos solo con lo que aparece en una pero en otra no.</a:t>
            </a:r>
            <a:endParaRPr sz="1500">
              <a:solidFill>
                <a:schemeClr val="dk1"/>
              </a:solidFill>
            </a:endParaRPr>
          </a:p>
          <a:p>
            <a:pPr indent="-323850" lvl="0" marL="457200" rtl="0" algn="l">
              <a:spcBef>
                <a:spcPts val="1060"/>
              </a:spcBef>
              <a:spcAft>
                <a:spcPts val="0"/>
              </a:spcAft>
              <a:buClr>
                <a:schemeClr val="dk1"/>
              </a:buClr>
              <a:buSzPts val="1500"/>
              <a:buFont typeface="Noto Sans Symbols"/>
              <a:buChar char="●"/>
            </a:pPr>
            <a:r>
              <a:rPr lang="en-US" sz="1500">
                <a:solidFill>
                  <a:schemeClr val="dk1"/>
                </a:solidFill>
              </a:rPr>
              <a:t>Intersección: uno solo se queda con lo que se repite en las tablas participantes.</a:t>
            </a:r>
            <a:endParaRPr sz="1500">
              <a:solidFill>
                <a:schemeClr val="dk1"/>
              </a:solidFill>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7"/>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11" name="Google Shape;311;p37"/>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12" name="Google Shape;312;p37"/>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13" name="Google Shape;313;p37"/>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14" name="Google Shape;314;p37"/>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15" name="Google Shape;315;p37"/>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Union</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316" name="Google Shape;316;p37"/>
          <p:cNvGraphicFramePr/>
          <p:nvPr/>
        </p:nvGraphicFramePr>
        <p:xfrm>
          <a:off x="49320" y="731520"/>
          <a:ext cx="3000000" cy="3000000"/>
        </p:xfrm>
        <a:graphic>
          <a:graphicData uri="http://schemas.openxmlformats.org/drawingml/2006/table">
            <a:tbl>
              <a:tblPr>
                <a:noFill/>
                <a:tableStyleId>{A792F578-C45A-4C0B-8CAA-E3865B34D857}</a:tableStyleId>
              </a:tblPr>
              <a:tblGrid>
                <a:gridCol w="822700"/>
                <a:gridCol w="981975"/>
                <a:gridCol w="546200"/>
              </a:tblGrid>
              <a:tr h="3718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11775">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2675">
                <a:tc>
                  <a:txBody>
                    <a:bodyPr/>
                    <a:lstStyle/>
                    <a:p>
                      <a:pPr indent="0" lvl="0" marL="0" marR="0" rtl="0" algn="l">
                        <a:spcBef>
                          <a:spcPts val="0"/>
                        </a:spcBef>
                        <a:spcAft>
                          <a:spcPts val="0"/>
                        </a:spcAft>
                        <a:buNone/>
                      </a:pPr>
                      <a:r>
                        <a:rPr b="0" lang="en-US" sz="800" strike="noStrike">
                          <a:latin typeface="Arial"/>
                          <a:ea typeface="Arial"/>
                          <a:cs typeface="Arial"/>
                          <a:sym typeface="Arial"/>
                        </a:rPr>
                        <a:t>38999432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Damian Lopez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11700">
                <a:tc>
                  <a:txBody>
                    <a:bodyPr/>
                    <a:lstStyle/>
                    <a:p>
                      <a:pPr indent="0" lvl="0" marL="0" marR="0" rtl="0" algn="l">
                        <a:spcBef>
                          <a:spcPts val="0"/>
                        </a:spcBef>
                        <a:spcAft>
                          <a:spcPts val="0"/>
                        </a:spcAft>
                        <a:buNone/>
                      </a:pPr>
                      <a:r>
                        <a:rPr b="0" lang="en-US" sz="800" strike="noStrike">
                          <a:latin typeface="Arial"/>
                          <a:ea typeface="Arial"/>
                          <a:cs typeface="Arial"/>
                          <a:sym typeface="Arial"/>
                        </a:rPr>
                        <a:t>33455654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Julio Suarez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317" name="Google Shape;317;p37"/>
          <p:cNvGraphicFramePr/>
          <p:nvPr/>
        </p:nvGraphicFramePr>
        <p:xfrm>
          <a:off x="49315" y="2005335"/>
          <a:ext cx="3000000" cy="3000000"/>
        </p:xfrm>
        <a:graphic>
          <a:graphicData uri="http://schemas.openxmlformats.org/drawingml/2006/table">
            <a:tbl>
              <a:tblPr>
                <a:noFill/>
                <a:tableStyleId>{A792F578-C45A-4C0B-8CAA-E3865B34D857}</a:tableStyleId>
              </a:tblPr>
              <a:tblGrid>
                <a:gridCol w="731475"/>
                <a:gridCol w="1073200"/>
                <a:gridCol w="546200"/>
              </a:tblGrid>
              <a:tr h="2716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167300">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r>
              <a:tr h="180300">
                <a:tc>
                  <a:txBody>
                    <a:bodyPr/>
                    <a:lstStyle/>
                    <a:p>
                      <a:pPr indent="0" lvl="0" marL="0" marR="0" rtl="0" algn="l">
                        <a:spcBef>
                          <a:spcPts val="0"/>
                        </a:spcBef>
                        <a:spcAft>
                          <a:spcPts val="0"/>
                        </a:spcAft>
                        <a:buNone/>
                      </a:pPr>
                      <a:r>
                        <a:rPr b="0" lang="en-US" sz="800" strike="noStrike">
                          <a:latin typeface="Arial"/>
                          <a:ea typeface="Arial"/>
                          <a:cs typeface="Arial"/>
                          <a:sym typeface="Arial"/>
                        </a:rPr>
                        <a:t>40444098</a:t>
                      </a:r>
                      <a:endParaRPr b="0" sz="8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Tristan Katz</a:t>
                      </a:r>
                      <a:endParaRPr b="0" sz="8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8</a:t>
                      </a:r>
                      <a:endParaRPr b="0" sz="8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318" name="Google Shape;318;p37"/>
          <p:cNvGraphicFramePr/>
          <p:nvPr/>
        </p:nvGraphicFramePr>
        <p:xfrm>
          <a:off x="2490375" y="780728"/>
          <a:ext cx="3000000" cy="3000000"/>
        </p:xfrm>
        <a:graphic>
          <a:graphicData uri="http://schemas.openxmlformats.org/drawingml/2006/table">
            <a:tbl>
              <a:tblPr>
                <a:noFill/>
                <a:tableStyleId>{A792F578-C45A-4C0B-8CAA-E3865B34D857}</a:tableStyleId>
              </a:tblPr>
              <a:tblGrid>
                <a:gridCol w="630225"/>
                <a:gridCol w="934850"/>
                <a:gridCol w="495575"/>
              </a:tblGrid>
              <a:tr h="352000">
                <a:tc>
                  <a:txBody>
                    <a:bodyPr/>
                    <a:lstStyle/>
                    <a:p>
                      <a:pPr indent="0" lvl="0" marL="0" marR="0" rtl="0" algn="l">
                        <a:spcBef>
                          <a:spcPts val="0"/>
                        </a:spcBef>
                        <a:spcAft>
                          <a:spcPts val="0"/>
                        </a:spcAft>
                        <a:buNone/>
                      </a:pPr>
                      <a:r>
                        <a:rPr b="0" lang="en-US" sz="700" strike="noStrike">
                          <a:latin typeface="Arial"/>
                          <a:ea typeface="Arial"/>
                          <a:cs typeface="Arial"/>
                          <a:sym typeface="Arial"/>
                        </a:rPr>
                        <a:t>DNI</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Nombre_apellido</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id_club</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333800">
                <a:tc>
                  <a:txBody>
                    <a:bodyPr/>
                    <a:lstStyle/>
                    <a:p>
                      <a:pPr indent="0" lvl="0" marL="0" marR="0" rtl="0" algn="l">
                        <a:spcBef>
                          <a:spcPts val="0"/>
                        </a:spcBef>
                        <a:spcAft>
                          <a:spcPts val="0"/>
                        </a:spcAft>
                        <a:buNone/>
                      </a:pPr>
                      <a:r>
                        <a:rPr b="0" lang="en-US" sz="700" strike="noStrike">
                          <a:latin typeface="Arial"/>
                          <a:ea typeface="Arial"/>
                          <a:cs typeface="Arial"/>
                          <a:sym typeface="Arial"/>
                        </a:rPr>
                        <a:t>41555676</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Juan Perez</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1</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3800">
                <a:tc>
                  <a:txBody>
                    <a:bodyPr/>
                    <a:lstStyle/>
                    <a:p>
                      <a:pPr indent="0" lvl="0" marL="0" marR="0" rtl="0" algn="l">
                        <a:spcBef>
                          <a:spcPts val="0"/>
                        </a:spcBef>
                        <a:spcAft>
                          <a:spcPts val="0"/>
                        </a:spcAft>
                        <a:buNone/>
                      </a:pPr>
                      <a:r>
                        <a:rPr b="0" lang="en-US" sz="700" strike="noStrike">
                          <a:latin typeface="Arial"/>
                          <a:ea typeface="Arial"/>
                          <a:cs typeface="Arial"/>
                          <a:sym typeface="Arial"/>
                        </a:rPr>
                        <a:t>38999432</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Damian Lopez</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4</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33800">
                <a:tc>
                  <a:txBody>
                    <a:bodyPr/>
                    <a:lstStyle/>
                    <a:p>
                      <a:pPr indent="0" lvl="0" marL="0" marR="0" rtl="0" algn="l">
                        <a:spcBef>
                          <a:spcPts val="0"/>
                        </a:spcBef>
                        <a:spcAft>
                          <a:spcPts val="0"/>
                        </a:spcAft>
                        <a:buNone/>
                      </a:pPr>
                      <a:r>
                        <a:rPr b="0" lang="en-US" sz="700" strike="noStrike">
                          <a:latin typeface="Arial"/>
                          <a:ea typeface="Arial"/>
                          <a:cs typeface="Arial"/>
                          <a:sym typeface="Arial"/>
                        </a:rPr>
                        <a:t>33455654</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Julio Suarez</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1</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3800">
                <a:tc>
                  <a:txBody>
                    <a:bodyPr/>
                    <a:lstStyle/>
                    <a:p>
                      <a:pPr indent="0" lvl="0" marL="0" marR="0" rtl="0" algn="l">
                        <a:spcBef>
                          <a:spcPts val="0"/>
                        </a:spcBef>
                        <a:spcAft>
                          <a:spcPts val="0"/>
                        </a:spcAft>
                        <a:buNone/>
                      </a:pPr>
                      <a:r>
                        <a:rPr b="0" lang="en-US" sz="700" strike="noStrike">
                          <a:latin typeface="Arial"/>
                          <a:ea typeface="Arial"/>
                          <a:cs typeface="Arial"/>
                          <a:sym typeface="Arial"/>
                        </a:rPr>
                        <a:t>41555676</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Juan Perez</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1</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r>
              <a:tr h="188500">
                <a:tc>
                  <a:txBody>
                    <a:bodyPr/>
                    <a:lstStyle/>
                    <a:p>
                      <a:pPr indent="0" lvl="0" marL="0" marR="0" rtl="0" algn="l">
                        <a:spcBef>
                          <a:spcPts val="0"/>
                        </a:spcBef>
                        <a:spcAft>
                          <a:spcPts val="0"/>
                        </a:spcAft>
                        <a:buNone/>
                      </a:pPr>
                      <a:r>
                        <a:rPr b="0" lang="en-US" sz="700" strike="noStrike">
                          <a:latin typeface="Arial"/>
                          <a:ea typeface="Arial"/>
                          <a:cs typeface="Arial"/>
                          <a:sym typeface="Arial"/>
                        </a:rPr>
                        <a:t>40444098</a:t>
                      </a:r>
                      <a:endParaRPr b="0" sz="700" strike="noStrike">
                        <a:latin typeface="Arial"/>
                        <a:ea typeface="Arial"/>
                        <a:cs typeface="Arial"/>
                        <a:sym typeface="Arial"/>
                      </a:endParaRPr>
                    </a:p>
                  </a:txBody>
                  <a:tcPr marT="45725" marB="45725" marR="90000" marL="90000">
                    <a:solidFill>
                      <a:srgbClr val="B2B2B2"/>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Tristan Katz</a:t>
                      </a:r>
                      <a:endParaRPr b="0" sz="700" strike="noStrike">
                        <a:latin typeface="Arial"/>
                        <a:ea typeface="Arial"/>
                        <a:cs typeface="Arial"/>
                        <a:sym typeface="Arial"/>
                      </a:endParaRPr>
                    </a:p>
                  </a:txBody>
                  <a:tcPr marT="45725" marB="45725" marR="90000" marL="90000">
                    <a:solidFill>
                      <a:srgbClr val="B2B2B2"/>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8</a:t>
                      </a:r>
                      <a:endParaRPr b="0" sz="700" strike="noStrike">
                        <a:latin typeface="Arial"/>
                        <a:ea typeface="Arial"/>
                        <a:cs typeface="Arial"/>
                        <a:sym typeface="Arial"/>
                      </a:endParaRPr>
                    </a:p>
                  </a:txBody>
                  <a:tcPr marT="45725" marB="45725" marR="90000" marL="90000">
                    <a:solidFill>
                      <a:srgbClr val="B2B2B2"/>
                    </a:solidFill>
                  </a:tcPr>
                </a:tc>
              </a:tr>
            </a:tbl>
          </a:graphicData>
        </a:graphic>
      </p:graphicFrame>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24" name="Google Shape;324;p38"/>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25" name="Google Shape;325;p38"/>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26" name="Google Shape;326;p38"/>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27" name="Google Shape;327;p38"/>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28" name="Google Shape;328;p38"/>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Except</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329" name="Google Shape;329;p38"/>
          <p:cNvGraphicFramePr/>
          <p:nvPr/>
        </p:nvGraphicFramePr>
        <p:xfrm>
          <a:off x="49320" y="731520"/>
          <a:ext cx="3000000" cy="3000000"/>
        </p:xfrm>
        <a:graphic>
          <a:graphicData uri="http://schemas.openxmlformats.org/drawingml/2006/table">
            <a:tbl>
              <a:tblPr>
                <a:noFill/>
                <a:tableStyleId>{A792F578-C45A-4C0B-8CAA-E3865B34D857}</a:tableStyleId>
              </a:tblPr>
              <a:tblGrid>
                <a:gridCol w="822700"/>
                <a:gridCol w="981975"/>
                <a:gridCol w="546200"/>
              </a:tblGrid>
              <a:tr h="3718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11775">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2675">
                <a:tc>
                  <a:txBody>
                    <a:bodyPr/>
                    <a:lstStyle/>
                    <a:p>
                      <a:pPr indent="0" lvl="0" marL="0" marR="0" rtl="0" algn="l">
                        <a:spcBef>
                          <a:spcPts val="0"/>
                        </a:spcBef>
                        <a:spcAft>
                          <a:spcPts val="0"/>
                        </a:spcAft>
                        <a:buNone/>
                      </a:pPr>
                      <a:r>
                        <a:rPr b="0" lang="en-US" sz="800" strike="noStrike">
                          <a:latin typeface="Arial"/>
                          <a:ea typeface="Arial"/>
                          <a:cs typeface="Arial"/>
                          <a:sym typeface="Arial"/>
                        </a:rPr>
                        <a:t>38999432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Damian Lopez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11700">
                <a:tc>
                  <a:txBody>
                    <a:bodyPr/>
                    <a:lstStyle/>
                    <a:p>
                      <a:pPr indent="0" lvl="0" marL="0" marR="0" rtl="0" algn="l">
                        <a:spcBef>
                          <a:spcPts val="0"/>
                        </a:spcBef>
                        <a:spcAft>
                          <a:spcPts val="0"/>
                        </a:spcAft>
                        <a:buNone/>
                      </a:pPr>
                      <a:r>
                        <a:rPr b="0" lang="en-US" sz="800" strike="noStrike">
                          <a:latin typeface="Arial"/>
                          <a:ea typeface="Arial"/>
                          <a:cs typeface="Arial"/>
                          <a:sym typeface="Arial"/>
                        </a:rPr>
                        <a:t>33455654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Julio Suarez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330" name="Google Shape;330;p38"/>
          <p:cNvGraphicFramePr/>
          <p:nvPr/>
        </p:nvGraphicFramePr>
        <p:xfrm>
          <a:off x="49315" y="2005335"/>
          <a:ext cx="3000000" cy="3000000"/>
        </p:xfrm>
        <a:graphic>
          <a:graphicData uri="http://schemas.openxmlformats.org/drawingml/2006/table">
            <a:tbl>
              <a:tblPr>
                <a:noFill/>
                <a:tableStyleId>{A792F578-C45A-4C0B-8CAA-E3865B34D857}</a:tableStyleId>
              </a:tblPr>
              <a:tblGrid>
                <a:gridCol w="731475"/>
                <a:gridCol w="1073200"/>
                <a:gridCol w="546200"/>
              </a:tblGrid>
              <a:tr h="2716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167300">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r>
              <a:tr h="180300">
                <a:tc>
                  <a:txBody>
                    <a:bodyPr/>
                    <a:lstStyle/>
                    <a:p>
                      <a:pPr indent="0" lvl="0" marL="0" marR="0" rtl="0" algn="l">
                        <a:spcBef>
                          <a:spcPts val="0"/>
                        </a:spcBef>
                        <a:spcAft>
                          <a:spcPts val="0"/>
                        </a:spcAft>
                        <a:buNone/>
                      </a:pPr>
                      <a:r>
                        <a:rPr b="0" lang="en-US" sz="800" strike="noStrike">
                          <a:latin typeface="Arial"/>
                          <a:ea typeface="Arial"/>
                          <a:cs typeface="Arial"/>
                          <a:sym typeface="Arial"/>
                        </a:rPr>
                        <a:t>40444098</a:t>
                      </a:r>
                      <a:endParaRPr b="0" sz="8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Tristan Katz</a:t>
                      </a:r>
                      <a:endParaRPr b="0" sz="8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8</a:t>
                      </a:r>
                      <a:endParaRPr b="0" sz="8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331" name="Google Shape;331;p38"/>
          <p:cNvGraphicFramePr/>
          <p:nvPr/>
        </p:nvGraphicFramePr>
        <p:xfrm>
          <a:off x="2470820" y="955480"/>
          <a:ext cx="3000000" cy="3000000"/>
        </p:xfrm>
        <a:graphic>
          <a:graphicData uri="http://schemas.openxmlformats.org/drawingml/2006/table">
            <a:tbl>
              <a:tblPr>
                <a:noFill/>
                <a:tableStyleId>{A792F578-C45A-4C0B-8CAA-E3865B34D857}</a:tableStyleId>
              </a:tblPr>
              <a:tblGrid>
                <a:gridCol w="651125"/>
                <a:gridCol w="939450"/>
                <a:gridCol w="502700"/>
              </a:tblGrid>
              <a:tr h="410325">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Nombre_apellid</a:t>
                      </a:r>
                      <a:r>
                        <a:rPr lang="en-US" sz="700"/>
                        <a:t>o</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87225">
                <a:tc>
                  <a:txBody>
                    <a:bodyPr/>
                    <a:lstStyle/>
                    <a:p>
                      <a:pPr indent="0" lvl="0" marL="0" marR="0" rtl="0" algn="l">
                        <a:spcBef>
                          <a:spcPts val="0"/>
                        </a:spcBef>
                        <a:spcAft>
                          <a:spcPts val="0"/>
                        </a:spcAft>
                        <a:buNone/>
                      </a:pPr>
                      <a:r>
                        <a:rPr b="0" lang="en-US" sz="800" strike="noStrike">
                          <a:latin typeface="Arial"/>
                          <a:ea typeface="Arial"/>
                          <a:cs typeface="Arial"/>
                          <a:sym typeface="Arial"/>
                        </a:rPr>
                        <a:t>38999432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Damian Lopez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87225">
                <a:tc>
                  <a:txBody>
                    <a:bodyPr/>
                    <a:lstStyle/>
                    <a:p>
                      <a:pPr indent="0" lvl="0" marL="0" marR="0" rtl="0" algn="l">
                        <a:spcBef>
                          <a:spcPts val="0"/>
                        </a:spcBef>
                        <a:spcAft>
                          <a:spcPts val="0"/>
                        </a:spcAft>
                        <a:buNone/>
                      </a:pPr>
                      <a:r>
                        <a:rPr b="0" lang="en-US" sz="800" strike="noStrike">
                          <a:latin typeface="Arial"/>
                          <a:ea typeface="Arial"/>
                          <a:cs typeface="Arial"/>
                          <a:sym typeface="Arial"/>
                        </a:rPr>
                        <a:t>33455654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Julio Suarez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E6E6E6"/>
                    </a:solidFill>
                  </a:tcPr>
                </a:tc>
              </a:tr>
              <a:tr h="287225">
                <a:tc>
                  <a:txBody>
                    <a:bodyPr/>
                    <a:lstStyle/>
                    <a:p>
                      <a:pPr indent="0" lvl="0" marL="0" marR="0" rtl="0" algn="l">
                        <a:spcBef>
                          <a:spcPts val="0"/>
                        </a:spcBef>
                        <a:spcAft>
                          <a:spcPts val="0"/>
                        </a:spcAft>
                        <a:buNone/>
                      </a:pPr>
                      <a:r>
                        <a:rPr b="0" lang="en-US" sz="800" strike="noStrike">
                          <a:latin typeface="Arial"/>
                          <a:ea typeface="Arial"/>
                          <a:cs typeface="Arial"/>
                          <a:sym typeface="Arial"/>
                        </a:rPr>
                        <a:t>40444098</a:t>
                      </a:r>
                      <a:endParaRPr b="0" sz="800" strike="noStrike">
                        <a:latin typeface="Arial"/>
                        <a:ea typeface="Arial"/>
                        <a:cs typeface="Arial"/>
                        <a:sym typeface="Arial"/>
                      </a:endParaRPr>
                    </a:p>
                  </a:txBody>
                  <a:tcPr marT="45725" marB="45725" marR="90000" marL="90000">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Tristan Katz</a:t>
                      </a:r>
                      <a:endParaRPr b="0" sz="800" strike="noStrike">
                        <a:latin typeface="Arial"/>
                        <a:ea typeface="Arial"/>
                        <a:cs typeface="Arial"/>
                        <a:sym typeface="Arial"/>
                      </a:endParaRPr>
                    </a:p>
                  </a:txBody>
                  <a:tcPr marT="45725" marB="45725" marR="90000" marL="90000">
                    <a:solidFill>
                      <a:srgbClr val="B2B2B2"/>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8</a:t>
                      </a:r>
                      <a:endParaRPr b="0" sz="700" strike="noStrike">
                        <a:latin typeface="Arial"/>
                        <a:ea typeface="Arial"/>
                        <a:cs typeface="Arial"/>
                        <a:sym typeface="Arial"/>
                      </a:endParaRPr>
                    </a:p>
                  </a:txBody>
                  <a:tcPr marT="45725" marB="45725" marR="90000" marL="90000">
                    <a:solidFill>
                      <a:srgbClr val="B2B2B2"/>
                    </a:solidFill>
                  </a:tcPr>
                </a:tc>
              </a:tr>
            </a:tbl>
          </a:graphicData>
        </a:graphic>
      </p:graphicFrame>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37" name="Google Shape;337;p39"/>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38" name="Google Shape;338;p39"/>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39" name="Google Shape;339;p39"/>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40" name="Google Shape;340;p39"/>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41" name="Google Shape;341;p39"/>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Intersect</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graphicFrame>
        <p:nvGraphicFramePr>
          <p:cNvPr id="342" name="Google Shape;342;p39"/>
          <p:cNvGraphicFramePr/>
          <p:nvPr/>
        </p:nvGraphicFramePr>
        <p:xfrm>
          <a:off x="49320" y="731520"/>
          <a:ext cx="3000000" cy="3000000"/>
        </p:xfrm>
        <a:graphic>
          <a:graphicData uri="http://schemas.openxmlformats.org/drawingml/2006/table">
            <a:tbl>
              <a:tblPr>
                <a:noFill/>
                <a:tableStyleId>{A792F578-C45A-4C0B-8CAA-E3865B34D857}</a:tableStyleId>
              </a:tblPr>
              <a:tblGrid>
                <a:gridCol w="822700"/>
                <a:gridCol w="981975"/>
                <a:gridCol w="546200"/>
              </a:tblGrid>
              <a:tr h="3718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211775">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32675">
                <a:tc>
                  <a:txBody>
                    <a:bodyPr/>
                    <a:lstStyle/>
                    <a:p>
                      <a:pPr indent="0" lvl="0" marL="0" marR="0" rtl="0" algn="l">
                        <a:spcBef>
                          <a:spcPts val="0"/>
                        </a:spcBef>
                        <a:spcAft>
                          <a:spcPts val="0"/>
                        </a:spcAft>
                        <a:buNone/>
                      </a:pPr>
                      <a:r>
                        <a:rPr b="0" lang="en-US" sz="800" strike="noStrike">
                          <a:latin typeface="Arial"/>
                          <a:ea typeface="Arial"/>
                          <a:cs typeface="Arial"/>
                          <a:sym typeface="Arial"/>
                        </a:rPr>
                        <a:t>38999432</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Damian Lopez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211700">
                <a:tc>
                  <a:txBody>
                    <a:bodyPr/>
                    <a:lstStyle/>
                    <a:p>
                      <a:pPr indent="0" lvl="0" marL="0" marR="0" rtl="0" algn="l">
                        <a:spcBef>
                          <a:spcPts val="0"/>
                        </a:spcBef>
                        <a:spcAft>
                          <a:spcPts val="0"/>
                        </a:spcAft>
                        <a:buNone/>
                      </a:pPr>
                      <a:r>
                        <a:rPr b="0" lang="en-US" sz="800" strike="noStrike">
                          <a:latin typeface="Arial"/>
                          <a:ea typeface="Arial"/>
                          <a:cs typeface="Arial"/>
                          <a:sym typeface="Arial"/>
                        </a:rPr>
                        <a:t>33455654</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Julio Suarez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graphicFrame>
        <p:nvGraphicFramePr>
          <p:cNvPr id="343" name="Google Shape;343;p39"/>
          <p:cNvGraphicFramePr/>
          <p:nvPr/>
        </p:nvGraphicFramePr>
        <p:xfrm>
          <a:off x="49315" y="2005335"/>
          <a:ext cx="3000000" cy="3000000"/>
        </p:xfrm>
        <a:graphic>
          <a:graphicData uri="http://schemas.openxmlformats.org/drawingml/2006/table">
            <a:tbl>
              <a:tblPr>
                <a:noFill/>
                <a:tableStyleId>{A792F578-C45A-4C0B-8CAA-E3865B34D857}</a:tableStyleId>
              </a:tblPr>
              <a:tblGrid>
                <a:gridCol w="731475"/>
                <a:gridCol w="1073200"/>
                <a:gridCol w="546200"/>
              </a:tblGrid>
              <a:tr h="2716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Nombre_apellido</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id_club</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167300">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B2B2B2"/>
                    </a:solidFill>
                  </a:tcPr>
                </a:tc>
              </a:tr>
              <a:tr h="180300">
                <a:tc>
                  <a:txBody>
                    <a:bodyPr/>
                    <a:lstStyle/>
                    <a:p>
                      <a:pPr indent="0" lvl="0" marL="0" marR="0" rtl="0" algn="l">
                        <a:spcBef>
                          <a:spcPts val="0"/>
                        </a:spcBef>
                        <a:spcAft>
                          <a:spcPts val="0"/>
                        </a:spcAft>
                        <a:buNone/>
                      </a:pPr>
                      <a:r>
                        <a:rPr b="0" lang="en-US" sz="800" strike="noStrike">
                          <a:latin typeface="Arial"/>
                          <a:ea typeface="Arial"/>
                          <a:cs typeface="Arial"/>
                          <a:sym typeface="Arial"/>
                        </a:rPr>
                        <a:t>40444098</a:t>
                      </a:r>
                      <a:endParaRPr b="0" sz="8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Tristan Katz</a:t>
                      </a:r>
                      <a:endParaRPr b="0" sz="800" strike="noStrike">
                        <a:latin typeface="Arial"/>
                        <a:ea typeface="Arial"/>
                        <a:cs typeface="Arial"/>
                        <a:sym typeface="Arial"/>
                      </a:endParaRPr>
                    </a:p>
                  </a:txBody>
                  <a:tcPr marT="45725" marB="45725" marR="90000" marL="90000">
                    <a:solidFill>
                      <a:srgbClr val="E6E6E6"/>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8</a:t>
                      </a:r>
                      <a:endParaRPr b="0" sz="800" strike="noStrike">
                        <a:latin typeface="Arial"/>
                        <a:ea typeface="Arial"/>
                        <a:cs typeface="Arial"/>
                        <a:sym typeface="Arial"/>
                      </a:endParaRPr>
                    </a:p>
                  </a:txBody>
                  <a:tcPr marT="45725" marB="45725" marR="90000" marL="90000">
                    <a:solidFill>
                      <a:srgbClr val="E6E6E6"/>
                    </a:solidFill>
                  </a:tcPr>
                </a:tc>
              </a:tr>
            </a:tbl>
          </a:graphicData>
        </a:graphic>
      </p:graphicFrame>
      <p:graphicFrame>
        <p:nvGraphicFramePr>
          <p:cNvPr id="344" name="Google Shape;344;p39"/>
          <p:cNvGraphicFramePr/>
          <p:nvPr/>
        </p:nvGraphicFramePr>
        <p:xfrm>
          <a:off x="2488500" y="797640"/>
          <a:ext cx="3000000" cy="3000000"/>
        </p:xfrm>
        <a:graphic>
          <a:graphicData uri="http://schemas.openxmlformats.org/drawingml/2006/table">
            <a:tbl>
              <a:tblPr>
                <a:noFill/>
                <a:tableStyleId>{A792F578-C45A-4C0B-8CAA-E3865B34D857}</a:tableStyleId>
              </a:tblPr>
              <a:tblGrid>
                <a:gridCol w="647475"/>
                <a:gridCol w="925225"/>
                <a:gridCol w="425725"/>
              </a:tblGrid>
              <a:tr h="682650">
                <a:tc>
                  <a:txBody>
                    <a:bodyPr/>
                    <a:lstStyle/>
                    <a:p>
                      <a:pPr indent="0" lvl="0" marL="0" marR="0" rtl="0" algn="l">
                        <a:spcBef>
                          <a:spcPts val="0"/>
                        </a:spcBef>
                        <a:spcAft>
                          <a:spcPts val="0"/>
                        </a:spcAft>
                        <a:buNone/>
                      </a:pPr>
                      <a:r>
                        <a:rPr b="0" lang="en-US" sz="800" strike="noStrike">
                          <a:latin typeface="Arial"/>
                          <a:ea typeface="Arial"/>
                          <a:cs typeface="Arial"/>
                          <a:sym typeface="Arial"/>
                        </a:rPr>
                        <a:t>DNI</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700" strike="noStrike">
                          <a:latin typeface="Arial"/>
                          <a:ea typeface="Arial"/>
                          <a:cs typeface="Arial"/>
                          <a:sym typeface="Arial"/>
                        </a:rPr>
                        <a:t>Nombre_apellido</a:t>
                      </a:r>
                      <a:endParaRPr b="0" sz="7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0" lang="en-US" sz="600" strike="noStrike">
                          <a:latin typeface="Arial"/>
                          <a:ea typeface="Arial"/>
                          <a:cs typeface="Arial"/>
                          <a:sym typeface="Arial"/>
                        </a:rPr>
                        <a:t>id_club</a:t>
                      </a:r>
                      <a:endParaRPr b="0" sz="6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477850">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477850">
                <a:tc>
                  <a:txBody>
                    <a:bodyPr/>
                    <a:lstStyle/>
                    <a:p>
                      <a:pPr indent="0" lvl="0" marL="0" marR="0" rtl="0" algn="l">
                        <a:spcBef>
                          <a:spcPts val="0"/>
                        </a:spcBef>
                        <a:spcAft>
                          <a:spcPts val="0"/>
                        </a:spcAft>
                        <a:buNone/>
                      </a:pPr>
                      <a:r>
                        <a:rPr b="0" lang="en-US" sz="800" strike="noStrike">
                          <a:latin typeface="Arial"/>
                          <a:ea typeface="Arial"/>
                          <a:cs typeface="Arial"/>
                          <a:sym typeface="Arial"/>
                        </a:rPr>
                        <a:t>41555676</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Juan Perez</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2B2B2"/>
                    </a:solidFill>
                  </a:tcPr>
                </a:tc>
                <a:tc>
                  <a:txBody>
                    <a:bodyPr/>
                    <a:lstStyle/>
                    <a:p>
                      <a:pPr indent="0" lvl="0" marL="0" marR="0" rtl="0" algn="l">
                        <a:spcBef>
                          <a:spcPts val="0"/>
                        </a:spcBef>
                        <a:spcAft>
                          <a:spcPts val="0"/>
                        </a:spcAft>
                        <a:buNone/>
                      </a:pPr>
                      <a:r>
                        <a:rPr b="0" lang="en-US" sz="800" strike="noStrike">
                          <a:latin typeface="Arial"/>
                          <a:ea typeface="Arial"/>
                          <a:cs typeface="Arial"/>
                          <a:sym typeface="Arial"/>
                        </a:rPr>
                        <a:t>1</a:t>
                      </a:r>
                      <a:endParaRPr b="0" sz="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2B2B2"/>
                    </a:solidFill>
                  </a:tcPr>
                </a:tc>
              </a:tr>
            </a:tbl>
          </a:graphicData>
        </a:graphic>
      </p:graphicFrame>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0"/>
          <p:cNvSpPr txBox="1"/>
          <p:nvPr/>
        </p:nvSpPr>
        <p:spPr>
          <a:xfrm>
            <a:off x="1129651" y="1618700"/>
            <a:ext cx="3231600" cy="1962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200"/>
              <a:buFont typeface="Arial"/>
              <a:buNone/>
            </a:pPr>
            <a:r>
              <a:rPr lang="en-US" sz="1200">
                <a:solidFill>
                  <a:srgbClr val="F4F2ED"/>
                </a:solidFill>
                <a:latin typeface="Calibri"/>
                <a:ea typeface="Calibri"/>
                <a:cs typeface="Calibri"/>
                <a:sym typeface="Calibri"/>
              </a:rPr>
              <a:t>PANDAS - UTILIZACIÓN BÁSICA</a:t>
            </a:r>
            <a:endParaRPr b="0" i="0" sz="1200" u="none" cap="none" strike="noStrike">
              <a:solidFill>
                <a:srgbClr val="000000"/>
              </a:solidFill>
              <a:latin typeface="Calibri"/>
              <a:ea typeface="Calibri"/>
              <a:cs typeface="Calibri"/>
              <a:sym typeface="Calibri"/>
            </a:endParaRPr>
          </a:p>
        </p:txBody>
      </p:sp>
      <p:grpSp>
        <p:nvGrpSpPr>
          <p:cNvPr id="350" name="Google Shape;350;p40"/>
          <p:cNvGrpSpPr/>
          <p:nvPr/>
        </p:nvGrpSpPr>
        <p:grpSpPr>
          <a:xfrm>
            <a:off x="1139819" y="1816646"/>
            <a:ext cx="2340610" cy="25400"/>
            <a:chOff x="1133919" y="1515833"/>
            <a:chExt cx="2340610" cy="25400"/>
          </a:xfrm>
        </p:grpSpPr>
        <p:sp>
          <p:nvSpPr>
            <p:cNvPr id="351" name="Google Shape;351;p40"/>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0"/>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9525">
              <a:solidFill>
                <a:srgbClr val="F4F2ED"/>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0"/>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006DBF"/>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0"/>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FFDC64"/>
            </a:solidFill>
            <a:ln cap="flat" cmpd="sng" w="9525">
              <a:solidFill>
                <a:srgbClr val="FFDC64"/>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60" name="Google Shape;360;p41"/>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61" name="Google Shape;361;p41"/>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62" name="Google Shape;362;p41"/>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63" name="Google Shape;363;p41"/>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64" name="Google Shape;364;p41"/>
          <p:cNvSpPr txBox="1"/>
          <p:nvPr/>
        </p:nvSpPr>
        <p:spPr>
          <a:xfrm>
            <a:off x="0" y="432575"/>
            <a:ext cx="4001400" cy="2769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500">
                <a:solidFill>
                  <a:schemeClr val="dk1"/>
                </a:solidFill>
              </a:rPr>
              <a:t>Qué es pandas?</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365" name="Google Shape;365;p41"/>
          <p:cNvSpPr txBox="1"/>
          <p:nvPr/>
        </p:nvSpPr>
        <p:spPr>
          <a:xfrm>
            <a:off x="29550" y="753625"/>
            <a:ext cx="4551000" cy="18132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Noto Sans Symbols"/>
              <a:buChar char="●"/>
            </a:pPr>
            <a:r>
              <a:rPr lang="en-US" sz="1500">
                <a:solidFill>
                  <a:schemeClr val="dk1"/>
                </a:solidFill>
              </a:rPr>
              <a:t>Pandas es una librería de Python especializada en manipulación y análisis de datos.</a:t>
            </a:r>
            <a:endParaRPr sz="1500">
              <a:solidFill>
                <a:schemeClr val="dk1"/>
              </a:solidFill>
            </a:endParaRPr>
          </a:p>
          <a:p>
            <a:pPr indent="-323850" lvl="0" marL="457200" rtl="0" algn="l">
              <a:spcBef>
                <a:spcPts val="1060"/>
              </a:spcBef>
              <a:spcAft>
                <a:spcPts val="0"/>
              </a:spcAft>
              <a:buClr>
                <a:schemeClr val="dk1"/>
              </a:buClr>
              <a:buSzPts val="1500"/>
              <a:buFont typeface="Noto Sans Symbols"/>
              <a:buChar char="●"/>
            </a:pPr>
            <a:r>
              <a:rPr lang="en-US" sz="1500">
                <a:solidFill>
                  <a:schemeClr val="dk1"/>
                </a:solidFill>
              </a:rPr>
              <a:t>Es una herramienta sumamente útil cuando queremos limpiar, analizar o simplemente manipular un dataset.</a:t>
            </a:r>
            <a:endParaRPr sz="1500">
              <a:solidFill>
                <a:schemeClr val="dk1"/>
              </a:solidFill>
            </a:endParaRPr>
          </a:p>
          <a:p>
            <a:pPr indent="-323850" lvl="0" marL="457200" rtl="0" algn="l">
              <a:spcBef>
                <a:spcPts val="1060"/>
              </a:spcBef>
              <a:spcAft>
                <a:spcPts val="0"/>
              </a:spcAft>
              <a:buClr>
                <a:schemeClr val="dk1"/>
              </a:buClr>
              <a:buSzPts val="1500"/>
              <a:buFont typeface="Noto Sans Symbols"/>
              <a:buChar char="●"/>
            </a:pPr>
            <a:r>
              <a:rPr lang="en-US" sz="1500">
                <a:solidFill>
                  <a:schemeClr val="dk1"/>
                </a:solidFill>
              </a:rPr>
              <a:t>Es canon en la industria del software y ampliamente utilizada</a:t>
            </a:r>
            <a:endParaRPr sz="1500">
              <a:solidFill>
                <a:schemeClr val="dk1"/>
              </a:solidFill>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2"/>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71" name="Google Shape;371;p42"/>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72" name="Google Shape;372;p42"/>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73" name="Google Shape;373;p42"/>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74" name="Google Shape;374;p42"/>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75" name="Google Shape;375;p42"/>
          <p:cNvSpPr txBox="1"/>
          <p:nvPr/>
        </p:nvSpPr>
        <p:spPr>
          <a:xfrm>
            <a:off x="-211875" y="432575"/>
            <a:ext cx="4001400" cy="276900"/>
          </a:xfrm>
          <a:prstGeom prst="rect">
            <a:avLst/>
          </a:prstGeom>
          <a:noFill/>
          <a:ln>
            <a:noFill/>
          </a:ln>
        </p:spPr>
        <p:txBody>
          <a:bodyPr anchorCtr="0" anchor="ctr" bIns="45000" lIns="90000" spcFirstLastPara="1" rIns="90000" wrap="square" tIns="45000">
            <a:noAutofit/>
          </a:bodyPr>
          <a:lstStyle/>
          <a:p>
            <a:pPr indent="0" lvl="0" marL="0" rtl="0" algn="ctr">
              <a:spcBef>
                <a:spcPts val="0"/>
              </a:spcBef>
              <a:spcAft>
                <a:spcPts val="0"/>
              </a:spcAft>
              <a:buClr>
                <a:schemeClr val="dk1"/>
              </a:buClr>
              <a:buFont typeface="Arial"/>
              <a:buNone/>
            </a:pPr>
            <a:r>
              <a:rPr b="1" lang="en-US" sz="1500">
                <a:solidFill>
                  <a:schemeClr val="dk1"/>
                </a:solidFill>
              </a:rPr>
              <a:t>Instalación y manera de llamar</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376" name="Google Shape;376;p42"/>
          <p:cNvSpPr txBox="1"/>
          <p:nvPr/>
        </p:nvSpPr>
        <p:spPr>
          <a:xfrm>
            <a:off x="29550" y="753625"/>
            <a:ext cx="4551000" cy="18132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Noto Sans Symbols"/>
              <a:buChar char="●"/>
            </a:pPr>
            <a:r>
              <a:rPr lang="en-US" sz="1500">
                <a:solidFill>
                  <a:schemeClr val="dk1"/>
                </a:solidFill>
              </a:rPr>
              <a:t>No es necesario realizar un pip install ya que los paquetes vienen pre-instalados en las versiones actuales de python. Para importar la librería a tu script:</a:t>
            </a:r>
            <a:endParaRPr sz="1500">
              <a:solidFill>
                <a:schemeClr val="dk1"/>
              </a:solidFill>
            </a:endParaRPr>
          </a:p>
          <a:p>
            <a:pPr indent="-323850" lvl="1" marL="914400" rtl="0" algn="l">
              <a:spcBef>
                <a:spcPts val="850"/>
              </a:spcBef>
              <a:spcAft>
                <a:spcPts val="0"/>
              </a:spcAft>
              <a:buClr>
                <a:schemeClr val="dk1"/>
              </a:buClr>
              <a:buSzPts val="1500"/>
              <a:buFont typeface="Noto Sans Symbols"/>
              <a:buChar char="○"/>
            </a:pPr>
            <a:r>
              <a:rPr lang="en-US" sz="1500">
                <a:solidFill>
                  <a:schemeClr val="dk1"/>
                </a:solidFill>
              </a:rPr>
              <a:t>import pandas as pd</a:t>
            </a:r>
            <a:endParaRPr sz="1500">
              <a:solidFill>
                <a:schemeClr val="dk1"/>
              </a:solidFill>
            </a:endParaRPr>
          </a:p>
          <a:p>
            <a:pPr indent="-323850" lvl="0" marL="457200" rtl="0" algn="l">
              <a:spcBef>
                <a:spcPts val="1060"/>
              </a:spcBef>
              <a:spcAft>
                <a:spcPts val="0"/>
              </a:spcAft>
              <a:buClr>
                <a:schemeClr val="dk1"/>
              </a:buClr>
              <a:buSzPts val="1500"/>
              <a:buFont typeface="Noto Sans Symbols"/>
              <a:buChar char="●"/>
            </a:pPr>
            <a:r>
              <a:rPr lang="en-US" sz="1500">
                <a:solidFill>
                  <a:schemeClr val="dk1"/>
                </a:solidFill>
              </a:rPr>
              <a:t>Luego, el alias “pd” será usado para las funciones que corresponden a esta librería.</a:t>
            </a:r>
            <a:endParaRPr sz="1500">
              <a:solidFill>
                <a:schemeClr val="dk1"/>
              </a:solidFill>
            </a:endParaRPr>
          </a:p>
          <a:p>
            <a:pPr indent="-323850" lvl="1" marL="914400" rtl="0" algn="l">
              <a:spcBef>
                <a:spcPts val="850"/>
              </a:spcBef>
              <a:spcAft>
                <a:spcPts val="0"/>
              </a:spcAft>
              <a:buClr>
                <a:schemeClr val="dk1"/>
              </a:buClr>
              <a:buSzPts val="1500"/>
              <a:buFont typeface="Noto Sans Symbols"/>
              <a:buChar char="○"/>
            </a:pPr>
            <a:r>
              <a:rPr lang="en-US" sz="1500">
                <a:solidFill>
                  <a:schemeClr val="dk1"/>
                </a:solidFill>
              </a:rPr>
              <a:t>Ej: df = pd.DataFrame ({'Nombres': ['Juan','Gaston','Julian'], 'notas': [7,8,9]})</a:t>
            </a:r>
            <a:endParaRPr sz="1500">
              <a:solidFill>
                <a:schemeClr val="dk1"/>
              </a:solidFill>
            </a:endParaRPr>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3"/>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82" name="Google Shape;382;p43"/>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83" name="Google Shape;383;p43"/>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84" name="Google Shape;384;p43"/>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85" name="Google Shape;385;p43"/>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86" name="Google Shape;386;p43"/>
          <p:cNvSpPr txBox="1"/>
          <p:nvPr/>
        </p:nvSpPr>
        <p:spPr>
          <a:xfrm>
            <a:off x="91500" y="582675"/>
            <a:ext cx="4001400" cy="276900"/>
          </a:xfrm>
          <a:prstGeom prst="rect">
            <a:avLst/>
          </a:prstGeom>
          <a:noFill/>
          <a:ln>
            <a:noFill/>
          </a:ln>
        </p:spPr>
        <p:txBody>
          <a:bodyPr anchorCtr="0" anchor="ctr" bIns="45000" lIns="90000" spcFirstLastPara="1" rIns="90000" wrap="square" tIns="45000">
            <a:noAutofit/>
          </a:bodyPr>
          <a:lstStyle/>
          <a:p>
            <a:pPr indent="0" lvl="0" marL="0" rtl="0" algn="ctr">
              <a:spcBef>
                <a:spcPts val="0"/>
              </a:spcBef>
              <a:spcAft>
                <a:spcPts val="0"/>
              </a:spcAft>
              <a:buNone/>
            </a:pPr>
            <a:r>
              <a:rPr b="1" lang="en-US" sz="1700">
                <a:solidFill>
                  <a:schemeClr val="dk1"/>
                </a:solidFill>
              </a:rPr>
              <a:t>Cómo</a:t>
            </a:r>
            <a:r>
              <a:rPr b="1" lang="en-US" sz="1700">
                <a:solidFill>
                  <a:schemeClr val="dk1"/>
                </a:solidFill>
              </a:rPr>
              <a:t> leer archivos (.csv, .txt y .xlsx)</a:t>
            </a:r>
            <a:endParaRPr b="1" sz="1700">
              <a:solidFill>
                <a:schemeClr val="dk1"/>
              </a:solidFill>
            </a:endParaRPr>
          </a:p>
          <a:p>
            <a:pPr indent="0" lvl="0" marL="0" rtl="0" algn="ctr">
              <a:spcBef>
                <a:spcPts val="0"/>
              </a:spcBef>
              <a:spcAft>
                <a:spcPts val="0"/>
              </a:spcAft>
              <a:buNone/>
            </a:pPr>
            <a:r>
              <a:t/>
            </a:r>
            <a:endParaRPr b="1" sz="1500">
              <a:solidFill>
                <a:schemeClr val="dk1"/>
              </a:solidFill>
            </a:endParaRPr>
          </a:p>
          <a:p>
            <a:pPr indent="0" lvl="0" marL="0" rtl="0" algn="l">
              <a:lnSpc>
                <a:spcPct val="90000"/>
              </a:lnSpc>
              <a:spcBef>
                <a:spcPts val="0"/>
              </a:spcBef>
              <a:spcAft>
                <a:spcPts val="0"/>
              </a:spcAft>
              <a:buNone/>
            </a:pPr>
            <a:r>
              <a:t/>
            </a:r>
            <a:endParaRPr b="1" sz="1500">
              <a:latin typeface="Calibri"/>
              <a:ea typeface="Calibri"/>
              <a:cs typeface="Calibri"/>
              <a:sym typeface="Calibri"/>
            </a:endParaRPr>
          </a:p>
        </p:txBody>
      </p:sp>
      <p:sp>
        <p:nvSpPr>
          <p:cNvPr id="387" name="Google Shape;387;p43"/>
          <p:cNvSpPr txBox="1"/>
          <p:nvPr/>
        </p:nvSpPr>
        <p:spPr>
          <a:xfrm>
            <a:off x="0" y="717825"/>
            <a:ext cx="4551000" cy="18132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Noto Sans Symbols"/>
              <a:buChar char="●"/>
            </a:pPr>
            <a:r>
              <a:rPr lang="en-US" sz="1500">
                <a:solidFill>
                  <a:schemeClr val="dk1"/>
                </a:solidFill>
              </a:rPr>
              <a:t>Como dijimos, pandas es para manejar dframes, y ellos vienen en varios formatos</a:t>
            </a:r>
            <a:endParaRPr sz="1500">
              <a:solidFill>
                <a:schemeClr val="dk1"/>
              </a:solidFill>
            </a:endParaRPr>
          </a:p>
          <a:p>
            <a:pPr indent="-323850" lvl="1" marL="914400" rtl="0" algn="l">
              <a:spcBef>
                <a:spcPts val="850"/>
              </a:spcBef>
              <a:spcAft>
                <a:spcPts val="0"/>
              </a:spcAft>
              <a:buClr>
                <a:schemeClr val="dk1"/>
              </a:buClr>
              <a:buSzPts val="1500"/>
              <a:buFont typeface="Noto Sans Symbols"/>
              <a:buChar char="○"/>
            </a:pPr>
            <a:r>
              <a:rPr lang="en-US" sz="1500">
                <a:solidFill>
                  <a:schemeClr val="dk1"/>
                </a:solidFill>
              </a:rPr>
              <a:t>Leer un .txt o un .csv: pd.read(). Ejemplo:</a:t>
            </a:r>
            <a:endParaRPr sz="1500">
              <a:solidFill>
                <a:schemeClr val="dk1"/>
              </a:solidFill>
            </a:endParaRPr>
          </a:p>
          <a:p>
            <a:pPr indent="-323850" lvl="2" marL="1371600" rtl="0" algn="l">
              <a:spcBef>
                <a:spcPts val="635"/>
              </a:spcBef>
              <a:spcAft>
                <a:spcPts val="0"/>
              </a:spcAft>
              <a:buClr>
                <a:schemeClr val="dk1"/>
              </a:buClr>
              <a:buSzPts val="1500"/>
              <a:buFont typeface="Noto Sans Symbols"/>
              <a:buChar char="■"/>
            </a:pPr>
            <a:r>
              <a:rPr lang="en-US" sz="1500">
                <a:solidFill>
                  <a:schemeClr val="dk1"/>
                </a:solidFill>
              </a:rPr>
              <a:t> </a:t>
            </a:r>
            <a:r>
              <a:rPr lang="en-US" sz="1000">
                <a:solidFill>
                  <a:schemeClr val="dk1"/>
                </a:solidFill>
              </a:rPr>
              <a:t>df_1= pd.read_csv('SMSSpamCollection.txt', sep="\t", header=None)</a:t>
            </a:r>
            <a:endParaRPr sz="1000">
              <a:solidFill>
                <a:schemeClr val="dk1"/>
              </a:solidFill>
            </a:endParaRPr>
          </a:p>
          <a:p>
            <a:pPr indent="-292100" lvl="2" marL="1371600" rtl="0" algn="l">
              <a:spcBef>
                <a:spcPts val="635"/>
              </a:spcBef>
              <a:spcAft>
                <a:spcPts val="0"/>
              </a:spcAft>
              <a:buClr>
                <a:schemeClr val="dk1"/>
              </a:buClr>
              <a:buSzPts val="1000"/>
              <a:buFont typeface="Noto Sans Symbols"/>
              <a:buChar char="■"/>
            </a:pPr>
            <a:r>
              <a:rPr lang="en-US" sz="1000">
                <a:solidFill>
                  <a:schemeClr val="dk1"/>
                </a:solidFill>
              </a:rPr>
              <a:t>df_2=pd.read_csv('desagregado_por_dia.csv', sep=",", header=0)</a:t>
            </a:r>
            <a:endParaRPr sz="1000">
              <a:solidFill>
                <a:schemeClr val="dk1"/>
              </a:solidFill>
            </a:endParaRPr>
          </a:p>
          <a:p>
            <a:pPr indent="-292100" lvl="1" marL="914400" rtl="0" algn="l">
              <a:spcBef>
                <a:spcPts val="850"/>
              </a:spcBef>
              <a:spcAft>
                <a:spcPts val="0"/>
              </a:spcAft>
              <a:buClr>
                <a:schemeClr val="dk1"/>
              </a:buClr>
              <a:buSzPts val="1000"/>
              <a:buFont typeface="Noto Sans Symbols"/>
              <a:buChar char="○"/>
            </a:pPr>
            <a:r>
              <a:rPr lang="en-US" sz="1000">
                <a:solidFill>
                  <a:schemeClr val="dk1"/>
                </a:solidFill>
              </a:rPr>
              <a:t>Leer un .xlsx:</a:t>
            </a:r>
            <a:endParaRPr sz="1000">
              <a:solidFill>
                <a:schemeClr val="dk1"/>
              </a:solidFill>
            </a:endParaRPr>
          </a:p>
          <a:p>
            <a:pPr indent="-292100" lvl="2" marL="1371600" rtl="0" algn="l">
              <a:spcBef>
                <a:spcPts val="635"/>
              </a:spcBef>
              <a:spcAft>
                <a:spcPts val="0"/>
              </a:spcAft>
              <a:buClr>
                <a:schemeClr val="dk1"/>
              </a:buClr>
              <a:buSzPts val="1000"/>
              <a:buFont typeface="Noto Sans Symbols"/>
              <a:buChar char="■"/>
            </a:pPr>
            <a:r>
              <a:rPr lang="en-US" sz="1000">
                <a:solidFill>
                  <a:schemeClr val="dk1"/>
                </a:solidFill>
              </a:rPr>
              <a:t>df_3=pd.read_excel('Historicalinvesttemp.xlsx', sheet_name='Solo_stock_positivo', header=0)</a:t>
            </a:r>
            <a:endParaRPr sz="1000">
              <a:solidFill>
                <a:schemeClr val="dk1"/>
              </a:solidFill>
            </a:endParaRP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4"/>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393" name="Google Shape;393;p44"/>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394" name="Google Shape;394;p44"/>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395" name="Google Shape;395;p44"/>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396" name="Google Shape;396;p44"/>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397" name="Google Shape;397;p44"/>
          <p:cNvSpPr txBox="1"/>
          <p:nvPr/>
        </p:nvSpPr>
        <p:spPr>
          <a:xfrm>
            <a:off x="52975" y="388425"/>
            <a:ext cx="34962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b="1" lang="en-US">
                <a:solidFill>
                  <a:schemeClr val="dk1"/>
                </a:solidFill>
              </a:rPr>
              <a:t>Cómo</a:t>
            </a:r>
            <a:r>
              <a:rPr b="1" lang="en-US">
                <a:solidFill>
                  <a:schemeClr val="dk1"/>
                </a:solidFill>
              </a:rPr>
              <a:t> leer archivos (.csv, .txt y .xlsx)</a:t>
            </a:r>
            <a:endParaRPr b="1">
              <a:solidFill>
                <a:schemeClr val="dk1"/>
              </a:solidFill>
            </a:endParaRPr>
          </a:p>
        </p:txBody>
      </p:sp>
      <p:sp>
        <p:nvSpPr>
          <p:cNvPr id="398" name="Google Shape;398;p44"/>
          <p:cNvSpPr txBox="1"/>
          <p:nvPr/>
        </p:nvSpPr>
        <p:spPr>
          <a:xfrm>
            <a:off x="167750" y="785725"/>
            <a:ext cx="4230900" cy="2251200"/>
          </a:xfrm>
          <a:prstGeom prst="rect">
            <a:avLst/>
          </a:prstGeom>
          <a:noFill/>
          <a:ln>
            <a:noFill/>
          </a:ln>
        </p:spPr>
        <p:txBody>
          <a:bodyPr anchorCtr="0" anchor="t" bIns="91425" lIns="91425" spcFirstLastPara="1" rIns="91425" wrap="square" tIns="91425">
            <a:noAutofit/>
          </a:bodyPr>
          <a:lstStyle/>
          <a:p>
            <a:pPr indent="-331619" lvl="0" marL="431999" rtl="0" algn="l">
              <a:spcBef>
                <a:spcPts val="0"/>
              </a:spcBef>
              <a:spcAft>
                <a:spcPts val="0"/>
              </a:spcAft>
              <a:buClr>
                <a:schemeClr val="dk1"/>
              </a:buClr>
              <a:buSzPts val="1200"/>
              <a:buFont typeface="Noto Sans Symbols"/>
              <a:buChar char="●"/>
            </a:pPr>
            <a:r>
              <a:rPr lang="en-US" sz="1200">
                <a:solidFill>
                  <a:schemeClr val="dk1"/>
                </a:solidFill>
              </a:rPr>
              <a:t>Vemos que al leer textos planos (.csv y .txt) se debe ingresar el caracter por el cual las columnas están separadas (‘,’,’;’,’-’, etc) además del nombre del archivo a leer. Decir header=0 es decir que se use el primer registro a modo de header.</a:t>
            </a:r>
            <a:endParaRPr sz="1200">
              <a:solidFill>
                <a:schemeClr val="dk1"/>
              </a:solidFill>
            </a:endParaRPr>
          </a:p>
          <a:p>
            <a:pPr indent="-331619" lvl="0" marL="431999" rtl="0" algn="l">
              <a:spcBef>
                <a:spcPts val="1060"/>
              </a:spcBef>
              <a:spcAft>
                <a:spcPts val="0"/>
              </a:spcAft>
              <a:buClr>
                <a:schemeClr val="dk1"/>
              </a:buClr>
              <a:buSzPts val="1200"/>
              <a:buFont typeface="Noto Sans Symbols"/>
              <a:buChar char="●"/>
            </a:pPr>
            <a:r>
              <a:rPr lang="en-US" sz="1200">
                <a:solidFill>
                  <a:schemeClr val="dk1"/>
                </a:solidFill>
              </a:rPr>
              <a:t>Al leer .xlsx el campo de separador deja de ser necesario. Se agrega el campo opcional “sheet” ya que los excels admiten varias sheets. En caso de no pasar este parámetro, se lee la primera sheet. </a:t>
            </a:r>
            <a:endParaRPr sz="1200">
              <a:solidFill>
                <a:schemeClr val="dk1"/>
              </a:solidFill>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5"/>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04" name="Google Shape;404;p45"/>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05" name="Google Shape;405;p45"/>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06" name="Google Shape;406;p45"/>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07" name="Google Shape;407;p45"/>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08" name="Google Shape;408;p45"/>
          <p:cNvSpPr txBox="1"/>
          <p:nvPr/>
        </p:nvSpPr>
        <p:spPr>
          <a:xfrm>
            <a:off x="52975" y="388425"/>
            <a:ext cx="23484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Concepto de dataframe</a:t>
            </a:r>
            <a:endParaRPr b="1">
              <a:solidFill>
                <a:schemeClr val="dk1"/>
              </a:solidFill>
            </a:endParaRPr>
          </a:p>
        </p:txBody>
      </p:sp>
      <p:sp>
        <p:nvSpPr>
          <p:cNvPr id="409" name="Google Shape;409;p45"/>
          <p:cNvSpPr txBox="1"/>
          <p:nvPr/>
        </p:nvSpPr>
        <p:spPr>
          <a:xfrm>
            <a:off x="167750" y="785725"/>
            <a:ext cx="4230900" cy="2251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Noto Sans Symbols"/>
              <a:buChar char="●"/>
            </a:pPr>
            <a:r>
              <a:rPr lang="en-US" sz="1200">
                <a:solidFill>
                  <a:schemeClr val="dk1"/>
                </a:solidFill>
              </a:rPr>
              <a:t>Todas las variables creadas en la filmina anterior dan como resultado dataframes.</a:t>
            </a:r>
            <a:endParaRPr sz="1200">
              <a:solidFill>
                <a:schemeClr val="dk1"/>
              </a:solidFill>
            </a:endParaRPr>
          </a:p>
          <a:p>
            <a:pPr indent="-304800" lvl="0" marL="457200" rtl="0" algn="l">
              <a:spcBef>
                <a:spcPts val="1060"/>
              </a:spcBef>
              <a:spcAft>
                <a:spcPts val="0"/>
              </a:spcAft>
              <a:buClr>
                <a:schemeClr val="dk1"/>
              </a:buClr>
              <a:buSzPts val="1200"/>
              <a:buFont typeface="Noto Sans Symbols"/>
              <a:buChar char="●"/>
            </a:pPr>
            <a:r>
              <a:rPr lang="en-US" sz="1200">
                <a:solidFill>
                  <a:schemeClr val="dk1"/>
                </a:solidFill>
              </a:rPr>
              <a:t>Los dataframes son objetos de la librería pandas, específicamente creados como representaciones de data tabular.</a:t>
            </a:r>
            <a:endParaRPr sz="1200">
              <a:solidFill>
                <a:schemeClr val="dk1"/>
              </a:solidFill>
            </a:endParaRPr>
          </a:p>
          <a:p>
            <a:pPr indent="-304800" lvl="0" marL="457200" rtl="0" algn="l">
              <a:spcBef>
                <a:spcPts val="1060"/>
              </a:spcBef>
              <a:spcAft>
                <a:spcPts val="0"/>
              </a:spcAft>
              <a:buClr>
                <a:schemeClr val="dk1"/>
              </a:buClr>
              <a:buSzPts val="1200"/>
              <a:buFont typeface="Noto Sans Symbols"/>
              <a:buChar char="●"/>
            </a:pPr>
            <a:r>
              <a:rPr lang="en-US" sz="1200">
                <a:solidFill>
                  <a:schemeClr val="dk1"/>
                </a:solidFill>
              </a:rPr>
              <a:t>Cada registro (fila) de un dataframe tiene un índice asociado</a:t>
            </a:r>
            <a:endParaRPr sz="1200">
              <a:solidFill>
                <a:schemeClr val="dk1"/>
              </a:solidFill>
            </a:endParaRPr>
          </a:p>
          <a:p>
            <a:pPr indent="-304800" lvl="0" marL="457200" rtl="0" algn="l">
              <a:spcBef>
                <a:spcPts val="1060"/>
              </a:spcBef>
              <a:spcAft>
                <a:spcPts val="0"/>
              </a:spcAft>
              <a:buClr>
                <a:schemeClr val="dk1"/>
              </a:buClr>
              <a:buSzPts val="1200"/>
              <a:buFont typeface="Noto Sans Symbols"/>
              <a:buChar char="●"/>
            </a:pPr>
            <a:r>
              <a:rPr lang="en-US" sz="1200">
                <a:solidFill>
                  <a:schemeClr val="dk1"/>
                </a:solidFill>
              </a:rPr>
              <a:t>A su vez, estos dataframes están compuestos de otras estructuras llamadas Pandas Series (columnas/atributos del df).</a:t>
            </a:r>
            <a:endParaRPr sz="1200">
              <a:solidFill>
                <a:schemeClr val="dk1"/>
              </a:solidFill>
            </a:endParaRPr>
          </a:p>
          <a:p>
            <a:pPr indent="0" lvl="0" marL="0" rtl="0" algn="l">
              <a:spcBef>
                <a:spcPts val="1060"/>
              </a:spcBef>
              <a:spcAft>
                <a:spcPts val="0"/>
              </a:spcAft>
              <a:buNone/>
            </a:pPr>
            <a:r>
              <a:t/>
            </a:r>
            <a:endParaRPr sz="1200">
              <a:solidFill>
                <a:schemeClr val="dk1"/>
              </a:solidFill>
            </a:endParaRPr>
          </a:p>
        </p:txBody>
      </p:sp>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6"/>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15" name="Google Shape;415;p46"/>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16" name="Google Shape;416;p46"/>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17" name="Google Shape;417;p46"/>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18" name="Google Shape;418;p46"/>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19" name="Google Shape;419;p46"/>
          <p:cNvSpPr txBox="1"/>
          <p:nvPr/>
        </p:nvSpPr>
        <p:spPr>
          <a:xfrm>
            <a:off x="52975" y="388425"/>
            <a:ext cx="23484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Concepto de dataframe</a:t>
            </a:r>
            <a:endParaRPr b="1">
              <a:solidFill>
                <a:schemeClr val="dk1"/>
              </a:solidFill>
            </a:endParaRPr>
          </a:p>
        </p:txBody>
      </p:sp>
      <p:sp>
        <p:nvSpPr>
          <p:cNvPr id="420" name="Google Shape;420;p46"/>
          <p:cNvSpPr txBox="1"/>
          <p:nvPr/>
        </p:nvSpPr>
        <p:spPr>
          <a:xfrm>
            <a:off x="167750" y="785725"/>
            <a:ext cx="4230900" cy="2251200"/>
          </a:xfrm>
          <a:prstGeom prst="rect">
            <a:avLst/>
          </a:prstGeom>
          <a:noFill/>
          <a:ln>
            <a:noFill/>
          </a:ln>
        </p:spPr>
        <p:txBody>
          <a:bodyPr anchorCtr="0" anchor="t" bIns="91425" lIns="91425" spcFirstLastPara="1" rIns="91425" wrap="square" tIns="91425">
            <a:noAutofit/>
          </a:bodyPr>
          <a:lstStyle/>
          <a:p>
            <a:pPr indent="-331619" lvl="0" marL="431999" rtl="0" algn="l">
              <a:spcBef>
                <a:spcPts val="0"/>
              </a:spcBef>
              <a:spcAft>
                <a:spcPts val="0"/>
              </a:spcAft>
              <a:buClr>
                <a:schemeClr val="dk1"/>
              </a:buClr>
              <a:buSzPts val="1200"/>
              <a:buFont typeface="Noto Sans Symbols"/>
              <a:buChar char="●"/>
            </a:pPr>
            <a:r>
              <a:rPr lang="en-US" sz="1200">
                <a:solidFill>
                  <a:schemeClr val="dk1"/>
                </a:solidFill>
              </a:rPr>
              <a:t>Vimos </a:t>
            </a:r>
            <a:r>
              <a:rPr lang="en-US" sz="1200">
                <a:solidFill>
                  <a:schemeClr val="dk1"/>
                </a:solidFill>
              </a:rPr>
              <a:t>cómo</a:t>
            </a:r>
            <a:r>
              <a:rPr lang="en-US" sz="1200">
                <a:solidFill>
                  <a:schemeClr val="dk1"/>
                </a:solidFill>
              </a:rPr>
              <a:t> crear dataframes desde archivos.</a:t>
            </a:r>
            <a:endParaRPr sz="1200">
              <a:solidFill>
                <a:schemeClr val="dk1"/>
              </a:solidFill>
            </a:endParaRPr>
          </a:p>
          <a:p>
            <a:pPr indent="-331619" lvl="0" marL="431999" rtl="0" algn="l">
              <a:spcBef>
                <a:spcPts val="1060"/>
              </a:spcBef>
              <a:spcAft>
                <a:spcPts val="0"/>
              </a:spcAft>
              <a:buClr>
                <a:schemeClr val="dk1"/>
              </a:buClr>
              <a:buSzPts val="1200"/>
              <a:buFont typeface="Noto Sans Symbols"/>
              <a:buChar char="●"/>
            </a:pPr>
            <a:r>
              <a:rPr lang="en-US" sz="1200">
                <a:solidFill>
                  <a:schemeClr val="dk1"/>
                </a:solidFill>
              </a:rPr>
              <a:t>Crear un df vacío:</a:t>
            </a:r>
            <a:endParaRPr sz="1200">
              <a:solidFill>
                <a:schemeClr val="dk1"/>
              </a:solidFill>
            </a:endParaRPr>
          </a:p>
          <a:p>
            <a:pPr indent="-340192" lvl="1" marL="864000" rtl="0" algn="l">
              <a:spcBef>
                <a:spcPts val="850"/>
              </a:spcBef>
              <a:spcAft>
                <a:spcPts val="0"/>
              </a:spcAft>
              <a:buClr>
                <a:schemeClr val="dk1"/>
              </a:buClr>
              <a:buSzPts val="1200"/>
              <a:buFont typeface="Noto Sans Symbols"/>
              <a:buChar char="●"/>
            </a:pPr>
            <a:r>
              <a:rPr lang="en-US" sz="1200">
                <a:solidFill>
                  <a:schemeClr val="dk1"/>
                </a:solidFill>
              </a:rPr>
              <a:t>df_vacío=pd.DataFrame()</a:t>
            </a:r>
            <a:endParaRPr sz="1200">
              <a:solidFill>
                <a:schemeClr val="dk1"/>
              </a:solidFill>
            </a:endParaRPr>
          </a:p>
          <a:p>
            <a:pPr indent="-331619" lvl="0" marL="431999" rtl="0" algn="l">
              <a:spcBef>
                <a:spcPts val="1060"/>
              </a:spcBef>
              <a:spcAft>
                <a:spcPts val="0"/>
              </a:spcAft>
              <a:buClr>
                <a:schemeClr val="dk1"/>
              </a:buClr>
              <a:buSzPts val="1200"/>
              <a:buFont typeface="Noto Sans Symbols"/>
              <a:buChar char="●"/>
            </a:pPr>
            <a:r>
              <a:rPr lang="en-US" sz="1200">
                <a:solidFill>
                  <a:schemeClr val="dk1"/>
                </a:solidFill>
              </a:rPr>
              <a:t>Crear un df en particular: pasarle al comando un diccionario cuyas keys sean los títulos de las columnas y los vals sean listas con los datos.</a:t>
            </a:r>
            <a:endParaRPr sz="1200">
              <a:solidFill>
                <a:schemeClr val="dk1"/>
              </a:solidFill>
            </a:endParaRPr>
          </a:p>
          <a:p>
            <a:pPr indent="-340192" lvl="1" marL="864000" rtl="0" algn="l">
              <a:spcBef>
                <a:spcPts val="850"/>
              </a:spcBef>
              <a:spcAft>
                <a:spcPts val="0"/>
              </a:spcAft>
              <a:buClr>
                <a:schemeClr val="dk1"/>
              </a:buClr>
              <a:buSzPts val="1200"/>
              <a:buFont typeface="Noto Sans Symbols"/>
              <a:buChar char="●"/>
            </a:pPr>
            <a:r>
              <a:rPr lang="en-US" sz="1200">
                <a:solidFill>
                  <a:schemeClr val="dk1"/>
                </a:solidFill>
              </a:rPr>
              <a:t>df = pd.DataFrame ({'Nombres': ['Juan','Gaston','Julian'], 'notas': [7,8,9]})</a:t>
            </a:r>
            <a:endParaRPr sz="1200">
              <a:solidFill>
                <a:schemeClr val="dk1"/>
              </a:solidFill>
            </a:endParaRPr>
          </a:p>
          <a:p>
            <a:pPr indent="0" lvl="0" marL="0" rtl="0" algn="l">
              <a:spcBef>
                <a:spcPts val="1060"/>
              </a:spcBef>
              <a:spcAft>
                <a:spcPts val="0"/>
              </a:spcAft>
              <a:buNone/>
            </a:pPr>
            <a:r>
              <a:t/>
            </a:r>
            <a:endParaRPr sz="1200">
              <a:solidFill>
                <a:schemeClr val="dk1"/>
              </a:solidFill>
            </a:endParaRPr>
          </a:p>
        </p:txBody>
      </p: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7"/>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26" name="Google Shape;426;p47"/>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27" name="Google Shape;427;p47"/>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28" name="Google Shape;428;p47"/>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29" name="Google Shape;429;p47"/>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30" name="Google Shape;430;p47"/>
          <p:cNvSpPr txBox="1"/>
          <p:nvPr/>
        </p:nvSpPr>
        <p:spPr>
          <a:xfrm>
            <a:off x="52975" y="388425"/>
            <a:ext cx="28782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Como indexar/manipular un df</a:t>
            </a:r>
            <a:endParaRPr b="1">
              <a:solidFill>
                <a:schemeClr val="dk1"/>
              </a:solidFill>
            </a:endParaRPr>
          </a:p>
        </p:txBody>
      </p:sp>
      <p:sp>
        <p:nvSpPr>
          <p:cNvPr id="431" name="Google Shape;431;p47"/>
          <p:cNvSpPr txBox="1"/>
          <p:nvPr/>
        </p:nvSpPr>
        <p:spPr>
          <a:xfrm>
            <a:off x="-61800" y="785725"/>
            <a:ext cx="4671900" cy="22512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Noto Sans Symbols"/>
              <a:buChar char="●"/>
            </a:pPr>
            <a:r>
              <a:rPr b="1" lang="en-US" sz="1000">
                <a:solidFill>
                  <a:schemeClr val="dk1"/>
                </a:solidFill>
              </a:rPr>
              <a:t>df[‘campo_1’] </a:t>
            </a:r>
            <a:r>
              <a:rPr lang="en-US" sz="1000">
                <a:solidFill>
                  <a:schemeClr val="dk1"/>
                </a:solidFill>
              </a:rPr>
              <a:t>devuelve los datos de la columna cuyo nombre es ‘campo_1’. Si le asignáramos una variable, sería del tipo “series”</a:t>
            </a:r>
            <a:endParaRPr sz="1000">
              <a:solidFill>
                <a:schemeClr val="dk1"/>
              </a:solidFill>
            </a:endParaRPr>
          </a:p>
          <a:p>
            <a:pPr indent="-292100" lvl="0" marL="457200" rtl="0" algn="l">
              <a:spcBef>
                <a:spcPts val="1060"/>
              </a:spcBef>
              <a:spcAft>
                <a:spcPts val="0"/>
              </a:spcAft>
              <a:buClr>
                <a:schemeClr val="dk1"/>
              </a:buClr>
              <a:buSzPts val="1000"/>
              <a:buFont typeface="Noto Sans Symbols"/>
              <a:buChar char="●"/>
            </a:pPr>
            <a:r>
              <a:rPr b="1" lang="en-US" sz="1000">
                <a:solidFill>
                  <a:schemeClr val="dk1"/>
                </a:solidFill>
              </a:rPr>
              <a:t>df[‘campo_1’][0] </a:t>
            </a:r>
            <a:r>
              <a:rPr lang="en-US" sz="1000">
                <a:solidFill>
                  <a:schemeClr val="dk1"/>
                </a:solidFill>
              </a:rPr>
              <a:t>devuelve el dato puntual correspondiente al atributo “campo_1” y al ÍNDICE 0. Fijarse que hablamos de índice, no de posición.</a:t>
            </a:r>
            <a:endParaRPr sz="1000">
              <a:solidFill>
                <a:schemeClr val="dk1"/>
              </a:solidFill>
            </a:endParaRPr>
          </a:p>
          <a:p>
            <a:pPr indent="-292100" lvl="0" marL="457200" rtl="0" algn="l">
              <a:spcBef>
                <a:spcPts val="1060"/>
              </a:spcBef>
              <a:spcAft>
                <a:spcPts val="0"/>
              </a:spcAft>
              <a:buClr>
                <a:schemeClr val="dk1"/>
              </a:buClr>
              <a:buSzPts val="1000"/>
              <a:buFont typeface="Noto Sans Symbols"/>
              <a:buChar char="●"/>
            </a:pPr>
            <a:r>
              <a:rPr b="1" lang="en-US" sz="1000">
                <a:solidFill>
                  <a:schemeClr val="dk1"/>
                </a:solidFill>
              </a:rPr>
              <a:t> df.iloc[indice]</a:t>
            </a:r>
            <a:r>
              <a:rPr lang="en-US" sz="1000">
                <a:solidFill>
                  <a:schemeClr val="dk1"/>
                </a:solidFill>
              </a:rPr>
              <a:t> devuelve la fila correspondiente al índice en cuestión. Lo hace en forma de pd.series (“columna”) solo que los índices pasan a ser los nombres de columna.</a:t>
            </a:r>
            <a:endParaRPr sz="1000">
              <a:solidFill>
                <a:schemeClr val="dk1"/>
              </a:solidFill>
            </a:endParaRPr>
          </a:p>
          <a:p>
            <a:pPr indent="-292100" lvl="0" marL="457200" rtl="0" algn="l">
              <a:spcBef>
                <a:spcPts val="1060"/>
              </a:spcBef>
              <a:spcAft>
                <a:spcPts val="0"/>
              </a:spcAft>
              <a:buClr>
                <a:schemeClr val="dk1"/>
              </a:buClr>
              <a:buSzPts val="1000"/>
              <a:buFont typeface="Noto Sans Symbols"/>
              <a:buChar char="●"/>
            </a:pPr>
            <a:r>
              <a:rPr b="1" lang="en-US" sz="1000">
                <a:solidFill>
                  <a:schemeClr val="dk1"/>
                </a:solidFill>
              </a:rPr>
              <a:t>df.loc[indice,’columna_1’]=valor</a:t>
            </a:r>
            <a:r>
              <a:rPr lang="en-US" sz="1000">
                <a:solidFill>
                  <a:schemeClr val="dk1"/>
                </a:solidFill>
              </a:rPr>
              <a:t> asigna un valor a determinada posición del df (a la que responda al índice y el nombre de columna)</a:t>
            </a:r>
            <a:endParaRPr sz="10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1060"/>
              </a:spcBef>
              <a:spcAft>
                <a:spcPts val="0"/>
              </a:spcAft>
              <a:buNone/>
            </a:pPr>
            <a:r>
              <a:t/>
            </a:r>
            <a:endParaRPr sz="1200">
              <a:solidFill>
                <a:schemeClr val="dk1"/>
              </a:solidFill>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8"/>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37" name="Google Shape;437;p48"/>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38" name="Google Shape;438;p48"/>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39" name="Google Shape;439;p48"/>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40" name="Google Shape;440;p48"/>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41" name="Google Shape;441;p48"/>
          <p:cNvSpPr txBox="1"/>
          <p:nvPr/>
        </p:nvSpPr>
        <p:spPr>
          <a:xfrm>
            <a:off x="52975" y="388425"/>
            <a:ext cx="17922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Funciones útiles</a:t>
            </a:r>
            <a:endParaRPr b="1">
              <a:solidFill>
                <a:schemeClr val="dk1"/>
              </a:solidFill>
            </a:endParaRPr>
          </a:p>
        </p:txBody>
      </p:sp>
      <p:sp>
        <p:nvSpPr>
          <p:cNvPr id="442" name="Google Shape;442;p48"/>
          <p:cNvSpPr txBox="1"/>
          <p:nvPr/>
        </p:nvSpPr>
        <p:spPr>
          <a:xfrm>
            <a:off x="-61800" y="785725"/>
            <a:ext cx="4671900" cy="2251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Noto Sans Symbols"/>
              <a:buChar char="●"/>
            </a:pPr>
            <a:r>
              <a:rPr b="1" lang="en-US" sz="1200">
                <a:solidFill>
                  <a:schemeClr val="dk1"/>
                </a:solidFill>
              </a:rPr>
              <a:t>len(df)</a:t>
            </a:r>
            <a:r>
              <a:rPr lang="en-US" sz="1200">
                <a:solidFill>
                  <a:schemeClr val="dk1"/>
                </a:solidFill>
              </a:rPr>
              <a:t> te dice cuantas filas hay en el df</a:t>
            </a:r>
            <a:endParaRPr sz="1200">
              <a:solidFill>
                <a:schemeClr val="dk1"/>
              </a:solidFill>
            </a:endParaRPr>
          </a:p>
          <a:p>
            <a:pPr indent="-304800" lvl="0" marL="457200" rtl="0" algn="l">
              <a:spcBef>
                <a:spcPts val="1060"/>
              </a:spcBef>
              <a:spcAft>
                <a:spcPts val="0"/>
              </a:spcAft>
              <a:buClr>
                <a:schemeClr val="dk1"/>
              </a:buClr>
              <a:buSzPts val="1200"/>
              <a:buFont typeface="Noto Sans Symbols"/>
              <a:buChar char="●"/>
            </a:pPr>
            <a:r>
              <a:rPr b="1" lang="en-US" sz="1200">
                <a:solidFill>
                  <a:schemeClr val="dk1"/>
                </a:solidFill>
              </a:rPr>
              <a:t>list(df.columns)</a:t>
            </a:r>
            <a:r>
              <a:rPr lang="en-US" sz="1200">
                <a:solidFill>
                  <a:schemeClr val="dk1"/>
                </a:solidFill>
              </a:rPr>
              <a:t> arroja una lista donde cada elemento es el nombre de una de las columnas del df</a:t>
            </a:r>
            <a:endParaRPr sz="1200">
              <a:solidFill>
                <a:schemeClr val="dk1"/>
              </a:solidFill>
            </a:endParaRPr>
          </a:p>
          <a:p>
            <a:pPr indent="-304800" lvl="0" marL="457200" rtl="0" algn="l">
              <a:spcBef>
                <a:spcPts val="1060"/>
              </a:spcBef>
              <a:spcAft>
                <a:spcPts val="0"/>
              </a:spcAft>
              <a:buClr>
                <a:schemeClr val="dk1"/>
              </a:buClr>
              <a:buSzPts val="1200"/>
              <a:buFont typeface="Noto Sans Symbols"/>
              <a:buChar char="●"/>
            </a:pPr>
            <a:r>
              <a:rPr b="1" lang="en-US" sz="1200">
                <a:solidFill>
                  <a:schemeClr val="dk1"/>
                </a:solidFill>
              </a:rPr>
              <a:t>df.fillna(valor)</a:t>
            </a:r>
            <a:r>
              <a:rPr lang="en-US" sz="1200">
                <a:solidFill>
                  <a:schemeClr val="dk1"/>
                </a:solidFill>
              </a:rPr>
              <a:t> reemplaza todos los nulls que pueda contener tu dataframe por un número que vos elijas</a:t>
            </a:r>
            <a:endParaRPr sz="1200">
              <a:solidFill>
                <a:schemeClr val="dk1"/>
              </a:solidFill>
            </a:endParaRPr>
          </a:p>
          <a:p>
            <a:pPr indent="-304800" lvl="0" marL="457200" rtl="0" algn="l">
              <a:spcBef>
                <a:spcPts val="1060"/>
              </a:spcBef>
              <a:spcAft>
                <a:spcPts val="0"/>
              </a:spcAft>
              <a:buClr>
                <a:schemeClr val="dk1"/>
              </a:buClr>
              <a:buSzPts val="1200"/>
              <a:buFont typeface="Noto Sans Symbols"/>
              <a:buChar char="●"/>
            </a:pPr>
            <a:r>
              <a:rPr b="1" lang="en-US" sz="1200">
                <a:solidFill>
                  <a:schemeClr val="dk1"/>
                </a:solidFill>
              </a:rPr>
              <a:t>df.drop_duplicates()</a:t>
            </a:r>
            <a:r>
              <a:rPr lang="en-US" sz="1200">
                <a:solidFill>
                  <a:schemeClr val="dk1"/>
                </a:solidFill>
              </a:rPr>
              <a:t> elimina los duplicados dejando solo la primera aparición.  </a:t>
            </a:r>
            <a:endParaRPr b="1"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1060"/>
              </a:spcBef>
              <a:spcAft>
                <a:spcPts val="0"/>
              </a:spcAft>
              <a:buNone/>
            </a:pPr>
            <a:r>
              <a:t/>
            </a:r>
            <a:endParaRPr sz="1200">
              <a:solidFill>
                <a:schemeClr val="dk1"/>
              </a:solidFill>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9"/>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48" name="Google Shape;448;p49"/>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49" name="Google Shape;449;p49"/>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50" name="Google Shape;450;p49"/>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51" name="Google Shape;451;p49"/>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52" name="Google Shape;452;p49"/>
          <p:cNvSpPr txBox="1"/>
          <p:nvPr/>
        </p:nvSpPr>
        <p:spPr>
          <a:xfrm>
            <a:off x="52975" y="388425"/>
            <a:ext cx="17922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Funciones útiles</a:t>
            </a:r>
            <a:endParaRPr b="1">
              <a:solidFill>
                <a:schemeClr val="dk1"/>
              </a:solidFill>
            </a:endParaRPr>
          </a:p>
        </p:txBody>
      </p:sp>
      <p:sp>
        <p:nvSpPr>
          <p:cNvPr id="453" name="Google Shape;453;p49"/>
          <p:cNvSpPr txBox="1"/>
          <p:nvPr/>
        </p:nvSpPr>
        <p:spPr>
          <a:xfrm>
            <a:off x="-61800" y="785725"/>
            <a:ext cx="4671900" cy="2251200"/>
          </a:xfrm>
          <a:prstGeom prst="rect">
            <a:avLst/>
          </a:prstGeom>
          <a:noFill/>
          <a:ln>
            <a:noFill/>
          </a:ln>
        </p:spPr>
        <p:txBody>
          <a:bodyPr anchorCtr="0" anchor="t" bIns="91425" lIns="91425" spcFirstLastPara="1" rIns="91425" wrap="square" tIns="91425">
            <a:noAutofit/>
          </a:bodyPr>
          <a:lstStyle/>
          <a:p>
            <a:pPr indent="-325269" lvl="0" marL="431999" rtl="0" algn="l">
              <a:spcBef>
                <a:spcPts val="1060"/>
              </a:spcBef>
              <a:spcAft>
                <a:spcPts val="0"/>
              </a:spcAft>
              <a:buClr>
                <a:schemeClr val="dk1"/>
              </a:buClr>
              <a:buSzPts val="1100"/>
              <a:buFont typeface="Noto Sans Symbols"/>
              <a:buChar char="●"/>
            </a:pPr>
            <a:r>
              <a:rPr b="1" lang="en-US" sz="1100">
                <a:solidFill>
                  <a:schemeClr val="dk1"/>
                </a:solidFill>
              </a:rPr>
              <a:t>df.drop_duplicates(subset=[campo1,campo2,…], keep=’first’)</a:t>
            </a:r>
            <a:r>
              <a:rPr lang="en-US" sz="1100">
                <a:solidFill>
                  <a:schemeClr val="dk1"/>
                </a:solidFill>
              </a:rPr>
              <a:t>. Keep es por default first, puede ser ‘last’ quedándote con la última aparición. Puede ser False eliminando todo lo que estuvo duplicado alguna vez. Subset te dice los campos a considerar para la igualdad. Por default son todos.</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lang="en-US" sz="1100">
                <a:solidFill>
                  <a:schemeClr val="dk1"/>
                </a:solidFill>
              </a:rPr>
              <a:t> El comando </a:t>
            </a:r>
            <a:r>
              <a:rPr b="1" lang="en-US" sz="1100">
                <a:solidFill>
                  <a:schemeClr val="dk1"/>
                </a:solidFill>
              </a:rPr>
              <a:t>del df[‘campo’]</a:t>
            </a:r>
            <a:r>
              <a:rPr lang="en-US" sz="1100">
                <a:solidFill>
                  <a:schemeClr val="dk1"/>
                </a:solidFill>
              </a:rPr>
              <a:t> elimina una columna</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b="1" lang="en-US" sz="1100">
                <a:solidFill>
                  <a:schemeClr val="dk1"/>
                </a:solidFill>
              </a:rPr>
              <a:t>df.drop(indice) </a:t>
            </a:r>
            <a:r>
              <a:rPr lang="en-US" sz="1100">
                <a:solidFill>
                  <a:schemeClr val="dk1"/>
                </a:solidFill>
              </a:rPr>
              <a:t>elimina una row entera</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lang="en-US" sz="1100">
                <a:solidFill>
                  <a:schemeClr val="dk1"/>
                </a:solidFill>
              </a:rPr>
              <a:t>El drop puede dejar los índices desacomodados. Para volver a ordenar los índices de 0 a len(df)-1 se puede hacer </a:t>
            </a:r>
            <a:r>
              <a:rPr b="1" lang="en-US" sz="1100">
                <a:solidFill>
                  <a:schemeClr val="dk1"/>
                </a:solidFill>
              </a:rPr>
              <a:t>df.reset_index(drop=True)</a:t>
            </a:r>
            <a:r>
              <a:rPr lang="en-US" sz="1100">
                <a:solidFill>
                  <a:schemeClr val="dk1"/>
                </a:solidFill>
              </a:rPr>
              <a:t>. </a:t>
            </a:r>
            <a:r>
              <a:rPr lang="en-US" sz="1100">
                <a:solidFill>
                  <a:srgbClr val="FF0000"/>
                </a:solidFill>
              </a:rPr>
              <a:t>¿Porque el drop? </a:t>
            </a:r>
            <a:r>
              <a:rPr lang="en-US" sz="1100">
                <a:solidFill>
                  <a:schemeClr val="dk1"/>
                </a:solidFill>
              </a:rPr>
              <a:t>  </a:t>
            </a:r>
            <a:endParaRPr sz="11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1060"/>
              </a:spcBef>
              <a:spcAft>
                <a:spcPts val="0"/>
              </a:spcAft>
              <a:buNone/>
            </a:pPr>
            <a:r>
              <a:t/>
            </a:r>
            <a:endParaRPr sz="1200">
              <a:solidFill>
                <a:schemeClr val="dk1"/>
              </a:solidFill>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0"/>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59" name="Google Shape;459;p50"/>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60" name="Google Shape;460;p50"/>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61" name="Google Shape;461;p50"/>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62" name="Google Shape;462;p50"/>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63" name="Google Shape;463;p50"/>
          <p:cNvSpPr txBox="1"/>
          <p:nvPr/>
        </p:nvSpPr>
        <p:spPr>
          <a:xfrm>
            <a:off x="52975" y="388425"/>
            <a:ext cx="36903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200">
                <a:solidFill>
                  <a:schemeClr val="dk1"/>
                </a:solidFill>
              </a:rPr>
              <a:t>Renombrar columnas, crear columnas nuevas</a:t>
            </a:r>
            <a:endParaRPr b="1" sz="1200">
              <a:solidFill>
                <a:schemeClr val="dk1"/>
              </a:solidFill>
            </a:endParaRPr>
          </a:p>
          <a:p>
            <a:pPr indent="0" lvl="0" marL="0" rtl="0" algn="ctr">
              <a:spcBef>
                <a:spcPts val="0"/>
              </a:spcBef>
              <a:spcAft>
                <a:spcPts val="0"/>
              </a:spcAft>
              <a:buNone/>
            </a:pPr>
            <a:r>
              <a:t/>
            </a:r>
            <a:endParaRPr b="1">
              <a:solidFill>
                <a:schemeClr val="dk1"/>
              </a:solidFill>
            </a:endParaRPr>
          </a:p>
        </p:txBody>
      </p:sp>
      <p:sp>
        <p:nvSpPr>
          <p:cNvPr id="464" name="Google Shape;464;p50"/>
          <p:cNvSpPr txBox="1"/>
          <p:nvPr/>
        </p:nvSpPr>
        <p:spPr>
          <a:xfrm>
            <a:off x="-30900" y="739538"/>
            <a:ext cx="4671900" cy="2251200"/>
          </a:xfrm>
          <a:prstGeom prst="rect">
            <a:avLst/>
          </a:prstGeom>
          <a:noFill/>
          <a:ln>
            <a:noFill/>
          </a:ln>
        </p:spPr>
        <p:txBody>
          <a:bodyPr anchorCtr="0" anchor="t" bIns="91425" lIns="91425" spcFirstLastPara="1" rIns="91425" wrap="square" tIns="91425">
            <a:noAutofit/>
          </a:bodyPr>
          <a:lstStyle/>
          <a:p>
            <a:pPr indent="-325269" lvl="0" marL="431999" rtl="0" algn="l">
              <a:spcBef>
                <a:spcPts val="0"/>
              </a:spcBef>
              <a:spcAft>
                <a:spcPts val="0"/>
              </a:spcAft>
              <a:buClr>
                <a:schemeClr val="dk1"/>
              </a:buClr>
              <a:buSzPts val="1100"/>
              <a:buFont typeface="Noto Sans Symbols"/>
              <a:buChar char="●"/>
            </a:pPr>
            <a:r>
              <a:rPr lang="en-US" sz="1100">
                <a:solidFill>
                  <a:schemeClr val="dk1"/>
                </a:solidFill>
              </a:rPr>
              <a:t>Para renombrar se usa el método rename y se crea un diccionario donde la key es el nombre de la columna y el value su nombre nuevo.</a:t>
            </a:r>
            <a:endParaRPr sz="1100">
              <a:solidFill>
                <a:schemeClr val="dk1"/>
              </a:solidFill>
            </a:endParaRPr>
          </a:p>
          <a:p>
            <a:pPr indent="-333842" lvl="1" marL="864000" rtl="0" algn="l">
              <a:spcBef>
                <a:spcPts val="850"/>
              </a:spcBef>
              <a:spcAft>
                <a:spcPts val="0"/>
              </a:spcAft>
              <a:buClr>
                <a:schemeClr val="dk1"/>
              </a:buClr>
              <a:buSzPts val="1100"/>
              <a:buFont typeface="Noto Sans Symbols"/>
              <a:buChar char="●"/>
            </a:pPr>
            <a:r>
              <a:rPr lang="en-US" sz="1100">
                <a:solidFill>
                  <a:schemeClr val="dk1"/>
                </a:solidFill>
              </a:rPr>
              <a:t>df.rename(columns={'oldName1': 'newName1', 'oldName2': 'newName2'}, inplace=True)</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lang="en-US" sz="1100">
                <a:solidFill>
                  <a:schemeClr val="dk1"/>
                </a:solidFill>
              </a:rPr>
              <a:t>Agregar una columna “apendando una lista”. La lista debe tener la misma longitud que len(df):</a:t>
            </a:r>
            <a:endParaRPr sz="1100">
              <a:solidFill>
                <a:schemeClr val="dk1"/>
              </a:solidFill>
            </a:endParaRPr>
          </a:p>
          <a:p>
            <a:pPr indent="-333842" lvl="1" marL="864000" rtl="0" algn="l">
              <a:spcBef>
                <a:spcPts val="850"/>
              </a:spcBef>
              <a:spcAft>
                <a:spcPts val="0"/>
              </a:spcAft>
              <a:buClr>
                <a:schemeClr val="dk1"/>
              </a:buClr>
              <a:buSzPts val="1100"/>
              <a:buFont typeface="Noto Sans Symbols"/>
              <a:buChar char="●"/>
            </a:pPr>
            <a:r>
              <a:rPr lang="en-US" sz="1100">
                <a:solidFill>
                  <a:schemeClr val="dk1"/>
                </a:solidFill>
              </a:rPr>
              <a:t>df[‘campo_nuevo’]=lista</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lang="en-US" sz="1100">
                <a:solidFill>
                  <a:schemeClr val="dk1"/>
                </a:solidFill>
              </a:rPr>
              <a:t>Agregar una columna a partir de otra ya existente:</a:t>
            </a:r>
            <a:endParaRPr sz="1100">
              <a:solidFill>
                <a:schemeClr val="dk1"/>
              </a:solidFill>
            </a:endParaRPr>
          </a:p>
          <a:p>
            <a:pPr indent="-333842" lvl="1" marL="864000" rtl="0" algn="l">
              <a:spcBef>
                <a:spcPts val="850"/>
              </a:spcBef>
              <a:spcAft>
                <a:spcPts val="0"/>
              </a:spcAft>
              <a:buClr>
                <a:schemeClr val="dk1"/>
              </a:buClr>
              <a:buSzPts val="1100"/>
              <a:buFont typeface="Noto Sans Symbols"/>
              <a:buChar char="●"/>
            </a:pPr>
            <a:r>
              <a:rPr lang="en-US" sz="1100">
                <a:solidFill>
                  <a:schemeClr val="dk1"/>
                </a:solidFill>
              </a:rPr>
              <a:t>df[‘campo_nuevo’]=df[‘campo_cualquiera’]*2</a:t>
            </a:r>
            <a:endParaRPr sz="11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spcBef>
                <a:spcPts val="1060"/>
              </a:spcBef>
              <a:spcAft>
                <a:spcPts val="0"/>
              </a:spcAft>
              <a:buNone/>
            </a:pPr>
            <a:r>
              <a:t/>
            </a:r>
            <a:endParaRPr sz="1200">
              <a:solidFill>
                <a:schemeClr val="dk1"/>
              </a:solidFill>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1"/>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70" name="Google Shape;470;p51"/>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71" name="Google Shape;471;p51"/>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72" name="Google Shape;472;p51"/>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73" name="Google Shape;473;p51"/>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74" name="Google Shape;474;p51"/>
          <p:cNvSpPr txBox="1"/>
          <p:nvPr/>
        </p:nvSpPr>
        <p:spPr>
          <a:xfrm>
            <a:off x="52975" y="388425"/>
            <a:ext cx="44982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Slicear un dataframe, quedarte con columnas/filas</a:t>
            </a:r>
            <a:endParaRPr b="1">
              <a:solidFill>
                <a:schemeClr val="dk1"/>
              </a:solidFill>
            </a:endParaRPr>
          </a:p>
        </p:txBody>
      </p:sp>
      <p:sp>
        <p:nvSpPr>
          <p:cNvPr id="475" name="Google Shape;475;p51"/>
          <p:cNvSpPr txBox="1"/>
          <p:nvPr/>
        </p:nvSpPr>
        <p:spPr>
          <a:xfrm>
            <a:off x="-30900" y="739538"/>
            <a:ext cx="4671900" cy="2251200"/>
          </a:xfrm>
          <a:prstGeom prst="rect">
            <a:avLst/>
          </a:prstGeom>
          <a:noFill/>
          <a:ln>
            <a:noFill/>
          </a:ln>
        </p:spPr>
        <p:txBody>
          <a:bodyPr anchorCtr="0" anchor="t" bIns="91425" lIns="91425" spcFirstLastPara="1" rIns="91425" wrap="square" tIns="91425">
            <a:noAutofit/>
          </a:bodyPr>
          <a:lstStyle/>
          <a:p>
            <a:pPr indent="-325269" lvl="0" marL="431999" rtl="0" algn="l">
              <a:spcBef>
                <a:spcPts val="0"/>
              </a:spcBef>
              <a:spcAft>
                <a:spcPts val="0"/>
              </a:spcAft>
              <a:buClr>
                <a:schemeClr val="dk1"/>
              </a:buClr>
              <a:buSzPts val="1100"/>
              <a:buFont typeface="Noto Sans Symbols"/>
              <a:buChar char="●"/>
            </a:pPr>
            <a:r>
              <a:rPr lang="en-US" sz="1100">
                <a:solidFill>
                  <a:schemeClr val="dk1"/>
                </a:solidFill>
              </a:rPr>
              <a:t>Slicear “verticalmente” (quedarte con determinadas columnas:</a:t>
            </a:r>
            <a:endParaRPr sz="1100">
              <a:solidFill>
                <a:schemeClr val="dk1"/>
              </a:solidFill>
            </a:endParaRPr>
          </a:p>
          <a:p>
            <a:pPr indent="-333842" lvl="1" marL="864000" rtl="0" algn="l">
              <a:spcBef>
                <a:spcPts val="850"/>
              </a:spcBef>
              <a:spcAft>
                <a:spcPts val="0"/>
              </a:spcAft>
              <a:buClr>
                <a:schemeClr val="dk1"/>
              </a:buClr>
              <a:buSzPts val="1100"/>
              <a:buFont typeface="Noto Sans Symbols"/>
              <a:buChar char="●"/>
            </a:pPr>
            <a:r>
              <a:rPr lang="en-US" sz="1100">
                <a:solidFill>
                  <a:schemeClr val="dk1"/>
                </a:solidFill>
              </a:rPr>
              <a:t>df[[‘campo1’,’campo2’,’campo3’]]</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lang="en-US" sz="1100">
                <a:solidFill>
                  <a:schemeClr val="dk1"/>
                </a:solidFill>
              </a:rPr>
              <a:t>Slicear verticalmente (quedarte con un subset de filas). Esto es muy similar a slicear en listas:</a:t>
            </a:r>
            <a:endParaRPr sz="1100">
              <a:solidFill>
                <a:schemeClr val="dk1"/>
              </a:solidFill>
            </a:endParaRPr>
          </a:p>
          <a:p>
            <a:pPr indent="-333842" lvl="1" marL="864000" rtl="0" algn="l">
              <a:spcBef>
                <a:spcPts val="850"/>
              </a:spcBef>
              <a:spcAft>
                <a:spcPts val="0"/>
              </a:spcAft>
              <a:buClr>
                <a:schemeClr val="dk1"/>
              </a:buClr>
              <a:buSzPts val="1100"/>
              <a:buFont typeface="Noto Sans Symbols"/>
              <a:buChar char="●"/>
            </a:pPr>
            <a:r>
              <a:rPr lang="en-US" sz="1100">
                <a:solidFill>
                  <a:schemeClr val="dk1"/>
                </a:solidFill>
              </a:rPr>
              <a:t>df[principio:final]</a:t>
            </a:r>
            <a:endParaRPr sz="1100">
              <a:solidFill>
                <a:schemeClr val="dk1"/>
              </a:solidFill>
            </a:endParaRPr>
          </a:p>
          <a:p>
            <a:pPr indent="-325269" lvl="0" marL="431999" rtl="0" algn="l">
              <a:spcBef>
                <a:spcPts val="1060"/>
              </a:spcBef>
              <a:spcAft>
                <a:spcPts val="0"/>
              </a:spcAft>
              <a:buClr>
                <a:schemeClr val="dk1"/>
              </a:buClr>
              <a:buSzPts val="1100"/>
              <a:buFont typeface="Noto Sans Symbols"/>
              <a:buChar char="●"/>
            </a:pPr>
            <a:r>
              <a:rPr lang="en-US" sz="1100">
                <a:solidFill>
                  <a:schemeClr val="dk1"/>
                </a:solidFill>
              </a:rPr>
              <a:t>Slicear usando un condicional. Ej: Quedarte con un df cuyos registros tengan un stock mayor a 0.3. La condición se pone entre corchetes y se auto-referencia el df:</a:t>
            </a:r>
            <a:endParaRPr sz="1100">
              <a:solidFill>
                <a:schemeClr val="dk1"/>
              </a:solidFill>
            </a:endParaRPr>
          </a:p>
          <a:p>
            <a:pPr indent="-333842" lvl="1" marL="864000" rtl="0" algn="l">
              <a:spcBef>
                <a:spcPts val="850"/>
              </a:spcBef>
              <a:spcAft>
                <a:spcPts val="0"/>
              </a:spcAft>
              <a:buClr>
                <a:schemeClr val="dk1"/>
              </a:buClr>
              <a:buSzPts val="1100"/>
              <a:buFont typeface="Noto Sans Symbols"/>
              <a:buChar char="●"/>
            </a:pPr>
            <a:r>
              <a:rPr lang="en-US" sz="1100">
                <a:solidFill>
                  <a:schemeClr val="dk1"/>
                </a:solidFill>
              </a:rPr>
              <a:t>df_stock=df_3[df_3[‘Stocks’]&gt;0.5]</a:t>
            </a:r>
            <a:endParaRPr sz="1100">
              <a:solidFill>
                <a:schemeClr val="dk1"/>
              </a:solidFill>
            </a:endParaRPr>
          </a:p>
          <a:p>
            <a:pPr indent="0" lvl="0" marL="0" rtl="0" algn="l">
              <a:spcBef>
                <a:spcPts val="1060"/>
              </a:spcBef>
              <a:spcAft>
                <a:spcPts val="0"/>
              </a:spcAft>
              <a:buNone/>
            </a:pPr>
            <a:r>
              <a:t/>
            </a:r>
            <a:endParaRPr sz="1100">
              <a:solidFill>
                <a:schemeClr val="dk1"/>
              </a:solidFill>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2"/>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81" name="Google Shape;481;p52"/>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82" name="Google Shape;482;p52"/>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83" name="Google Shape;483;p52"/>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84" name="Google Shape;484;p52"/>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85" name="Google Shape;485;p52"/>
          <p:cNvSpPr txBox="1"/>
          <p:nvPr/>
        </p:nvSpPr>
        <p:spPr>
          <a:xfrm>
            <a:off x="0" y="369775"/>
            <a:ext cx="29223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Shallow Copy vs DeepCopy</a:t>
            </a:r>
            <a:endParaRPr b="1">
              <a:solidFill>
                <a:schemeClr val="dk1"/>
              </a:solidFill>
            </a:endParaRPr>
          </a:p>
          <a:p>
            <a:pPr indent="0" lvl="0" marL="0" rtl="0" algn="ctr">
              <a:spcBef>
                <a:spcPts val="0"/>
              </a:spcBef>
              <a:spcAft>
                <a:spcPts val="0"/>
              </a:spcAft>
              <a:buNone/>
            </a:pPr>
            <a:r>
              <a:t/>
            </a:r>
            <a:endParaRPr b="1">
              <a:solidFill>
                <a:schemeClr val="dk1"/>
              </a:solidFill>
            </a:endParaRPr>
          </a:p>
        </p:txBody>
      </p:sp>
      <p:sp>
        <p:nvSpPr>
          <p:cNvPr id="486" name="Google Shape;486;p52"/>
          <p:cNvSpPr txBox="1"/>
          <p:nvPr/>
        </p:nvSpPr>
        <p:spPr>
          <a:xfrm>
            <a:off x="-30900" y="739538"/>
            <a:ext cx="4671900" cy="2251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Noto Sans Symbols"/>
              <a:buChar char="●"/>
            </a:pPr>
            <a:r>
              <a:rPr lang="en-US" sz="1100">
                <a:solidFill>
                  <a:schemeClr val="dk1"/>
                </a:solidFill>
              </a:rPr>
              <a:t>Sucede algo similar a lo que sucedía con las lists y el </a:t>
            </a:r>
            <a:r>
              <a:rPr b="1" lang="en-US" sz="1100">
                <a:solidFill>
                  <a:schemeClr val="dk1"/>
                </a:solidFill>
              </a:rPr>
              <a:t>aliasing.</a:t>
            </a:r>
            <a:r>
              <a:rPr lang="en-US" sz="1100">
                <a:solidFill>
                  <a:schemeClr val="dk1"/>
                </a:solidFill>
              </a:rPr>
              <a:t> Dado un dataframe “df”, al decir df1=df estoy creando una referencia distinta al mismo objeto (el mismo set de datos). A esto se le llama ShallowCopy</a:t>
            </a:r>
            <a:endParaRPr sz="1100">
              <a:solidFill>
                <a:schemeClr val="dk1"/>
              </a:solidFill>
            </a:endParaRPr>
          </a:p>
          <a:p>
            <a:pPr indent="-298450" lvl="0" marL="457200" rtl="0" algn="l">
              <a:spcBef>
                <a:spcPts val="1060"/>
              </a:spcBef>
              <a:spcAft>
                <a:spcPts val="0"/>
              </a:spcAft>
              <a:buClr>
                <a:schemeClr val="dk1"/>
              </a:buClr>
              <a:buSzPts val="1100"/>
              <a:buFont typeface="Noto Sans Symbols"/>
              <a:buChar char="●"/>
            </a:pPr>
            <a:r>
              <a:rPr lang="en-US" sz="1100">
                <a:solidFill>
                  <a:schemeClr val="dk1"/>
                </a:solidFill>
              </a:rPr>
              <a:t>Al hacer df.loc[indice,‘campo_1’]=valor_nuevo ; tanto df como df1 sufrirán dicho cambio.</a:t>
            </a:r>
            <a:endParaRPr sz="1100">
              <a:solidFill>
                <a:schemeClr val="dk1"/>
              </a:solidFill>
            </a:endParaRPr>
          </a:p>
          <a:p>
            <a:pPr indent="-298450" lvl="0" marL="457200" rtl="0" algn="l">
              <a:spcBef>
                <a:spcPts val="1060"/>
              </a:spcBef>
              <a:spcAft>
                <a:spcPts val="0"/>
              </a:spcAft>
              <a:buClr>
                <a:schemeClr val="dk1"/>
              </a:buClr>
              <a:buSzPts val="1100"/>
              <a:buFont typeface="Noto Sans Symbols"/>
              <a:buChar char="●"/>
            </a:pPr>
            <a:r>
              <a:rPr lang="en-US" sz="1100">
                <a:solidFill>
                  <a:schemeClr val="dk1"/>
                </a:solidFill>
              </a:rPr>
              <a:t>Para crear realmente un set de datos duplicado (un objeto distinto) debemos realizar un </a:t>
            </a:r>
            <a:r>
              <a:rPr b="1" lang="en-US" sz="1100">
                <a:solidFill>
                  <a:schemeClr val="dk1"/>
                </a:solidFill>
              </a:rPr>
              <a:t>deepcopy</a:t>
            </a:r>
            <a:r>
              <a:rPr lang="en-US" sz="1100">
                <a:solidFill>
                  <a:schemeClr val="dk1"/>
                </a:solidFill>
              </a:rPr>
              <a:t>. Así:</a:t>
            </a:r>
            <a:endParaRPr sz="1100">
              <a:solidFill>
                <a:schemeClr val="dk1"/>
              </a:solidFill>
            </a:endParaRPr>
          </a:p>
          <a:p>
            <a:pPr indent="-298450" lvl="1" marL="914400" rtl="0" algn="l">
              <a:spcBef>
                <a:spcPts val="850"/>
              </a:spcBef>
              <a:spcAft>
                <a:spcPts val="0"/>
              </a:spcAft>
              <a:buClr>
                <a:schemeClr val="dk1"/>
              </a:buClr>
              <a:buSzPts val="1100"/>
              <a:buFont typeface="Noto Sans Symbols"/>
              <a:buChar char="●"/>
            </a:pPr>
            <a:r>
              <a:rPr lang="en-US" sz="1100">
                <a:solidFill>
                  <a:schemeClr val="dk1"/>
                </a:solidFill>
              </a:rPr>
              <a:t>df1=df.copy(deep=True)</a:t>
            </a:r>
            <a:endParaRPr sz="1100">
              <a:solidFill>
                <a:schemeClr val="dk1"/>
              </a:solidFill>
            </a:endParaRPr>
          </a:p>
          <a:p>
            <a:pPr indent="-298450" lvl="0" marL="457200" rtl="0" algn="l">
              <a:spcBef>
                <a:spcPts val="1060"/>
              </a:spcBef>
              <a:spcAft>
                <a:spcPts val="0"/>
              </a:spcAft>
              <a:buClr>
                <a:schemeClr val="dk1"/>
              </a:buClr>
              <a:buSzPts val="1100"/>
              <a:buFont typeface="Noto Sans Symbols"/>
              <a:buChar char="●"/>
            </a:pPr>
            <a:r>
              <a:rPr lang="en-US" sz="1100">
                <a:solidFill>
                  <a:schemeClr val="dk1"/>
                </a:solidFill>
              </a:rPr>
              <a:t>Notar que al hacer esto, duplicamos el set de datos, por lo que aumenta el uso de memoria de la instancia</a:t>
            </a:r>
            <a:endParaRPr sz="1100">
              <a:solidFill>
                <a:schemeClr val="dk1"/>
              </a:solidFill>
            </a:endParaRPr>
          </a:p>
          <a:p>
            <a:pPr indent="0" lvl="0" marL="0" rtl="0" algn="l">
              <a:spcBef>
                <a:spcPts val="1060"/>
              </a:spcBef>
              <a:spcAft>
                <a:spcPts val="0"/>
              </a:spcAft>
              <a:buNone/>
            </a:pPr>
            <a:r>
              <a:t/>
            </a:r>
            <a:endParaRPr>
              <a:solidFill>
                <a:schemeClr val="dk1"/>
              </a:solidFill>
            </a:endParaRP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3"/>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492" name="Google Shape;492;p53"/>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493" name="Google Shape;493;p53"/>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494" name="Google Shape;494;p53"/>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495" name="Google Shape;495;p53"/>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496" name="Google Shape;496;p53"/>
          <p:cNvSpPr txBox="1"/>
          <p:nvPr/>
        </p:nvSpPr>
        <p:spPr>
          <a:xfrm>
            <a:off x="0" y="369775"/>
            <a:ext cx="29223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Iterar sobre un dataframe</a:t>
            </a:r>
            <a:endParaRPr b="1">
              <a:solidFill>
                <a:schemeClr val="dk1"/>
              </a:solidFill>
            </a:endParaRPr>
          </a:p>
          <a:p>
            <a:pPr indent="0" lvl="0" marL="0" rtl="0" algn="ctr">
              <a:spcBef>
                <a:spcPts val="0"/>
              </a:spcBef>
              <a:spcAft>
                <a:spcPts val="0"/>
              </a:spcAft>
              <a:buNone/>
            </a:pPr>
            <a:r>
              <a:t/>
            </a:r>
            <a:endParaRPr b="1">
              <a:solidFill>
                <a:schemeClr val="dk1"/>
              </a:solidFill>
            </a:endParaRPr>
          </a:p>
        </p:txBody>
      </p:sp>
      <p:sp>
        <p:nvSpPr>
          <p:cNvPr id="497" name="Google Shape;497;p53"/>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44319" lvl="0" marL="431999" rtl="0" algn="l">
              <a:spcBef>
                <a:spcPts val="0"/>
              </a:spcBef>
              <a:spcAft>
                <a:spcPts val="0"/>
              </a:spcAft>
              <a:buClr>
                <a:schemeClr val="dk1"/>
              </a:buClr>
              <a:buSzPts val="1400"/>
              <a:buFont typeface="Noto Sans Symbols"/>
              <a:buChar char="●"/>
            </a:pPr>
            <a:r>
              <a:rPr lang="en-US">
                <a:solidFill>
                  <a:schemeClr val="dk1"/>
                </a:solidFill>
              </a:rPr>
              <a:t>Claramente, es muy tentador iterar sobre estas estructuras que acabamos de explicar. La manera correcta es mediante un for loop y el método “iterrows”.</a:t>
            </a:r>
            <a:endParaRPr>
              <a:solidFill>
                <a:schemeClr val="dk1"/>
              </a:solidFill>
            </a:endParaRPr>
          </a:p>
        </p:txBody>
      </p:sp>
      <p:pic>
        <p:nvPicPr>
          <p:cNvPr id="498" name="Google Shape;498;p53"/>
          <p:cNvPicPr preferRelativeResize="0"/>
          <p:nvPr/>
        </p:nvPicPr>
        <p:blipFill rotWithShape="1">
          <a:blip r:embed="rId4">
            <a:alphaModFix/>
          </a:blip>
          <a:srcRect b="0" l="0" r="0" t="0"/>
          <a:stretch/>
        </p:blipFill>
        <p:spPr>
          <a:xfrm rot="9600">
            <a:off x="93412" y="1805368"/>
            <a:ext cx="4436925" cy="1107115"/>
          </a:xfrm>
          <a:prstGeom prst="rect">
            <a:avLst/>
          </a:prstGeom>
          <a:noFill/>
          <a:ln>
            <a:noFill/>
          </a:ln>
        </p:spPr>
      </p:pic>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4"/>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504" name="Google Shape;504;p54"/>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505" name="Google Shape;505;p54"/>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506" name="Google Shape;506;p54"/>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507" name="Google Shape;507;p54"/>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508" name="Google Shape;508;p54"/>
          <p:cNvSpPr txBox="1"/>
          <p:nvPr/>
        </p:nvSpPr>
        <p:spPr>
          <a:xfrm>
            <a:off x="0" y="358275"/>
            <a:ext cx="24279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Iterar sobre un dataframe</a:t>
            </a:r>
            <a:endParaRPr b="1">
              <a:solidFill>
                <a:schemeClr val="dk1"/>
              </a:solidFill>
            </a:endParaRPr>
          </a:p>
        </p:txBody>
      </p:sp>
      <p:sp>
        <p:nvSpPr>
          <p:cNvPr id="509" name="Google Shape;509;p54"/>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oto Sans Symbols"/>
              <a:buChar char="●"/>
            </a:pPr>
            <a:r>
              <a:rPr lang="en-US">
                <a:solidFill>
                  <a:schemeClr val="dk1"/>
                </a:solidFill>
              </a:rPr>
              <a:t>Qué se puede notar aca? Que para iterar sobre un dataframe hay que involucrar al ÍNDICE. Ya que se va iterando sobre el índice.</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Qué pasa si reordenamos/manipulamos el df de tal manera de que los índices se repiten, faltan, cambian de orden?</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La iteración falla.</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¿Cómo podríamos resolver este potencial problema?</a:t>
            </a:r>
            <a:endParaRPr>
              <a:solidFill>
                <a:schemeClr val="dk1"/>
              </a:solidFill>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5"/>
          <p:cNvSpPr txBox="1"/>
          <p:nvPr/>
        </p:nvSpPr>
        <p:spPr>
          <a:xfrm>
            <a:off x="1129651" y="1618700"/>
            <a:ext cx="3231600" cy="1962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200"/>
              <a:buFont typeface="Arial"/>
              <a:buNone/>
            </a:pPr>
            <a:r>
              <a:rPr lang="en-US" sz="1200">
                <a:solidFill>
                  <a:srgbClr val="F4F2ED"/>
                </a:solidFill>
                <a:latin typeface="Calibri"/>
                <a:ea typeface="Calibri"/>
                <a:cs typeface="Calibri"/>
                <a:sym typeface="Calibri"/>
              </a:rPr>
              <a:t>PANDAS - JOINS/OPERACIONES BOOLEANAS</a:t>
            </a:r>
            <a:endParaRPr b="0" i="0" sz="1200" u="none" cap="none" strike="noStrike">
              <a:solidFill>
                <a:srgbClr val="000000"/>
              </a:solidFill>
              <a:latin typeface="Calibri"/>
              <a:ea typeface="Calibri"/>
              <a:cs typeface="Calibri"/>
              <a:sym typeface="Calibri"/>
            </a:endParaRPr>
          </a:p>
        </p:txBody>
      </p:sp>
      <p:grpSp>
        <p:nvGrpSpPr>
          <p:cNvPr id="515" name="Google Shape;515;p55"/>
          <p:cNvGrpSpPr/>
          <p:nvPr/>
        </p:nvGrpSpPr>
        <p:grpSpPr>
          <a:xfrm>
            <a:off x="1139819" y="1816646"/>
            <a:ext cx="2340610" cy="25400"/>
            <a:chOff x="1133919" y="1515833"/>
            <a:chExt cx="2340610" cy="25400"/>
          </a:xfrm>
        </p:grpSpPr>
        <p:sp>
          <p:nvSpPr>
            <p:cNvPr id="516" name="Google Shape;516;p55"/>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5"/>
            <p:cNvSpPr/>
            <p:nvPr/>
          </p:nvSpPr>
          <p:spPr>
            <a:xfrm>
              <a:off x="1133919" y="1515833"/>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9525">
              <a:solidFill>
                <a:srgbClr val="F4F2ED"/>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5"/>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006DBF"/>
            </a:solidFill>
            <a:ln>
              <a:noFill/>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5"/>
            <p:cNvSpPr/>
            <p:nvPr/>
          </p:nvSpPr>
          <p:spPr>
            <a:xfrm>
              <a:off x="1133919" y="1515833"/>
              <a:ext cx="305434" cy="25400"/>
            </a:xfrm>
            <a:custGeom>
              <a:rect b="b" l="l" r="r" t="t"/>
              <a:pathLst>
                <a:path extrusionOk="0" h="25400" w="305434">
                  <a:moveTo>
                    <a:pt x="0" y="25305"/>
                  </a:moveTo>
                  <a:lnTo>
                    <a:pt x="0" y="0"/>
                  </a:lnTo>
                  <a:lnTo>
                    <a:pt x="305235" y="0"/>
                  </a:lnTo>
                  <a:lnTo>
                    <a:pt x="305235" y="25305"/>
                  </a:lnTo>
                  <a:lnTo>
                    <a:pt x="0" y="25305"/>
                  </a:lnTo>
                  <a:close/>
                </a:path>
              </a:pathLst>
            </a:custGeom>
            <a:solidFill>
              <a:srgbClr val="FFDC64"/>
            </a:solidFill>
            <a:ln cap="flat" cmpd="sng" w="9525">
              <a:solidFill>
                <a:srgbClr val="FFDC64"/>
              </a:solidFill>
              <a:prstDash val="solid"/>
              <a:round/>
              <a:headEnd len="sm" w="sm" type="none"/>
              <a:tailEnd len="sm" w="sm" type="none"/>
            </a:ln>
            <a:effectLst>
              <a:outerShdw blurRad="57150" rotWithShape="0" algn="bl" dir="5400000" dist="19050">
                <a:srgbClr val="000000">
                  <a:alpha val="50199"/>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6"/>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525" name="Google Shape;525;p56"/>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526" name="Google Shape;526;p56"/>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527" name="Google Shape;527;p56"/>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528" name="Google Shape;528;p56"/>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529" name="Google Shape;529;p56"/>
          <p:cNvSpPr txBox="1"/>
          <p:nvPr/>
        </p:nvSpPr>
        <p:spPr>
          <a:xfrm>
            <a:off x="0" y="358275"/>
            <a:ext cx="8829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Joins</a:t>
            </a:r>
            <a:endParaRPr b="1">
              <a:solidFill>
                <a:schemeClr val="dk1"/>
              </a:solidFill>
            </a:endParaRPr>
          </a:p>
        </p:txBody>
      </p:sp>
      <p:sp>
        <p:nvSpPr>
          <p:cNvPr id="530" name="Google Shape;530;p56"/>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oto Sans Symbols"/>
              <a:buChar char="●"/>
            </a:pPr>
            <a:r>
              <a:rPr b="1" lang="en-US">
                <a:solidFill>
                  <a:schemeClr val="dk1"/>
                </a:solidFill>
              </a:rPr>
              <a:t>Inner join</a:t>
            </a:r>
            <a:r>
              <a:rPr lang="en-US">
                <a:solidFill>
                  <a:schemeClr val="dk1"/>
                </a:solidFill>
              </a:rPr>
              <a:t>: pd.merge(df1, df2, on="key"). Siendo df1 y df2 los 2 dataframes a joinear y “key” el campo por medio del cual se va a realizar el join</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b="1" lang="en-US">
                <a:solidFill>
                  <a:schemeClr val="dk1"/>
                </a:solidFill>
              </a:rPr>
              <a:t>Left Join</a:t>
            </a:r>
            <a:r>
              <a:rPr lang="en-US">
                <a:solidFill>
                  <a:schemeClr val="dk1"/>
                </a:solidFill>
              </a:rPr>
              <a:t>: pd.merge(df1, df2, on="key", how="left")</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b="1" lang="en-US">
                <a:solidFill>
                  <a:schemeClr val="dk1"/>
                </a:solidFill>
              </a:rPr>
              <a:t>Right Join</a:t>
            </a:r>
            <a:r>
              <a:rPr lang="en-US">
                <a:solidFill>
                  <a:schemeClr val="dk1"/>
                </a:solidFill>
              </a:rPr>
              <a:t>: pd.merge(df1, df2, on="key", how="right")</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b="1" lang="en-US">
                <a:solidFill>
                  <a:schemeClr val="dk1"/>
                </a:solidFill>
              </a:rPr>
              <a:t>Outer Join</a:t>
            </a:r>
            <a:r>
              <a:rPr lang="en-US">
                <a:solidFill>
                  <a:schemeClr val="dk1"/>
                </a:solidFill>
              </a:rPr>
              <a:t>: pd.merge(df1, df2, on="key", how="outer")</a:t>
            </a:r>
            <a:endParaRPr>
              <a:solidFill>
                <a:schemeClr val="dk1"/>
              </a:solidFill>
            </a:endParaRPr>
          </a:p>
        </p:txBody>
      </p:sp>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7"/>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536" name="Google Shape;536;p57"/>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537" name="Google Shape;537;p57"/>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538" name="Google Shape;538;p57"/>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539" name="Google Shape;539;p57"/>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540" name="Google Shape;540;p57"/>
          <p:cNvSpPr txBox="1"/>
          <p:nvPr/>
        </p:nvSpPr>
        <p:spPr>
          <a:xfrm>
            <a:off x="0" y="358275"/>
            <a:ext cx="8829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Union</a:t>
            </a:r>
            <a:endParaRPr b="1">
              <a:solidFill>
                <a:schemeClr val="dk1"/>
              </a:solidFill>
            </a:endParaRPr>
          </a:p>
        </p:txBody>
      </p:sp>
      <p:sp>
        <p:nvSpPr>
          <p:cNvPr id="541" name="Google Shape;541;p57"/>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oto Sans Symbols"/>
              <a:buChar char="●"/>
            </a:pPr>
            <a:r>
              <a:rPr lang="en-US">
                <a:solidFill>
                  <a:schemeClr val="dk1"/>
                </a:solidFill>
              </a:rPr>
              <a:t>Dentro de las operaciones booleanas vistas en la última clase, podremos replicar la union mediante el “concat”. Dados 2 dataframes:</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pd.concat([df1, df2]) realiza la unión entre ambos.</a:t>
            </a:r>
            <a:endParaRPr b="1">
              <a:solidFill>
                <a:schemeClr val="dk1"/>
              </a:solidFill>
            </a:endParaRPr>
          </a:p>
        </p:txBody>
      </p:sp>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8"/>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547" name="Google Shape;547;p58"/>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548" name="Google Shape;548;p58"/>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549" name="Google Shape;549;p58"/>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550" name="Google Shape;550;p58"/>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551" name="Google Shape;551;p58"/>
          <p:cNvSpPr txBox="1"/>
          <p:nvPr/>
        </p:nvSpPr>
        <p:spPr>
          <a:xfrm>
            <a:off x="0" y="358275"/>
            <a:ext cx="10593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Ejercicios</a:t>
            </a:r>
            <a:endParaRPr b="1">
              <a:solidFill>
                <a:schemeClr val="dk1"/>
              </a:solidFill>
            </a:endParaRPr>
          </a:p>
        </p:txBody>
      </p:sp>
      <p:sp>
        <p:nvSpPr>
          <p:cNvPr id="552" name="Google Shape;552;p58"/>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oto Sans Symbols"/>
              <a:buChar char="●"/>
            </a:pPr>
            <a:r>
              <a:rPr lang="en-US">
                <a:solidFill>
                  <a:schemeClr val="dk1"/>
                </a:solidFill>
              </a:rPr>
              <a:t>Realizar una función que efectúe una intersección entre 2 dataframes y otra que efectúe una excepción. </a:t>
            </a:r>
            <a:endParaRPr>
              <a:solidFill>
                <a:schemeClr val="dk1"/>
              </a:solidFill>
            </a:endParaRPr>
          </a:p>
          <a:p>
            <a:pPr indent="-317500" lvl="0" marL="457200" rtl="0" algn="l">
              <a:spcBef>
                <a:spcPts val="0"/>
              </a:spcBef>
              <a:spcAft>
                <a:spcPts val="0"/>
              </a:spcAft>
              <a:buClr>
                <a:schemeClr val="dk1"/>
              </a:buClr>
              <a:buSzPts val="1400"/>
              <a:buFont typeface="Noto Sans Symbols"/>
              <a:buChar char="●"/>
            </a:pPr>
            <a:r>
              <a:rPr lang="en-US">
                <a:solidFill>
                  <a:schemeClr val="dk1"/>
                </a:solidFill>
              </a:rPr>
              <a:t>Realizar un inner join, un outer join, un left join y un right join usando las tablas “customers” y “orders”, usando como clave de join ¿Qué atributo debiéramos usar para joinear ambas tablas?</a:t>
            </a:r>
            <a:endParaRPr>
              <a:solidFill>
                <a:schemeClr val="dk1"/>
              </a:solidFill>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9"/>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558" name="Google Shape;558;p59"/>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559" name="Google Shape;559;p59"/>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560" name="Google Shape;560;p59"/>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561" name="Google Shape;561;p59"/>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562" name="Google Shape;562;p59"/>
          <p:cNvSpPr txBox="1"/>
          <p:nvPr/>
        </p:nvSpPr>
        <p:spPr>
          <a:xfrm>
            <a:off x="0" y="358275"/>
            <a:ext cx="34290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Pandas en la labor de un D. Analyst</a:t>
            </a:r>
            <a:endParaRPr b="1">
              <a:solidFill>
                <a:schemeClr val="dk1"/>
              </a:solidFill>
            </a:endParaRPr>
          </a:p>
        </p:txBody>
      </p:sp>
      <p:sp>
        <p:nvSpPr>
          <p:cNvPr id="563" name="Google Shape;563;p59"/>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oto Sans Symbols"/>
              <a:buChar char="●"/>
            </a:pPr>
            <a:r>
              <a:rPr lang="en-US">
                <a:solidFill>
                  <a:schemeClr val="dk1"/>
                </a:solidFill>
              </a:rPr>
              <a:t>Pandas es una herramienta excelente para LIMPIEZA Y MANIPULACIÓN de datasets.</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Puede “reemplazar” a SQL si no estás muy ducho</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Tiene ciertos módulos orientados a graficar datos, lo que ayuda a la hora de generar reportes.</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En combinación con numpy, se pueden generar datasets de entrenamiento para modelos de ML </a:t>
            </a:r>
            <a:endParaRPr>
              <a:solidFill>
                <a:schemeClr val="dk1"/>
              </a:solidFill>
            </a:endParaRPr>
          </a:p>
          <a:p>
            <a:pPr indent="-317500" lvl="0" marL="457200" rtl="0" algn="l">
              <a:spcBef>
                <a:spcPts val="0"/>
              </a:spcBef>
              <a:spcAft>
                <a:spcPts val="0"/>
              </a:spcAft>
              <a:buClr>
                <a:schemeClr val="dk1"/>
              </a:buClr>
              <a:buSzPts val="1400"/>
              <a:buChar char="●"/>
            </a:pPr>
            <a:r>
              <a:t/>
            </a:r>
            <a:endParaRPr>
              <a:solidFill>
                <a:schemeClr val="dk1"/>
              </a:solidFill>
            </a:endParaRPr>
          </a:p>
        </p:txBody>
      </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0"/>
          <p:cNvSpPr txBox="1"/>
          <p:nvPr/>
        </p:nvSpPr>
        <p:spPr>
          <a:xfrm>
            <a:off x="91500" y="3193259"/>
            <a:ext cx="548700" cy="95400"/>
          </a:xfrm>
          <a:prstGeom prst="rect">
            <a:avLst/>
          </a:prstGeom>
          <a:noFill/>
          <a:ln>
            <a:noFill/>
          </a:ln>
        </p:spPr>
        <p:txBody>
          <a:bodyPr anchorCtr="0" anchor="t" bIns="0" lIns="0" spcFirstLastPara="1" rIns="0" wrap="square" tIns="18400">
            <a:spAutoFit/>
          </a:bodyPr>
          <a:lstStyle/>
          <a:p>
            <a:pPr indent="0" lvl="0" marL="1270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Times New Roman"/>
              <a:ea typeface="Times New Roman"/>
              <a:cs typeface="Times New Roman"/>
              <a:sym typeface="Times New Roman"/>
            </a:endParaRPr>
          </a:p>
        </p:txBody>
      </p:sp>
      <p:sp>
        <p:nvSpPr>
          <p:cNvPr id="569" name="Google Shape;569;p60"/>
          <p:cNvSpPr txBox="1"/>
          <p:nvPr>
            <p:ph idx="12" type="sldNum"/>
          </p:nvPr>
        </p:nvSpPr>
        <p:spPr>
          <a:xfrm>
            <a:off x="4398632" y="3341884"/>
            <a:ext cx="152400" cy="95400"/>
          </a:xfrm>
          <a:prstGeom prst="rect">
            <a:avLst/>
          </a:prstGeom>
          <a:noFill/>
          <a:ln>
            <a:noFill/>
          </a:ln>
        </p:spPr>
        <p:txBody>
          <a:bodyPr anchorCtr="0" anchor="t" bIns="0" lIns="0" spcFirstLastPara="1" rIns="0" wrap="square" tIns="18400">
            <a:spAutoFit/>
          </a:bodyPr>
          <a:lstStyle/>
          <a:p>
            <a:pPr indent="0" lvl="0" marL="69215" rtl="0" algn="r">
              <a:lnSpc>
                <a:spcPct val="100000"/>
              </a:lnSpc>
              <a:spcBef>
                <a:spcPts val="0"/>
              </a:spcBef>
              <a:spcAft>
                <a:spcPts val="0"/>
              </a:spcAft>
              <a:buClr>
                <a:srgbClr val="000000"/>
              </a:buClr>
              <a:buSzPts val="500"/>
              <a:buFont typeface="Arial"/>
              <a:buNone/>
            </a:pPr>
            <a:fld id="{00000000-1234-1234-1234-123412341234}" type="slidenum">
              <a:rPr lang="en-US"/>
              <a:t>‹#›</a:t>
            </a:fld>
            <a:endParaRPr sz="600">
              <a:solidFill>
                <a:schemeClr val="dk2"/>
              </a:solidFill>
              <a:latin typeface="Arial"/>
              <a:ea typeface="Arial"/>
              <a:cs typeface="Arial"/>
              <a:sym typeface="Arial"/>
            </a:endParaRPr>
          </a:p>
        </p:txBody>
      </p:sp>
      <p:sp>
        <p:nvSpPr>
          <p:cNvPr id="570" name="Google Shape;570;p60"/>
          <p:cNvSpPr/>
          <p:nvPr/>
        </p:nvSpPr>
        <p:spPr>
          <a:xfrm>
            <a:off x="0" y="0"/>
            <a:ext cx="4610100" cy="344400"/>
          </a:xfrm>
          <a:prstGeom prst="rect">
            <a:avLst/>
          </a:prstGeom>
          <a:solidFill>
            <a:srgbClr val="FFD96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rgbClr val="FFFFFF"/>
              </a:solidFill>
              <a:latin typeface="Calibri"/>
              <a:ea typeface="Calibri"/>
              <a:cs typeface="Calibri"/>
              <a:sym typeface="Calibri"/>
            </a:endParaRPr>
          </a:p>
        </p:txBody>
      </p:sp>
      <p:pic>
        <p:nvPicPr>
          <p:cNvPr descr="di_tella2.png" id="571" name="Google Shape;571;p60"/>
          <p:cNvPicPr preferRelativeResize="0"/>
          <p:nvPr/>
        </p:nvPicPr>
        <p:blipFill rotWithShape="1">
          <a:blip r:embed="rId3">
            <a:alphaModFix/>
          </a:blip>
          <a:srcRect b="0" l="0" r="0" t="0"/>
          <a:stretch/>
        </p:blipFill>
        <p:spPr>
          <a:xfrm>
            <a:off x="4061400" y="1961"/>
            <a:ext cx="548700" cy="340488"/>
          </a:xfrm>
          <a:prstGeom prst="rect">
            <a:avLst/>
          </a:prstGeom>
          <a:noFill/>
          <a:ln>
            <a:noFill/>
          </a:ln>
        </p:spPr>
      </p:pic>
      <p:sp>
        <p:nvSpPr>
          <p:cNvPr id="572" name="Google Shape;572;p60"/>
          <p:cNvSpPr txBox="1"/>
          <p:nvPr/>
        </p:nvSpPr>
        <p:spPr>
          <a:xfrm>
            <a:off x="0" y="111525"/>
            <a:ext cx="4001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200" u="none" cap="none" strike="noStrike">
                <a:solidFill>
                  <a:srgbClr val="2D2D2D"/>
                </a:solidFill>
                <a:latin typeface="Calibri"/>
                <a:ea typeface="Calibri"/>
                <a:cs typeface="Calibri"/>
                <a:sym typeface="Calibri"/>
              </a:rPr>
              <a:t>Métodos Analíticos y Programación</a:t>
            </a:r>
            <a:endParaRPr b="0" i="0" sz="800" u="none" cap="none" strike="noStrike">
              <a:solidFill>
                <a:srgbClr val="000000"/>
              </a:solidFill>
              <a:latin typeface="Arial"/>
              <a:ea typeface="Arial"/>
              <a:cs typeface="Arial"/>
              <a:sym typeface="Arial"/>
            </a:endParaRPr>
          </a:p>
        </p:txBody>
      </p:sp>
      <p:sp>
        <p:nvSpPr>
          <p:cNvPr id="573" name="Google Shape;573;p60"/>
          <p:cNvSpPr txBox="1"/>
          <p:nvPr/>
        </p:nvSpPr>
        <p:spPr>
          <a:xfrm>
            <a:off x="0" y="358275"/>
            <a:ext cx="3429000" cy="34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a:solidFill>
                  <a:schemeClr val="dk1"/>
                </a:solidFill>
              </a:rPr>
              <a:t>Pandas en la labor de un D. Engineer</a:t>
            </a:r>
            <a:endParaRPr b="1">
              <a:solidFill>
                <a:schemeClr val="dk1"/>
              </a:solidFill>
            </a:endParaRPr>
          </a:p>
        </p:txBody>
      </p:sp>
      <p:sp>
        <p:nvSpPr>
          <p:cNvPr id="574" name="Google Shape;574;p60"/>
          <p:cNvSpPr txBox="1"/>
          <p:nvPr/>
        </p:nvSpPr>
        <p:spPr>
          <a:xfrm>
            <a:off x="-120875" y="716550"/>
            <a:ext cx="4671900" cy="2251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oto Sans Symbols"/>
              <a:buChar char="●"/>
            </a:pPr>
            <a:r>
              <a:rPr lang="en-US">
                <a:solidFill>
                  <a:schemeClr val="dk1"/>
                </a:solidFill>
              </a:rPr>
              <a:t>Los dataframes son estructuras de datos con un considerable peso. Si se están manipulando volúmenes grandes (o el procesador de la VM donde corre el script es pequeño) puede resultar inconveniente.</a:t>
            </a:r>
            <a:endParaRPr>
              <a:solidFill>
                <a:schemeClr val="dk1"/>
              </a:solidFill>
            </a:endParaRPr>
          </a:p>
          <a:p>
            <a:pPr indent="-317500" lvl="0" marL="457200" rtl="0" algn="l">
              <a:spcBef>
                <a:spcPts val="1060"/>
              </a:spcBef>
              <a:spcAft>
                <a:spcPts val="0"/>
              </a:spcAft>
              <a:buClr>
                <a:schemeClr val="dk1"/>
              </a:buClr>
              <a:buSzPts val="1400"/>
              <a:buFont typeface="Noto Sans Symbols"/>
              <a:buChar char="●"/>
            </a:pPr>
            <a:r>
              <a:rPr lang="en-US">
                <a:solidFill>
                  <a:schemeClr val="dk1"/>
                </a:solidFill>
              </a:rPr>
              <a:t>Si el job es más bien mediano/pequeño y se lo combina con drivers de SGBD (psycopg2, oraclegx, etc); es adecuado usarlo para jobs de ETL/ELT.</a:t>
            </a:r>
            <a:endParaRPr>
              <a:solidFill>
                <a:schemeClr val="dk1"/>
              </a:solidFill>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