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315792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47400" y="665280"/>
            <a:ext cx="379368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420A5D-A563-40CD-AC6D-099D749BF7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4EEEBAF-1C17-4DB7-B4CE-84DBADE22CE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822BC7-0E96-49E2-B7E1-4501736BC3A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C1F8DC-4347-45AA-9EC7-4ED40058282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CB2E67D-F1BC-4E6F-BDF6-1A8BA69D3D9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363755F-730C-4A86-80BE-4FA323B7600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31EED6A-7410-4B2A-A7A6-53DD5647B90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1707929-84E6-44B7-8A52-67823C2738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7C90B18-2A27-4F78-9FA9-D2AC4980A9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BEA9A88-CC21-4046-9D08-8D00419583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315792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47400" y="665280"/>
            <a:ext cx="379368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27499316-C101-481C-951D-A41A22108690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7B87847-FBFA-4249-9AF3-7D902D228715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315792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47400" y="665280"/>
            <a:ext cx="379368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A975F27-C248-4FB8-8C0F-6D61ADE6AC9F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315792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47400" y="665280"/>
            <a:ext cx="18511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2291400" y="665280"/>
            <a:ext cx="18511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F0318B01-7D19-4FA0-BEC1-44248AF40DE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315792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8DF5E29-24F5-4A38-942E-91AB52C213D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315792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47400" y="665280"/>
            <a:ext cx="379368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1567440" y="3218400"/>
            <a:ext cx="1474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230400" y="3218400"/>
            <a:ext cx="105984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4398480" y="3341880"/>
            <a:ext cx="151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9120" indent="0" algn="r">
              <a:lnSpc>
                <a:spcPct val="100000"/>
              </a:lnSpc>
              <a:buNone/>
              <a:tabLst>
                <a:tab algn="l" pos="0"/>
              </a:tabLst>
              <a:def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defRPr>
            </a:lvl1pPr>
          </a:lstStyle>
          <a:p>
            <a:pPr marL="69120" indent="0" algn="r">
              <a:lnSpc>
                <a:spcPct val="100000"/>
              </a:lnSpc>
              <a:buNone/>
              <a:tabLst>
                <a:tab algn="l" pos="0"/>
              </a:tabLst>
            </a:pPr>
            <a:fld id="{05E4E60A-C04E-4EDD-9DC9-13102AFE4204}" type="slidenum">
              <a: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rPr>
              <a:t>&lt;number&gt;</a:t>
            </a:fld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Google Shape;15;p2"/>
          <p:cNvSpPr/>
          <p:nvPr/>
        </p:nvSpPr>
        <p:spPr>
          <a:xfrm flipH="1" rot="10800000">
            <a:off x="-8640" y="3176640"/>
            <a:ext cx="4626360" cy="165240"/>
          </a:xfrm>
          <a:prstGeom prst="rect">
            <a:avLst/>
          </a:prstGeom>
          <a:solidFill>
            <a:srgbClr val="2d2d2d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Google Shape;16;p2"/>
          <p:cNvSpPr/>
          <p:nvPr/>
        </p:nvSpPr>
        <p:spPr>
          <a:xfrm>
            <a:off x="76320" y="3200760"/>
            <a:ext cx="800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836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Calibri"/>
                <a:ea typeface="Calibri"/>
              </a:rPr>
              <a:t>Pablo J Piccoli Bornia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7320" y="373680"/>
            <a:ext cx="1415520" cy="50832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b">
            <a:normAutofit/>
          </a:bodyPr>
          <a:p>
            <a:pPr indent="0"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57320" y="934920"/>
            <a:ext cx="1415520" cy="213912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 fontScale="1142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4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BE8DE2-0E9C-42B3-BCB2-E08C5CD90751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7320" y="302760"/>
            <a:ext cx="3210120" cy="27522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p>
            <a:pPr indent="0">
              <a:buNone/>
            </a:pPr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B44CB2-AF1F-41F5-9D1C-C5BE25762BA0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5;p13"/>
          <p:cNvSpPr/>
          <p:nvPr/>
        </p:nvSpPr>
        <p:spPr>
          <a:xfrm>
            <a:off x="2305080" y="0"/>
            <a:ext cx="2304720" cy="3460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1120" rIns="51120" tIns="51120" bIns="51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33920" y="829800"/>
            <a:ext cx="2039040" cy="9972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b">
            <a:normAutofit fontScale="96628" lnSpcReduction="20000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490480" y="487080"/>
            <a:ext cx="1933920" cy="24858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 fontScale="2498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6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FF29A4-866E-4AED-91EB-346D15F6E188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157320" y="2846520"/>
            <a:ext cx="3024000" cy="4068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 fontScale="299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4685B9-A9E4-4CD5-A665-D5F8B9F34A22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7320" y="744120"/>
            <a:ext cx="4295520" cy="132084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67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6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57320" y="2121120"/>
            <a:ext cx="4295520" cy="8748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 fontScale="36976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980422-FD66-460B-85A0-CCF04DD2FD8F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9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129A31-4BE7-46D7-AE6D-C6D8EEB7615C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3"/>
          <p:cNvSpPr/>
          <p:nvPr/>
        </p:nvSpPr>
        <p:spPr>
          <a:xfrm>
            <a:off x="0" y="0"/>
            <a:ext cx="4608000" cy="345600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456000"/>
              <a:gd name="textAreaBottom" fmla="*/ 3456360 h 3456000"/>
            </a:gdLst>
            <a:ahLst/>
            <a:rect l="textAreaLeft" t="textAreaTop" r="textAreaRight" b="textAreaBottom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ftr" idx="10"/>
          </p:nvPr>
        </p:nvSpPr>
        <p:spPr>
          <a:xfrm>
            <a:off x="1567440" y="3218400"/>
            <a:ext cx="1474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1"/>
          </p:nvPr>
        </p:nvSpPr>
        <p:spPr>
          <a:xfrm>
            <a:off x="230400" y="3218400"/>
            <a:ext cx="105984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2"/>
          </p:nvPr>
        </p:nvSpPr>
        <p:spPr>
          <a:xfrm>
            <a:off x="4398480" y="3341880"/>
            <a:ext cx="151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9120" indent="0" algn="r">
              <a:lnSpc>
                <a:spcPct val="100000"/>
              </a:lnSpc>
              <a:buNone/>
              <a:tabLst>
                <a:tab algn="l" pos="0"/>
              </a:tabLst>
              <a:def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defRPr>
            </a:lvl1pPr>
          </a:lstStyle>
          <a:p>
            <a:pPr marL="69120" indent="0" algn="r">
              <a:lnSpc>
                <a:spcPct val="100000"/>
              </a:lnSpc>
              <a:buNone/>
              <a:tabLst>
                <a:tab algn="l" pos="0"/>
              </a:tabLst>
            </a:pPr>
            <a:fld id="{C5882BE7-E2AA-47B5-BE4E-FAE350E1D8E3}" type="slidenum">
              <a: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rPr>
              <a:t>&lt;number&gt;</a:t>
            </a:fld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Google Shape;22;p3"/>
          <p:cNvSpPr/>
          <p:nvPr/>
        </p:nvSpPr>
        <p:spPr>
          <a:xfrm flipH="1" rot="10800000">
            <a:off x="-8640" y="3176640"/>
            <a:ext cx="4626360" cy="165240"/>
          </a:xfrm>
          <a:prstGeom prst="rect">
            <a:avLst/>
          </a:prstGeom>
          <a:solidFill>
            <a:srgbClr val="2d2d2d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Google Shape;23;p3"/>
          <p:cNvSpPr/>
          <p:nvPr/>
        </p:nvSpPr>
        <p:spPr>
          <a:xfrm>
            <a:off x="76320" y="3200760"/>
            <a:ext cx="800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836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Calibri"/>
                <a:ea typeface="Calibri"/>
              </a:rPr>
              <a:t>Pablo J Piccoli Bornia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8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73620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ftr" idx="13"/>
          </p:nvPr>
        </p:nvSpPr>
        <p:spPr>
          <a:xfrm>
            <a:off x="1567440" y="3218400"/>
            <a:ext cx="1474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4"/>
          </p:nvPr>
        </p:nvSpPr>
        <p:spPr>
          <a:xfrm>
            <a:off x="230400" y="3218400"/>
            <a:ext cx="105984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15"/>
          </p:nvPr>
        </p:nvSpPr>
        <p:spPr>
          <a:xfrm>
            <a:off x="4398480" y="3341880"/>
            <a:ext cx="151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9120" indent="0" algn="r">
              <a:lnSpc>
                <a:spcPct val="100000"/>
              </a:lnSpc>
              <a:buNone/>
              <a:tabLst>
                <a:tab algn="l" pos="0"/>
              </a:tabLst>
              <a:def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defRPr>
            </a:lvl1pPr>
          </a:lstStyle>
          <a:p>
            <a:pPr marL="69120" indent="0" algn="r">
              <a:lnSpc>
                <a:spcPct val="100000"/>
              </a:lnSpc>
              <a:buNone/>
              <a:tabLst>
                <a:tab algn="l" pos="0"/>
              </a:tabLst>
            </a:pPr>
            <a:fld id="{CB38039C-A621-4BDB-9A38-F4B088DD24B9}" type="slidenum">
              <a: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rPr>
              <a:t>&lt;number&gt;</a:t>
            </a:fld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1;p5"/>
          <p:cNvSpPr/>
          <p:nvPr/>
        </p:nvSpPr>
        <p:spPr>
          <a:xfrm>
            <a:off x="0" y="0"/>
            <a:ext cx="4608000" cy="345600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456000"/>
              <a:gd name="textAreaBottom" fmla="*/ 3456360 h 3456000"/>
            </a:gdLst>
            <a:ahLst/>
            <a:rect l="textAreaLeft" t="textAreaTop" r="textAreaRight" b="textAreaBottom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5400" y="18360"/>
            <a:ext cx="315792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16"/>
          </p:nvPr>
        </p:nvSpPr>
        <p:spPr>
          <a:xfrm>
            <a:off x="1567440" y="3218400"/>
            <a:ext cx="1474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7"/>
          </p:nvPr>
        </p:nvSpPr>
        <p:spPr>
          <a:xfrm>
            <a:off x="230400" y="3218400"/>
            <a:ext cx="105984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8"/>
          </p:nvPr>
        </p:nvSpPr>
        <p:spPr>
          <a:xfrm>
            <a:off x="4398480" y="3341880"/>
            <a:ext cx="151920" cy="200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69120" indent="0" algn="r">
              <a:lnSpc>
                <a:spcPct val="100000"/>
              </a:lnSpc>
              <a:buNone/>
              <a:tabLst>
                <a:tab algn="l" pos="0"/>
              </a:tabLst>
              <a:def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defRPr>
            </a:lvl1pPr>
          </a:lstStyle>
          <a:p>
            <a:pPr marL="69120" indent="0" algn="r">
              <a:lnSpc>
                <a:spcPct val="100000"/>
              </a:lnSpc>
              <a:buNone/>
              <a:tabLst>
                <a:tab algn="l" pos="0"/>
              </a:tabLst>
            </a:pPr>
            <a:fld id="{D89A5455-BD16-4C99-A067-02B71C8E6784}" type="slidenum">
              <a:rPr b="0" lang="en-US" sz="500" spc="-1" strike="noStrike">
                <a:solidFill>
                  <a:schemeClr val="dk2"/>
                </a:solidFill>
                <a:latin typeface="Times New Roman"/>
                <a:ea typeface="Times New Roman"/>
              </a:rPr>
              <a:t>&lt;number&gt;</a:t>
            </a:fld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Google Shape;36;p5"/>
          <p:cNvSpPr/>
          <p:nvPr/>
        </p:nvSpPr>
        <p:spPr>
          <a:xfrm flipH="1" rot="10800000">
            <a:off x="-8640" y="3176640"/>
            <a:ext cx="4626360" cy="165240"/>
          </a:xfrm>
          <a:prstGeom prst="rect">
            <a:avLst/>
          </a:prstGeom>
          <a:solidFill>
            <a:srgbClr val="2d2d2d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Google Shape;37;p5"/>
          <p:cNvSpPr/>
          <p:nvPr/>
        </p:nvSpPr>
        <p:spPr>
          <a:xfrm>
            <a:off x="76320" y="3200760"/>
            <a:ext cx="800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836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Calibri"/>
                <a:ea typeface="Calibri"/>
              </a:rPr>
              <a:t>Pablo J Piccoli Bornia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57320" y="501120"/>
            <a:ext cx="4295520" cy="138096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b">
            <a:normAutofit/>
          </a:bodyPr>
          <a:p>
            <a:pPr indent="0">
              <a:buNone/>
            </a:pPr>
            <a:r>
              <a:rPr b="0" lang="en-US" sz="2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9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7EFF64-FD42-4136-A06C-BA885407BD9C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7320" y="1447200"/>
            <a:ext cx="4295520" cy="56592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0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273C21-4BDA-4E1F-97E6-23383669F609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7320" y="299520"/>
            <a:ext cx="4295520" cy="38484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/>
          </a:bodyPr>
          <a:p>
            <a:pPr indent="0"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57320" y="775440"/>
            <a:ext cx="4295520" cy="229824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1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6D8249-9CF5-4B74-A960-1B2A23E62CCB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7320" y="299520"/>
            <a:ext cx="4295520" cy="38484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/>
          </a:bodyPr>
          <a:p>
            <a:pPr indent="0"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57320" y="775440"/>
            <a:ext cx="2016360" cy="229824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 fontScale="2376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436480" y="775440"/>
            <a:ext cx="2016360" cy="229824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 fontScale="23768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2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AB248E-1974-4A53-8936-A0552D80D869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7320" y="299520"/>
            <a:ext cx="4295520" cy="38484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t">
            <a:normAutofit/>
          </a:bodyPr>
          <a:p>
            <a:pPr indent="0"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23"/>
          </p:nvPr>
        </p:nvSpPr>
        <p:spPr>
          <a:xfrm>
            <a:off x="4271400" y="3137760"/>
            <a:ext cx="276120" cy="264600"/>
          </a:xfrm>
          <a:prstGeom prst="rect">
            <a:avLst/>
          </a:prstGeom>
          <a:noFill/>
          <a:ln w="0">
            <a:noFill/>
          </a:ln>
        </p:spPr>
        <p:txBody>
          <a:bodyPr lIns="51120" rIns="51120" tIns="51120" bIns="511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6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226009-E503-44BE-AE72-4FD03C67FA57}" type="slidenum">
              <a:rPr b="0" lang="en-US" sz="6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ithub.com/python/cpython" TargetMode="External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3;p17"/>
          <p:cNvSpPr/>
          <p:nvPr/>
        </p:nvSpPr>
        <p:spPr>
          <a:xfrm>
            <a:off x="347400" y="2037600"/>
            <a:ext cx="250848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Google Shape;84;p17" descr=""/>
          <p:cNvPicPr/>
          <p:nvPr/>
        </p:nvPicPr>
        <p:blipFill>
          <a:blip r:embed="rId1"/>
          <a:stretch/>
        </p:blipFill>
        <p:spPr>
          <a:xfrm>
            <a:off x="3274920" y="3115440"/>
            <a:ext cx="948240" cy="14544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85;p17"/>
          <p:cNvSpPr/>
          <p:nvPr/>
        </p:nvSpPr>
        <p:spPr>
          <a:xfrm>
            <a:off x="293760" y="939240"/>
            <a:ext cx="291060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d2d2d"/>
                </a:solidFill>
                <a:latin typeface="Calibri"/>
                <a:ea typeface="Calibri"/>
              </a:rPr>
              <a:t>OOP: Programación Orientada a Objetos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86;p17"/>
          <p:cNvSpPr/>
          <p:nvPr/>
        </p:nvSpPr>
        <p:spPr>
          <a:xfrm>
            <a:off x="362520" y="1966680"/>
            <a:ext cx="84960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2d2d"/>
                </a:solidFill>
                <a:latin typeface="Calibri"/>
                <a:ea typeface="Calibri"/>
              </a:rPr>
              <a:t>Profesor: 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87;p17"/>
          <p:cNvSpPr/>
          <p:nvPr/>
        </p:nvSpPr>
        <p:spPr>
          <a:xfrm>
            <a:off x="362520" y="2233080"/>
            <a:ext cx="8496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d2d2d"/>
                </a:solidFill>
                <a:latin typeface="Calibri"/>
                <a:ea typeface="Calibri"/>
              </a:rPr>
              <a:t>Auxiliares: Daniela Longas, M Victoria Tolosa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92;p18"/>
          <p:cNvSpPr/>
          <p:nvPr/>
        </p:nvSpPr>
        <p:spPr>
          <a:xfrm>
            <a:off x="46080" y="442440"/>
            <a:ext cx="13575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Introducción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93;p18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94;p18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oogle Shape;95;p18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96;p18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97;p18"/>
          <p:cNvSpPr/>
          <p:nvPr/>
        </p:nvSpPr>
        <p:spPr>
          <a:xfrm>
            <a:off x="46080" y="886320"/>
            <a:ext cx="4350240" cy="20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Al principio de la materia hablamos que nuestro enfoque sería el paradigma imperativo de la programación.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44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Veremos ahora muy por encima los principios del paradigma de la programación orientada a objetos.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44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Básicamente se trata de “pensar” distinto a la hora de programar. Aunque usaremos la misma herramienta (python language).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44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Aplicar POO en Pytho gira en torno a utilizar 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class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02;p19"/>
          <p:cNvSpPr/>
          <p:nvPr/>
        </p:nvSpPr>
        <p:spPr>
          <a:xfrm>
            <a:off x="1129680" y="1618560"/>
            <a:ext cx="25675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4f2ed"/>
                </a:solidFill>
                <a:latin typeface="Calibri"/>
                <a:ea typeface="Calibri"/>
              </a:rPr>
              <a:t>SOBRE CLASES Y OBJETOS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" name="Google Shape;103;p19"/>
          <p:cNvGrpSpPr/>
          <p:nvPr/>
        </p:nvGrpSpPr>
        <p:grpSpPr>
          <a:xfrm>
            <a:off x="1139760" y="1816560"/>
            <a:ext cx="2340360" cy="25200"/>
            <a:chOff x="1139760" y="1816560"/>
            <a:chExt cx="2340360" cy="25200"/>
          </a:xfrm>
        </p:grpSpPr>
        <p:sp>
          <p:nvSpPr>
            <p:cNvPr id="77" name="Google Shape;104;p19"/>
            <p:cNvSpPr/>
            <p:nvPr/>
          </p:nvSpPr>
          <p:spPr>
            <a:xfrm>
              <a:off x="1139760" y="1816560"/>
              <a:ext cx="2340360" cy="25200"/>
            </a:xfrm>
            <a:custGeom>
              <a:avLst/>
              <a:gdLst>
                <a:gd name="textAreaLeft" fmla="*/ 0 w 2340360"/>
                <a:gd name="textAreaRight" fmla="*/ 2340720 w 234036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Google Shape;105;p19"/>
            <p:cNvSpPr/>
            <p:nvPr/>
          </p:nvSpPr>
          <p:spPr>
            <a:xfrm>
              <a:off x="1139760" y="1816560"/>
              <a:ext cx="2340360" cy="25200"/>
            </a:xfrm>
            <a:custGeom>
              <a:avLst/>
              <a:gdLst>
                <a:gd name="textAreaLeft" fmla="*/ 0 w 2340360"/>
                <a:gd name="textAreaRight" fmla="*/ 2340720 w 234036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9525">
              <a:solidFill>
                <a:srgbClr val="f4f2ed"/>
              </a:solidFill>
              <a:round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Google Shape;106;p19"/>
            <p:cNvSpPr/>
            <p:nvPr/>
          </p:nvSpPr>
          <p:spPr>
            <a:xfrm>
              <a:off x="1139760" y="1816560"/>
              <a:ext cx="304920" cy="2520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305434" h="25400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" name="Google Shape;107;p19"/>
            <p:cNvSpPr/>
            <p:nvPr/>
          </p:nvSpPr>
          <p:spPr>
            <a:xfrm>
              <a:off x="1139760" y="1816560"/>
              <a:ext cx="304920" cy="2520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305434" h="25400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w="9525">
              <a:solidFill>
                <a:srgbClr val="ffdc64"/>
              </a:solidFill>
              <a:round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12;p20"/>
          <p:cNvSpPr/>
          <p:nvPr/>
        </p:nvSpPr>
        <p:spPr>
          <a:xfrm>
            <a:off x="46080" y="442440"/>
            <a:ext cx="13575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Pensemos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13;p20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4;p20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Google Shape;115;p20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116;p20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17;p20"/>
          <p:cNvSpPr/>
          <p:nvPr/>
        </p:nvSpPr>
        <p:spPr>
          <a:xfrm>
            <a:off x="46080" y="770400"/>
            <a:ext cx="4350240" cy="23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Hasta ahora en la materia vimos tipos de datos (string, integer, bool, etc).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Así como también estructuras de datos (dict, list, set, etc).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Si m es un 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diccionario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, tiene sentido decir m.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append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(4)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Si L es una lista, que arojará decir L[‘key’]?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22;p21"/>
          <p:cNvSpPr/>
          <p:nvPr/>
        </p:nvSpPr>
        <p:spPr>
          <a:xfrm>
            <a:off x="46080" y="442440"/>
            <a:ext cx="13575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Pensemos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23;p21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24;p21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Google Shape;125;p21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126;p21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27;p21"/>
          <p:cNvSpPr/>
          <p:nvPr/>
        </p:nvSpPr>
        <p:spPr>
          <a:xfrm>
            <a:off x="46080" y="770400"/>
            <a:ext cx="4350240" cy="241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Recapitulando, las estructuras de datos son TADS, osea, tipos de datos abstractos.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Alguien, en algún momento, codeó lo que significa una lista. Ese alguien codeó también lo que significa append, y dijo que append sólo aplica a listas y no a diccionarios.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Todo esto fue codeado en C y es de código abierto: </a:t>
            </a:r>
            <a:r>
              <a:rPr b="0" lang="en-US" sz="1200" spc="-1" strike="noStrike" u="sng">
                <a:solidFill>
                  <a:schemeClr val="hlink"/>
                </a:solidFill>
                <a:uFillTx/>
                <a:latin typeface="Calibri"/>
                <a:ea typeface="Calibri"/>
                <a:hlinkClick r:id="rId2"/>
              </a:rPr>
              <a:t>https://github.com/python/cpython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132;p22"/>
          <p:cNvSpPr/>
          <p:nvPr/>
        </p:nvSpPr>
        <p:spPr>
          <a:xfrm>
            <a:off x="46080" y="442440"/>
            <a:ext cx="13575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Definamos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33;p22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34;p22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135;p22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136;p22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37;p22"/>
          <p:cNvSpPr/>
          <p:nvPr/>
        </p:nvSpPr>
        <p:spPr>
          <a:xfrm>
            <a:off x="46080" y="770400"/>
            <a:ext cx="4350240" cy="27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Teniendo en cuenta todo esto, se puede decir que una lista o un diccionario son 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clases.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Las acciones concretas asociadas a estas clases (append para listas, add para sets, etc) se las llama 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métodos.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Cuando creamos instancias puntuales de una clase, lo que estamos creando se llama 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objeto.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Ejemplo: si decimos L=[1,2,3], L es un objeto de la clase lista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142;p23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143;p23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Google Shape;144;p23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02" name="Google Shape;145;p23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Google Shape;146;p23" descr=""/>
          <p:cNvPicPr/>
          <p:nvPr/>
        </p:nvPicPr>
        <p:blipFill>
          <a:blip r:embed="rId2"/>
          <a:stretch/>
        </p:blipFill>
        <p:spPr>
          <a:xfrm>
            <a:off x="152280" y="540720"/>
            <a:ext cx="1848960" cy="1922040"/>
          </a:xfrm>
          <a:prstGeom prst="rect">
            <a:avLst/>
          </a:prstGeom>
          <a:ln w="0">
            <a:noFill/>
          </a:ln>
        </p:spPr>
      </p:pic>
      <p:pic>
        <p:nvPicPr>
          <p:cNvPr id="104" name="Google Shape;147;p23" descr=""/>
          <p:cNvPicPr/>
          <p:nvPr/>
        </p:nvPicPr>
        <p:blipFill>
          <a:blip r:embed="rId3"/>
          <a:stretch/>
        </p:blipFill>
        <p:spPr>
          <a:xfrm>
            <a:off x="2548440" y="540720"/>
            <a:ext cx="1906920" cy="183348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148;p23"/>
          <p:cNvSpPr/>
          <p:nvPr/>
        </p:nvSpPr>
        <p:spPr>
          <a:xfrm>
            <a:off x="398160" y="2561400"/>
            <a:ext cx="13575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Clase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49;p23"/>
          <p:cNvSpPr/>
          <p:nvPr/>
        </p:nvSpPr>
        <p:spPr>
          <a:xfrm>
            <a:off x="2750040" y="2571120"/>
            <a:ext cx="13575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Objeto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54;p24"/>
          <p:cNvSpPr/>
          <p:nvPr/>
        </p:nvSpPr>
        <p:spPr>
          <a:xfrm>
            <a:off x="46080" y="442440"/>
            <a:ext cx="3382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Nosotros podemos definir clases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55;p24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56;p24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oogle Shape;157;p24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158;p24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59;p24"/>
          <p:cNvSpPr/>
          <p:nvPr/>
        </p:nvSpPr>
        <p:spPr>
          <a:xfrm>
            <a:off x="46080" y="947160"/>
            <a:ext cx="4350240" cy="18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Todo lo que explicamos en la filmina pasada es endémico de Python. Cuando uno instala python, ya existen las listas/diccionarios/sets.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Con la palabra clave 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class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 nosotros podemos definir un nuevo tipo de dato (clase) y al mismo asignarle dentro variables (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atributos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), y funciones (</a:t>
            </a:r>
            <a:r>
              <a:rPr b="1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métodos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64;p25"/>
          <p:cNvSpPr/>
          <p:nvPr/>
        </p:nvSpPr>
        <p:spPr>
          <a:xfrm>
            <a:off x="46080" y="442440"/>
            <a:ext cx="2920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Implementación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65;p25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66;p25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Google Shape;167;p25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17" name="Google Shape;168;p25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69;p25"/>
          <p:cNvSpPr/>
          <p:nvPr/>
        </p:nvSpPr>
        <p:spPr>
          <a:xfrm>
            <a:off x="4680" y="720000"/>
            <a:ext cx="4350240" cy="29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</a:pPr>
            <a:r>
              <a:rPr b="1" lang="en-US" sz="1200" spc="-1" strike="noStrike">
                <a:solidFill>
                  <a:srgbClr val="ff0000"/>
                </a:solidFill>
                <a:highlight>
                  <a:srgbClr val="eeff41"/>
                </a:highlight>
                <a:latin typeface="Calibri"/>
                <a:ea typeface="Calibri"/>
              </a:rPr>
              <a:t>class</a:t>
            </a:r>
            <a:r>
              <a:rPr b="0" lang="en-US" sz="1200" spc="-1" strike="noStrike">
                <a:solidFill>
                  <a:srgbClr val="333333"/>
                </a:solidFill>
                <a:highlight>
                  <a:srgbClr val="eeff41"/>
                </a:highlight>
                <a:latin typeface="Calibri"/>
                <a:ea typeface="Calibri"/>
              </a:rPr>
              <a:t> &lt;nombre&gt;: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 Esta es la manera de crear una clase, el nombre por convención se espera que lleve mayúscula.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highlight>
                  <a:srgbClr val="eeff41"/>
                </a:highlight>
                <a:latin typeface="Calibri"/>
                <a:ea typeface="Calibri"/>
              </a:rPr>
              <a:t>def __init__(</a:t>
            </a:r>
            <a:r>
              <a:rPr b="1" lang="en-US" sz="1200" spc="-1" strike="noStrike">
                <a:solidFill>
                  <a:srgbClr val="ff0000"/>
                </a:solidFill>
                <a:highlight>
                  <a:srgbClr val="eeff41"/>
                </a:highlight>
                <a:latin typeface="Calibri"/>
                <a:ea typeface="Calibri"/>
              </a:rPr>
              <a:t>self,</a:t>
            </a:r>
            <a:r>
              <a:rPr b="0" lang="en-US" sz="1200" spc="-1" strike="noStrike">
                <a:solidFill>
                  <a:srgbClr val="333333"/>
                </a:solidFill>
                <a:highlight>
                  <a:srgbClr val="eeff41"/>
                </a:highlight>
                <a:latin typeface="Calibri"/>
                <a:ea typeface="Calibri"/>
              </a:rPr>
              <a:t> atributo_1, atributo_2, …)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: Esta es la función init. Toda clase debe tener una. Los atributos que se definen en el corolario de esta function son los que si o si deben pasarse a la hora de crear una function.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333333"/>
              </a:buClr>
              <a:buFont typeface="Calibri"/>
              <a:buChar char="●"/>
              <a:tabLst>
                <a:tab algn="l" pos="0"/>
              </a:tabLst>
            </a:pPr>
            <a:r>
              <a:rPr b="1" lang="en-US" sz="1200" spc="-1" strike="noStrike">
                <a:solidFill>
                  <a:srgbClr val="ff0000"/>
                </a:solidFill>
                <a:highlight>
                  <a:srgbClr val="eeff41"/>
                </a:highlight>
                <a:latin typeface="Calibri"/>
                <a:ea typeface="Calibri"/>
              </a:rPr>
              <a:t>self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: Esta palabra clave entra a jugar cuando tratamos con clases. Traducido significa “el objeto que estamos creando a la hora de implementar esta clase”.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74;p26"/>
          <p:cNvSpPr/>
          <p:nvPr/>
        </p:nvSpPr>
        <p:spPr>
          <a:xfrm>
            <a:off x="46080" y="442440"/>
            <a:ext cx="2920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Implementación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175;p26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76;p26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Google Shape;177;p26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178;p26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79;p26"/>
          <p:cNvSpPr/>
          <p:nvPr/>
        </p:nvSpPr>
        <p:spPr>
          <a:xfrm>
            <a:off x="46080" y="947160"/>
            <a:ext cx="435024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457200" indent="-30492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Quitando __init__ todo el resto de las </a:t>
            </a:r>
            <a:r>
              <a:rPr b="1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functions 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que definamos dentro de una class son los </a:t>
            </a:r>
            <a:r>
              <a:rPr b="1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métodos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 de la misma.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1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self.atributo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 es la manera de referenciar un atributo de la clase generada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84;p27"/>
          <p:cNvSpPr/>
          <p:nvPr/>
        </p:nvSpPr>
        <p:spPr>
          <a:xfrm>
            <a:off x="46080" y="442440"/>
            <a:ext cx="2920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Ejemplo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85;p27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86;p27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Google Shape;187;p27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29" name="Google Shape;188;p27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189;p27"/>
          <p:cNvSpPr/>
          <p:nvPr/>
        </p:nvSpPr>
        <p:spPr>
          <a:xfrm>
            <a:off x="3054600" y="947160"/>
            <a:ext cx="151812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457200" indent="-29196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  <a:ea typeface="Calibri"/>
              </a:rPr>
              <a:t>Qué es Cuadrado?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333333"/>
              </a:buClr>
              <a:buFont typeface="Calibri"/>
              <a:buChar char="●"/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  <a:ea typeface="Calibri"/>
              </a:rPr>
              <a:t>Qué son perimetro/lado?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333333"/>
              </a:buClr>
              <a:buFont typeface="Calibri"/>
              <a:buChar char="●"/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  <a:ea typeface="Calibri"/>
              </a:rPr>
              <a:t>Qué son (y que hacen) shrink y pasa_test?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Google Shape;190;p27" descr=""/>
          <p:cNvPicPr/>
          <p:nvPr/>
        </p:nvPicPr>
        <p:blipFill>
          <a:blip r:embed="rId2"/>
          <a:stretch/>
        </p:blipFill>
        <p:spPr>
          <a:xfrm>
            <a:off x="152280" y="868680"/>
            <a:ext cx="2505240" cy="2273760"/>
          </a:xfrm>
          <a:prstGeom prst="rect">
            <a:avLst/>
          </a:prstGeom>
          <a:ln w="0">
            <a:noFill/>
          </a:ln>
        </p:spPr>
      </p:pic>
    </p:spTree>
  </p:cSld>
  <p:transition>
    <p:fade thruBlk="true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95;p28"/>
          <p:cNvSpPr/>
          <p:nvPr/>
        </p:nvSpPr>
        <p:spPr>
          <a:xfrm>
            <a:off x="46080" y="442440"/>
            <a:ext cx="2920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Ejemplo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96;p28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97;p28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Google Shape;198;p28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36" name="Google Shape;199;p28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Google Shape;200;p28" descr=""/>
          <p:cNvPicPr/>
          <p:nvPr/>
        </p:nvPicPr>
        <p:blipFill>
          <a:blip r:embed="rId2"/>
          <a:stretch/>
        </p:blipFill>
        <p:spPr>
          <a:xfrm>
            <a:off x="152280" y="868680"/>
            <a:ext cx="4304880" cy="2161440"/>
          </a:xfrm>
          <a:prstGeom prst="rect">
            <a:avLst/>
          </a:prstGeom>
          <a:ln w="0">
            <a:noFill/>
          </a:ln>
        </p:spPr>
      </p:pic>
    </p:spTree>
  </p:cSld>
  <p:transition>
    <p:fade thruBlk="true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205;p29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206;p29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Google Shape;207;p29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41" name="Google Shape;208;p29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209;p29"/>
          <p:cNvSpPr/>
          <p:nvPr/>
        </p:nvSpPr>
        <p:spPr>
          <a:xfrm>
            <a:off x="46080" y="442440"/>
            <a:ext cx="2920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Ejercicio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210;p29"/>
          <p:cNvSpPr/>
          <p:nvPr/>
        </p:nvSpPr>
        <p:spPr>
          <a:xfrm>
            <a:off x="46080" y="947160"/>
            <a:ext cx="435024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Observar el siguiente script, explicar (comentando) que es lo que hace el método </a:t>
            </a:r>
            <a:r>
              <a:rPr b="1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resto_sup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215;p30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216;p30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Google Shape;217;p30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47" name="Google Shape;218;p30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Google Shape;219;p30" descr=""/>
          <p:cNvPicPr/>
          <p:nvPr/>
        </p:nvPicPr>
        <p:blipFill>
          <a:blip r:embed="rId2"/>
          <a:stretch/>
        </p:blipFill>
        <p:spPr>
          <a:xfrm>
            <a:off x="46440" y="388440"/>
            <a:ext cx="4182120" cy="2769480"/>
          </a:xfrm>
          <a:prstGeom prst="rect">
            <a:avLst/>
          </a:prstGeom>
          <a:ln w="0">
            <a:noFill/>
          </a:ln>
        </p:spPr>
      </p:pic>
    </p:spTree>
  </p:cSld>
  <p:transition>
    <p:fade thruBlk="true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224;p31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25;p31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226;p31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52" name="Google Shape;227;p31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228;p31"/>
          <p:cNvSpPr/>
          <p:nvPr/>
        </p:nvSpPr>
        <p:spPr>
          <a:xfrm>
            <a:off x="46080" y="442440"/>
            <a:ext cx="2920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Ejercicio_2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229;p31"/>
          <p:cNvSpPr/>
          <p:nvPr/>
        </p:nvSpPr>
        <p:spPr>
          <a:xfrm>
            <a:off x="46080" y="814680"/>
            <a:ext cx="435024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Crear una class llamada Estadio que tome como inputs: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el largo de la cancha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el ancho de la misma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la categoría del club al que pertenece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Un método que calcule la capacidad del estadio, siendo la capacidad de una grada L*n_filas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Si el club es de la B, las gradas tienen 100 filas, si es de primera tiene 200. Todos los estadios tienen 4 gradas.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Otro método que reciba la cantidad de gente en un partido y returnee si se está excediendo o no la capacidad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234;p32"/>
          <p:cNvSpPr/>
          <p:nvPr/>
        </p:nvSpPr>
        <p:spPr>
          <a:xfrm>
            <a:off x="1129680" y="1618560"/>
            <a:ext cx="307224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4f2ed"/>
                </a:solidFill>
                <a:latin typeface="Calibri"/>
                <a:ea typeface="Calibri"/>
              </a:rPr>
              <a:t>REPRESENTACIÓN Y COMPARACIÓN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6" name="Google Shape;235;p32"/>
          <p:cNvGrpSpPr/>
          <p:nvPr/>
        </p:nvGrpSpPr>
        <p:grpSpPr>
          <a:xfrm>
            <a:off x="1139760" y="1816560"/>
            <a:ext cx="2340360" cy="25200"/>
            <a:chOff x="1139760" y="1816560"/>
            <a:chExt cx="2340360" cy="25200"/>
          </a:xfrm>
        </p:grpSpPr>
        <p:sp>
          <p:nvSpPr>
            <p:cNvPr id="157" name="Google Shape;236;p32"/>
            <p:cNvSpPr/>
            <p:nvPr/>
          </p:nvSpPr>
          <p:spPr>
            <a:xfrm>
              <a:off x="1139760" y="1816560"/>
              <a:ext cx="2340360" cy="25200"/>
            </a:xfrm>
            <a:custGeom>
              <a:avLst/>
              <a:gdLst>
                <a:gd name="textAreaLeft" fmla="*/ 0 w 2340360"/>
                <a:gd name="textAreaRight" fmla="*/ 2340720 w 234036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Google Shape;237;p32"/>
            <p:cNvSpPr/>
            <p:nvPr/>
          </p:nvSpPr>
          <p:spPr>
            <a:xfrm>
              <a:off x="1139760" y="1816560"/>
              <a:ext cx="2340360" cy="25200"/>
            </a:xfrm>
            <a:custGeom>
              <a:avLst/>
              <a:gdLst>
                <a:gd name="textAreaLeft" fmla="*/ 0 w 2340360"/>
                <a:gd name="textAreaRight" fmla="*/ 2340720 w 234036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9525">
              <a:solidFill>
                <a:srgbClr val="f4f2ed"/>
              </a:solidFill>
              <a:round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Google Shape;238;p32"/>
            <p:cNvSpPr/>
            <p:nvPr/>
          </p:nvSpPr>
          <p:spPr>
            <a:xfrm>
              <a:off x="1139760" y="1816560"/>
              <a:ext cx="304920" cy="2520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305434" h="25400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Google Shape;239;p32"/>
            <p:cNvSpPr/>
            <p:nvPr/>
          </p:nvSpPr>
          <p:spPr>
            <a:xfrm>
              <a:off x="1139760" y="1816560"/>
              <a:ext cx="304920" cy="2520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25200"/>
                <a:gd name="textAreaBottom" fmla="*/ 25560 h 25200"/>
              </a:gdLst>
              <a:ahLst/>
              <a:rect l="textAreaLeft" t="textAreaTop" r="textAreaRight" b="textAreaBottom"/>
              <a:pathLst>
                <a:path w="305434" h="25400">
                  <a:moveTo>
                    <a:pt x="0" y="25305"/>
                  </a:moveTo>
                  <a:lnTo>
                    <a:pt x="0" y="0"/>
                  </a:lnTo>
                  <a:lnTo>
                    <a:pt x="305235" y="0"/>
                  </a:lnTo>
                  <a:lnTo>
                    <a:pt x="305235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c64"/>
            </a:solidFill>
            <a:ln w="9525">
              <a:solidFill>
                <a:srgbClr val="ffdc64"/>
              </a:solidFill>
              <a:round/>
            </a:ln>
            <a:effectLst>
              <a:outerShdw algn="bl" blurRad="57240" dir="5400000" dist="19080" rotWithShape="0">
                <a:srgbClr val="000000">
                  <a:alpha val="5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244;p33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45;p33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Google Shape;246;p33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64" name="Google Shape;247;p33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48;p33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Representación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49;p33"/>
          <p:cNvSpPr/>
          <p:nvPr/>
        </p:nvSpPr>
        <p:spPr>
          <a:xfrm>
            <a:off x="46080" y="814680"/>
            <a:ext cx="435024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¿Qué sucede si ejecutamos un print al objeto cuadrado que creamos en las filminas anteriores?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Google Shape;250;p33" descr=""/>
          <p:cNvPicPr/>
          <p:nvPr/>
        </p:nvPicPr>
        <p:blipFill>
          <a:blip r:embed="rId2"/>
          <a:stretch/>
        </p:blipFill>
        <p:spPr>
          <a:xfrm>
            <a:off x="2743200" y="1143000"/>
            <a:ext cx="1788120" cy="1975680"/>
          </a:xfrm>
          <a:prstGeom prst="rect">
            <a:avLst/>
          </a:prstGeom>
          <a:ln w="0">
            <a:noFill/>
          </a:ln>
        </p:spPr>
      </p:pic>
      <p:pic>
        <p:nvPicPr>
          <p:cNvPr id="168" name="Google Shape;251;p33" descr=""/>
          <p:cNvPicPr/>
          <p:nvPr/>
        </p:nvPicPr>
        <p:blipFill>
          <a:blip r:embed="rId3"/>
          <a:stretch/>
        </p:blipFill>
        <p:spPr>
          <a:xfrm>
            <a:off x="0" y="2636280"/>
            <a:ext cx="2347920" cy="276480"/>
          </a:xfrm>
          <a:prstGeom prst="rect">
            <a:avLst/>
          </a:prstGeom>
          <a:ln w="0">
            <a:noFill/>
          </a:ln>
        </p:spPr>
      </p:pic>
      <p:sp>
        <p:nvSpPr>
          <p:cNvPr id="169" name="Google Shape;252;p33"/>
          <p:cNvSpPr/>
          <p:nvPr/>
        </p:nvSpPr>
        <p:spPr>
          <a:xfrm>
            <a:off x="46080" y="2069640"/>
            <a:ext cx="165780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¿Qué vendría a ser esto?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257;p34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258;p34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Google Shape;259;p34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73" name="Google Shape;260;p34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61;p34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Representación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62;p34"/>
          <p:cNvSpPr/>
          <p:nvPr/>
        </p:nvSpPr>
        <p:spPr>
          <a:xfrm>
            <a:off x="46080" y="814680"/>
            <a:ext cx="4350240" cy="16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El objeto “cuadrado” es nuevo para python, no sabe como printearlo. Si le pedimos que lo printee, lo que hará será printear su placeholder en memoria.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Nosotros debiéramos usar el método </a:t>
            </a:r>
            <a:r>
              <a:rPr b="1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_</a:t>
            </a:r>
            <a:r>
              <a:rPr b="1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_</a:t>
            </a:r>
            <a:r>
              <a:rPr b="1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repr__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 para indicar que se printea cuando printeamos nuestro objeto.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267;p35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68;p35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Google Shape;269;p35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79" name="Google Shape;270;p35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71;p35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Representación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Google Shape;272;p35" descr=""/>
          <p:cNvPicPr/>
          <p:nvPr/>
        </p:nvPicPr>
        <p:blipFill>
          <a:blip r:embed="rId2"/>
          <a:stretch/>
        </p:blipFill>
        <p:spPr>
          <a:xfrm>
            <a:off x="2995200" y="1522080"/>
            <a:ext cx="1314000" cy="218880"/>
          </a:xfrm>
          <a:prstGeom prst="rect">
            <a:avLst/>
          </a:prstGeom>
          <a:ln w="0">
            <a:noFill/>
          </a:ln>
        </p:spPr>
      </p:pic>
      <p:pic>
        <p:nvPicPr>
          <p:cNvPr id="182" name="Google Shape;273;p35" descr=""/>
          <p:cNvPicPr/>
          <p:nvPr/>
        </p:nvPicPr>
        <p:blipFill>
          <a:blip r:embed="rId3"/>
          <a:stretch/>
        </p:blipFill>
        <p:spPr>
          <a:xfrm>
            <a:off x="81720" y="814680"/>
            <a:ext cx="2398680" cy="2220120"/>
          </a:xfrm>
          <a:prstGeom prst="rect">
            <a:avLst/>
          </a:prstGeom>
          <a:ln w="0">
            <a:noFill/>
          </a:ln>
        </p:spPr>
      </p:pic>
      <p:sp>
        <p:nvSpPr>
          <p:cNvPr id="183" name="Google Shape;274;p35"/>
          <p:cNvSpPr/>
          <p:nvPr/>
        </p:nvSpPr>
        <p:spPr>
          <a:xfrm>
            <a:off x="2648520" y="1211760"/>
            <a:ext cx="173016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Ahora printea esto: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75;p35"/>
          <p:cNvSpPr/>
          <p:nvPr/>
        </p:nvSpPr>
        <p:spPr>
          <a:xfrm>
            <a:off x="2648520" y="2008800"/>
            <a:ext cx="1730160" cy="11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Importante: </a:t>
            </a:r>
            <a:r>
              <a:rPr b="0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el output del método __repr__ debe ser siempre un string. Si no arroja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280;p36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281;p36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Google Shape;282;p36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88" name="Google Shape;283;p36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284;p36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Comparación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85;p36"/>
          <p:cNvSpPr/>
          <p:nvPr/>
        </p:nvSpPr>
        <p:spPr>
          <a:xfrm>
            <a:off x="46080" y="814680"/>
            <a:ext cx="4350240" cy="275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Algo similar sucede con la comparación. ¿Qué sucede si creamos 2 cuadrados, cuad1 y cuad2. Decimos que cuad1 tiene lado 4 y cuad2 tiene lado 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Acto seguido planteamos cuad2&gt;cuad1. La lógica dice que debe ser True, no?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Bueno, </a:t>
            </a:r>
            <a:r>
              <a:rPr b="1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no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, otra vez, python no sabe la naturaleza de la clase que acabamos de inventar. Si en lugar de tener un solo input (lado) tuviésemos 2 (lado y fecha de creación). ¿Qué cuadrado sería el más “grande” para python? ¿El más viejo o el de lado más largo?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290;p37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291;p37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Google Shape;292;p37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194" name="Google Shape;293;p37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oogle Shape;294;p37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Comparación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295;p37"/>
          <p:cNvSpPr/>
          <p:nvPr/>
        </p:nvSpPr>
        <p:spPr>
          <a:xfrm>
            <a:off x="46080" y="814680"/>
            <a:ext cx="4350240" cy="9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Esto se soluciona con una serie de métodos que se pueden agregar a la clase. Como son: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Google Shape;296;p37" descr=""/>
          <p:cNvPicPr/>
          <p:nvPr/>
        </p:nvPicPr>
        <p:blipFill>
          <a:blip r:embed="rId2"/>
          <a:stretch/>
        </p:blipFill>
        <p:spPr>
          <a:xfrm>
            <a:off x="388440" y="1291320"/>
            <a:ext cx="3749040" cy="878040"/>
          </a:xfrm>
          <a:prstGeom prst="rect">
            <a:avLst/>
          </a:prstGeom>
          <a:ln w="0">
            <a:noFill/>
          </a:ln>
        </p:spPr>
      </p:pic>
    </p:spTree>
  </p:cSld>
  <p:transition>
    <p:fade thruBlk="true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301;p38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302;p38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Google Shape;303;p38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201" name="Google Shape;304;p38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Google Shape;305;p38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Comparación –Ejemplo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Google Shape;306;p38" descr=""/>
          <p:cNvPicPr/>
          <p:nvPr/>
        </p:nvPicPr>
        <p:blipFill>
          <a:blip r:embed="rId2"/>
          <a:stretch/>
        </p:blipFill>
        <p:spPr>
          <a:xfrm>
            <a:off x="152280" y="868680"/>
            <a:ext cx="1674720" cy="2157120"/>
          </a:xfrm>
          <a:prstGeom prst="rect">
            <a:avLst/>
          </a:prstGeom>
          <a:ln w="0">
            <a:noFill/>
          </a:ln>
        </p:spPr>
      </p:pic>
      <p:sp>
        <p:nvSpPr>
          <p:cNvPr id="204" name="Google Shape;307;p38"/>
          <p:cNvSpPr/>
          <p:nvPr/>
        </p:nvSpPr>
        <p:spPr>
          <a:xfrm>
            <a:off x="1961640" y="868680"/>
            <a:ext cx="2493720" cy="23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Esto va a printear False, ya que </a:t>
            </a:r>
            <a:r>
              <a:rPr b="1" lang="en-US" sz="1200" spc="-1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</a:rPr>
              <a:t>lo que estás comparando son espacios en memoria.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 cuad1 y cuad2 son 2 objetos distintos que ocupan un slot distinto en la memoria.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A nosotros nos gustaría que, dado 2 cuadrados de igual lado, python nos dijera que son iguales 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312;p39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313;p39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Google Shape;314;p39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208" name="Google Shape;315;p39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Google Shape;316;p39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Comparación –Ejemplo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317;p39"/>
          <p:cNvSpPr/>
          <p:nvPr/>
        </p:nvSpPr>
        <p:spPr>
          <a:xfrm>
            <a:off x="1961640" y="868680"/>
            <a:ext cx="2493720" cy="16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Bueno ahora si, gracias a la función </a:t>
            </a:r>
            <a:r>
              <a:rPr b="1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__eq__ </a:t>
            </a: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ahora printea True cuando se lo compara con un cuadrado de igual tamaño y False cuando se lo compara con uno más chico/grande.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Google Shape;318;p39" descr=""/>
          <p:cNvPicPr/>
          <p:nvPr/>
        </p:nvPicPr>
        <p:blipFill>
          <a:blip r:embed="rId2"/>
          <a:stretch/>
        </p:blipFill>
        <p:spPr>
          <a:xfrm>
            <a:off x="46080" y="770400"/>
            <a:ext cx="1728360" cy="2372400"/>
          </a:xfrm>
          <a:prstGeom prst="rect">
            <a:avLst/>
          </a:prstGeom>
          <a:ln w="0">
            <a:noFill/>
          </a:ln>
        </p:spPr>
      </p:pic>
    </p:spTree>
  </p:cSld>
  <p:transition>
    <p:fade thruBlk="true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323;p40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324;p40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Google Shape;325;p40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215" name="Google Shape;326;p40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327;p40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Comparación –Ejemplo2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Google Shape;328;p40" descr=""/>
          <p:cNvPicPr/>
          <p:nvPr/>
        </p:nvPicPr>
        <p:blipFill>
          <a:blip r:embed="rId2"/>
          <a:stretch/>
        </p:blipFill>
        <p:spPr>
          <a:xfrm>
            <a:off x="81720" y="716400"/>
            <a:ext cx="1922040" cy="2424600"/>
          </a:xfrm>
          <a:prstGeom prst="rect">
            <a:avLst/>
          </a:prstGeom>
          <a:ln w="0">
            <a:noFill/>
          </a:ln>
        </p:spPr>
      </p:pic>
      <p:sp>
        <p:nvSpPr>
          <p:cNvPr id="218" name="Google Shape;329;p40"/>
          <p:cNvSpPr/>
          <p:nvPr/>
        </p:nvSpPr>
        <p:spPr>
          <a:xfrm>
            <a:off x="2076480" y="814680"/>
            <a:ext cx="2493720" cy="12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Esto así como está arroja un error. Ya que la comparación entre objetos “Cuadrado” no está definida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334;p41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335;p41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Google Shape;336;p41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222" name="Google Shape;337;p41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338;p41"/>
          <p:cNvSpPr/>
          <p:nvPr/>
        </p:nvSpPr>
        <p:spPr>
          <a:xfrm>
            <a:off x="46080" y="442440"/>
            <a:ext cx="346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Comparación –Ejemplo2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339;p41"/>
          <p:cNvSpPr/>
          <p:nvPr/>
        </p:nvSpPr>
        <p:spPr>
          <a:xfrm>
            <a:off x="2076480" y="814680"/>
            <a:ext cx="2493720" cy="11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En esta nueva situación, returneamos primero False y después True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Google Shape;340;p41" descr=""/>
          <p:cNvPicPr/>
          <p:nvPr/>
        </p:nvPicPr>
        <p:blipFill>
          <a:blip r:embed="rId2"/>
          <a:stretch/>
        </p:blipFill>
        <p:spPr>
          <a:xfrm>
            <a:off x="150120" y="716400"/>
            <a:ext cx="1661760" cy="2435040"/>
          </a:xfrm>
          <a:prstGeom prst="rect">
            <a:avLst/>
          </a:prstGeom>
          <a:ln w="0">
            <a:noFill/>
          </a:ln>
        </p:spPr>
      </p:pic>
    </p:spTree>
  </p:cSld>
  <p:transition>
    <p:fade thruBlk="true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356;p43"/>
          <p:cNvSpPr/>
          <p:nvPr/>
        </p:nvSpPr>
        <p:spPr>
          <a:xfrm>
            <a:off x="4455720" y="3348000"/>
            <a:ext cx="5688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2600">
              <a:lnSpc>
                <a:spcPct val="100000"/>
              </a:lnSpc>
              <a:tabLst>
                <a:tab algn="l" pos="0"/>
              </a:tabLst>
            </a:pPr>
            <a:r>
              <a:rPr b="0" lang="en-US" sz="500" spc="-1" strike="noStrike">
                <a:solidFill>
                  <a:srgbClr val="333333"/>
                </a:solidFill>
                <a:latin typeface="Times New Roman"/>
                <a:ea typeface="Times New Roman"/>
              </a:rPr>
              <a:t>y</a:t>
            </a:r>
            <a:endParaRPr b="0" lang="en-US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357;p43"/>
          <p:cNvSpPr/>
          <p:nvPr/>
        </p:nvSpPr>
        <p:spPr>
          <a:xfrm>
            <a:off x="0" y="0"/>
            <a:ext cx="4609800" cy="34416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Google Shape;358;p43" descr="di_tella2.png"/>
          <p:cNvPicPr/>
          <p:nvPr/>
        </p:nvPicPr>
        <p:blipFill>
          <a:blip r:embed="rId1"/>
          <a:stretch/>
        </p:blipFill>
        <p:spPr>
          <a:xfrm>
            <a:off x="4061520" y="1800"/>
            <a:ext cx="548280" cy="340200"/>
          </a:xfrm>
          <a:prstGeom prst="rect">
            <a:avLst/>
          </a:prstGeom>
          <a:ln w="0">
            <a:noFill/>
          </a:ln>
        </p:spPr>
      </p:pic>
      <p:sp>
        <p:nvSpPr>
          <p:cNvPr id="229" name="Google Shape;359;p43"/>
          <p:cNvSpPr/>
          <p:nvPr/>
        </p:nvSpPr>
        <p:spPr>
          <a:xfrm>
            <a:off x="0" y="111600"/>
            <a:ext cx="4001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2d2d"/>
                </a:solidFill>
                <a:latin typeface="Calibri"/>
                <a:ea typeface="Calibri"/>
              </a:rPr>
              <a:t>Métodos Analíticos y Programación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360;p43"/>
          <p:cNvSpPr/>
          <p:nvPr/>
        </p:nvSpPr>
        <p:spPr>
          <a:xfrm>
            <a:off x="46080" y="442440"/>
            <a:ext cx="29203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 marL="144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  <a:ea typeface="Calibri"/>
              </a:rPr>
              <a:t>Ejercicio_3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361;p43"/>
          <p:cNvSpPr/>
          <p:nvPr/>
        </p:nvSpPr>
        <p:spPr>
          <a:xfrm>
            <a:off x="46080" y="814680"/>
            <a:ext cx="4350240" cy="13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88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Retomemos el ejemplo del estadio.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Modificar la clase de tal manera de que se juzgue un estadio como más chico o más grande que otro </a:t>
            </a:r>
            <a:r>
              <a:rPr b="1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por la superficie de su campo de juego</a:t>
            </a:r>
            <a:r>
              <a:rPr b="0" lang="en-US" sz="11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</a:rPr>
              <a:t>. Independientemente de su capacidad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 thruBlk="true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2026-03-15T16:16:42Z</dcterms:modified>
  <cp:revision>1</cp:revision>
  <dc:subject/>
  <dc:title/>
</cp:coreProperties>
</file>