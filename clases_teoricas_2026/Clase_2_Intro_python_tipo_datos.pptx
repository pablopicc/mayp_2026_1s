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Hablar amplio y tendido sobre esto.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Que es alto/bajo nivel, que es lenguaje máquina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Ejemplos de lenguaje declarativo: bash y SQL</a:t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Hablar de python interactivo</a:t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Qué pasa cuando cada uno de estos 3 llega al 100%</a:t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2b1852a5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Qué pasa cuando cada uno de estos 3 llega al 100%</a:t>
            </a:r>
            <a:endParaRPr/>
          </a:p>
        </p:txBody>
      </p:sp>
      <p:sp>
        <p:nvSpPr>
          <p:cNvPr id="182" name="Google Shape;182;g3c2b1852a51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Explicar un poco que es una librería</a:t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Explicar un poco que es una librería</a:t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c2b1852a5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g3c2b1852a51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8" name="Google Shape;37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Comparar el lenguaje de terminal con el lenguaje python.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Es declarativo?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Es de alto nivel?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Es compilado?</a:t>
            </a:r>
            <a:endParaRPr/>
          </a:p>
        </p:txBody>
      </p:sp>
      <p:sp>
        <p:nvSpPr>
          <p:cNvPr id="391" name="Google Shape;391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archivo.py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35000" y="1905000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Clase 2: Introducción a Python + </a:t>
            </a: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ipos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35000" y="3556000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Profesor: 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35000" y="4318000"/>
            <a:ext cx="8496300" cy="1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Auxiliares: Daniela Longas M Victoria Tolosa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35000" y="1524000"/>
            <a:ext cx="850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¿Qué es Python?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35000" y="2540000"/>
            <a:ext cx="8496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Lenguaje de programación: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 alto nivel 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No-declarativo 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Interpretado (no compilado) </a:t>
            </a:r>
            <a:endParaRPr b="0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El lenguaje más popular del mundo actualmente. Ideal para análisis de datos y automatización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title="Captura desde 2026-01-25 16-25-4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800" y="646925"/>
            <a:ext cx="3913625" cy="25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title="Captura desde 2026-01-25 16-26-39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1425" y="646925"/>
            <a:ext cx="4942523" cy="279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Captura desde 2026-01-25 16-27-28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400" y="3595575"/>
            <a:ext cx="3913625" cy="25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title="Captura desde 2026-01-25 16-28-08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8425" y="3595575"/>
            <a:ext cx="4486982" cy="25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title="Captura desde 2026-01-25 16-28-4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175" y="1277650"/>
            <a:ext cx="7605250" cy="430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635000" y="1524000"/>
            <a:ext cx="850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¿Qué es un lenguaje de programación?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635000" y="2540000"/>
            <a:ext cx="8496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Protocolo (sintaxis) explicitada en archivos de texto plano.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Sigue normas lógicas para comunicarse con la computadora.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Sin redundancias ni dobles significados.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Hace exactamente lo que se le indica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Debe ser instalado en la computadora. Implica software.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371975" y="764150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¿Qué es un </a:t>
            </a: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algoritmo</a:t>
            </a: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323850" y="1502200"/>
            <a:ext cx="849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Serie de pasos l</a:t>
            </a:r>
            <a:r>
              <a:rPr b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ógicos</a:t>
            </a: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finitos y ordenados.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Escrito en algún lenguaje de programación, pesudoc</a:t>
            </a:r>
            <a:r>
              <a:rPr b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ódigo o lenguaje natural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317550" y="3040650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¿Qué es un </a:t>
            </a: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script/programa</a:t>
            </a: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254000" y="3778700"/>
            <a:ext cx="8496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Uno o más algoritmos</a:t>
            </a:r>
            <a:endParaRPr b="1"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Encapsulados en un archivo de texto plano.</a:t>
            </a:r>
            <a:endParaRPr b="1" sz="20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Escrito en algún lenguaje de programación, pesudoc</a:t>
            </a:r>
            <a:r>
              <a:rPr b="1" lang="en-US" sz="20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ódigo o lenguaje natural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 Python: extensión .py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622300" y="85182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¿Qué es la terminal?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628600" y="1517150"/>
            <a:ext cx="8496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Interfaz para interactuar directamente con la computadora mediante comandos.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Todo lo que hacemos con UI se puede hacer con terminal.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Sublime + Terminal: ejecución 'basal' que usaremos en la materia.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Comandos varían según sistema operativo (Windows/Mac/Linux).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 este ejemplo, estos comandos en distintos OS hacen lo mismo: mirar en terminal el contenido de un archivo.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800" y="4118275"/>
            <a:ext cx="4351974" cy="6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6325" y="4118275"/>
            <a:ext cx="4963786" cy="6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85175" y="5016275"/>
            <a:ext cx="60960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254000" y="3690563"/>
            <a:ext cx="849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Linux                                                                                          Windows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1490425" y="5364550"/>
            <a:ext cx="109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Mac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635000" y="1524000"/>
            <a:ext cx="850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RAM, Disco y CPU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10950" y="2197500"/>
            <a:ext cx="8496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Disco: memoria persistente de la computadora 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RAM: memoria temporal 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CPU: potencia computacional 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Monitorear estos 3 componentes al ejecutar scripts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9150" y="3513200"/>
            <a:ext cx="4111279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177800" y="773900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Sobre la memoria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000" y="1736262"/>
            <a:ext cx="8209724" cy="347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317550" y="7446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Algunas características de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177800" y="1273600"/>
            <a:ext cx="849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Alto nivel (alejado del lenguaje máquina): lento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Comunidad activa creando librerías continuamente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Ideal donde la velocidad no es crucial: backend, datos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Menos adecuado cuando velocidad es clave: desarrollo web, apps, videojuegos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03" name="Google Shape;2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6189" y="2517675"/>
            <a:ext cx="6169187" cy="3632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317550" y="744675"/>
            <a:ext cx="850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Librería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177800" y="1273600"/>
            <a:ext cx="8496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Una librería es un conjunto de software creado y mantenido por una comunidad de devs.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La misma se puede importar mediante el comando import a tu script de python.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Muchas veces las librerías son endémicas de python, otras veces </a:t>
            </a:r>
            <a:r>
              <a:rPr b="1" lang="en-US" sz="1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hay</a:t>
            </a: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b="1" lang="en-US" sz="1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instalarlas</a:t>
            </a: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previamente en tu entorno usando herramientas como pip.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16" name="Google Shape;2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525" y="2811400"/>
            <a:ext cx="6851724" cy="332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177800" y="1299950"/>
            <a:ext cx="8508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Ya sea con python interactivo o con un script. Intenten esto: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254000" y="2505425"/>
            <a:ext cx="849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D2D2D"/>
                </a:solidFill>
                <a:latin typeface="Courier New"/>
                <a:ea typeface="Courier New"/>
                <a:cs typeface="Courier New"/>
                <a:sym typeface="Courier New"/>
              </a:rPr>
              <a:t>print('Hello World') </a:t>
            </a:r>
            <a:endParaRPr b="1" i="0" sz="2400" u="none" cap="none" strike="noStrike">
              <a:solidFill>
                <a:srgbClr val="2D2D2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di_tella2.png" id="229" name="Google Shape;2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5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5"/>
          <p:cNvSpPr txBox="1"/>
          <p:nvPr/>
        </p:nvSpPr>
        <p:spPr>
          <a:xfrm>
            <a:off x="635000" y="1524000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Tipos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5"/>
          <p:cNvSpPr txBox="1"/>
          <p:nvPr/>
        </p:nvSpPr>
        <p:spPr>
          <a:xfrm>
            <a:off x="635000" y="2540000"/>
            <a:ext cx="8496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int: números enteros (ej: 42, -10)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float: números decimales (ej: 3.14, -0.5)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str: cadenas de texto (ej: 'Hola', Python 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bool: valores booleanos (True, False)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None: valor nulo (None)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41" name="Google Shape;2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635000" y="1524000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Operaciones Aritméticas: Integers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6"/>
          <p:cNvSpPr txBox="1"/>
          <p:nvPr/>
        </p:nvSpPr>
        <p:spPr>
          <a:xfrm>
            <a:off x="635000" y="2540000"/>
            <a:ext cx="8496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+ : suma (5 + 3 = 8)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- : resta (10 - 4 = 6)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* : multiplicación (3 * 4 = 12)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/ : división (15 / 3 = 5.0)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// : división entera (15 // 4 = 3)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% : módulo/resto (15 % 4 = 3)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** : exponenciación (2 ** 3 = 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53" name="Google Shape;2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7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7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635000" y="1524000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Operaciones Aritméticas: Floats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7"/>
          <p:cNvSpPr txBox="1"/>
          <p:nvPr/>
        </p:nvSpPr>
        <p:spPr>
          <a:xfrm>
            <a:off x="635000" y="2540000"/>
            <a:ext cx="8496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+ : suma (3.5 + 2.1 = 5.6)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- : resta (10.0 - 4.5 = 5.5)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* : multiplicación (2.5 * 4 = 10.0)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/ : división (15.0 / 3 = 5.0)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// : división entera (15.7 // 4 = 3.0)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% : módulo (15.5 % 4 = 3.5)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** : exponenciación (2.0 ** 3 = 8.0)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65" name="Google Shape;26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8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8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8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8"/>
          <p:cNvSpPr txBox="1"/>
          <p:nvPr/>
        </p:nvSpPr>
        <p:spPr>
          <a:xfrm>
            <a:off x="635000" y="1524000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Operaciones Aritméticas: Bools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8"/>
          <p:cNvSpPr txBox="1"/>
          <p:nvPr/>
        </p:nvSpPr>
        <p:spPr>
          <a:xfrm>
            <a:off x="635000" y="2540000"/>
            <a:ext cx="8496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and : Y lógico (True and False = False)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or : O lógico (True or False = True)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not : Negación (not True = False)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== : Igualdad (True == True = True)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!= : Desigualdad (True != False = True)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77" name="Google Shape;2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9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9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9"/>
          <p:cNvSpPr txBox="1"/>
          <p:nvPr/>
        </p:nvSpPr>
        <p:spPr>
          <a:xfrm>
            <a:off x="635000" y="1524000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Operaciones Aritméticas: Strings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9"/>
          <p:cNvSpPr txBox="1"/>
          <p:nvPr/>
        </p:nvSpPr>
        <p:spPr>
          <a:xfrm>
            <a:off x="635000" y="2540000"/>
            <a:ext cx="8496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+ : concatenación ('Hola' + ' Mundo' = 'Hola Mundo')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* : repetición ('Hi' * 3 = 'HiHiHi')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== : igualdad ('abc' == 'abc' = True)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!= : desigualdad ('abc' != 'def' = True)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 : pertenencia ('a' in 'abc' = True)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0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635000" y="1524000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Conversión de Tipos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0"/>
          <p:cNvSpPr txBox="1"/>
          <p:nvPr/>
        </p:nvSpPr>
        <p:spPr>
          <a:xfrm>
            <a:off x="635000" y="2540000"/>
            <a:ext cx="8496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type(): función para verificar el tipo de dato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str(): convierte a string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int(): convierte a entero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float(): convierte a decimal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bool(): convierte a booleano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Ejemplos: int('42') = 42, str(42) = '42'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01" name="Google Shape;30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1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1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1"/>
          <p:cNvSpPr txBox="1"/>
          <p:nvPr/>
        </p:nvSpPr>
        <p:spPr>
          <a:xfrm>
            <a:off x="635000" y="1524000"/>
            <a:ext cx="849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1"/>
          <p:cNvSpPr txBox="1"/>
          <p:nvPr/>
        </p:nvSpPr>
        <p:spPr>
          <a:xfrm>
            <a:off x="635000" y="2540000"/>
            <a:ext cx="8496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AutoNum type="alphaUcPeriod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3*'p'+'laya'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AutoNum type="alphaUcPeriod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3*int('55')*False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AutoNum type="alphaUcPeriod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53+'53'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AutoNum type="alphaUcPeriod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11/11 ==1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AutoNum type="alphaUcPeriod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6.0 == 6.000000000000000000000000000000000000000000001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313" name="Google Shape;31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2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2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2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2"/>
          <p:cNvSpPr txBox="1"/>
          <p:nvPr/>
        </p:nvSpPr>
        <p:spPr>
          <a:xfrm>
            <a:off x="635000" y="1524000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2"/>
          <p:cNvSpPr txBox="1"/>
          <p:nvPr/>
        </p:nvSpPr>
        <p:spPr>
          <a:xfrm>
            <a:off x="635000" y="2540000"/>
            <a:ext cx="8496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Dato almacenado en memoria para uso en el script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Puede ser accedido y modificado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Nombres representativos mejoran legibilidad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 pueden usar palabras reservadas (if, else, etc.)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 pueden comenzar con número ni tener caracteres especiales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25" name="Google Shape;32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3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3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3"/>
          <p:cNvSpPr txBox="1"/>
          <p:nvPr/>
        </p:nvSpPr>
        <p:spPr>
          <a:xfrm>
            <a:off x="635000" y="1524000"/>
            <a:ext cx="849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Ejercicio. Decir qué variables son válidas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3"/>
          <p:cNvSpPr txBox="1"/>
          <p:nvPr/>
        </p:nvSpPr>
        <p:spPr>
          <a:xfrm>
            <a:off x="254000" y="2530275"/>
            <a:ext cx="8496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23_n= 44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200 = cuenta_corriente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 = 32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a32 = 4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 = print(5)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 = e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+user = ‘Pablo’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337" name="Google Shape;33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4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4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4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4"/>
          <p:cNvSpPr txBox="1"/>
          <p:nvPr/>
        </p:nvSpPr>
        <p:spPr>
          <a:xfrm>
            <a:off x="635000" y="929775"/>
            <a:ext cx="849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Sentencia vs Expresión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4"/>
          <p:cNvSpPr txBox="1"/>
          <p:nvPr/>
        </p:nvSpPr>
        <p:spPr>
          <a:xfrm>
            <a:off x="635000" y="1595075"/>
            <a:ext cx="8496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Expresión: combinación de valores que se evalúa y da resultado 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Sentencia: tiene repercusión en el script 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Ejemplos de sentencias: crear variable, mostrar valor, realizar acción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49" name="Google Shape;34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4"/>
          <p:cNvSpPr txBox="1"/>
          <p:nvPr/>
        </p:nvSpPr>
        <p:spPr>
          <a:xfrm>
            <a:off x="808550" y="2864000"/>
            <a:ext cx="71211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Cuáles son expresiones y cuáles sentencias?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a.- m=5+4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b.- 3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c.- print(‘hola’)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d.- 33/5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5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5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5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5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5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5"/>
          <p:cNvSpPr txBox="1"/>
          <p:nvPr/>
        </p:nvSpPr>
        <p:spPr>
          <a:xfrm>
            <a:off x="635000" y="929775"/>
            <a:ext cx="849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Ejercicio. Cuánto valen x e y? Qué vemos por pantalla?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61" name="Google Shape;36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5"/>
          <p:cNvSpPr txBox="1"/>
          <p:nvPr/>
        </p:nvSpPr>
        <p:spPr>
          <a:xfrm>
            <a:off x="340950" y="1500200"/>
            <a:ext cx="7578900" cy="24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Ej.1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x=5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y=6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x+y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y=3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y? x? Qué vemos?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5"/>
          <p:cNvSpPr txBox="1"/>
          <p:nvPr/>
        </p:nvSpPr>
        <p:spPr>
          <a:xfrm>
            <a:off x="254000" y="3997288"/>
            <a:ext cx="7578900" cy="18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Ej.2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x=5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y=6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x=x-y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y=x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y? x? Qué vemos?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6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6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6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6"/>
          <p:cNvSpPr txBox="1"/>
          <p:nvPr/>
        </p:nvSpPr>
        <p:spPr>
          <a:xfrm>
            <a:off x="635000" y="1524000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Sobre los Bugs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6"/>
          <p:cNvSpPr txBox="1"/>
          <p:nvPr/>
        </p:nvSpPr>
        <p:spPr>
          <a:xfrm>
            <a:off x="635000" y="2540000"/>
            <a:ext cx="849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Error que impide que el script realice lo esperado 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sng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Syntax error:</a:t>
            </a: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sintaxis incorrecta (fácil de debuggear)</a:t>
            </a:r>
            <a:r>
              <a:rPr b="1" lang="en-US" sz="1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sng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Execution error:</a:t>
            </a: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problema de capacidad tecnológica</a:t>
            </a:r>
            <a:r>
              <a:rPr b="1" lang="en-US" sz="18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0" sz="18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800"/>
              <a:buFont typeface="Calibri"/>
              <a:buChar char="●"/>
            </a:pPr>
            <a:r>
              <a:rPr b="1" i="0" lang="en-US" sz="1800" u="sng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Errores semánticos:</a:t>
            </a: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ejecuta pero resultado incorrecto (los peores).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75" name="Google Shape;37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7"/>
          <p:cNvSpPr txBox="1"/>
          <p:nvPr/>
        </p:nvSpPr>
        <p:spPr>
          <a:xfrm>
            <a:off x="254000" y="190500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7"/>
          <p:cNvSpPr/>
          <p:nvPr/>
        </p:nvSpPr>
        <p:spPr>
          <a:xfrm>
            <a:off x="0" y="6286500"/>
            <a:ext cx="9144000" cy="3840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7"/>
          <p:cNvSpPr txBox="1"/>
          <p:nvPr/>
        </p:nvSpPr>
        <p:spPr>
          <a:xfrm>
            <a:off x="254000" y="85090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7"/>
          <p:cNvSpPr txBox="1"/>
          <p:nvPr/>
        </p:nvSpPr>
        <p:spPr>
          <a:xfrm>
            <a:off x="177800" y="6375400"/>
            <a:ext cx="5715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7"/>
          <p:cNvSpPr txBox="1"/>
          <p:nvPr/>
        </p:nvSpPr>
        <p:spPr>
          <a:xfrm>
            <a:off x="635000" y="1524000"/>
            <a:ext cx="84963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Sobre Comments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7"/>
          <p:cNvSpPr txBox="1"/>
          <p:nvPr/>
        </p:nvSpPr>
        <p:spPr>
          <a:xfrm>
            <a:off x="635000" y="2540000"/>
            <a:ext cx="8496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Indispensables para que otros devs entiendan el código 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Ayudan a tu yo del futuro y (al cuerpo docente) 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Buena práctica: comentar 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Mala práctica: sobre-comentar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7"/>
          <p:cNvSpPr txBox="1"/>
          <p:nvPr/>
        </p:nvSpPr>
        <p:spPr>
          <a:xfrm>
            <a:off x="254000" y="85090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388" name="Google Shape;38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FFDC64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254000" y="190500"/>
            <a:ext cx="57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8"/>
          <p:cNvSpPr/>
          <p:nvPr/>
        </p:nvSpPr>
        <p:spPr>
          <a:xfrm>
            <a:off x="0" y="6286500"/>
            <a:ext cx="9144000" cy="384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8"/>
          <p:cNvSpPr txBox="1"/>
          <p:nvPr/>
        </p:nvSpPr>
        <p:spPr>
          <a:xfrm>
            <a:off x="254000" y="85090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8"/>
          <p:cNvSpPr txBox="1"/>
          <p:nvPr/>
        </p:nvSpPr>
        <p:spPr>
          <a:xfrm>
            <a:off x="177800" y="6375400"/>
            <a:ext cx="571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8"/>
          <p:cNvSpPr txBox="1"/>
          <p:nvPr/>
        </p:nvSpPr>
        <p:spPr>
          <a:xfrm>
            <a:off x="635000" y="1524000"/>
            <a:ext cx="849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Comandos indispensables de terminal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8"/>
          <p:cNvSpPr txBox="1"/>
          <p:nvPr/>
        </p:nvSpPr>
        <p:spPr>
          <a:xfrm>
            <a:off x="635000" y="2540000"/>
            <a:ext cx="8496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ls: listan los elementos de la carpeta en la que estás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cd &lt;carpeta&gt;: te metés dentro de la carpeta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Calibri"/>
              <a:buChar char="●"/>
            </a:pP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python &lt;</a:t>
            </a:r>
            <a:r>
              <a:rPr b="1" i="0" lang="en-US" sz="2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archivo.py</a:t>
            </a:r>
            <a:r>
              <a:rPr b="1" i="0" lang="en-US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&gt;: ejecutás un script en python. Debés estar dentro de la carpeta donde el archivo está guardado</a:t>
            </a:r>
            <a:endParaRPr b="1" i="0" sz="2000" u="none" cap="none" strike="noStrik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8"/>
          <p:cNvSpPr txBox="1"/>
          <p:nvPr/>
        </p:nvSpPr>
        <p:spPr>
          <a:xfrm>
            <a:off x="254000" y="8509000"/>
            <a:ext cx="762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_tella2.png" id="401" name="Google Shape;40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1450" y="31750"/>
            <a:ext cx="818650" cy="5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