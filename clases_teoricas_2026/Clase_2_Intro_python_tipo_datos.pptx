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</p:sldIdLst>
  <p:sldSz cy="6858000" cx="9144000"/>
  <p:notesSz cx="6858000" cy="9144000"/>
  <p:embeddedFontLst>
    <p:embeddedFont>
      <p:font typeface="Tahoma"/>
      <p:regular r:id="rId35"/>
      <p:bold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font" Target="fonts/Tahoma-regular.fntdata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36" Type="http://schemas.openxmlformats.org/officeDocument/2006/relationships/font" Target="fonts/Tahoma-bold.fnt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9" name="Google Shape;89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beb0bc796b_0_0:notes"/>
          <p:cNvSpPr txBox="1"/>
          <p:nvPr>
            <p:ph idx="1" type="body"/>
          </p:nvPr>
        </p:nvSpPr>
        <p:spPr>
          <a:xfrm>
            <a:off x="685785" y="4343383"/>
            <a:ext cx="54867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200" lIns="171200" spcFirstLastPara="1" rIns="171200" wrap="square" tIns="1712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t/>
            </a:r>
            <a:endParaRPr/>
          </a:p>
        </p:txBody>
      </p:sp>
      <p:sp>
        <p:nvSpPr>
          <p:cNvPr id="96" name="Google Shape;96;g3beb0bc796b_0_0:notes"/>
          <p:cNvSpPr/>
          <p:nvPr>
            <p:ph idx="2" type="sldImg"/>
          </p:nvPr>
        </p:nvSpPr>
        <p:spPr>
          <a:xfrm>
            <a:off x="1141124" y="685783"/>
            <a:ext cx="45762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78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Hablar amplio y tendido sobre esto.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Que es alto/bajo nivel, que es lenguaje máquina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Ejemplos de lenguaje declarativo: bash y SQL</a:t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8" name="Google Shape;118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2" name="Google Shape;132;p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3" name="Google Shape;143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Hablar de python interactivo</a:t>
            </a:r>
            <a:endParaRPr/>
          </a:p>
        </p:txBody>
      </p:sp>
      <p:sp>
        <p:nvSpPr>
          <p:cNvPr id="155" name="Google Shape;155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9" name="Google Shape;16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Qué pasa cuando cada uno de estos 3 llega al 100%</a:t>
            </a:r>
            <a:endParaRPr/>
          </a:p>
        </p:txBody>
      </p:sp>
      <p:sp>
        <p:nvSpPr>
          <p:cNvPr id="186" name="Google Shape;18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Qué pasa cuando cada uno de estos 3 llega al 100%</a:t>
            </a:r>
            <a:endParaRPr/>
          </a:p>
        </p:txBody>
      </p:sp>
      <p:sp>
        <p:nvSpPr>
          <p:cNvPr id="199" name="Google Shape;199;p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Explicar un poco que es una librería</a:t>
            </a:r>
            <a:endParaRPr/>
          </a:p>
        </p:txBody>
      </p:sp>
      <p:sp>
        <p:nvSpPr>
          <p:cNvPr id="211" name="Google Shape;211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Explicar un poco que es una librería</a:t>
            </a:r>
            <a:endParaRPr/>
          </a:p>
        </p:txBody>
      </p:sp>
      <p:sp>
        <p:nvSpPr>
          <p:cNvPr id="224" name="Google Shape;224;p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7" name="Google Shape;237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beb0bc796b_0_98:notes"/>
          <p:cNvSpPr txBox="1"/>
          <p:nvPr>
            <p:ph idx="1" type="body"/>
          </p:nvPr>
        </p:nvSpPr>
        <p:spPr>
          <a:xfrm>
            <a:off x="685785" y="4343383"/>
            <a:ext cx="54867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200" lIns="171200" spcFirstLastPara="1" rIns="171200" wrap="square" tIns="1712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t/>
            </a:r>
            <a:endParaRPr/>
          </a:p>
        </p:txBody>
      </p:sp>
      <p:sp>
        <p:nvSpPr>
          <p:cNvPr id="249" name="Google Shape;249;g3beb0bc796b_0_98:notes"/>
          <p:cNvSpPr/>
          <p:nvPr>
            <p:ph idx="2" type="sldImg"/>
          </p:nvPr>
        </p:nvSpPr>
        <p:spPr>
          <a:xfrm>
            <a:off x="1141124" y="685783"/>
            <a:ext cx="45762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78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9" name="Google Shape;259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1" name="Google Shape;271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3" name="Google Shape;283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5" name="Google Shape;295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7" name="Google Shape;307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9" name="Google Shape;319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31" name="Google Shape;331;p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3beb0bc796b_0_107:notes"/>
          <p:cNvSpPr txBox="1"/>
          <p:nvPr>
            <p:ph idx="1" type="body"/>
          </p:nvPr>
        </p:nvSpPr>
        <p:spPr>
          <a:xfrm>
            <a:off x="685785" y="4343383"/>
            <a:ext cx="54867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171200" lIns="171200" spcFirstLastPara="1" rIns="171200" wrap="square" tIns="1712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t/>
            </a:r>
            <a:endParaRPr/>
          </a:p>
        </p:txBody>
      </p:sp>
      <p:sp>
        <p:nvSpPr>
          <p:cNvPr id="343" name="Google Shape;343;g3beb0bc796b_0_107:notes"/>
          <p:cNvSpPr/>
          <p:nvPr>
            <p:ph idx="2" type="sldImg"/>
          </p:nvPr>
        </p:nvSpPr>
        <p:spPr>
          <a:xfrm>
            <a:off x="1141124" y="685783"/>
            <a:ext cx="45762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78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53" name="Google Shape;353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65" name="Google Shape;365;p2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77" name="Google Shape;377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90" name="Google Shape;390;p2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03" name="Google Shape;403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15" name="Google Shape;415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Comparar el lenguaje de terminal con el lenguaje python.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Es declarativo?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Es de alto nivel?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/>
              <a:t>Es compilado?</a:t>
            </a:r>
            <a:endParaRPr/>
          </a:p>
        </p:txBody>
      </p:sp>
      <p:sp>
        <p:nvSpPr>
          <p:cNvPr id="428" name="Google Shape;428;p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 showMasterSp="0">
  <p:cSld name="Blank">
    <p:bg>
      <p:bgPr>
        <a:solidFill>
          <a:schemeClr val="lt1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3"/>
          <p:cNvSpPr/>
          <p:nvPr/>
        </p:nvSpPr>
        <p:spPr>
          <a:xfrm>
            <a:off x="0" y="0"/>
            <a:ext cx="9135747" cy="6852123"/>
          </a:xfrm>
          <a:custGeom>
            <a:rect b="b" l="l" r="r" t="t"/>
            <a:pathLst>
              <a:path extrusionOk="0" h="3456304" w="4608195">
                <a:moveTo>
                  <a:pt x="4608004" y="0"/>
                </a:moveTo>
                <a:lnTo>
                  <a:pt x="0" y="0"/>
                </a:lnTo>
                <a:lnTo>
                  <a:pt x="0" y="3456000"/>
                </a:lnTo>
                <a:lnTo>
                  <a:pt x="4608004" y="3456000"/>
                </a:lnTo>
                <a:lnTo>
                  <a:pt x="4608004" y="0"/>
                </a:lnTo>
                <a:close/>
              </a:path>
            </a:pathLst>
          </a:custGeom>
          <a:solidFill>
            <a:srgbClr val="333333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3"/>
          <p:cNvSpPr txBox="1"/>
          <p:nvPr>
            <p:ph idx="11" type="ftr"/>
          </p:nvPr>
        </p:nvSpPr>
        <p:spPr>
          <a:xfrm>
            <a:off x="3108960" y="6377939"/>
            <a:ext cx="2925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3" name="Google Shape;83;p13"/>
          <p:cNvSpPr txBox="1"/>
          <p:nvPr>
            <p:ph idx="10" type="dt"/>
          </p:nvPr>
        </p:nvSpPr>
        <p:spPr>
          <a:xfrm>
            <a:off x="457200" y="6377939"/>
            <a:ext cx="2103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4" name="Google Shape;84;p13"/>
          <p:cNvSpPr txBox="1"/>
          <p:nvPr>
            <p:ph idx="12" type="sldNum"/>
          </p:nvPr>
        </p:nvSpPr>
        <p:spPr>
          <a:xfrm>
            <a:off x="8724559" y="6622449"/>
            <a:ext cx="3024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marL="1397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0" lvl="1" marL="1397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indent="0" lvl="2" marL="1397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indent="0" lvl="3" marL="1397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indent="0" lvl="4" marL="1397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indent="0" lvl="5" marL="1397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indent="0" lvl="6" marL="1397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indent="0" lvl="7" marL="1397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indent="0" lvl="8" marL="13970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rgbClr val="333333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indent="0" lvl="0" marL="1397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200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3"/>
          <p:cNvSpPr/>
          <p:nvPr/>
        </p:nvSpPr>
        <p:spPr>
          <a:xfrm flipH="1" rot="10800000">
            <a:off x="-16364" y="6294231"/>
            <a:ext cx="9176700" cy="3282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79315" rotWithShape="0" dir="5400000" dist="45606">
              <a:srgbClr val="000000">
                <a:alpha val="34510"/>
              </a:srgbClr>
            </a:outerShdw>
          </a:effectLst>
        </p:spPr>
        <p:txBody>
          <a:bodyPr anchorCtr="0" anchor="ctr" bIns="90625" lIns="181275" spcFirstLastPara="1" rIns="181275" wrap="square" tIns="906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t/>
            </a:r>
            <a:endParaRPr b="0" i="0" sz="3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151240" y="6343001"/>
            <a:ext cx="1588800" cy="221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64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600" u="none" cap="none" strike="noStrike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3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13.png"/><Relationship Id="rId6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1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://archivo.py" TargetMode="Externa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/>
        </p:nvSpPr>
        <p:spPr>
          <a:xfrm>
            <a:off x="635000" y="1905000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Clase 2: Introducción a Python + Tipos de datos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4"/>
          <p:cNvSpPr txBox="1"/>
          <p:nvPr/>
        </p:nvSpPr>
        <p:spPr>
          <a:xfrm>
            <a:off x="635000" y="3556000"/>
            <a:ext cx="8496300" cy="52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Profesor: 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4"/>
          <p:cNvSpPr txBox="1"/>
          <p:nvPr/>
        </p:nvSpPr>
        <p:spPr>
          <a:xfrm>
            <a:off x="635000" y="4318000"/>
            <a:ext cx="8496300" cy="11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Auxiliares: Daniela Longas M Victoria Tolosa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/>
        </p:nvSpPr>
        <p:spPr>
          <a:xfrm>
            <a:off x="2240672" y="3207687"/>
            <a:ext cx="3676800" cy="3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2650">
            <a:spAutoFit/>
          </a:bodyPr>
          <a:lstStyle/>
          <a:p>
            <a:pPr indent="0" lvl="0" marL="25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cap="small">
                <a:solidFill>
                  <a:srgbClr val="F4F2ED"/>
                </a:solidFill>
                <a:latin typeface="Tahoma"/>
                <a:ea typeface="Tahoma"/>
                <a:cs typeface="Tahoma"/>
                <a:sym typeface="Tahoma"/>
              </a:rPr>
              <a:t>DEFINICIONES</a:t>
            </a:r>
            <a:endParaRPr b="0" i="0" sz="2200" u="none" cap="none" strike="noStrik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99" name="Google Shape;99;p15"/>
          <p:cNvGrpSpPr/>
          <p:nvPr/>
        </p:nvGrpSpPr>
        <p:grpSpPr>
          <a:xfrm>
            <a:off x="2260855" y="3600041"/>
            <a:ext cx="4642600" cy="50335"/>
            <a:chOff x="1133919" y="1518500"/>
            <a:chExt cx="2340610" cy="25400"/>
          </a:xfrm>
        </p:grpSpPr>
        <p:sp>
          <p:nvSpPr>
            <p:cNvPr id="100" name="Google Shape;100;p15"/>
            <p:cNvSpPr/>
            <p:nvPr/>
          </p:nvSpPr>
          <p:spPr>
            <a:xfrm>
              <a:off x="1133919" y="1518500"/>
              <a:ext cx="2340610" cy="25400"/>
            </a:xfrm>
            <a:custGeom>
              <a:rect b="b" l="l" r="r" t="t"/>
              <a:pathLst>
                <a:path extrusionOk="0" h="25400" w="234061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4F2ED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" name="Google Shape;101;p15"/>
            <p:cNvSpPr/>
            <p:nvPr/>
          </p:nvSpPr>
          <p:spPr>
            <a:xfrm>
              <a:off x="1133919" y="1518500"/>
              <a:ext cx="2340610" cy="25400"/>
            </a:xfrm>
            <a:custGeom>
              <a:rect b="b" l="l" r="r" t="t"/>
              <a:pathLst>
                <a:path extrusionOk="0" h="25400" w="234061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noFill/>
            <a:ln cap="flat" cmpd="sng" w="18875">
              <a:solidFill>
                <a:srgbClr val="F4F2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" name="Google Shape;102;p15"/>
            <p:cNvSpPr/>
            <p:nvPr/>
          </p:nvSpPr>
          <p:spPr>
            <a:xfrm>
              <a:off x="1133919" y="1518500"/>
              <a:ext cx="1221105" cy="25400"/>
            </a:xfrm>
            <a:custGeom>
              <a:rect b="b" l="l" r="r" t="t"/>
              <a:pathLst>
                <a:path extrusionOk="0" h="25400" w="1221105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006DB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" name="Google Shape;103;p15"/>
            <p:cNvSpPr/>
            <p:nvPr/>
          </p:nvSpPr>
          <p:spPr>
            <a:xfrm>
              <a:off x="1133919" y="1518500"/>
              <a:ext cx="1221105" cy="25400"/>
            </a:xfrm>
            <a:custGeom>
              <a:rect b="b" l="l" r="r" t="t"/>
              <a:pathLst>
                <a:path extrusionOk="0" h="25400" w="1221105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FD966"/>
            </a:solidFill>
            <a:ln cap="flat" cmpd="sng" w="18875">
              <a:solidFill>
                <a:srgbClr val="F1C23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6"/>
          <p:cNvSpPr txBox="1"/>
          <p:nvPr/>
        </p:nvSpPr>
        <p:spPr>
          <a:xfrm>
            <a:off x="254000" y="190500"/>
            <a:ext cx="5715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110" name="Google Shape;11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6"/>
          <p:cNvSpPr/>
          <p:nvPr/>
        </p:nvSpPr>
        <p:spPr>
          <a:xfrm>
            <a:off x="0" y="6286500"/>
            <a:ext cx="9144000" cy="384048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6"/>
          <p:cNvSpPr txBox="1"/>
          <p:nvPr/>
        </p:nvSpPr>
        <p:spPr>
          <a:xfrm>
            <a:off x="254000" y="85090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16"/>
          <p:cNvSpPr txBox="1"/>
          <p:nvPr/>
        </p:nvSpPr>
        <p:spPr>
          <a:xfrm>
            <a:off x="177800" y="63754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6"/>
          <p:cNvSpPr txBox="1"/>
          <p:nvPr/>
        </p:nvSpPr>
        <p:spPr>
          <a:xfrm>
            <a:off x="635000" y="1524000"/>
            <a:ext cx="85090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¿Qué es Python?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16"/>
          <p:cNvSpPr txBox="1"/>
          <p:nvPr/>
        </p:nvSpPr>
        <p:spPr>
          <a:xfrm>
            <a:off x="635000" y="2540000"/>
            <a:ext cx="84963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0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Lenguaje de programación:</a:t>
            </a:r>
            <a:endParaRPr b="0" i="0" sz="20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0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De alto nivel </a:t>
            </a:r>
            <a:endParaRPr b="0" i="0" sz="20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0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No-declarativo </a:t>
            </a:r>
            <a:endParaRPr b="0" i="0" sz="20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0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Interpretado (no compilado) </a:t>
            </a:r>
            <a:endParaRPr b="0" i="0" sz="20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0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El lenguaje más popular del mundo actualmente. Ideal para análisis de datos y automatización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7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7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7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7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125" name="Google Shape;12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17" title="Captura desde 2026-01-25 16-25-43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77800" y="646925"/>
            <a:ext cx="3913625" cy="25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7" title="Captura desde 2026-01-25 16-26-39.png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091425" y="646925"/>
            <a:ext cx="4942523" cy="279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7" title="Captura desde 2026-01-25 16-27-28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52400" y="3595575"/>
            <a:ext cx="3913625" cy="2538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7" title="Captura desde 2026-01-25 16-28-08.png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218425" y="3595575"/>
            <a:ext cx="4486982" cy="2538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8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8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18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139" name="Google Shape;13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8" title="Captura desde 2026-01-25 16-28-45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8175" y="1277650"/>
            <a:ext cx="7605250" cy="4302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9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9"/>
          <p:cNvSpPr txBox="1"/>
          <p:nvPr/>
        </p:nvSpPr>
        <p:spPr>
          <a:xfrm>
            <a:off x="254000" y="190500"/>
            <a:ext cx="5715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19"/>
          <p:cNvSpPr/>
          <p:nvPr/>
        </p:nvSpPr>
        <p:spPr>
          <a:xfrm>
            <a:off x="0" y="6286500"/>
            <a:ext cx="9144000" cy="384048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9"/>
          <p:cNvSpPr txBox="1"/>
          <p:nvPr/>
        </p:nvSpPr>
        <p:spPr>
          <a:xfrm>
            <a:off x="254000" y="85090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19"/>
          <p:cNvSpPr txBox="1"/>
          <p:nvPr/>
        </p:nvSpPr>
        <p:spPr>
          <a:xfrm>
            <a:off x="177800" y="63754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19"/>
          <p:cNvSpPr txBox="1"/>
          <p:nvPr/>
        </p:nvSpPr>
        <p:spPr>
          <a:xfrm>
            <a:off x="635000" y="1524000"/>
            <a:ext cx="85090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¿Qué es un lenguaje de programación?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9"/>
          <p:cNvSpPr txBox="1"/>
          <p:nvPr/>
        </p:nvSpPr>
        <p:spPr>
          <a:xfrm>
            <a:off x="635000" y="2540000"/>
            <a:ext cx="84963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Protocolo (sintaxis) explicitada en archivos de texto plano.</a:t>
            </a:r>
            <a:endParaRPr b="1" i="0" sz="20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Sigue normas lógicas para comunicarse con la computadora.</a:t>
            </a:r>
            <a:endParaRPr b="1" i="0" sz="20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Sin redundancias ni dobles significados.</a:t>
            </a:r>
            <a:endParaRPr b="1" i="0" sz="20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Hace exactamente lo que se le indica</a:t>
            </a:r>
            <a:endParaRPr b="1" i="0" sz="20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Debe ser instalado en la computadora. Implica software.</a:t>
            </a:r>
            <a:endParaRPr b="1" i="0" sz="20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i_tella2.png" id="152" name="Google Shape;15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20"/>
          <p:cNvSpPr txBox="1"/>
          <p:nvPr/>
        </p:nvSpPr>
        <p:spPr>
          <a:xfrm>
            <a:off x="254000" y="190500"/>
            <a:ext cx="5715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0"/>
          <p:cNvSpPr/>
          <p:nvPr/>
        </p:nvSpPr>
        <p:spPr>
          <a:xfrm>
            <a:off x="0" y="6286500"/>
            <a:ext cx="9144000" cy="384048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0"/>
          <p:cNvSpPr txBox="1"/>
          <p:nvPr/>
        </p:nvSpPr>
        <p:spPr>
          <a:xfrm>
            <a:off x="254000" y="85090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20"/>
          <p:cNvSpPr txBox="1"/>
          <p:nvPr/>
        </p:nvSpPr>
        <p:spPr>
          <a:xfrm>
            <a:off x="177800" y="63754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20"/>
          <p:cNvSpPr txBox="1"/>
          <p:nvPr/>
        </p:nvSpPr>
        <p:spPr>
          <a:xfrm>
            <a:off x="371975" y="764150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¿Qué es un algoritmo?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20"/>
          <p:cNvSpPr txBox="1"/>
          <p:nvPr/>
        </p:nvSpPr>
        <p:spPr>
          <a:xfrm>
            <a:off x="323850" y="1502200"/>
            <a:ext cx="84963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Serie de pasos lógicos finitos y ordenados.</a:t>
            </a:r>
            <a:endParaRPr b="1" i="0" sz="20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Escrito en algún lenguaje de programación, pesudocódigo o lenguaje natural</a:t>
            </a:r>
            <a:endParaRPr b="1" i="0" sz="20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164" name="Google Shape;164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20"/>
          <p:cNvSpPr txBox="1"/>
          <p:nvPr/>
        </p:nvSpPr>
        <p:spPr>
          <a:xfrm>
            <a:off x="317550" y="3040650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¿Qué es un script/programa?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0"/>
          <p:cNvSpPr txBox="1"/>
          <p:nvPr/>
        </p:nvSpPr>
        <p:spPr>
          <a:xfrm>
            <a:off x="254000" y="3778700"/>
            <a:ext cx="84963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Uno o más algoritmos</a:t>
            </a:r>
            <a:endParaRPr b="1" i="0" sz="20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Encapsulados en un archivo de texto plano.</a:t>
            </a:r>
            <a:endParaRPr b="1" i="0" sz="20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Escrito en algún lenguaje de programación, pesudocódigo o lenguaje natural</a:t>
            </a:r>
            <a:endParaRPr b="1" i="0" sz="20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En Python: extensión .py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1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1"/>
          <p:cNvSpPr txBox="1"/>
          <p:nvPr/>
        </p:nvSpPr>
        <p:spPr>
          <a:xfrm>
            <a:off x="254000" y="190500"/>
            <a:ext cx="5715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21"/>
          <p:cNvSpPr/>
          <p:nvPr/>
        </p:nvSpPr>
        <p:spPr>
          <a:xfrm>
            <a:off x="0" y="6286500"/>
            <a:ext cx="9144000" cy="384048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1"/>
          <p:cNvSpPr txBox="1"/>
          <p:nvPr/>
        </p:nvSpPr>
        <p:spPr>
          <a:xfrm>
            <a:off x="254000" y="85090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21"/>
          <p:cNvSpPr txBox="1"/>
          <p:nvPr/>
        </p:nvSpPr>
        <p:spPr>
          <a:xfrm>
            <a:off x="177800" y="63754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21"/>
          <p:cNvSpPr txBox="1"/>
          <p:nvPr/>
        </p:nvSpPr>
        <p:spPr>
          <a:xfrm>
            <a:off x="622300" y="85182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¿Qué es la terminal?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21"/>
          <p:cNvSpPr txBox="1"/>
          <p:nvPr/>
        </p:nvSpPr>
        <p:spPr>
          <a:xfrm>
            <a:off x="628600" y="1517150"/>
            <a:ext cx="8496300" cy="16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Interfaz para interactuar directamente con la computadora mediante comandos.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Todo lo que hacemos con UI se puede hacer con terminal.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Sublime + Terminal: ejecución 'basal' que usaremos en la materia.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Comandos varían según sistema operativo (Windows/Mac/Linux).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En este ejemplo, estos comandos en distintos OS hacen lo mismo: mirar en terminal el contenido de un archivo.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i_tella2.png" id="178" name="Google Shape;17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77800" y="4118275"/>
            <a:ext cx="4351974" cy="696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076325" y="4118275"/>
            <a:ext cx="4963786" cy="696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2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685175" y="5016275"/>
            <a:ext cx="6096000" cy="8763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1"/>
          <p:cNvSpPr txBox="1"/>
          <p:nvPr/>
        </p:nvSpPr>
        <p:spPr>
          <a:xfrm>
            <a:off x="254000" y="3690563"/>
            <a:ext cx="84963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Linux                                                                                          Windows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1"/>
          <p:cNvSpPr txBox="1"/>
          <p:nvPr/>
        </p:nvSpPr>
        <p:spPr>
          <a:xfrm>
            <a:off x="1490425" y="5364550"/>
            <a:ext cx="10911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Mac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2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2"/>
          <p:cNvSpPr txBox="1"/>
          <p:nvPr/>
        </p:nvSpPr>
        <p:spPr>
          <a:xfrm>
            <a:off x="254000" y="190500"/>
            <a:ext cx="5715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22"/>
          <p:cNvSpPr/>
          <p:nvPr/>
        </p:nvSpPr>
        <p:spPr>
          <a:xfrm>
            <a:off x="0" y="6286500"/>
            <a:ext cx="9144000" cy="384048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2"/>
          <p:cNvSpPr txBox="1"/>
          <p:nvPr/>
        </p:nvSpPr>
        <p:spPr>
          <a:xfrm>
            <a:off x="254000" y="85090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2"/>
          <p:cNvSpPr txBox="1"/>
          <p:nvPr/>
        </p:nvSpPr>
        <p:spPr>
          <a:xfrm>
            <a:off x="177800" y="63754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22"/>
          <p:cNvSpPr txBox="1"/>
          <p:nvPr/>
        </p:nvSpPr>
        <p:spPr>
          <a:xfrm>
            <a:off x="635000" y="1524000"/>
            <a:ext cx="85090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RAM, Disco y CPU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2"/>
          <p:cNvSpPr txBox="1"/>
          <p:nvPr/>
        </p:nvSpPr>
        <p:spPr>
          <a:xfrm>
            <a:off x="410950" y="2197500"/>
            <a:ext cx="84963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Disco: memoria persistente de la computadora </a:t>
            </a:r>
            <a:endParaRPr b="1" i="0" sz="20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RAM: memoria temporal </a:t>
            </a:r>
            <a:endParaRPr b="1" i="0" sz="20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CPU: potencia computacional </a:t>
            </a:r>
            <a:endParaRPr b="1" i="0" sz="20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Monitorear estos 3 componentes al ejecutar scripts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195" name="Google Shape;19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159150" y="3513200"/>
            <a:ext cx="4111279" cy="2552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3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3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23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3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23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23"/>
          <p:cNvSpPr txBox="1"/>
          <p:nvPr/>
        </p:nvSpPr>
        <p:spPr>
          <a:xfrm>
            <a:off x="177800" y="773900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Sobre la memoria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207" name="Google Shape;20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54000" y="1736262"/>
            <a:ext cx="8209724" cy="3474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4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4"/>
          <p:cNvSpPr txBox="1"/>
          <p:nvPr/>
        </p:nvSpPr>
        <p:spPr>
          <a:xfrm>
            <a:off x="254000" y="190500"/>
            <a:ext cx="5715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24"/>
          <p:cNvSpPr/>
          <p:nvPr/>
        </p:nvSpPr>
        <p:spPr>
          <a:xfrm>
            <a:off x="0" y="6286500"/>
            <a:ext cx="9144000" cy="384048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4"/>
          <p:cNvSpPr txBox="1"/>
          <p:nvPr/>
        </p:nvSpPr>
        <p:spPr>
          <a:xfrm>
            <a:off x="254000" y="85090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24"/>
          <p:cNvSpPr txBox="1"/>
          <p:nvPr/>
        </p:nvSpPr>
        <p:spPr>
          <a:xfrm>
            <a:off x="177800" y="63754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24"/>
          <p:cNvSpPr txBox="1"/>
          <p:nvPr/>
        </p:nvSpPr>
        <p:spPr>
          <a:xfrm>
            <a:off x="317550" y="7446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Algunas características de Python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24"/>
          <p:cNvSpPr txBox="1"/>
          <p:nvPr/>
        </p:nvSpPr>
        <p:spPr>
          <a:xfrm>
            <a:off x="177800" y="1273600"/>
            <a:ext cx="84963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Alto nivel (alejado del lenguaje máquina): lento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Comunidad activa creando librerías continuamente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Ideal donde la velocidad no es crucial: backend, datos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Menos adecuado cuando velocidad es clave: desarrollo web, apps, videojuegos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220" name="Google Shape;220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86189" y="2517675"/>
            <a:ext cx="6169187" cy="36329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25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25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25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5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25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25"/>
          <p:cNvSpPr txBox="1"/>
          <p:nvPr/>
        </p:nvSpPr>
        <p:spPr>
          <a:xfrm>
            <a:off x="317550" y="744675"/>
            <a:ext cx="85089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Librería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25"/>
          <p:cNvSpPr txBox="1"/>
          <p:nvPr/>
        </p:nvSpPr>
        <p:spPr>
          <a:xfrm>
            <a:off x="177800" y="1273600"/>
            <a:ext cx="84963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Una librería es un conjunto de software creado y mantenido por una comunidad de devs.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La misma se puede importar mediante el comando import a tu script de python.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Muchas veces las librerías son endémicas de python, otras veces hay que instalarlas previamente en tu entorno usando herramientas como pip.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233" name="Google Shape;233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234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63525" y="2811400"/>
            <a:ext cx="6851724" cy="3322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6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6"/>
          <p:cNvSpPr txBox="1"/>
          <p:nvPr/>
        </p:nvSpPr>
        <p:spPr>
          <a:xfrm>
            <a:off x="254000" y="190500"/>
            <a:ext cx="5715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26"/>
          <p:cNvSpPr/>
          <p:nvPr/>
        </p:nvSpPr>
        <p:spPr>
          <a:xfrm>
            <a:off x="0" y="6286500"/>
            <a:ext cx="9144000" cy="384048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6"/>
          <p:cNvSpPr txBox="1"/>
          <p:nvPr/>
        </p:nvSpPr>
        <p:spPr>
          <a:xfrm>
            <a:off x="254000" y="85090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26"/>
          <p:cNvSpPr txBox="1"/>
          <p:nvPr/>
        </p:nvSpPr>
        <p:spPr>
          <a:xfrm>
            <a:off x="177800" y="63754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26"/>
          <p:cNvSpPr txBox="1"/>
          <p:nvPr/>
        </p:nvSpPr>
        <p:spPr>
          <a:xfrm>
            <a:off x="177800" y="1299950"/>
            <a:ext cx="85089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Ya sea con python interactivo o con un script. Intenten esto: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26"/>
          <p:cNvSpPr txBox="1"/>
          <p:nvPr/>
        </p:nvSpPr>
        <p:spPr>
          <a:xfrm>
            <a:off x="254000" y="2505425"/>
            <a:ext cx="8496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2D2D2D"/>
                </a:solidFill>
                <a:latin typeface="Courier New"/>
                <a:ea typeface="Courier New"/>
                <a:cs typeface="Courier New"/>
                <a:sym typeface="Courier New"/>
              </a:rPr>
              <a:t>print('Hello World') </a:t>
            </a:r>
            <a:endParaRPr b="1" i="0" sz="2400" u="none" cap="none" strike="noStrike">
              <a:solidFill>
                <a:srgbClr val="2D2D2D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descr="di_tella2.png" id="246" name="Google Shape;246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7"/>
          <p:cNvSpPr txBox="1"/>
          <p:nvPr/>
        </p:nvSpPr>
        <p:spPr>
          <a:xfrm>
            <a:off x="2240672" y="3207687"/>
            <a:ext cx="3676800" cy="3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2650">
            <a:spAutoFit/>
          </a:bodyPr>
          <a:lstStyle/>
          <a:p>
            <a:pPr indent="0" lvl="0" marL="25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cap="small">
                <a:solidFill>
                  <a:srgbClr val="F4F2ED"/>
                </a:solidFill>
                <a:latin typeface="Tahoma"/>
                <a:ea typeface="Tahoma"/>
                <a:cs typeface="Tahoma"/>
                <a:sym typeface="Tahoma"/>
              </a:rPr>
              <a:t>TIPOS DE DATOS</a:t>
            </a:r>
            <a:endParaRPr b="0" i="0" sz="2200" u="none" cap="none" strike="noStrik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252" name="Google Shape;252;p27"/>
          <p:cNvGrpSpPr/>
          <p:nvPr/>
        </p:nvGrpSpPr>
        <p:grpSpPr>
          <a:xfrm>
            <a:off x="2260855" y="3600041"/>
            <a:ext cx="4642600" cy="50335"/>
            <a:chOff x="1133919" y="1518500"/>
            <a:chExt cx="2340610" cy="25400"/>
          </a:xfrm>
        </p:grpSpPr>
        <p:sp>
          <p:nvSpPr>
            <p:cNvPr id="253" name="Google Shape;253;p27"/>
            <p:cNvSpPr/>
            <p:nvPr/>
          </p:nvSpPr>
          <p:spPr>
            <a:xfrm>
              <a:off x="1133919" y="1518500"/>
              <a:ext cx="2340610" cy="25400"/>
            </a:xfrm>
            <a:custGeom>
              <a:rect b="b" l="l" r="r" t="t"/>
              <a:pathLst>
                <a:path extrusionOk="0" h="25400" w="234061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4F2ED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" name="Google Shape;254;p27"/>
            <p:cNvSpPr/>
            <p:nvPr/>
          </p:nvSpPr>
          <p:spPr>
            <a:xfrm>
              <a:off x="1133919" y="1518500"/>
              <a:ext cx="2340610" cy="25400"/>
            </a:xfrm>
            <a:custGeom>
              <a:rect b="b" l="l" r="r" t="t"/>
              <a:pathLst>
                <a:path extrusionOk="0" h="25400" w="234061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noFill/>
            <a:ln cap="flat" cmpd="sng" w="18875">
              <a:solidFill>
                <a:srgbClr val="F4F2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" name="Google Shape;255;p27"/>
            <p:cNvSpPr/>
            <p:nvPr/>
          </p:nvSpPr>
          <p:spPr>
            <a:xfrm>
              <a:off x="1133919" y="1518500"/>
              <a:ext cx="1221105" cy="25400"/>
            </a:xfrm>
            <a:custGeom>
              <a:rect b="b" l="l" r="r" t="t"/>
              <a:pathLst>
                <a:path extrusionOk="0" h="25400" w="1221105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006DB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" name="Google Shape;256;p27"/>
            <p:cNvSpPr/>
            <p:nvPr/>
          </p:nvSpPr>
          <p:spPr>
            <a:xfrm>
              <a:off x="1133919" y="1518500"/>
              <a:ext cx="1221105" cy="25400"/>
            </a:xfrm>
            <a:custGeom>
              <a:rect b="b" l="l" r="r" t="t"/>
              <a:pathLst>
                <a:path extrusionOk="0" h="25400" w="1221105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FD966"/>
            </a:solidFill>
            <a:ln cap="flat" cmpd="sng" w="18875">
              <a:solidFill>
                <a:srgbClr val="F1C23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>
    <p:fade thruBlk="1"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8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8"/>
          <p:cNvSpPr txBox="1"/>
          <p:nvPr/>
        </p:nvSpPr>
        <p:spPr>
          <a:xfrm>
            <a:off x="254000" y="190500"/>
            <a:ext cx="5715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28"/>
          <p:cNvSpPr/>
          <p:nvPr/>
        </p:nvSpPr>
        <p:spPr>
          <a:xfrm>
            <a:off x="0" y="6286500"/>
            <a:ext cx="9144000" cy="384048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8"/>
          <p:cNvSpPr txBox="1"/>
          <p:nvPr/>
        </p:nvSpPr>
        <p:spPr>
          <a:xfrm>
            <a:off x="254000" y="85090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28"/>
          <p:cNvSpPr txBox="1"/>
          <p:nvPr/>
        </p:nvSpPr>
        <p:spPr>
          <a:xfrm>
            <a:off x="177800" y="63754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28"/>
          <p:cNvSpPr txBox="1"/>
          <p:nvPr/>
        </p:nvSpPr>
        <p:spPr>
          <a:xfrm>
            <a:off x="635000" y="1524000"/>
            <a:ext cx="8496300" cy="52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Tipos de Datos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28"/>
          <p:cNvSpPr txBox="1"/>
          <p:nvPr/>
        </p:nvSpPr>
        <p:spPr>
          <a:xfrm>
            <a:off x="635000" y="2540000"/>
            <a:ext cx="84963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int: números enteros (ej: 42, -10)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float: números decimales (ej: 3.14, -0.5)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str: cadenas de texto (ej: 'Hola', Python )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bool: valores booleanos (True, False)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None: valor nulo (None)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268" name="Google Shape;268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29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9"/>
          <p:cNvSpPr txBox="1"/>
          <p:nvPr/>
        </p:nvSpPr>
        <p:spPr>
          <a:xfrm>
            <a:off x="254000" y="190500"/>
            <a:ext cx="5715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29"/>
          <p:cNvSpPr/>
          <p:nvPr/>
        </p:nvSpPr>
        <p:spPr>
          <a:xfrm>
            <a:off x="0" y="6286500"/>
            <a:ext cx="9144000" cy="384048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9"/>
          <p:cNvSpPr txBox="1"/>
          <p:nvPr/>
        </p:nvSpPr>
        <p:spPr>
          <a:xfrm>
            <a:off x="254000" y="85090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29"/>
          <p:cNvSpPr txBox="1"/>
          <p:nvPr/>
        </p:nvSpPr>
        <p:spPr>
          <a:xfrm>
            <a:off x="177800" y="63754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29"/>
          <p:cNvSpPr txBox="1"/>
          <p:nvPr/>
        </p:nvSpPr>
        <p:spPr>
          <a:xfrm>
            <a:off x="635000" y="1524000"/>
            <a:ext cx="8496300" cy="52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Operaciones Aritméticas: Integers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29"/>
          <p:cNvSpPr txBox="1"/>
          <p:nvPr/>
        </p:nvSpPr>
        <p:spPr>
          <a:xfrm>
            <a:off x="635000" y="2540000"/>
            <a:ext cx="8496300" cy="193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+ : suma (5 + 3 = 8)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- : resta (10 - 4 = 6)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* : multiplicación (3 * 4 = 12)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/ : división (15 / 3 = 5.0)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// : división entera (15 // 4 = 3)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% : módulo/resto (15 % 4 = 3)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** : exponenciación (2 ** 3 = 8)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280" name="Google Shape;280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30"/>
          <p:cNvSpPr txBox="1"/>
          <p:nvPr/>
        </p:nvSpPr>
        <p:spPr>
          <a:xfrm>
            <a:off x="254000" y="190500"/>
            <a:ext cx="5715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30"/>
          <p:cNvSpPr/>
          <p:nvPr/>
        </p:nvSpPr>
        <p:spPr>
          <a:xfrm>
            <a:off x="0" y="6286500"/>
            <a:ext cx="9144000" cy="384048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30"/>
          <p:cNvSpPr txBox="1"/>
          <p:nvPr/>
        </p:nvSpPr>
        <p:spPr>
          <a:xfrm>
            <a:off x="254000" y="85090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9" name="Google Shape;289;p30"/>
          <p:cNvSpPr txBox="1"/>
          <p:nvPr/>
        </p:nvSpPr>
        <p:spPr>
          <a:xfrm>
            <a:off x="177800" y="63754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30"/>
          <p:cNvSpPr txBox="1"/>
          <p:nvPr/>
        </p:nvSpPr>
        <p:spPr>
          <a:xfrm>
            <a:off x="635000" y="1524000"/>
            <a:ext cx="8496300" cy="52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Operaciones Aritméticas: Floats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30"/>
          <p:cNvSpPr txBox="1"/>
          <p:nvPr/>
        </p:nvSpPr>
        <p:spPr>
          <a:xfrm>
            <a:off x="635000" y="2540000"/>
            <a:ext cx="8496300" cy="193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+ : suma (3.5 + 2.1 = 5.6)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- : resta (10.0 - 4.5 = 5.5)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* : multiplicación (2.5 * 4 = 10.0)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/ : división (15.0 / 3 = 5.0)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// : división entera (15.7 // 4 = 3.0)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% : módulo (15.5 % 4 = 3.5)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** : exponenciación (2.0 ** 3 = 8.0)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292" name="Google Shape;292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1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31"/>
          <p:cNvSpPr txBox="1"/>
          <p:nvPr/>
        </p:nvSpPr>
        <p:spPr>
          <a:xfrm>
            <a:off x="254000" y="190500"/>
            <a:ext cx="5715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31"/>
          <p:cNvSpPr/>
          <p:nvPr/>
        </p:nvSpPr>
        <p:spPr>
          <a:xfrm>
            <a:off x="0" y="6286500"/>
            <a:ext cx="9144000" cy="384048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31"/>
          <p:cNvSpPr txBox="1"/>
          <p:nvPr/>
        </p:nvSpPr>
        <p:spPr>
          <a:xfrm>
            <a:off x="254000" y="85090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31"/>
          <p:cNvSpPr txBox="1"/>
          <p:nvPr/>
        </p:nvSpPr>
        <p:spPr>
          <a:xfrm>
            <a:off x="177800" y="63754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31"/>
          <p:cNvSpPr txBox="1"/>
          <p:nvPr/>
        </p:nvSpPr>
        <p:spPr>
          <a:xfrm>
            <a:off x="635000" y="1524000"/>
            <a:ext cx="8496300" cy="52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Operaciones Aritméticas: Bools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31"/>
          <p:cNvSpPr txBox="1"/>
          <p:nvPr/>
        </p:nvSpPr>
        <p:spPr>
          <a:xfrm>
            <a:off x="635000" y="2540000"/>
            <a:ext cx="84963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and : Y lógico (True and False = False)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or : O lógico (True or False = True)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not : Negación (not True = False)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== : Igualdad (True == True = True)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!= : Desigualdad (True != False = True)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304" name="Google Shape;304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2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32"/>
          <p:cNvSpPr txBox="1"/>
          <p:nvPr/>
        </p:nvSpPr>
        <p:spPr>
          <a:xfrm>
            <a:off x="254000" y="190500"/>
            <a:ext cx="5715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32"/>
          <p:cNvSpPr/>
          <p:nvPr/>
        </p:nvSpPr>
        <p:spPr>
          <a:xfrm>
            <a:off x="0" y="6286500"/>
            <a:ext cx="9144000" cy="384048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32"/>
          <p:cNvSpPr txBox="1"/>
          <p:nvPr/>
        </p:nvSpPr>
        <p:spPr>
          <a:xfrm>
            <a:off x="254000" y="85090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32"/>
          <p:cNvSpPr txBox="1"/>
          <p:nvPr/>
        </p:nvSpPr>
        <p:spPr>
          <a:xfrm>
            <a:off x="177800" y="63754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32"/>
          <p:cNvSpPr txBox="1"/>
          <p:nvPr/>
        </p:nvSpPr>
        <p:spPr>
          <a:xfrm>
            <a:off x="635000" y="1524000"/>
            <a:ext cx="8496300" cy="52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Operaciones Aritméticas: Strings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32"/>
          <p:cNvSpPr txBox="1"/>
          <p:nvPr/>
        </p:nvSpPr>
        <p:spPr>
          <a:xfrm>
            <a:off x="635000" y="2540000"/>
            <a:ext cx="84963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+ : concatenación ('Hola' + ' Mundo' = 'Hola Mundo')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* : repetición ('Hi' * 3 = 'HiHiHi')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== : igualdad ('abc' == 'abc' = True)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!= : desigualdad ('abc' != 'def' = True)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in : pertenencia ('a' in 'abc' = True)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316" name="Google Shape;3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33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33"/>
          <p:cNvSpPr txBox="1"/>
          <p:nvPr/>
        </p:nvSpPr>
        <p:spPr>
          <a:xfrm>
            <a:off x="254000" y="190500"/>
            <a:ext cx="5715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33"/>
          <p:cNvSpPr/>
          <p:nvPr/>
        </p:nvSpPr>
        <p:spPr>
          <a:xfrm>
            <a:off x="0" y="6286500"/>
            <a:ext cx="9144000" cy="384048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33"/>
          <p:cNvSpPr txBox="1"/>
          <p:nvPr/>
        </p:nvSpPr>
        <p:spPr>
          <a:xfrm>
            <a:off x="254000" y="85090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33"/>
          <p:cNvSpPr txBox="1"/>
          <p:nvPr/>
        </p:nvSpPr>
        <p:spPr>
          <a:xfrm>
            <a:off x="177800" y="63754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33"/>
          <p:cNvSpPr txBox="1"/>
          <p:nvPr/>
        </p:nvSpPr>
        <p:spPr>
          <a:xfrm>
            <a:off x="635000" y="1524000"/>
            <a:ext cx="8496300" cy="52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Conversión de Tipos de Datos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33"/>
          <p:cNvSpPr txBox="1"/>
          <p:nvPr/>
        </p:nvSpPr>
        <p:spPr>
          <a:xfrm>
            <a:off x="635000" y="2540000"/>
            <a:ext cx="8496300" cy="16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type(): función para verificar el tipo de dato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str(): convierte a string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int(): convierte a entero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float(): convierte a decimal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bool(): convierte a booleano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Ejemplos: int('42') = 42, str(42) = '42'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328" name="Google Shape;328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34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34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34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34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34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34"/>
          <p:cNvSpPr txBox="1"/>
          <p:nvPr/>
        </p:nvSpPr>
        <p:spPr>
          <a:xfrm>
            <a:off x="635000" y="1524000"/>
            <a:ext cx="84963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Ejercicio: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34"/>
          <p:cNvSpPr txBox="1"/>
          <p:nvPr/>
        </p:nvSpPr>
        <p:spPr>
          <a:xfrm>
            <a:off x="635000" y="2540000"/>
            <a:ext cx="84963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AutoNum type="alphaUcPeriod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3*'p'+'laya'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AutoNum type="alphaUcPeriod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3*int('55')*False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AutoNum type="alphaUcPeriod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53+'53'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AutoNum type="alphaUcPeriod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11/11 ==1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AutoNum type="alphaUcPeriod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6.0 == 6.000000000000000000000000000000000000000000001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i_tella2.png" id="340" name="Google Shape;340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5"/>
          <p:cNvSpPr txBox="1"/>
          <p:nvPr/>
        </p:nvSpPr>
        <p:spPr>
          <a:xfrm>
            <a:off x="2240675" y="3207675"/>
            <a:ext cx="7154100" cy="36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2650">
            <a:spAutoFit/>
          </a:bodyPr>
          <a:lstStyle/>
          <a:p>
            <a:pPr indent="0" lvl="0" marL="25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cap="small">
                <a:solidFill>
                  <a:srgbClr val="F4F2ED"/>
                </a:solidFill>
                <a:latin typeface="Tahoma"/>
                <a:ea typeface="Tahoma"/>
                <a:cs typeface="Tahoma"/>
                <a:sym typeface="Tahoma"/>
              </a:rPr>
              <a:t>VARIABLES, ASIGNACIÓN Y MÁS DEFINICIONES</a:t>
            </a:r>
            <a:endParaRPr b="0" i="0" sz="2200" u="none" cap="none" strike="noStrike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346" name="Google Shape;346;p35"/>
          <p:cNvGrpSpPr/>
          <p:nvPr/>
        </p:nvGrpSpPr>
        <p:grpSpPr>
          <a:xfrm>
            <a:off x="2260855" y="3600041"/>
            <a:ext cx="4642600" cy="50335"/>
            <a:chOff x="1133919" y="1518500"/>
            <a:chExt cx="2340610" cy="25400"/>
          </a:xfrm>
        </p:grpSpPr>
        <p:sp>
          <p:nvSpPr>
            <p:cNvPr id="347" name="Google Shape;347;p35"/>
            <p:cNvSpPr/>
            <p:nvPr/>
          </p:nvSpPr>
          <p:spPr>
            <a:xfrm>
              <a:off x="1133919" y="1518500"/>
              <a:ext cx="2340610" cy="25400"/>
            </a:xfrm>
            <a:custGeom>
              <a:rect b="b" l="l" r="r" t="t"/>
              <a:pathLst>
                <a:path extrusionOk="0" h="25400" w="234061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4F2ED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" name="Google Shape;348;p35"/>
            <p:cNvSpPr/>
            <p:nvPr/>
          </p:nvSpPr>
          <p:spPr>
            <a:xfrm>
              <a:off x="1133919" y="1518500"/>
              <a:ext cx="2340610" cy="25400"/>
            </a:xfrm>
            <a:custGeom>
              <a:rect b="b" l="l" r="r" t="t"/>
              <a:pathLst>
                <a:path extrusionOk="0" h="25400" w="234061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noFill/>
            <a:ln cap="flat" cmpd="sng" w="18875">
              <a:solidFill>
                <a:srgbClr val="F4F2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" name="Google Shape;349;p35"/>
            <p:cNvSpPr/>
            <p:nvPr/>
          </p:nvSpPr>
          <p:spPr>
            <a:xfrm>
              <a:off x="1133919" y="1518500"/>
              <a:ext cx="1221105" cy="25400"/>
            </a:xfrm>
            <a:custGeom>
              <a:rect b="b" l="l" r="r" t="t"/>
              <a:pathLst>
                <a:path extrusionOk="0" h="25400" w="1221105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006DB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p35"/>
            <p:cNvSpPr/>
            <p:nvPr/>
          </p:nvSpPr>
          <p:spPr>
            <a:xfrm>
              <a:off x="1133919" y="1518500"/>
              <a:ext cx="1221105" cy="25400"/>
            </a:xfrm>
            <a:custGeom>
              <a:rect b="b" l="l" r="r" t="t"/>
              <a:pathLst>
                <a:path extrusionOk="0" h="25400" w="1221105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FD966"/>
            </a:solidFill>
            <a:ln cap="flat" cmpd="sng" w="18875">
              <a:solidFill>
                <a:srgbClr val="F1C23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t/>
              </a:r>
              <a:endParaRPr b="0" i="0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>
    <p:fade thruBlk="1"/>
  </p:transition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36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36"/>
          <p:cNvSpPr txBox="1"/>
          <p:nvPr/>
        </p:nvSpPr>
        <p:spPr>
          <a:xfrm>
            <a:off x="254000" y="190500"/>
            <a:ext cx="5715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36"/>
          <p:cNvSpPr/>
          <p:nvPr/>
        </p:nvSpPr>
        <p:spPr>
          <a:xfrm>
            <a:off x="0" y="6286500"/>
            <a:ext cx="9144000" cy="384048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36"/>
          <p:cNvSpPr txBox="1"/>
          <p:nvPr/>
        </p:nvSpPr>
        <p:spPr>
          <a:xfrm>
            <a:off x="254000" y="85090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36"/>
          <p:cNvSpPr txBox="1"/>
          <p:nvPr/>
        </p:nvSpPr>
        <p:spPr>
          <a:xfrm>
            <a:off x="177800" y="63754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36"/>
          <p:cNvSpPr txBox="1"/>
          <p:nvPr/>
        </p:nvSpPr>
        <p:spPr>
          <a:xfrm>
            <a:off x="635000" y="1524000"/>
            <a:ext cx="8496300" cy="52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Variables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36"/>
          <p:cNvSpPr txBox="1"/>
          <p:nvPr/>
        </p:nvSpPr>
        <p:spPr>
          <a:xfrm>
            <a:off x="635000" y="2540000"/>
            <a:ext cx="8496300" cy="13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Dato almacenado en memoria para uso en el script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Puede ser accedido y modificado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Nombres representativos mejoran legibilidad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No pueden usar palabras reservadas (if, else, etc.)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No pueden comenzar con número ni tener caracteres especiales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362" name="Google Shape;362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37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37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37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37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37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37"/>
          <p:cNvSpPr txBox="1"/>
          <p:nvPr/>
        </p:nvSpPr>
        <p:spPr>
          <a:xfrm>
            <a:off x="635000" y="1524000"/>
            <a:ext cx="84963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Ejercicio. Decir qué variables son válidas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37"/>
          <p:cNvSpPr txBox="1"/>
          <p:nvPr/>
        </p:nvSpPr>
        <p:spPr>
          <a:xfrm>
            <a:off x="254000" y="2530275"/>
            <a:ext cx="8496300" cy="193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23_n= 44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200 = cuenta_corriente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a = 32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a32 = 4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 = print(5)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 = e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+user = ‘Pablo’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i_tella2.png" id="374" name="Google Shape;374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38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38"/>
          <p:cNvSpPr txBox="1"/>
          <p:nvPr/>
        </p:nvSpPr>
        <p:spPr>
          <a:xfrm>
            <a:off x="254000" y="190500"/>
            <a:ext cx="5715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38"/>
          <p:cNvSpPr/>
          <p:nvPr/>
        </p:nvSpPr>
        <p:spPr>
          <a:xfrm>
            <a:off x="0" y="6286500"/>
            <a:ext cx="9144000" cy="384048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38"/>
          <p:cNvSpPr txBox="1"/>
          <p:nvPr/>
        </p:nvSpPr>
        <p:spPr>
          <a:xfrm>
            <a:off x="254000" y="85090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38"/>
          <p:cNvSpPr txBox="1"/>
          <p:nvPr/>
        </p:nvSpPr>
        <p:spPr>
          <a:xfrm>
            <a:off x="177800" y="63754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38"/>
          <p:cNvSpPr txBox="1"/>
          <p:nvPr/>
        </p:nvSpPr>
        <p:spPr>
          <a:xfrm>
            <a:off x="635000" y="929775"/>
            <a:ext cx="84963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Sentencia vs Expresión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38"/>
          <p:cNvSpPr txBox="1"/>
          <p:nvPr/>
        </p:nvSpPr>
        <p:spPr>
          <a:xfrm>
            <a:off x="635000" y="1595075"/>
            <a:ext cx="84963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Expresión: combinación de valores que se evalúa y da resultado </a:t>
            </a:r>
            <a:endParaRPr b="1" i="0" sz="20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Sentencia: tiene repercusión en el script </a:t>
            </a:r>
            <a:endParaRPr b="1" i="0" sz="20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Ejemplos de sentencias: crear variable, mostrar valor, realizar acción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386" name="Google Shape;386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87" name="Google Shape;387;p38"/>
          <p:cNvSpPr txBox="1"/>
          <p:nvPr/>
        </p:nvSpPr>
        <p:spPr>
          <a:xfrm>
            <a:off x="808550" y="2864000"/>
            <a:ext cx="7121100" cy="305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Cuáles son expresiones y cuáles sentencias?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a.- m=5+4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b.- 3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c.- print(‘hola’)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d.- 33/5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39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39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39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39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39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39"/>
          <p:cNvSpPr txBox="1"/>
          <p:nvPr/>
        </p:nvSpPr>
        <p:spPr>
          <a:xfrm>
            <a:off x="635000" y="929775"/>
            <a:ext cx="84963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Ejercicio. Cuánto valen x e y? Qué vemos por pantalla?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398" name="Google Shape;398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399" name="Google Shape;399;p39"/>
          <p:cNvSpPr txBox="1"/>
          <p:nvPr/>
        </p:nvSpPr>
        <p:spPr>
          <a:xfrm>
            <a:off x="340950" y="1500200"/>
            <a:ext cx="7578900" cy="246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Ej.1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x=5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y=6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x+y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y=3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y? x? Qué vemos?</a:t>
            </a:r>
            <a:endParaRPr b="0" i="0" sz="2000" u="none" cap="none" strike="noStrik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39"/>
          <p:cNvSpPr txBox="1"/>
          <p:nvPr/>
        </p:nvSpPr>
        <p:spPr>
          <a:xfrm>
            <a:off x="254000" y="3997288"/>
            <a:ext cx="7578900" cy="18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Ej.2</a:t>
            </a:r>
            <a:endParaRPr b="1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x=5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y=6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x=x-y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y=x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y? x? Qué vemos?</a:t>
            </a:r>
            <a:endParaRPr b="0" i="0" sz="2000" u="none" cap="none" strike="noStrik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4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40"/>
          <p:cNvSpPr txBox="1"/>
          <p:nvPr/>
        </p:nvSpPr>
        <p:spPr>
          <a:xfrm>
            <a:off x="254000" y="190500"/>
            <a:ext cx="5715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40"/>
          <p:cNvSpPr/>
          <p:nvPr/>
        </p:nvSpPr>
        <p:spPr>
          <a:xfrm>
            <a:off x="0" y="6286500"/>
            <a:ext cx="9144000" cy="384048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40"/>
          <p:cNvSpPr txBox="1"/>
          <p:nvPr/>
        </p:nvSpPr>
        <p:spPr>
          <a:xfrm>
            <a:off x="254000" y="85090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40"/>
          <p:cNvSpPr txBox="1"/>
          <p:nvPr/>
        </p:nvSpPr>
        <p:spPr>
          <a:xfrm>
            <a:off x="177800" y="63754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40"/>
          <p:cNvSpPr txBox="1"/>
          <p:nvPr/>
        </p:nvSpPr>
        <p:spPr>
          <a:xfrm>
            <a:off x="635000" y="1524000"/>
            <a:ext cx="8496300" cy="52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Sobre los Bugs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40"/>
          <p:cNvSpPr txBox="1"/>
          <p:nvPr/>
        </p:nvSpPr>
        <p:spPr>
          <a:xfrm>
            <a:off x="635000" y="2540000"/>
            <a:ext cx="84963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Error que impide que el script realice lo esperado 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sng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Syntax error:</a:t>
            </a: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sintaxis incorrecta (fácil de debuggear).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sng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Execution error:</a:t>
            </a: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problema de capacidad tecnológica.</a:t>
            </a:r>
            <a:endParaRPr b="1" i="0" sz="18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800"/>
              <a:buFont typeface="Calibri"/>
              <a:buChar char="●"/>
            </a:pPr>
            <a:r>
              <a:rPr b="1" i="0" lang="en-US" sz="1800" u="sng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Errores semánticos:</a:t>
            </a: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ejecuta pero resultado incorrecto (los peores).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412" name="Google Shape;412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41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41"/>
          <p:cNvSpPr txBox="1"/>
          <p:nvPr/>
        </p:nvSpPr>
        <p:spPr>
          <a:xfrm>
            <a:off x="254000" y="190500"/>
            <a:ext cx="5715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41"/>
          <p:cNvSpPr/>
          <p:nvPr/>
        </p:nvSpPr>
        <p:spPr>
          <a:xfrm>
            <a:off x="0" y="6286500"/>
            <a:ext cx="9144000" cy="384048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41"/>
          <p:cNvSpPr txBox="1"/>
          <p:nvPr/>
        </p:nvSpPr>
        <p:spPr>
          <a:xfrm>
            <a:off x="254000" y="85090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41"/>
          <p:cNvSpPr txBox="1"/>
          <p:nvPr/>
        </p:nvSpPr>
        <p:spPr>
          <a:xfrm>
            <a:off x="177800" y="6375400"/>
            <a:ext cx="5715000" cy="17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41"/>
          <p:cNvSpPr txBox="1"/>
          <p:nvPr/>
        </p:nvSpPr>
        <p:spPr>
          <a:xfrm>
            <a:off x="635000" y="1524000"/>
            <a:ext cx="8496300" cy="52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Sobre Comments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41"/>
          <p:cNvSpPr txBox="1"/>
          <p:nvPr/>
        </p:nvSpPr>
        <p:spPr>
          <a:xfrm>
            <a:off x="635000" y="2540000"/>
            <a:ext cx="84963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Indispensables para que otros devs entiendan el código </a:t>
            </a:r>
            <a:endParaRPr b="1" i="0" sz="20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Ayudan a tu yo del futuro y (al cuerpo docente) </a:t>
            </a:r>
            <a:endParaRPr b="1" i="0" sz="20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Buena práctica: comentar </a:t>
            </a:r>
            <a:endParaRPr b="1" i="0" sz="20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Mala práctica: sobre-comentar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41"/>
          <p:cNvSpPr txBox="1"/>
          <p:nvPr/>
        </p:nvSpPr>
        <p:spPr>
          <a:xfrm>
            <a:off x="254000" y="8509000"/>
            <a:ext cx="7620000" cy="2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425" name="Google Shape;425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9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42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FFDC64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42"/>
          <p:cNvSpPr txBox="1"/>
          <p:nvPr/>
        </p:nvSpPr>
        <p:spPr>
          <a:xfrm>
            <a:off x="254000" y="190500"/>
            <a:ext cx="5715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42"/>
          <p:cNvSpPr/>
          <p:nvPr/>
        </p:nvSpPr>
        <p:spPr>
          <a:xfrm>
            <a:off x="0" y="6286500"/>
            <a:ext cx="9144000" cy="384000"/>
          </a:xfrm>
          <a:prstGeom prst="rect">
            <a:avLst/>
          </a:prstGeom>
          <a:solidFill>
            <a:srgbClr val="2D2D2D"/>
          </a:solidFill>
          <a:ln>
            <a:noFill/>
          </a:ln>
          <a:effectLst>
            <a:outerShdw blurRad="40000" rotWithShape="0" dir="5400000" dist="23000">
              <a:srgbClr val="000000">
                <a:alpha val="34509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42"/>
          <p:cNvSpPr txBox="1"/>
          <p:nvPr/>
        </p:nvSpPr>
        <p:spPr>
          <a:xfrm>
            <a:off x="254000" y="85090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42"/>
          <p:cNvSpPr txBox="1"/>
          <p:nvPr/>
        </p:nvSpPr>
        <p:spPr>
          <a:xfrm>
            <a:off x="177800" y="6375400"/>
            <a:ext cx="5715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42"/>
          <p:cNvSpPr txBox="1"/>
          <p:nvPr/>
        </p:nvSpPr>
        <p:spPr>
          <a:xfrm>
            <a:off x="635000" y="1524000"/>
            <a:ext cx="8496300" cy="43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Comandos indispensables de terminal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42"/>
          <p:cNvSpPr txBox="1"/>
          <p:nvPr/>
        </p:nvSpPr>
        <p:spPr>
          <a:xfrm>
            <a:off x="635000" y="2540000"/>
            <a:ext cx="8496300" cy="12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ls: listan los elementos de la carpeta en la que estás</a:t>
            </a:r>
            <a:endParaRPr b="1" i="0" sz="20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cd &lt;carpeta&gt;: te metés dentro de la carpeta</a:t>
            </a:r>
            <a:endParaRPr b="1" i="0" sz="20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55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2000"/>
              <a:buFont typeface="Calibri"/>
              <a:buChar char="●"/>
            </a:pPr>
            <a:r>
              <a:rPr b="1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python &lt;</a:t>
            </a:r>
            <a:r>
              <a:rPr b="1" i="0" lang="en-US" sz="20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archivo.py</a:t>
            </a:r>
            <a:r>
              <a:rPr b="1" i="0" lang="en-US" sz="2000" u="none" cap="none" strike="noStrik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&gt;: ejecutás un script en python. Debés estar dentro de la carpeta donde el archivo está guardado</a:t>
            </a:r>
            <a:endParaRPr b="1" i="0" sz="2000" u="none" cap="none" strike="noStrike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42"/>
          <p:cNvSpPr txBox="1"/>
          <p:nvPr/>
        </p:nvSpPr>
        <p:spPr>
          <a:xfrm>
            <a:off x="254000" y="8509000"/>
            <a:ext cx="7620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di_tella2.png" id="438" name="Google Shape;438;p4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221450" y="31750"/>
            <a:ext cx="818650" cy="50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