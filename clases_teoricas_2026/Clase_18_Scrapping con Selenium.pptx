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c32c363ecf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g3c32c363ecf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857959e2a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g3e857959e2a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a1c47991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g3ea1c47991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ea1c479913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g3ea1c479913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a1c479913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g3ea1c479913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a1c479913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g3ea1c479913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hyperlink" Target="https://selenium-python.readthedocs.io/"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13"/>
          <p:cNvSpPr txBox="1"/>
          <p:nvPr/>
        </p:nvSpPr>
        <p:spPr>
          <a:xfrm>
            <a:off x="635000" y="1905000"/>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D2D2D"/>
                </a:solidFill>
                <a:latin typeface="Calibri"/>
                <a:ea typeface="Calibri"/>
                <a:cs typeface="Calibri"/>
                <a:sym typeface="Calibri"/>
              </a:rPr>
              <a:t>Clase 1</a:t>
            </a:r>
            <a:r>
              <a:rPr b="1" lang="en-US" sz="2800">
                <a:solidFill>
                  <a:srgbClr val="2D2D2D"/>
                </a:solidFill>
                <a:latin typeface="Calibri"/>
                <a:ea typeface="Calibri"/>
                <a:cs typeface="Calibri"/>
                <a:sym typeface="Calibri"/>
              </a:rPr>
              <a:t>8</a:t>
            </a:r>
            <a:r>
              <a:rPr b="1" i="0" lang="en-US" sz="2800" u="none" cap="none" strike="noStrike">
                <a:solidFill>
                  <a:srgbClr val="2D2D2D"/>
                </a:solidFill>
                <a:latin typeface="Calibri"/>
                <a:ea typeface="Calibri"/>
                <a:cs typeface="Calibri"/>
                <a:sym typeface="Calibri"/>
              </a:rPr>
              <a:t>: </a:t>
            </a:r>
            <a:r>
              <a:rPr b="1" lang="en-US" sz="2800">
                <a:solidFill>
                  <a:srgbClr val="2D2D2D"/>
                </a:solidFill>
                <a:latin typeface="Calibri"/>
                <a:ea typeface="Calibri"/>
                <a:cs typeface="Calibri"/>
                <a:sym typeface="Calibri"/>
              </a:rPr>
              <a:t>Clase taller, scrapping con selenium.</a:t>
            </a:r>
            <a:endParaRPr b="0" i="0" sz="1400" u="none" cap="none" strike="noStrike">
              <a:solidFill>
                <a:srgbClr val="000000"/>
              </a:solidFill>
              <a:latin typeface="Arial"/>
              <a:ea typeface="Arial"/>
              <a:cs typeface="Arial"/>
              <a:sym typeface="Arial"/>
            </a:endParaRPr>
          </a:p>
        </p:txBody>
      </p:sp>
      <p:sp>
        <p:nvSpPr>
          <p:cNvPr id="85" name="Google Shape;85;p13"/>
          <p:cNvSpPr txBox="1"/>
          <p:nvPr/>
        </p:nvSpPr>
        <p:spPr>
          <a:xfrm>
            <a:off x="635000" y="3556000"/>
            <a:ext cx="8496300" cy="520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D2D2D"/>
                </a:solidFill>
                <a:latin typeface="Calibri"/>
                <a:ea typeface="Calibri"/>
                <a:cs typeface="Calibri"/>
                <a:sym typeface="Calibri"/>
              </a:rPr>
              <a:t>Profesor: Pablo J Piccoli Bornia</a:t>
            </a:r>
            <a:endParaRPr b="0" i="0" sz="1400" u="none" cap="none" strike="noStrike">
              <a:solidFill>
                <a:srgbClr val="000000"/>
              </a:solidFill>
              <a:latin typeface="Arial"/>
              <a:ea typeface="Arial"/>
              <a:cs typeface="Arial"/>
              <a:sym typeface="Arial"/>
            </a:endParaRPr>
          </a:p>
        </p:txBody>
      </p:sp>
      <p:sp>
        <p:nvSpPr>
          <p:cNvPr id="86" name="Google Shape;86;p13"/>
          <p:cNvSpPr txBox="1"/>
          <p:nvPr/>
        </p:nvSpPr>
        <p:spPr>
          <a:xfrm>
            <a:off x="635000" y="4318000"/>
            <a:ext cx="8496300" cy="1193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2D2D2D"/>
                </a:solidFill>
                <a:latin typeface="Calibri"/>
                <a:ea typeface="Calibri"/>
                <a:cs typeface="Calibri"/>
                <a:sym typeface="Calibri"/>
              </a:rPr>
              <a:t>Auxiliares: Daniela Longas M Victoria Tolosa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sp>
        <p:nvSpPr>
          <p:cNvPr id="91" name="Google Shape;91;p14"/>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 name="Google Shape;92;p14"/>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93" name="Google Shape;93;p14"/>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94" name="Google Shape;94;p14"/>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14"/>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96" name="Google Shape;96;p14"/>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97" name="Google Shape;97;p14"/>
          <p:cNvSpPr/>
          <p:nvPr/>
        </p:nvSpPr>
        <p:spPr>
          <a:xfrm>
            <a:off x="87675" y="759825"/>
            <a:ext cx="9001200" cy="529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8" name="Google Shape;98;p14"/>
          <p:cNvSpPr txBox="1"/>
          <p:nvPr/>
        </p:nvSpPr>
        <p:spPr>
          <a:xfrm>
            <a:off x="-132750" y="2593925"/>
            <a:ext cx="94095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4800">
                <a:solidFill>
                  <a:srgbClr val="2D2D2D"/>
                </a:solidFill>
                <a:latin typeface="Calibri"/>
                <a:ea typeface="Calibri"/>
                <a:cs typeface="Calibri"/>
                <a:sym typeface="Calibri"/>
              </a:rPr>
              <a:t>Selenium</a:t>
            </a:r>
            <a:endParaRPr sz="4800">
              <a:solidFill>
                <a:srgbClr val="2D2D2D"/>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sp>
        <p:nvSpPr>
          <p:cNvPr id="103" name="Google Shape;103;p15"/>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 name="Google Shape;104;p15"/>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105" name="Google Shape;105;p15"/>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106" name="Google Shape;106;p15"/>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 name="Google Shape;107;p15"/>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08" name="Google Shape;108;p15"/>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09" name="Google Shape;109;p15"/>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Sobre selenium</a:t>
            </a:r>
            <a:endParaRPr b="0" i="0" sz="1400" u="none" cap="none" strike="noStrike">
              <a:solidFill>
                <a:srgbClr val="000000"/>
              </a:solidFill>
              <a:latin typeface="Arial"/>
              <a:ea typeface="Arial"/>
              <a:cs typeface="Arial"/>
              <a:sym typeface="Arial"/>
            </a:endParaRPr>
          </a:p>
        </p:txBody>
      </p:sp>
      <p:sp>
        <p:nvSpPr>
          <p:cNvPr id="110" name="Google Shape;110;p15"/>
          <p:cNvSpPr txBox="1"/>
          <p:nvPr/>
        </p:nvSpPr>
        <p:spPr>
          <a:xfrm>
            <a:off x="301975" y="1719150"/>
            <a:ext cx="8829300" cy="369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rgbClr val="2D2D2D"/>
                </a:solidFill>
                <a:latin typeface="Calibri"/>
                <a:ea typeface="Calibri"/>
                <a:cs typeface="Calibri"/>
                <a:sym typeface="Calibri"/>
              </a:rPr>
              <a:t>Selenium es un framework para simulación de actividad en internet. El mismo tiene una librería de nombre homónimo para python.</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a:p>
            <a:pPr indent="0" lvl="0" marL="0" rtl="0" algn="l">
              <a:spcBef>
                <a:spcPts val="0"/>
              </a:spcBef>
              <a:spcAft>
                <a:spcPts val="0"/>
              </a:spcAft>
              <a:buNone/>
            </a:pPr>
            <a:r>
              <a:rPr b="1" lang="en-US" sz="2000">
                <a:solidFill>
                  <a:srgbClr val="FF0000"/>
                </a:solidFill>
                <a:latin typeface="Calibri"/>
                <a:ea typeface="Calibri"/>
                <a:cs typeface="Calibri"/>
                <a:sym typeface="Calibri"/>
              </a:rPr>
              <a:t>pip install selenium  </a:t>
            </a:r>
            <a:endParaRPr b="1" sz="2000">
              <a:solidFill>
                <a:srgbClr val="FF0000"/>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a:p>
            <a:pPr indent="0" lvl="0" marL="0" rtl="0" algn="l">
              <a:spcBef>
                <a:spcPts val="0"/>
              </a:spcBef>
              <a:spcAft>
                <a:spcPts val="0"/>
              </a:spcAft>
              <a:buNone/>
            </a:pPr>
            <a:r>
              <a:rPr lang="en-US" sz="2000">
                <a:solidFill>
                  <a:srgbClr val="2D2D2D"/>
                </a:solidFill>
                <a:latin typeface="Calibri"/>
                <a:ea typeface="Calibri"/>
                <a:cs typeface="Calibri"/>
                <a:sym typeface="Calibri"/>
              </a:rPr>
              <a:t>Este es el comando en terminal para </a:t>
            </a:r>
            <a:r>
              <a:rPr lang="en-US" sz="2000">
                <a:solidFill>
                  <a:srgbClr val="2D2D2D"/>
                </a:solidFill>
                <a:latin typeface="Calibri"/>
                <a:ea typeface="Calibri"/>
                <a:cs typeface="Calibri"/>
                <a:sym typeface="Calibri"/>
              </a:rPr>
              <a:t>instalar</a:t>
            </a:r>
            <a:r>
              <a:rPr lang="en-US" sz="2000">
                <a:solidFill>
                  <a:srgbClr val="2D2D2D"/>
                </a:solidFill>
                <a:latin typeface="Calibri"/>
                <a:ea typeface="Calibri"/>
                <a:cs typeface="Calibri"/>
                <a:sym typeface="Calibri"/>
              </a:rPr>
              <a:t> la librería.</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a:p>
            <a:pPr indent="0" lvl="0" marL="0" rtl="0" algn="l">
              <a:spcBef>
                <a:spcPts val="0"/>
              </a:spcBef>
              <a:spcAft>
                <a:spcPts val="0"/>
              </a:spcAft>
              <a:buNone/>
            </a:pPr>
            <a:r>
              <a:rPr lang="en-US" sz="2000">
                <a:solidFill>
                  <a:srgbClr val="2D2D2D"/>
                </a:solidFill>
                <a:latin typeface="Calibri"/>
                <a:ea typeface="Calibri"/>
                <a:cs typeface="Calibri"/>
                <a:sym typeface="Calibri"/>
              </a:rPr>
              <a:t>La documentación es amplia, se encuentra </a:t>
            </a:r>
            <a:r>
              <a:rPr lang="en-US" sz="2000">
                <a:solidFill>
                  <a:srgbClr val="2D2D2D"/>
                </a:solidFill>
                <a:latin typeface="Calibri"/>
                <a:ea typeface="Calibri"/>
                <a:cs typeface="Calibri"/>
                <a:sym typeface="Calibri"/>
              </a:rPr>
              <a:t>aquí</a:t>
            </a:r>
            <a:r>
              <a:rPr lang="en-US" sz="2000">
                <a:solidFill>
                  <a:srgbClr val="2D2D2D"/>
                </a:solidFill>
                <a:latin typeface="Calibri"/>
                <a:ea typeface="Calibri"/>
                <a:cs typeface="Calibri"/>
                <a:sym typeface="Calibri"/>
              </a:rPr>
              <a:t>:</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a:p>
            <a:pPr indent="0" lvl="0" marL="0" rtl="0" algn="l">
              <a:spcBef>
                <a:spcPts val="0"/>
              </a:spcBef>
              <a:spcAft>
                <a:spcPts val="0"/>
              </a:spcAft>
              <a:buNone/>
            </a:pPr>
            <a:r>
              <a:rPr lang="en-US" sz="2000" u="sng">
                <a:solidFill>
                  <a:schemeClr val="hlink"/>
                </a:solidFill>
                <a:latin typeface="Calibri"/>
                <a:ea typeface="Calibri"/>
                <a:cs typeface="Calibri"/>
                <a:sym typeface="Calibri"/>
                <a:hlinkClick r:id="rId4"/>
              </a:rPr>
              <a:t>https://selenium-python.readthedocs.io/</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sp>
        <p:nvSpPr>
          <p:cNvPr id="115" name="Google Shape;115;p16"/>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16"/>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117" name="Google Shape;117;p16"/>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118" name="Google Shape;118;p16"/>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16"/>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20" name="Google Shape;120;p16"/>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21" name="Google Shape;121;p16"/>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Selenium y </a:t>
            </a:r>
            <a:r>
              <a:rPr b="1" lang="en-US" sz="2800">
                <a:solidFill>
                  <a:srgbClr val="2D2D2D"/>
                </a:solidFill>
                <a:latin typeface="Calibri"/>
                <a:ea typeface="Calibri"/>
                <a:cs typeface="Calibri"/>
                <a:sym typeface="Calibri"/>
              </a:rPr>
              <a:t>scraping</a:t>
            </a:r>
            <a:endParaRPr b="0" i="0" sz="1400" u="none" cap="none" strike="noStrike">
              <a:solidFill>
                <a:srgbClr val="000000"/>
              </a:solidFill>
              <a:latin typeface="Arial"/>
              <a:ea typeface="Arial"/>
              <a:cs typeface="Arial"/>
              <a:sym typeface="Arial"/>
            </a:endParaRPr>
          </a:p>
        </p:txBody>
      </p:sp>
      <p:sp>
        <p:nvSpPr>
          <p:cNvPr id="122" name="Google Shape;122;p16"/>
          <p:cNvSpPr txBox="1"/>
          <p:nvPr/>
        </p:nvSpPr>
        <p:spPr>
          <a:xfrm>
            <a:off x="301975" y="1719150"/>
            <a:ext cx="8829300" cy="4925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rgbClr val="2D2D2D"/>
                </a:solidFill>
                <a:latin typeface="Calibri"/>
                <a:ea typeface="Calibri"/>
                <a:cs typeface="Calibri"/>
                <a:sym typeface="Calibri"/>
              </a:rPr>
              <a:t>Hasta ahora en la materia encaramos el scrapping desde el punto de vista de parsear (recorrer y extraer datos) el código fuente de una página. </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a:p>
            <a:pPr indent="0" lvl="0" marL="0" rtl="0" algn="l">
              <a:spcBef>
                <a:spcPts val="0"/>
              </a:spcBef>
              <a:spcAft>
                <a:spcPts val="0"/>
              </a:spcAft>
              <a:buNone/>
            </a:pPr>
            <a:r>
              <a:rPr lang="en-US" sz="2000">
                <a:solidFill>
                  <a:srgbClr val="2D2D2D"/>
                </a:solidFill>
                <a:latin typeface="Calibri"/>
                <a:ea typeface="Calibri"/>
                <a:cs typeface="Calibri"/>
                <a:sym typeface="Calibri"/>
              </a:rPr>
              <a:t>Imaginemos que queremos parsear precios de varias zapatillas que se venden en un marketplace. Podemos:</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lang="en-US" sz="2000">
                <a:solidFill>
                  <a:srgbClr val="2D2D2D"/>
                </a:solidFill>
                <a:latin typeface="Calibri"/>
                <a:ea typeface="Calibri"/>
                <a:cs typeface="Calibri"/>
                <a:sym typeface="Calibri"/>
              </a:rPr>
              <a:t>Tener un documento con todas las páginas a parsear de antemano.</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lang="en-US" sz="2000">
                <a:solidFill>
                  <a:srgbClr val="2D2D2D"/>
                </a:solidFill>
                <a:latin typeface="Calibri"/>
                <a:ea typeface="Calibri"/>
                <a:cs typeface="Calibri"/>
                <a:sym typeface="Calibri"/>
              </a:rPr>
              <a:t>Tener un bot que se meta publicación a publicación y extraiga el precio.</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a:p>
            <a:pPr indent="0" lvl="0" marL="0" rtl="0" algn="l">
              <a:spcBef>
                <a:spcPts val="0"/>
              </a:spcBef>
              <a:spcAft>
                <a:spcPts val="0"/>
              </a:spcAft>
              <a:buNone/>
            </a:pPr>
            <a:r>
              <a:rPr lang="en-US" sz="2000">
                <a:solidFill>
                  <a:srgbClr val="2D2D2D"/>
                </a:solidFill>
                <a:latin typeface="Calibri"/>
                <a:ea typeface="Calibri"/>
                <a:cs typeface="Calibri"/>
                <a:sym typeface="Calibri"/>
              </a:rPr>
              <a:t>Cuál parece más lógica?</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a:p>
            <a:pPr indent="0" lvl="0" marL="0" rtl="0" algn="l">
              <a:spcBef>
                <a:spcPts val="0"/>
              </a:spcBef>
              <a:spcAft>
                <a:spcPts val="0"/>
              </a:spcAft>
              <a:buNone/>
            </a:pPr>
            <a:r>
              <a:rPr lang="en-US" sz="2000">
                <a:solidFill>
                  <a:srgbClr val="2D2D2D"/>
                </a:solidFill>
                <a:latin typeface="Calibri"/>
                <a:ea typeface="Calibri"/>
                <a:cs typeface="Calibri"/>
                <a:sym typeface="Calibri"/>
              </a:rPr>
              <a:t>Selenium sirve para recrear el comportamiento en internet de una persona</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a:p>
            <a:pPr indent="0" lvl="0" marL="0" rtl="0" algn="l">
              <a:spcBef>
                <a:spcPts val="0"/>
              </a:spcBef>
              <a:spcAft>
                <a:spcPts val="0"/>
              </a:spcAft>
              <a:buNone/>
            </a:pPr>
            <a:r>
              <a:rPr lang="en-US" sz="2000">
                <a:solidFill>
                  <a:srgbClr val="2D2D2D"/>
                </a:solidFill>
                <a:latin typeface="Calibri"/>
                <a:ea typeface="Calibri"/>
                <a:cs typeface="Calibri"/>
                <a:sym typeface="Calibri"/>
              </a:rPr>
              <a:t>El principal elemento de una sesión de selenium es el </a:t>
            </a:r>
            <a:r>
              <a:rPr b="1" lang="en-US" sz="2000">
                <a:solidFill>
                  <a:srgbClr val="2D2D2D"/>
                </a:solidFill>
                <a:latin typeface="Calibri"/>
                <a:ea typeface="Calibri"/>
                <a:cs typeface="Calibri"/>
                <a:sym typeface="Calibri"/>
              </a:rPr>
              <a:t>WebDriver.</a:t>
            </a:r>
            <a:r>
              <a:rPr lang="en-US" sz="2000">
                <a:solidFill>
                  <a:srgbClr val="2D2D2D"/>
                </a:solidFill>
                <a:latin typeface="Calibri"/>
                <a:ea typeface="Calibri"/>
                <a:cs typeface="Calibri"/>
                <a:sym typeface="Calibri"/>
              </a:rPr>
              <a:t> Instancia que simula un navegador</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17"/>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p17"/>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129" name="Google Shape;129;p17"/>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130" name="Google Shape;130;p17"/>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 name="Google Shape;131;p17"/>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32" name="Google Shape;132;p17"/>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33" name="Google Shape;133;p17"/>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Sobre xpaths</a:t>
            </a:r>
            <a:endParaRPr b="0" i="0" sz="1400" u="none" cap="none" strike="noStrike">
              <a:solidFill>
                <a:srgbClr val="000000"/>
              </a:solidFill>
              <a:latin typeface="Arial"/>
              <a:ea typeface="Arial"/>
              <a:cs typeface="Arial"/>
              <a:sym typeface="Arial"/>
            </a:endParaRPr>
          </a:p>
        </p:txBody>
      </p:sp>
      <p:sp>
        <p:nvSpPr>
          <p:cNvPr id="134" name="Google Shape;134;p17"/>
          <p:cNvSpPr txBox="1"/>
          <p:nvPr/>
        </p:nvSpPr>
        <p:spPr>
          <a:xfrm>
            <a:off x="301975" y="1719150"/>
            <a:ext cx="8829300" cy="2462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rgbClr val="2D2D2D"/>
                </a:solidFill>
                <a:latin typeface="Calibri"/>
                <a:ea typeface="Calibri"/>
                <a:cs typeface="Calibri"/>
                <a:sym typeface="Calibri"/>
              </a:rPr>
              <a:t>XPath (XML Path Language) es un lenguaje de consulta diseñado para navegar a través de los nodos (elementos, atributos, y texto) en un documento estructurado, como XML o HTML. Funciona de manera similar a las rutas de directorios de archivos, permitiendo localizar y extraer datos específicos con gran precisión.</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a:p>
            <a:pPr indent="0" lvl="0" marL="0" rtl="0" algn="l">
              <a:spcBef>
                <a:spcPts val="0"/>
              </a:spcBef>
              <a:spcAft>
                <a:spcPts val="0"/>
              </a:spcAft>
              <a:buNone/>
            </a:pPr>
            <a:r>
              <a:rPr lang="en-US" sz="2000">
                <a:solidFill>
                  <a:srgbClr val="2D2D2D"/>
                </a:solidFill>
                <a:latin typeface="Calibri"/>
                <a:ea typeface="Calibri"/>
                <a:cs typeface="Calibri"/>
                <a:sym typeface="Calibri"/>
              </a:rPr>
              <a:t>La manera en que usaremos selenium será inspeccionando un elemento web, extrayendo su xpath y a partir de allí manipularlo (clickearlo, pasarle un input, etc).</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sp>
        <p:nvSpPr>
          <p:cNvPr id="139" name="Google Shape;139;p18"/>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 name="Google Shape;140;p18"/>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141" name="Google Shape;141;p18"/>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142" name="Google Shape;142;p18"/>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p18"/>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44" name="Google Shape;144;p18"/>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45" name="Google Shape;145;p18"/>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Los “enemigos” de selenium</a:t>
            </a:r>
            <a:endParaRPr b="0" i="0" sz="1400" u="none" cap="none" strike="noStrike">
              <a:solidFill>
                <a:srgbClr val="000000"/>
              </a:solidFill>
              <a:latin typeface="Arial"/>
              <a:ea typeface="Arial"/>
              <a:cs typeface="Arial"/>
              <a:sym typeface="Arial"/>
            </a:endParaRPr>
          </a:p>
        </p:txBody>
      </p:sp>
      <p:sp>
        <p:nvSpPr>
          <p:cNvPr id="146" name="Google Shape;146;p18"/>
          <p:cNvSpPr txBox="1"/>
          <p:nvPr/>
        </p:nvSpPr>
        <p:spPr>
          <a:xfrm>
            <a:off x="301975" y="1719150"/>
            <a:ext cx="8829300" cy="4002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rgbClr val="2D2D2D"/>
                </a:solidFill>
                <a:latin typeface="Calibri"/>
                <a:ea typeface="Calibri"/>
                <a:cs typeface="Calibri"/>
                <a:sym typeface="Calibri"/>
              </a:rPr>
              <a:t>Existen grandes limitantes en lo que uno puede hacer con selenium. De lo más grave a lo más “solucionable”:</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CAPTCHA</a:t>
            </a:r>
            <a:r>
              <a:rPr lang="en-US" sz="2000">
                <a:solidFill>
                  <a:srgbClr val="2D2D2D"/>
                </a:solidFill>
                <a:latin typeface="Calibri"/>
                <a:ea typeface="Calibri"/>
                <a:cs typeface="Calibri"/>
                <a:sym typeface="Calibri"/>
              </a:rPr>
              <a:t>: El botón “no soy un robot”. Básicamente la página monitorea los movimientos de nuestro cursor, los humanos dejamos una “huella errática” mientras que los bots trazan líneas perfectas. Un captcha es un game over a nuestro bot.</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Software de detección</a:t>
            </a:r>
            <a:r>
              <a:rPr lang="en-US" sz="2000">
                <a:solidFill>
                  <a:srgbClr val="2D2D2D"/>
                </a:solidFill>
                <a:latin typeface="Calibri"/>
                <a:ea typeface="Calibri"/>
                <a:cs typeface="Calibri"/>
                <a:sym typeface="Calibri"/>
              </a:rPr>
              <a:t>: </a:t>
            </a:r>
            <a:r>
              <a:rPr lang="en-US" sz="2000">
                <a:solidFill>
                  <a:srgbClr val="2D2D2D"/>
                </a:solidFill>
                <a:latin typeface="Calibri"/>
                <a:ea typeface="Calibri"/>
                <a:cs typeface="Calibri"/>
                <a:sym typeface="Calibri"/>
              </a:rPr>
              <a:t>Cloudflare</a:t>
            </a:r>
            <a:r>
              <a:rPr lang="en-US" sz="2000">
                <a:solidFill>
                  <a:srgbClr val="2D2D2D"/>
                </a:solidFill>
                <a:latin typeface="Calibri"/>
                <a:ea typeface="Calibri"/>
                <a:cs typeface="Calibri"/>
                <a:sym typeface="Calibri"/>
              </a:rPr>
              <a:t> por ejemplo. No te dejará avanzar pero modificando parámetros de nuestro webDriver tal vez puedas engañarlo.</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Modificación de la página</a:t>
            </a:r>
            <a:r>
              <a:rPr lang="en-US" sz="2000">
                <a:solidFill>
                  <a:srgbClr val="2D2D2D"/>
                </a:solidFill>
                <a:latin typeface="Calibri"/>
                <a:ea typeface="Calibri"/>
                <a:cs typeface="Calibri"/>
                <a:sym typeface="Calibri"/>
              </a:rPr>
              <a:t>: problema compartido con el scrapping “tradicional” de html y BeautifulSoup. Si modifican la página, cambian los xpaths. Por esto los bots con selenium necesitan mantenimiento constante.</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sp>
        <p:nvSpPr>
          <p:cNvPr id="151" name="Google Shape;151;p19"/>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2" name="Google Shape;152;p19"/>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153" name="Google Shape;153;p19"/>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154" name="Google Shape;154;p19"/>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p19"/>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56" name="Google Shape;156;p19"/>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57" name="Google Shape;157;p19"/>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Objetivo de la clase</a:t>
            </a:r>
            <a:endParaRPr b="0" i="0" sz="1400" u="none" cap="none" strike="noStrike">
              <a:solidFill>
                <a:srgbClr val="000000"/>
              </a:solidFill>
              <a:latin typeface="Arial"/>
              <a:ea typeface="Arial"/>
              <a:cs typeface="Arial"/>
              <a:sym typeface="Arial"/>
            </a:endParaRPr>
          </a:p>
        </p:txBody>
      </p:sp>
      <p:sp>
        <p:nvSpPr>
          <p:cNvPr id="158" name="Google Shape;158;p19"/>
          <p:cNvSpPr txBox="1"/>
          <p:nvPr/>
        </p:nvSpPr>
        <p:spPr>
          <a:xfrm>
            <a:off x="301975" y="1719150"/>
            <a:ext cx="8829300" cy="3386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rgbClr val="2D2D2D"/>
                </a:solidFill>
                <a:latin typeface="Calibri"/>
                <a:ea typeface="Calibri"/>
                <a:cs typeface="Calibri"/>
                <a:sym typeface="Calibri"/>
              </a:rPr>
              <a:t>Intentar crear un bot que realice alguna acción que consideren útil:</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lang="en-US" sz="2000">
                <a:solidFill>
                  <a:srgbClr val="2D2D2D"/>
                </a:solidFill>
                <a:latin typeface="Calibri"/>
                <a:ea typeface="Calibri"/>
                <a:cs typeface="Calibri"/>
                <a:sym typeface="Calibri"/>
              </a:rPr>
              <a:t>Sacar un turno médico.</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lang="en-US" sz="2000">
                <a:solidFill>
                  <a:srgbClr val="2D2D2D"/>
                </a:solidFill>
                <a:latin typeface="Calibri"/>
                <a:ea typeface="Calibri"/>
                <a:cs typeface="Calibri"/>
                <a:sym typeface="Calibri"/>
              </a:rPr>
              <a:t>Reservar una cancha de F5.</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lang="en-US" sz="2000">
                <a:solidFill>
                  <a:srgbClr val="2D2D2D"/>
                </a:solidFill>
                <a:latin typeface="Calibri"/>
                <a:ea typeface="Calibri"/>
                <a:cs typeface="Calibri"/>
                <a:sym typeface="Calibri"/>
              </a:rPr>
              <a:t>Descargar algún certificado gubernamental (certificado de CUIT, etc).</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lang="en-US" sz="2000">
                <a:solidFill>
                  <a:srgbClr val="2D2D2D"/>
                </a:solidFill>
                <a:latin typeface="Calibri"/>
                <a:ea typeface="Calibri"/>
                <a:cs typeface="Calibri"/>
                <a:sym typeface="Calibri"/>
              </a:rPr>
              <a:t>Lo que se les ocurra.</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a:p>
            <a:pPr indent="0" lvl="0" marL="0" rtl="0" algn="l">
              <a:spcBef>
                <a:spcPts val="0"/>
              </a:spcBef>
              <a:spcAft>
                <a:spcPts val="0"/>
              </a:spcAft>
              <a:buNone/>
            </a:pPr>
            <a:r>
              <a:rPr lang="en-US" sz="2000">
                <a:solidFill>
                  <a:srgbClr val="2D2D2D"/>
                </a:solidFill>
                <a:latin typeface="Calibri"/>
                <a:ea typeface="Calibri"/>
                <a:cs typeface="Calibri"/>
                <a:sym typeface="Calibri"/>
              </a:rPr>
              <a:t>Es muy probable que se choquen con los “enemigos” de los bots, para este ejercicio en particular pueden usar IA para guiarse + la documentación de Selenium + los .py de ejemplo </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