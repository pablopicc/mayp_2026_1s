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3460750" cx="4610100"/>
  <p:notesSz cx="4610100" cy="346075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2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7294" y="665280"/>
            <a:ext cx="37941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SzPts val="800"/>
              <a:buFont typeface="Calibri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95300" y="18464"/>
            <a:ext cx="7365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691515" y="1938020"/>
            <a:ext cx="3227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SzPts val="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ctrTitle"/>
          </p:nvPr>
        </p:nvSpPr>
        <p:spPr>
          <a:xfrm>
            <a:off x="157153" y="500979"/>
            <a:ext cx="42957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157149" y="1906911"/>
            <a:ext cx="429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157149" y="1447177"/>
            <a:ext cx="429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157149" y="775431"/>
            <a:ext cx="20166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2436335" y="775431"/>
            <a:ext cx="20166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157149" y="373830"/>
            <a:ext cx="14157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157149" y="934978"/>
            <a:ext cx="1415700" cy="21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30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47168" y="302879"/>
            <a:ext cx="32103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305050" y="-84"/>
            <a:ext cx="2305200" cy="346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225" lIns="51225" spcFirstLastPara="1" rIns="51225" wrap="square" tIns="5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133856" y="829729"/>
            <a:ext cx="2039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133856" y="1886020"/>
            <a:ext cx="203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2490331" y="487186"/>
            <a:ext cx="1934400" cy="24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57149" y="2846498"/>
            <a:ext cx="3024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hasCustomPrompt="1" type="title"/>
          </p:nvPr>
        </p:nvSpPr>
        <p:spPr>
          <a:xfrm>
            <a:off x="157149" y="744245"/>
            <a:ext cx="42957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157149" y="2120942"/>
            <a:ext cx="42957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●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●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13.xml"/><Relationship Id="rId5" Type="http://schemas.openxmlformats.org/officeDocument/2006/relationships/slide" Target="/ppt/slides/slide18.xml"/><Relationship Id="rId6" Type="http://schemas.openxmlformats.org/officeDocument/2006/relationships/slide" Target="/ppt/slides/slide23.xml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47294" y="2037529"/>
            <a:ext cx="2508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040" y="3115462"/>
            <a:ext cx="948648" cy="14594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293900" y="939250"/>
            <a:ext cx="29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Tipos Abstractos de Datos</a:t>
            </a:r>
            <a:endParaRPr b="1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62525" y="1966650"/>
            <a:ext cx="84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62525" y="2233175"/>
            <a:ext cx="849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Longas, M Victoria Tolosa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91500" y="3193259"/>
            <a:ext cx="5487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47294" y="860013"/>
            <a:ext cx="14502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Tipos Abstractos de Datos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47294" y="1364000"/>
            <a:ext cx="15144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Introducción a diccionarios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47294" y="1848124"/>
            <a:ext cx="199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Operaciones básicas con diccionarios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47294" y="2348923"/>
            <a:ext cx="613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US" sz="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Ejercicios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99" name="Google Shape;9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73701" y="525725"/>
            <a:ext cx="42627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60" lvl="0" marL="246379" marR="18161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Mencionamos que una forma de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abordar un problema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dividirlo en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subproblemas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más pequeños.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88900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Utilizar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funciones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nos permite generar un código más claro, que puede ser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reutilizado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0574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Las funciones también nos permiten aislar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unidades conceptuales de cómputo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Vamos a extender esta idea con el concepto de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Tipos (Abstractos) de Datos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qué?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modularidad, encapsulamiento.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Recordemos que Excel nos permite operar con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fechas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Cómo representa Excel las fechas?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 qué otra manera (eventualmente más simple) podríamos representarlas?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información debería tener una fecha?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129646" y="1618700"/>
            <a:ext cx="256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4F2ED"/>
                </a:solidFill>
                <a:latin typeface="Calibri"/>
                <a:ea typeface="Calibri"/>
                <a:cs typeface="Calibri"/>
                <a:sym typeface="Calibri"/>
              </a:rPr>
              <a:t>TIPOS ABSTRACTOS DE DATOS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0"/>
          <p:cNvGrpSpPr/>
          <p:nvPr/>
        </p:nvGrpSpPr>
        <p:grpSpPr>
          <a:xfrm>
            <a:off x="1139819" y="1816646"/>
            <a:ext cx="2340610" cy="25400"/>
            <a:chOff x="1133919" y="1515833"/>
            <a:chExt cx="2340610" cy="25400"/>
          </a:xfrm>
        </p:grpSpPr>
        <p:sp>
          <p:nvSpPr>
            <p:cNvPr id="116" name="Google Shape;116;p20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9525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354919" y="928131"/>
            <a:ext cx="3467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fecha está definida por: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día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84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Dada una fecha, ¿qué nos gustaría preguntarle y/o pedirle?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455667" y="3348084"/>
            <a:ext cx="571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347294" y="569856"/>
            <a:ext cx="3766800" cy="2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fecha está definida por: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día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número que represente el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668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Dada una fecha, qué nos gustaría preguntarle y/o pedirle?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día.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mes.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Saber cuál es el año.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 devuelva un string con la fecha en determinado formato (US, por ejemplo).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/>
        </p:nvSpPr>
        <p:spPr>
          <a:xfrm>
            <a:off x="95300" y="3341884"/>
            <a:ext cx="5487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47294" y="549485"/>
            <a:ext cx="38664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Sería interesante contar con un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 de datos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encapsule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Posibles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operaciones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 Tipo Abstracto de Datos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128270" rtl="0" algn="l">
              <a:lnSpc>
                <a:spcPct val="1212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CrearFecha(dia,mes,año), que crea una fecha con los parámetros int dia, mes y año.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Dia(f), que dada una fecha f devuelve un int con el día.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Mes(f), que dada una fecha f devuelve un int con el mes.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Año(f), que dada una fecha f devuelve un int con el año.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ImprimirFormatoUS(f), que dada una fecha f devuelve un string con la fecha en formato mm/dd/aaaa.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59994" y="2444191"/>
            <a:ext cx="3888000" cy="1539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359994" y="2620187"/>
            <a:ext cx="3888000" cy="3129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Tipo Abstracto de Datos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(TAD) es un modelo matemático, lógico, que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describe las operaciones y como manipular un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tipo de datos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2366010" y="2619028"/>
            <a:ext cx="153035" cy="114935"/>
          </a:xfrm>
          <a:custGeom>
            <a:rect b="b" l="l" r="r" t="t"/>
            <a:pathLst>
              <a:path extrusionOk="0" h="114935" w="153035">
                <a:moveTo>
                  <a:pt x="152653" y="0"/>
                </a:moveTo>
                <a:lnTo>
                  <a:pt x="0" y="0"/>
                </a:lnTo>
                <a:lnTo>
                  <a:pt x="0" y="114562"/>
                </a:lnTo>
                <a:lnTo>
                  <a:pt x="152653" y="114562"/>
                </a:lnTo>
                <a:lnTo>
                  <a:pt x="152653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2671305" y="1817078"/>
            <a:ext cx="280035" cy="114935"/>
          </a:xfrm>
          <a:custGeom>
            <a:rect b="b" l="l" r="r" t="t"/>
            <a:pathLst>
              <a:path extrusionOk="0" h="114935" w="280035">
                <a:moveTo>
                  <a:pt x="279857" y="0"/>
                </a:moveTo>
                <a:lnTo>
                  <a:pt x="0" y="0"/>
                </a:lnTo>
                <a:lnTo>
                  <a:pt x="0" y="114566"/>
                </a:lnTo>
                <a:lnTo>
                  <a:pt x="279857" y="114566"/>
                </a:lnTo>
                <a:lnTo>
                  <a:pt x="279857" y="0"/>
                </a:lnTo>
                <a:close/>
              </a:path>
            </a:pathLst>
          </a:custGeom>
          <a:solidFill>
            <a:srgbClr val="FFE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431825" y="426892"/>
            <a:ext cx="34575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Cuáles son los detalles de implementación de un TAD?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0700" marR="0" rtl="0" algn="ctr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 usuario (programador) </a:t>
            </a:r>
            <a:r>
              <a:rPr b="0" i="0" lang="en-US" sz="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 interesa.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necesitamos para poder interactuar con un TAD?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33400" marR="5080" rtl="0" algn="ctr">
              <a:lnSpc>
                <a:spcPct val="1212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nombre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 tipo de datos, qué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operaciones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(funciones, procedimientos) provee,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restricciones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sobre su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utilización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60994" y="1461672"/>
            <a:ext cx="3888000" cy="153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marR="0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Intuición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360994" y="1637669"/>
            <a:ext cx="3888104" cy="357505"/>
          </a:xfrm>
          <a:custGeom>
            <a:rect b="b" l="l" r="r" t="t"/>
            <a:pathLst>
              <a:path extrusionOk="0" h="357505" w="3888104">
                <a:moveTo>
                  <a:pt x="3888003" y="0"/>
                </a:moveTo>
                <a:lnTo>
                  <a:pt x="0" y="0"/>
                </a:lnTo>
                <a:lnTo>
                  <a:pt x="0" y="357327"/>
                </a:lnTo>
                <a:lnTo>
                  <a:pt x="3888003" y="357327"/>
                </a:lnTo>
                <a:lnTo>
                  <a:pt x="3888003" y="0"/>
                </a:lnTo>
                <a:close/>
              </a:path>
            </a:pathLst>
          </a:cu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86254" y="1602379"/>
            <a:ext cx="3331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TAD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puede implementar de muchas maneras distintas, y es transparente para el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usuario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(léase, programador).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60994" y="2093789"/>
            <a:ext cx="3888000" cy="153900"/>
          </a:xfrm>
          <a:prstGeom prst="rect">
            <a:avLst/>
          </a:prstGeom>
          <a:solidFill>
            <a:srgbClr val="FFDC6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marR="0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 datos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360994" y="2269773"/>
            <a:ext cx="3888104" cy="856614"/>
          </a:xfrm>
          <a:custGeom>
            <a:rect b="b" l="l" r="r" t="t"/>
            <a:pathLst>
              <a:path extrusionOk="0" h="856614" w="3888104">
                <a:moveTo>
                  <a:pt x="3888003" y="0"/>
                </a:moveTo>
                <a:lnTo>
                  <a:pt x="0" y="0"/>
                </a:lnTo>
                <a:lnTo>
                  <a:pt x="0" y="856094"/>
                </a:lnTo>
                <a:lnTo>
                  <a:pt x="3888003" y="856094"/>
                </a:lnTo>
                <a:lnTo>
                  <a:pt x="3888003" y="0"/>
                </a:lnTo>
                <a:close/>
              </a:path>
            </a:pathLst>
          </a:cu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60994" y="2269773"/>
            <a:ext cx="38880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estructura de datos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implementación concreta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 un TAD. Es una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174625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colección de valores relacionados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La misma organiza la información de una particular, con una representación específica que relaciona los valores y provee operaciones y funciones que pueden aplicarse con sus respectivas garantías de eficiencia.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95300" y="3341884"/>
            <a:ext cx="548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/>
        </p:nvSpPr>
        <p:spPr>
          <a:xfrm>
            <a:off x="347294" y="521063"/>
            <a:ext cx="19557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Retomemos el ejemplo del TAD fecha.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1244472" y="1207041"/>
            <a:ext cx="211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Alternativas para representar una fecha?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682597" y="1994250"/>
            <a:ext cx="12432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Ventajas y desventajas?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1140333" y="2781447"/>
            <a:ext cx="23280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estructuras de datos estuvimos usando?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95300" y="3348084"/>
            <a:ext cx="548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455667" y="3348084"/>
            <a:ext cx="571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ɕ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/>
        </p:nvSpPr>
        <p:spPr>
          <a:xfrm>
            <a:off x="347294" y="430791"/>
            <a:ext cx="38799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Algunos tipos/estructuras de datos que vimos hasta ahora: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Algunas operaciones que vimos sobre list: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l[i]: accede a la posición i de l.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len(l): retorna la cantidad de elementos de l.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l.append(elem): agrega elem al final de l.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l.pop(): quita el último elemento de l.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7620" lvl="0" marL="132334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qué es importante entender qué es un TAD, una estructura de datos, y la diferencia entre ellos?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95300" y="3348084"/>
            <a:ext cx="548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1o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182" y="768798"/>
            <a:ext cx="3980334" cy="176610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1244688" y="2813095"/>
            <a:ext cx="21189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Sabemos cómo está implementada list?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4424032" y="3341884"/>
            <a:ext cx="88900" cy="11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7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05" name="Google Shape;2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347294" y="454299"/>
            <a:ext cx="3762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Las estructuras de datos cuentan generalmente con dos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5080" rtl="0" algn="l">
              <a:lnSpc>
                <a:spcPct val="1212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 pública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Disponible al usuario externo. El nombre del tipo, las operaciones, funciones. Restricciones sobre su utilización.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Garantías de eficiencia (complejidad)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29234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Parte privada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Sólo accesible dentro del tipo/estructura de datos. Contiene la implementación concreta del mismo, incluyendo su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representación interna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la definición de los métodos (funciones y procedimientos) provistos por el mismo.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Utilizado por los programadores del tipo/estructura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/>
        </p:nvSpPr>
        <p:spPr>
          <a:xfrm>
            <a:off x="1129672" y="1618694"/>
            <a:ext cx="1853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small" strike="noStrike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introducción a diccionarios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1" name="Google Shape;221;p29"/>
          <p:cNvGrpSpPr/>
          <p:nvPr/>
        </p:nvGrpSpPr>
        <p:grpSpPr>
          <a:xfrm>
            <a:off x="1139831" y="1816650"/>
            <a:ext cx="2340610" cy="25400"/>
            <a:chOff x="1133919" y="1518500"/>
            <a:chExt cx="2340610" cy="25400"/>
          </a:xfrm>
        </p:grpSpPr>
        <p:sp>
          <p:nvSpPr>
            <p:cNvPr id="222" name="Google Shape;222;p2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952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/>
        </p:nvSpPr>
        <p:spPr>
          <a:xfrm>
            <a:off x="347294" y="464455"/>
            <a:ext cx="383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Hasta ahora la estructura de datos más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compleja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 la que trabajamos es list. Una de sus principales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es que permite trabajar con una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colección de elementos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poseen un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orden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se acceden mediante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índices numéricos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359994" y="1419313"/>
            <a:ext cx="1944300" cy="1539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marR="0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359994" y="1595297"/>
            <a:ext cx="1944300" cy="4515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diccionario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un contenedor que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27686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permite asociar un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significado (valor)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una determinada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clave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359994" y="2361069"/>
            <a:ext cx="3888000" cy="153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marR="0" rtl="0" algn="l">
              <a:lnSpc>
                <a:spcPct val="113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Intuición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359994" y="2537053"/>
            <a:ext cx="3888000" cy="451500"/>
          </a:xfrm>
          <a:prstGeom prst="rect">
            <a:avLst/>
          </a:prstGeom>
          <a:solidFill>
            <a:srgbClr val="F4F2ED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7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son similares a las listas en el sentido de que se utilizan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465" marR="43815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guardar elementos. En las listas, los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índices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deben ser números enteros. Para los diccionarios, pueden ser tipos de datos más generales.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/>
        </p:nvSpPr>
        <p:spPr>
          <a:xfrm>
            <a:off x="386094" y="1114180"/>
            <a:ext cx="36753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Como se compone un diccionario: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contiene una colección de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se los denomina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claves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contiene una colección de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que se los denomina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significados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246379" marR="276225" rtl="0" algn="l">
              <a:lnSpc>
                <a:spcPct val="1212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clave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está asociada con un </a:t>
            </a: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único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significando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A cada par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(clave,significado)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lo denomina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item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12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1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3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347294" y="563655"/>
            <a:ext cx="3657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ese caso, decimos que tenemos un dict(string,string) (y que se lee como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 de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590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operaciones nos gustaría pedirle a un diccionario?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59" name="Google Shape;2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347294" y="567466"/>
            <a:ext cx="36576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ese caso, decimos que tenemos un dict(string,string) (y que se lee como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diccionario de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b="0" i="1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590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operaciones nos gustaría pedirle a un diccionario?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un diccionario.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Definir una palabra (key) con su significado (value).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significado (value) de una palabra (key).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Consultar si una palabra (key) está definida.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conjunto de palabras (keys).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Obtener el conjunto de significados (values).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7155" marR="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Borrar una palabra (key) y su significado (value).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68" name="Google Shape;2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3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type="title"/>
          </p:nvPr>
        </p:nvSpPr>
        <p:spPr>
          <a:xfrm>
            <a:off x="918911" y="1582913"/>
            <a:ext cx="27723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OPERACIONES BÁSICAS DE DICCIONARIOS</a:t>
            </a:r>
            <a:endParaRPr/>
          </a:p>
        </p:txBody>
      </p:sp>
      <p:grpSp>
        <p:nvGrpSpPr>
          <p:cNvPr id="275" name="Google Shape;275;p34"/>
          <p:cNvGrpSpPr/>
          <p:nvPr/>
        </p:nvGrpSpPr>
        <p:grpSpPr>
          <a:xfrm>
            <a:off x="918896" y="1847967"/>
            <a:ext cx="2752089" cy="29875"/>
            <a:chOff x="1133919" y="1618246"/>
            <a:chExt cx="2340610" cy="25400"/>
          </a:xfrm>
        </p:grpSpPr>
        <p:sp>
          <p:nvSpPr>
            <p:cNvPr id="276" name="Google Shape;276;p34"/>
            <p:cNvSpPr/>
            <p:nvPr/>
          </p:nvSpPr>
          <p:spPr>
            <a:xfrm>
              <a:off x="1133919" y="1618246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6"/>
                <a:buFont typeface="Arial"/>
                <a:buNone/>
              </a:pPr>
              <a:r>
                <a:t/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1133919" y="1618246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1200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6"/>
                <a:buFont typeface="Arial"/>
                <a:buNone/>
              </a:pPr>
              <a:r>
                <a:t/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1133919" y="1618246"/>
              <a:ext cx="1628139" cy="25400"/>
            </a:xfrm>
            <a:custGeom>
              <a:rect b="b" l="l" r="r" t="t"/>
              <a:pathLst>
                <a:path extrusionOk="0" h="25400" w="1628139">
                  <a:moveTo>
                    <a:pt x="0" y="25305"/>
                  </a:moveTo>
                  <a:lnTo>
                    <a:pt x="0" y="0"/>
                  </a:lnTo>
                  <a:lnTo>
                    <a:pt x="1627924" y="0"/>
                  </a:lnTo>
                  <a:lnTo>
                    <a:pt x="1627924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6"/>
                <a:buFont typeface="Arial"/>
                <a:buNone/>
              </a:pPr>
              <a:r>
                <a:t/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1133919" y="1618246"/>
              <a:ext cx="1628139" cy="25400"/>
            </a:xfrm>
            <a:custGeom>
              <a:rect b="b" l="l" r="r" t="t"/>
              <a:pathLst>
                <a:path extrusionOk="0" h="25400" w="1628139">
                  <a:moveTo>
                    <a:pt x="0" y="25305"/>
                  </a:moveTo>
                  <a:lnTo>
                    <a:pt x="0" y="0"/>
                  </a:lnTo>
                  <a:lnTo>
                    <a:pt x="1627924" y="0"/>
                  </a:lnTo>
                  <a:lnTo>
                    <a:pt x="1627924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11200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6"/>
                <a:buFont typeface="Arial"/>
                <a:buNone/>
              </a:pPr>
              <a:r>
                <a:t/>
              </a:r>
              <a:endParaRPr b="0" i="0" sz="16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/>
        </p:nvSpPr>
        <p:spPr>
          <a:xfrm>
            <a:off x="431825" y="666017"/>
            <a:ext cx="3829200" cy="19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Crear un diccionario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Existen dos formas de crear un diccionario: usando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{} o la función dict().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 c t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)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marR="159385" rtl="0" algn="l">
              <a:lnSpc>
                <a:spcPct val="1212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inicio/fin del diccionario se representa con llaves {}. Los </a:t>
            </a:r>
            <a:r>
              <a:rPr b="0" i="0" lang="en-US" sz="900" u="none" cap="none" strike="noStrike">
                <a:solidFill>
                  <a:srgbClr val="BF003F"/>
                </a:solidFill>
                <a:latin typeface="Calibri"/>
                <a:ea typeface="Calibri"/>
                <a:cs typeface="Calibri"/>
                <a:sym typeface="Calibri"/>
              </a:rPr>
              <a:t>ítems 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separan por comas (,), y el doble punto (:) relaciona clave con significado.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 nt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eng2sp )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925" marR="115570" rtl="0" algn="l">
              <a:lnSpc>
                <a:spcPct val="1212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Intuitivamente, gran parte de las operaciones se especifican de manera similar a las listas. Sin embargo, el contenedor es más complejo (e internamente están sucediendo otras cosas).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2o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87" name="Google Shape;2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/>
        </p:nvSpPr>
        <p:spPr>
          <a:xfrm>
            <a:off x="69900" y="393860"/>
            <a:ext cx="41073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59" lvl="0" marL="523875" marR="15367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Acceso/definición/modificación de elementos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Todas estas tareas se realizan utilizando el operador [].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uno = eng2sp [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b="0" i="0" lang="en-US" sz="700" u="none" cap="none" strike="noStrike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Pedimos significado de clave  ' uno '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uno )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otro_ val = eng2sp [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b="0" i="0" lang="en-US" sz="700" u="none" cap="none" strike="noStrike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Que sucede?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marR="124460" rtl="0" algn="l">
              <a:lnSpc>
                <a:spcPct val="1212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Podemos definir nuevos ítems y modificar la definición de alguno ya existente.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[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three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[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 r e s '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marR="238125" rtl="0" algn="l">
              <a:lnSpc>
                <a:spcPct val="1212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saber si una clave se encuentra definida o no en el diccionario podemos usar el operador in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350" lvl="0" marL="529590" marR="2571115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True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3" lvl="0" marL="534670" marR="2517775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four '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False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3875" marR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Este operador también funciona con listas! (pero no puede usarse en el</a:t>
            </a:r>
            <a:r>
              <a:rPr b="0" baseline="3000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TP1)</a:t>
            </a:r>
            <a:endParaRPr b="0" baseline="3000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4424032" y="3348084"/>
            <a:ext cx="889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/>
        </p:nvSpPr>
        <p:spPr>
          <a:xfrm>
            <a:off x="0" y="1169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431825" y="766372"/>
            <a:ext cx="38133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9860" lvl="0" marL="161925" marR="1651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Eliminar una clave y su significado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De forma similar a la lista, podemos utilizar la función del.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eng2sp [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399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161925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◯ </a:t>
            </a:r>
            <a:r>
              <a:rPr b="0" i="0" lang="en-US" sz="9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Cantidad de ítems</a:t>
            </a: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La función len nos permite saber cuántos ítems tiene un diccionario.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129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eng2sp = {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one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uno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two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700" u="none" cap="none" strike="noStrike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' dos '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" lvl="0" marL="166370" marR="2857500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&gt;&gt;&gt; </a:t>
            </a:r>
            <a:r>
              <a:rPr b="0" i="0" lang="en-US" sz="7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len </a:t>
            </a:r>
            <a:r>
              <a:rPr b="0" i="0" lang="en-US" sz="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 eng2sp ) 2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7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05" name="Google Shape;3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4398632" y="3341884"/>
            <a:ext cx="152400" cy="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692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876769" y="780575"/>
            <a:ext cx="28551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Cualquier tipo de dato puede ser clave y/o significado?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1417319" y="1365333"/>
            <a:ext cx="1773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Cómo recorremos un diccionario?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657225" y="1950100"/>
            <a:ext cx="40695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reglas deben seguir los conjuntos de claves y significados?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1630387" y="2534851"/>
            <a:ext cx="1347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Algunas buenas prácticas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17" name="Google Shape;3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8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/>
        </p:nvSpPr>
        <p:spPr>
          <a:xfrm>
            <a:off x="1123743" y="1310950"/>
            <a:ext cx="1133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EJERCICIOS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4" name="Google Shape;324;p39"/>
          <p:cNvGrpSpPr/>
          <p:nvPr/>
        </p:nvGrpSpPr>
        <p:grpSpPr>
          <a:xfrm>
            <a:off x="1133919" y="1526234"/>
            <a:ext cx="2340610" cy="25400"/>
            <a:chOff x="1133919" y="1526234"/>
            <a:chExt cx="2340610" cy="25400"/>
          </a:xfrm>
        </p:grpSpPr>
        <p:sp>
          <p:nvSpPr>
            <p:cNvPr id="325" name="Google Shape;325;p39"/>
            <p:cNvSpPr/>
            <p:nvPr/>
          </p:nvSpPr>
          <p:spPr>
            <a:xfrm>
              <a:off x="1133919" y="1526234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9"/>
            <p:cNvSpPr/>
            <p:nvPr/>
          </p:nvSpPr>
          <p:spPr>
            <a:xfrm>
              <a:off x="1133919" y="1526234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9"/>
            <p:cNvSpPr/>
            <p:nvPr/>
          </p:nvSpPr>
          <p:spPr>
            <a:xfrm>
              <a:off x="1133919" y="1526234"/>
              <a:ext cx="2239010" cy="25400"/>
            </a:xfrm>
            <a:custGeom>
              <a:rect b="b" l="l" r="r" t="t"/>
              <a:pathLst>
                <a:path extrusionOk="0" h="25400" w="2239010">
                  <a:moveTo>
                    <a:pt x="0" y="25305"/>
                  </a:moveTo>
                  <a:lnTo>
                    <a:pt x="0" y="0"/>
                  </a:lnTo>
                  <a:lnTo>
                    <a:pt x="2238396" y="0"/>
                  </a:lnTo>
                  <a:lnTo>
                    <a:pt x="2238396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9"/>
            <p:cNvSpPr/>
            <p:nvPr/>
          </p:nvSpPr>
          <p:spPr>
            <a:xfrm>
              <a:off x="1133919" y="1526234"/>
              <a:ext cx="2239010" cy="25400"/>
            </a:xfrm>
            <a:custGeom>
              <a:rect b="b" l="l" r="r" t="t"/>
              <a:pathLst>
                <a:path extrusionOk="0" h="25400" w="2239010">
                  <a:moveTo>
                    <a:pt x="0" y="25305"/>
                  </a:moveTo>
                  <a:lnTo>
                    <a:pt x="0" y="0"/>
                  </a:lnTo>
                  <a:lnTo>
                    <a:pt x="2238396" y="0"/>
                  </a:lnTo>
                  <a:lnTo>
                    <a:pt x="2238396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9525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/>
        </p:nvSpPr>
        <p:spPr>
          <a:xfrm>
            <a:off x="4424032" y="3341884"/>
            <a:ext cx="88900" cy="11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408000" y="699275"/>
            <a:ext cx="40161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Tenemos el siguiente diccionario guardado en una variable que indica para cuatro personas cuál es su signo en el horóscopo chino:</a:t>
            </a:r>
            <a:endParaRPr/>
          </a:p>
          <a:p>
            <a:pPr indent="0" lvl="0" marL="2032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1000"/>
              <a:buNone/>
            </a:pPr>
            <a:r>
              <a:rPr lang="en-US" sz="700"/>
              <a:t>horosocopo_chino = { </a:t>
            </a:r>
            <a:r>
              <a:rPr lang="en-US" sz="700">
                <a:solidFill>
                  <a:srgbClr val="9300D1"/>
                </a:solidFill>
              </a:rPr>
              <a:t>' Ƒaime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perro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Mariana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chancho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Ƒuan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</a:t>
            </a:r>
            <a:endParaRPr sz="700"/>
          </a:p>
          <a:p>
            <a:pPr indent="0" lvl="0" marL="2774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SzPts val="1000"/>
              <a:buNone/>
            </a:pPr>
            <a:r>
              <a:rPr lang="en-US" sz="700">
                <a:solidFill>
                  <a:srgbClr val="9300D1"/>
                </a:solidFill>
              </a:rPr>
              <a:t>gal l o ' </a:t>
            </a:r>
            <a:r>
              <a:rPr lang="en-US" sz="700"/>
              <a:t>,  </a:t>
            </a:r>
            <a:r>
              <a:rPr lang="en-US" sz="700">
                <a:solidFill>
                  <a:srgbClr val="9300D1"/>
                </a:solidFill>
              </a:rPr>
              <a:t>' Ana ' </a:t>
            </a:r>
            <a:r>
              <a:rPr lang="en-US" sz="700"/>
              <a:t>:  </a:t>
            </a:r>
            <a:r>
              <a:rPr lang="en-US" sz="700">
                <a:solidFill>
                  <a:srgbClr val="9300D1"/>
                </a:solidFill>
              </a:rPr>
              <a:t>' perro ' </a:t>
            </a:r>
            <a:r>
              <a:rPr lang="en-US" sz="700"/>
              <a:t>}</a:t>
            </a:r>
            <a:endParaRPr sz="700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700"/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</a:pPr>
            <a:r>
              <a:rPr lang="en-US"/>
              <a:t>En función de las operaciones vistas, determinar si es posible escribir en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SzPts val="1000"/>
              <a:buNone/>
            </a:pPr>
            <a:r>
              <a:rPr lang="en-US"/>
              <a:t>Python las siguientes consultas y, en caso afirmativo, hacerlo.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Ana está entre las claves del diccionario.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00"/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Jaime no está entre las claves del diccionario.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1000"/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El signo zodiacal de Mariana es </a:t>
            </a:r>
            <a:r>
              <a:rPr b="1" lang="en-US"/>
              <a:t>perro</a:t>
            </a:r>
            <a:r>
              <a:rPr lang="en-US"/>
              <a:t>.</a:t>
            </a:r>
            <a:endParaRPr/>
          </a:p>
          <a:p>
            <a:pPr indent="0" lvl="0" marL="97155" rtl="0" algn="l">
              <a:lnSpc>
                <a:spcPct val="100000"/>
              </a:lnSpc>
              <a:spcBef>
                <a:spcPts val="530"/>
              </a:spcBef>
              <a:spcAft>
                <a:spcPts val="700"/>
              </a:spcAft>
              <a:buSzPts val="1000"/>
              <a:buNone/>
            </a:pPr>
            <a:r>
              <a:rPr lang="en-US">
                <a:solidFill>
                  <a:srgbClr val="006DBF"/>
                </a:solidFill>
              </a:rPr>
              <a:t>◯ </a:t>
            </a:r>
            <a:r>
              <a:rPr lang="en-US"/>
              <a:t>Alguna persona tiene como signo zodiacal </a:t>
            </a:r>
            <a:r>
              <a:rPr b="1" lang="en-US"/>
              <a:t>pato</a:t>
            </a:r>
            <a:r>
              <a:rPr lang="en-US"/>
              <a:t>.</a:t>
            </a:r>
            <a:endParaRPr/>
          </a:p>
        </p:txBody>
      </p:sp>
      <p:sp>
        <p:nvSpPr>
          <p:cNvPr id="335" name="Google Shape;335;p40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0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38" name="Google Shape;3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0"/>
          <p:cNvSpPr txBox="1"/>
          <p:nvPr/>
        </p:nvSpPr>
        <p:spPr>
          <a:xfrm>
            <a:off x="-8250" y="90450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