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3460750" cx="4610100"/>
  <p:notesSz cx="4610100" cy="3460750"/>
  <p:embeddedFontLst>
    <p:embeddedFont>
      <p:font typeface="Tahoma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i/InbhjHVTb/gPC+Loq4E+Uh7C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Tahoma-bold.fntdata"/><Relationship Id="rId10" Type="http://schemas.openxmlformats.org/officeDocument/2006/relationships/slide" Target="slides/slide5.xml"/><Relationship Id="rId32" Type="http://schemas.openxmlformats.org/officeDocument/2006/relationships/font" Target="fonts/Tahoma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c810b6eb36_0_154"/>
          <p:cNvSpPr txBox="1"/>
          <p:nvPr>
            <p:ph type="ctrTitle"/>
          </p:nvPr>
        </p:nvSpPr>
        <p:spPr>
          <a:xfrm>
            <a:off x="157153" y="500979"/>
            <a:ext cx="4295700" cy="1381200"/>
          </a:xfrm>
          <a:prstGeom prst="rect">
            <a:avLst/>
          </a:prstGeom>
        </p:spPr>
        <p:txBody>
          <a:bodyPr anchorCtr="0" anchor="b" bIns="51225" lIns="51225" spcFirstLastPara="1" rIns="51225" wrap="square" tIns="512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11" name="Google Shape;11;g3c810b6eb36_0_154"/>
          <p:cNvSpPr txBox="1"/>
          <p:nvPr>
            <p:ph idx="1" type="subTitle"/>
          </p:nvPr>
        </p:nvSpPr>
        <p:spPr>
          <a:xfrm>
            <a:off x="157149" y="1906911"/>
            <a:ext cx="4295700" cy="533400"/>
          </a:xfrm>
          <a:prstGeom prst="rect">
            <a:avLst/>
          </a:prstGeom>
        </p:spPr>
        <p:txBody>
          <a:bodyPr anchorCtr="0" anchor="t" bIns="51225" lIns="51225" spcFirstLastPara="1" rIns="51225" wrap="square" tIns="512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g3c810b6eb36_0_154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</p:spPr>
        <p:txBody>
          <a:bodyPr anchorCtr="0" anchor="ctr" bIns="51225" lIns="51225" spcFirstLastPara="1" rIns="51225" wrap="square" tIns="512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c810b6eb36_0_158"/>
          <p:cNvSpPr txBox="1"/>
          <p:nvPr>
            <p:ph type="title"/>
          </p:nvPr>
        </p:nvSpPr>
        <p:spPr>
          <a:xfrm>
            <a:off x="157149" y="1447177"/>
            <a:ext cx="4295700" cy="566400"/>
          </a:xfrm>
          <a:prstGeom prst="rect">
            <a:avLst/>
          </a:prstGeom>
        </p:spPr>
        <p:txBody>
          <a:bodyPr anchorCtr="0" anchor="ctr" bIns="51225" lIns="51225" spcFirstLastPara="1" rIns="51225" wrap="square" tIns="512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" name="Google Shape;15;g3c810b6eb36_0_158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</p:spPr>
        <p:txBody>
          <a:bodyPr anchorCtr="0" anchor="ctr" bIns="51225" lIns="51225" spcFirstLastPara="1" rIns="51225" wrap="square" tIns="512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c810b6eb36_0_161"/>
          <p:cNvSpPr txBox="1"/>
          <p:nvPr>
            <p:ph type="title"/>
          </p:nvPr>
        </p:nvSpPr>
        <p:spPr>
          <a:xfrm>
            <a:off x="157149" y="299430"/>
            <a:ext cx="4295700" cy="385200"/>
          </a:xfrm>
          <a:prstGeom prst="rect">
            <a:avLst/>
          </a:prstGeom>
        </p:spPr>
        <p:txBody>
          <a:bodyPr anchorCtr="0" anchor="t" bIns="51225" lIns="51225" spcFirstLastPara="1" rIns="51225" wrap="square" tIns="512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" name="Google Shape;18;g3c810b6eb36_0_161"/>
          <p:cNvSpPr txBox="1"/>
          <p:nvPr>
            <p:ph idx="1" type="body"/>
          </p:nvPr>
        </p:nvSpPr>
        <p:spPr>
          <a:xfrm>
            <a:off x="157149" y="775431"/>
            <a:ext cx="4295700" cy="2298600"/>
          </a:xfrm>
          <a:prstGeom prst="rect">
            <a:avLst/>
          </a:prstGeom>
        </p:spPr>
        <p:txBody>
          <a:bodyPr anchorCtr="0" anchor="t" bIns="51225" lIns="51225" spcFirstLastPara="1" rIns="51225" wrap="square" tIns="512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9" name="Google Shape;19;g3c810b6eb36_0_161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</p:spPr>
        <p:txBody>
          <a:bodyPr anchorCtr="0" anchor="ctr" bIns="51225" lIns="51225" spcFirstLastPara="1" rIns="51225" wrap="square" tIns="512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c810b6eb36_0_165"/>
          <p:cNvSpPr txBox="1"/>
          <p:nvPr>
            <p:ph type="title"/>
          </p:nvPr>
        </p:nvSpPr>
        <p:spPr>
          <a:xfrm>
            <a:off x="157149" y="299430"/>
            <a:ext cx="4295700" cy="385200"/>
          </a:xfrm>
          <a:prstGeom prst="rect">
            <a:avLst/>
          </a:prstGeom>
        </p:spPr>
        <p:txBody>
          <a:bodyPr anchorCtr="0" anchor="t" bIns="51225" lIns="51225" spcFirstLastPara="1" rIns="51225" wrap="square" tIns="512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" name="Google Shape;22;g3c810b6eb36_0_165"/>
          <p:cNvSpPr txBox="1"/>
          <p:nvPr>
            <p:ph idx="1" type="body"/>
          </p:nvPr>
        </p:nvSpPr>
        <p:spPr>
          <a:xfrm>
            <a:off x="157149" y="775431"/>
            <a:ext cx="2016600" cy="2298600"/>
          </a:xfrm>
          <a:prstGeom prst="rect">
            <a:avLst/>
          </a:prstGeom>
        </p:spPr>
        <p:txBody>
          <a:bodyPr anchorCtr="0" anchor="t" bIns="51225" lIns="51225" spcFirstLastPara="1" rIns="51225" wrap="square" tIns="512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23" name="Google Shape;23;g3c810b6eb36_0_165"/>
          <p:cNvSpPr txBox="1"/>
          <p:nvPr>
            <p:ph idx="2" type="body"/>
          </p:nvPr>
        </p:nvSpPr>
        <p:spPr>
          <a:xfrm>
            <a:off x="2436335" y="775431"/>
            <a:ext cx="2016600" cy="2298600"/>
          </a:xfrm>
          <a:prstGeom prst="rect">
            <a:avLst/>
          </a:prstGeom>
        </p:spPr>
        <p:txBody>
          <a:bodyPr anchorCtr="0" anchor="t" bIns="51225" lIns="51225" spcFirstLastPara="1" rIns="51225" wrap="square" tIns="512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24" name="Google Shape;24;g3c810b6eb36_0_165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</p:spPr>
        <p:txBody>
          <a:bodyPr anchorCtr="0" anchor="ctr" bIns="51225" lIns="51225" spcFirstLastPara="1" rIns="51225" wrap="square" tIns="512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c810b6eb36_0_170"/>
          <p:cNvSpPr txBox="1"/>
          <p:nvPr>
            <p:ph type="title"/>
          </p:nvPr>
        </p:nvSpPr>
        <p:spPr>
          <a:xfrm>
            <a:off x="157149" y="299430"/>
            <a:ext cx="4295700" cy="385200"/>
          </a:xfrm>
          <a:prstGeom prst="rect">
            <a:avLst/>
          </a:prstGeom>
        </p:spPr>
        <p:txBody>
          <a:bodyPr anchorCtr="0" anchor="t" bIns="51225" lIns="51225" spcFirstLastPara="1" rIns="51225" wrap="square" tIns="512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" name="Google Shape;27;g3c810b6eb36_0_170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</p:spPr>
        <p:txBody>
          <a:bodyPr anchorCtr="0" anchor="ctr" bIns="51225" lIns="51225" spcFirstLastPara="1" rIns="51225" wrap="square" tIns="512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c810b6eb36_0_173"/>
          <p:cNvSpPr txBox="1"/>
          <p:nvPr>
            <p:ph type="title"/>
          </p:nvPr>
        </p:nvSpPr>
        <p:spPr>
          <a:xfrm>
            <a:off x="157149" y="373830"/>
            <a:ext cx="1415700" cy="508500"/>
          </a:xfrm>
          <a:prstGeom prst="rect">
            <a:avLst/>
          </a:prstGeom>
        </p:spPr>
        <p:txBody>
          <a:bodyPr anchorCtr="0" anchor="b" bIns="51225" lIns="51225" spcFirstLastPara="1" rIns="51225" wrap="square" tIns="512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30" name="Google Shape;30;g3c810b6eb36_0_173"/>
          <p:cNvSpPr txBox="1"/>
          <p:nvPr>
            <p:ph idx="1" type="body"/>
          </p:nvPr>
        </p:nvSpPr>
        <p:spPr>
          <a:xfrm>
            <a:off x="157149" y="934978"/>
            <a:ext cx="1415700" cy="2139300"/>
          </a:xfrm>
          <a:prstGeom prst="rect">
            <a:avLst/>
          </a:prstGeom>
        </p:spPr>
        <p:txBody>
          <a:bodyPr anchorCtr="0" anchor="t" bIns="51225" lIns="51225" spcFirstLastPara="1" rIns="51225" wrap="square" tIns="51225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31" name="Google Shape;31;g3c810b6eb36_0_173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</p:spPr>
        <p:txBody>
          <a:bodyPr anchorCtr="0" anchor="ctr" bIns="51225" lIns="51225" spcFirstLastPara="1" rIns="51225" wrap="square" tIns="512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c810b6eb36_0_177"/>
          <p:cNvSpPr txBox="1"/>
          <p:nvPr>
            <p:ph type="title"/>
          </p:nvPr>
        </p:nvSpPr>
        <p:spPr>
          <a:xfrm>
            <a:off x="247168" y="302879"/>
            <a:ext cx="3210300" cy="2752500"/>
          </a:xfrm>
          <a:prstGeom prst="rect">
            <a:avLst/>
          </a:prstGeom>
        </p:spPr>
        <p:txBody>
          <a:bodyPr anchorCtr="0" anchor="ctr" bIns="51225" lIns="51225" spcFirstLastPara="1" rIns="51225" wrap="square" tIns="512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34" name="Google Shape;34;g3c810b6eb36_0_177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</p:spPr>
        <p:txBody>
          <a:bodyPr anchorCtr="0" anchor="ctr" bIns="51225" lIns="51225" spcFirstLastPara="1" rIns="51225" wrap="square" tIns="512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c810b6eb36_0_180"/>
          <p:cNvSpPr/>
          <p:nvPr/>
        </p:nvSpPr>
        <p:spPr>
          <a:xfrm>
            <a:off x="2305050" y="-84"/>
            <a:ext cx="2305200" cy="3460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1225" lIns="51225" spcFirstLastPara="1" rIns="51225" wrap="square" tIns="5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c810b6eb36_0_180"/>
          <p:cNvSpPr txBox="1"/>
          <p:nvPr>
            <p:ph type="title"/>
          </p:nvPr>
        </p:nvSpPr>
        <p:spPr>
          <a:xfrm>
            <a:off x="133856" y="829729"/>
            <a:ext cx="2039400" cy="997500"/>
          </a:xfrm>
          <a:prstGeom prst="rect">
            <a:avLst/>
          </a:prstGeom>
        </p:spPr>
        <p:txBody>
          <a:bodyPr anchorCtr="0" anchor="b" bIns="51225" lIns="51225" spcFirstLastPara="1" rIns="51225" wrap="square" tIns="512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g3c810b6eb36_0_180"/>
          <p:cNvSpPr txBox="1"/>
          <p:nvPr>
            <p:ph idx="1" type="subTitle"/>
          </p:nvPr>
        </p:nvSpPr>
        <p:spPr>
          <a:xfrm>
            <a:off x="133856" y="1886020"/>
            <a:ext cx="2039400" cy="831000"/>
          </a:xfrm>
          <a:prstGeom prst="rect">
            <a:avLst/>
          </a:prstGeom>
        </p:spPr>
        <p:txBody>
          <a:bodyPr anchorCtr="0" anchor="t" bIns="51225" lIns="51225" spcFirstLastPara="1" rIns="51225" wrap="square" tIns="512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9" name="Google Shape;39;g3c810b6eb36_0_180"/>
          <p:cNvSpPr txBox="1"/>
          <p:nvPr>
            <p:ph idx="2" type="body"/>
          </p:nvPr>
        </p:nvSpPr>
        <p:spPr>
          <a:xfrm>
            <a:off x="2490331" y="487186"/>
            <a:ext cx="1934400" cy="2486100"/>
          </a:xfrm>
          <a:prstGeom prst="rect">
            <a:avLst/>
          </a:prstGeom>
        </p:spPr>
        <p:txBody>
          <a:bodyPr anchorCtr="0" anchor="ctr" bIns="51225" lIns="51225" spcFirstLastPara="1" rIns="51225" wrap="square" tIns="512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0" name="Google Shape;40;g3c810b6eb36_0_180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</p:spPr>
        <p:txBody>
          <a:bodyPr anchorCtr="0" anchor="ctr" bIns="51225" lIns="51225" spcFirstLastPara="1" rIns="51225" wrap="square" tIns="512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c810b6eb36_0_186"/>
          <p:cNvSpPr txBox="1"/>
          <p:nvPr>
            <p:ph idx="1" type="body"/>
          </p:nvPr>
        </p:nvSpPr>
        <p:spPr>
          <a:xfrm>
            <a:off x="157149" y="2846498"/>
            <a:ext cx="3024300" cy="407100"/>
          </a:xfrm>
          <a:prstGeom prst="rect">
            <a:avLst/>
          </a:prstGeom>
        </p:spPr>
        <p:txBody>
          <a:bodyPr anchorCtr="0" anchor="ctr" bIns="51225" lIns="51225" spcFirstLastPara="1" rIns="51225" wrap="square" tIns="512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43" name="Google Shape;43;g3c810b6eb36_0_186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</p:spPr>
        <p:txBody>
          <a:bodyPr anchorCtr="0" anchor="ctr" bIns="51225" lIns="51225" spcFirstLastPara="1" rIns="51225" wrap="square" tIns="512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810b6eb36_0_189"/>
          <p:cNvSpPr txBox="1"/>
          <p:nvPr>
            <p:ph hasCustomPrompt="1" type="title"/>
          </p:nvPr>
        </p:nvSpPr>
        <p:spPr>
          <a:xfrm>
            <a:off x="157149" y="744245"/>
            <a:ext cx="4295700" cy="1321200"/>
          </a:xfrm>
          <a:prstGeom prst="rect">
            <a:avLst/>
          </a:prstGeom>
        </p:spPr>
        <p:txBody>
          <a:bodyPr anchorCtr="0" anchor="b" bIns="51225" lIns="51225" spcFirstLastPara="1" rIns="51225" wrap="square" tIns="512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>
            <a:r>
              <a:t>xx%</a:t>
            </a:r>
          </a:p>
        </p:txBody>
      </p:sp>
      <p:sp>
        <p:nvSpPr>
          <p:cNvPr id="46" name="Google Shape;46;g3c810b6eb36_0_189"/>
          <p:cNvSpPr txBox="1"/>
          <p:nvPr>
            <p:ph idx="1" type="body"/>
          </p:nvPr>
        </p:nvSpPr>
        <p:spPr>
          <a:xfrm>
            <a:off x="157149" y="2120942"/>
            <a:ext cx="4295700" cy="875100"/>
          </a:xfrm>
          <a:prstGeom prst="rect">
            <a:avLst/>
          </a:prstGeom>
        </p:spPr>
        <p:txBody>
          <a:bodyPr anchorCtr="0" anchor="t" bIns="51225" lIns="51225" spcFirstLastPara="1" rIns="51225" wrap="square" tIns="512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7" name="Google Shape;47;g3c810b6eb36_0_189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</p:spPr>
        <p:txBody>
          <a:bodyPr anchorCtr="0" anchor="ctr" bIns="51225" lIns="51225" spcFirstLastPara="1" rIns="51225" wrap="square" tIns="512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c810b6eb36_0_193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</p:spPr>
        <p:txBody>
          <a:bodyPr anchorCtr="0" anchor="ctr" bIns="51225" lIns="51225" spcFirstLastPara="1" rIns="51225" wrap="square" tIns="512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810b6eb36_0_195"/>
          <p:cNvSpPr txBox="1"/>
          <p:nvPr>
            <p:ph type="title"/>
          </p:nvPr>
        </p:nvSpPr>
        <p:spPr>
          <a:xfrm>
            <a:off x="95300" y="18464"/>
            <a:ext cx="3158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100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2" name="Google Shape;52;g3c810b6eb36_0_195"/>
          <p:cNvSpPr txBox="1"/>
          <p:nvPr>
            <p:ph idx="1" type="body"/>
          </p:nvPr>
        </p:nvSpPr>
        <p:spPr>
          <a:xfrm>
            <a:off x="347294" y="665280"/>
            <a:ext cx="379410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None/>
              <a:defRPr i="0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2pPr>
            <a:lvl3pPr indent="-228600" lvl="2" marL="1371600" algn="l"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3pPr>
            <a:lvl4pPr indent="-228600" lvl="3" marL="1828800" algn="l"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4pPr>
            <a:lvl5pPr indent="-228600" lvl="4" marL="2286000" algn="l"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5pPr>
            <a:lvl6pPr indent="-228600" lvl="5" marL="2743200" algn="l"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6pPr>
            <a:lvl7pPr indent="-228600" lvl="6" marL="3200400" algn="l"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7pPr>
            <a:lvl8pPr indent="-228600" lvl="7" marL="3657600" algn="l"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8pPr>
            <a:lvl9pPr indent="-228600" lvl="8" marL="4114800" algn="l">
              <a:spcBef>
                <a:spcPts val="700"/>
              </a:spcBef>
              <a:spcAft>
                <a:spcPts val="700"/>
              </a:spcAft>
              <a:buSzPts val="800"/>
              <a:buFont typeface="Calibri"/>
              <a:buNone/>
              <a:defRPr/>
            </a:lvl9pPr>
          </a:lstStyle>
          <a:p/>
        </p:txBody>
      </p:sp>
      <p:sp>
        <p:nvSpPr>
          <p:cNvPr id="53" name="Google Shape;53;g3c810b6eb36_0_195"/>
          <p:cNvSpPr txBox="1"/>
          <p:nvPr>
            <p:ph idx="11" type="ftr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c810b6eb36_0_195"/>
          <p:cNvSpPr txBox="1"/>
          <p:nvPr>
            <p:ph idx="10" type="dt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c810b6eb36_0_195"/>
          <p:cNvSpPr txBox="1"/>
          <p:nvPr>
            <p:ph idx="12" type="sldNum"/>
          </p:nvPr>
        </p:nvSpPr>
        <p:spPr>
          <a:xfrm>
            <a:off x="4398632" y="3341884"/>
            <a:ext cx="1524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c810b6eb36_0_195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c810b6eb36_0_195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810b6eb36_0_203"/>
          <p:cNvSpPr/>
          <p:nvPr/>
        </p:nvSpPr>
        <p:spPr>
          <a:xfrm>
            <a:off x="0" y="0"/>
            <a:ext cx="4608195" cy="3456304"/>
          </a:xfrm>
          <a:custGeom>
            <a:rect b="b" l="l" r="r" t="t"/>
            <a:pathLst>
              <a:path extrusionOk="0" h="3456304" w="4608195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c810b6eb36_0_203"/>
          <p:cNvSpPr txBox="1"/>
          <p:nvPr>
            <p:ph idx="11" type="ftr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3c810b6eb36_0_203"/>
          <p:cNvSpPr txBox="1"/>
          <p:nvPr>
            <p:ph idx="10" type="dt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c810b6eb36_0_203"/>
          <p:cNvSpPr txBox="1"/>
          <p:nvPr>
            <p:ph idx="12" type="sldNum"/>
          </p:nvPr>
        </p:nvSpPr>
        <p:spPr>
          <a:xfrm>
            <a:off x="4398632" y="3341884"/>
            <a:ext cx="1524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c810b6eb36_0_203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c810b6eb36_0_203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810b6eb36_0_210"/>
          <p:cNvSpPr txBox="1"/>
          <p:nvPr>
            <p:ph type="ctrTitle"/>
          </p:nvPr>
        </p:nvSpPr>
        <p:spPr>
          <a:xfrm>
            <a:off x="95300" y="18464"/>
            <a:ext cx="7365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100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7" name="Google Shape;67;g3c810b6eb36_0_210"/>
          <p:cNvSpPr txBox="1"/>
          <p:nvPr>
            <p:ph idx="1" type="subTitle"/>
          </p:nvPr>
        </p:nvSpPr>
        <p:spPr>
          <a:xfrm>
            <a:off x="691515" y="1938020"/>
            <a:ext cx="32271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None/>
              <a:defRPr i="0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700"/>
              </a:spcBef>
              <a:spcAft>
                <a:spcPts val="700"/>
              </a:spcAft>
              <a:buSzPts val="800"/>
              <a:buNone/>
              <a:defRPr/>
            </a:lvl9pPr>
          </a:lstStyle>
          <a:p/>
        </p:txBody>
      </p:sp>
      <p:sp>
        <p:nvSpPr>
          <p:cNvPr id="68" name="Google Shape;68;g3c810b6eb36_0_210"/>
          <p:cNvSpPr txBox="1"/>
          <p:nvPr>
            <p:ph idx="11" type="ftr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c810b6eb36_0_210"/>
          <p:cNvSpPr txBox="1"/>
          <p:nvPr>
            <p:ph idx="10" type="dt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c810b6eb36_0_210"/>
          <p:cNvSpPr txBox="1"/>
          <p:nvPr>
            <p:ph idx="12" type="sldNum"/>
          </p:nvPr>
        </p:nvSpPr>
        <p:spPr>
          <a:xfrm>
            <a:off x="4398632" y="3341884"/>
            <a:ext cx="1524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810b6eb36_0_216"/>
          <p:cNvSpPr/>
          <p:nvPr/>
        </p:nvSpPr>
        <p:spPr>
          <a:xfrm>
            <a:off x="0" y="0"/>
            <a:ext cx="4608195" cy="3456304"/>
          </a:xfrm>
          <a:custGeom>
            <a:rect b="b" l="l" r="r" t="t"/>
            <a:pathLst>
              <a:path extrusionOk="0" h="3456304" w="4608195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c810b6eb36_0_216"/>
          <p:cNvSpPr txBox="1"/>
          <p:nvPr>
            <p:ph type="title"/>
          </p:nvPr>
        </p:nvSpPr>
        <p:spPr>
          <a:xfrm>
            <a:off x="95300" y="18464"/>
            <a:ext cx="3158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100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4" name="Google Shape;74;g3c810b6eb36_0_216"/>
          <p:cNvSpPr txBox="1"/>
          <p:nvPr>
            <p:ph idx="11" type="ftr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c810b6eb36_0_216"/>
          <p:cNvSpPr txBox="1"/>
          <p:nvPr>
            <p:ph idx="10" type="dt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c810b6eb36_0_216"/>
          <p:cNvSpPr txBox="1"/>
          <p:nvPr>
            <p:ph idx="12" type="sldNum"/>
          </p:nvPr>
        </p:nvSpPr>
        <p:spPr>
          <a:xfrm>
            <a:off x="4398632" y="3341884"/>
            <a:ext cx="1524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69215">
              <a:lnSpc>
                <a:spcPct val="100000"/>
              </a:lnSpc>
              <a:spcBef>
                <a:spcPts val="0"/>
              </a:spcBef>
              <a:buNone/>
              <a:defRPr b="0" i="0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c810b6eb36_0_216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c810b6eb36_0_216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c810b6eb36_0_150"/>
          <p:cNvSpPr txBox="1"/>
          <p:nvPr>
            <p:ph type="title"/>
          </p:nvPr>
        </p:nvSpPr>
        <p:spPr>
          <a:xfrm>
            <a:off x="157149" y="299430"/>
            <a:ext cx="42957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c810b6eb36_0_150"/>
          <p:cNvSpPr txBox="1"/>
          <p:nvPr>
            <p:ph idx="1" type="body"/>
          </p:nvPr>
        </p:nvSpPr>
        <p:spPr>
          <a:xfrm>
            <a:off x="157149" y="775431"/>
            <a:ext cx="42957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c810b6eb36_0_150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lvl="0" algn="r">
              <a:buNone/>
              <a:defRPr sz="600">
                <a:solidFill>
                  <a:schemeClr val="dk2"/>
                </a:solidFill>
              </a:defRPr>
            </a:lvl1pPr>
            <a:lvl2pPr lvl="1" algn="r">
              <a:buNone/>
              <a:defRPr sz="600">
                <a:solidFill>
                  <a:schemeClr val="dk2"/>
                </a:solidFill>
              </a:defRPr>
            </a:lvl2pPr>
            <a:lvl3pPr lvl="2" algn="r">
              <a:buNone/>
              <a:defRPr sz="600">
                <a:solidFill>
                  <a:schemeClr val="dk2"/>
                </a:solidFill>
              </a:defRPr>
            </a:lvl3pPr>
            <a:lvl4pPr lvl="3" algn="r">
              <a:buNone/>
              <a:defRPr sz="600">
                <a:solidFill>
                  <a:schemeClr val="dk2"/>
                </a:solidFill>
              </a:defRPr>
            </a:lvl4pPr>
            <a:lvl5pPr lvl="4" algn="r">
              <a:buNone/>
              <a:defRPr sz="600">
                <a:solidFill>
                  <a:schemeClr val="dk2"/>
                </a:solidFill>
              </a:defRPr>
            </a:lvl5pPr>
            <a:lvl6pPr lvl="5" algn="r">
              <a:buNone/>
              <a:defRPr sz="600">
                <a:solidFill>
                  <a:schemeClr val="dk2"/>
                </a:solidFill>
              </a:defRPr>
            </a:lvl6pPr>
            <a:lvl7pPr lvl="6" algn="r">
              <a:buNone/>
              <a:defRPr sz="600">
                <a:solidFill>
                  <a:schemeClr val="dk2"/>
                </a:solidFill>
              </a:defRPr>
            </a:lvl7pPr>
            <a:lvl8pPr lvl="7" algn="r">
              <a:buNone/>
              <a:defRPr sz="600">
                <a:solidFill>
                  <a:schemeClr val="dk2"/>
                </a:solidFill>
              </a:defRPr>
            </a:lvl8pPr>
            <a:lvl9pPr lvl="8" algn="r">
              <a:buNone/>
              <a:defRPr sz="6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4.xml"/><Relationship Id="rId4" Type="http://schemas.openxmlformats.org/officeDocument/2006/relationships/slide" Target="/ppt/slides/slide14.xml"/><Relationship Id="rId5" Type="http://schemas.openxmlformats.org/officeDocument/2006/relationships/slide" Target="/ppt/slides/slide19.xml"/><Relationship Id="rId6" Type="http://schemas.openxmlformats.org/officeDocument/2006/relationships/slide" Target="/ppt/slides/slide25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/>
        </p:nvSpPr>
        <p:spPr>
          <a:xfrm>
            <a:off x="293904" y="1234975"/>
            <a:ext cx="468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APLICADOS A LOS NEGOCIOS II </a:t>
            </a:r>
            <a:endParaRPr b="1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333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293909" y="1683790"/>
            <a:ext cx="3888104" cy="0"/>
          </a:xfrm>
          <a:custGeom>
            <a:rect b="b" l="l" r="r" t="t"/>
            <a:pathLst>
              <a:path extrusionOk="0" h="120000" w="3888104">
                <a:moveTo>
                  <a:pt x="0" y="0"/>
                </a:moveTo>
                <a:lnTo>
                  <a:pt x="3888051" y="0"/>
                </a:lnTo>
              </a:path>
            </a:pathLst>
          </a:cu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347294" y="2037529"/>
            <a:ext cx="2508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5040" y="3115462"/>
            <a:ext cx="948648" cy="14594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293900" y="939250"/>
            <a:ext cx="527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Clase </a:t>
            </a:r>
            <a:r>
              <a:rPr b="1" lang="en-US" sz="15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15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Tipos Abstractos de Datos</a:t>
            </a:r>
            <a:endParaRPr b="1" sz="15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sz="15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62525" y="1966650"/>
            <a:ext cx="84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Profesor: Pablo J Piccoli Bornia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62525" y="2233175"/>
            <a:ext cx="8496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Auxiliares: Daniela Longas, M Victoria Tolosa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91489" y="60389"/>
            <a:ext cx="3158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Outline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91500" y="3193259"/>
            <a:ext cx="5487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347294" y="860013"/>
            <a:ext cx="14502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900" u="sng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Tipos Abstractos de Datos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347294" y="1364000"/>
            <a:ext cx="15144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900" u="sng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Introducción a diccionarios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347294" y="1848124"/>
            <a:ext cx="19995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900" u="sng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Operaciones básicas con diccionarios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347294" y="2348923"/>
            <a:ext cx="6135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en-US" sz="900" u="sng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Ejercicios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95300" y="48955"/>
            <a:ext cx="3158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Recapitulando</a:t>
            </a:r>
            <a:endParaRPr/>
          </a:p>
        </p:txBody>
      </p:sp>
      <p:sp>
        <p:nvSpPr>
          <p:cNvPr id="106" name="Google Shape;106;p3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173701" y="525725"/>
            <a:ext cx="4262700" cy="24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49860" lvl="0" marL="246379" marR="18161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Mencionamos que una forma de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abordar un problema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 dividirlo en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subproblemas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más pequeños.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246379" marR="88900" rtl="0" algn="l">
              <a:lnSpc>
                <a:spcPct val="1212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Utilizar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funciones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nos permite generar un código más claro, que puede ser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reutilizado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246379" marR="205740" rtl="0" algn="l">
              <a:lnSpc>
                <a:spcPct val="1212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Las funciones también nos permiten aislar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unidades conceptuales de cómputo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Vamos a extender esta idea con el concepto de </a:t>
            </a:r>
            <a:r>
              <a:rPr lang="en-US" sz="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Tipos (Abstractos) de Datos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Por qué?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modularidad, encapsulamiento.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Recordemos que Excel nos permite operar con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fechas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Cómo representa Excel las fechas?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 qué otra manera (eventualmente más simple) podríamos representarlas?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Qué información debería tener una fecha?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/>
        </p:nvSpPr>
        <p:spPr>
          <a:xfrm>
            <a:off x="1129646" y="1618700"/>
            <a:ext cx="2568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4F2ED"/>
                </a:solidFill>
                <a:latin typeface="Calibri"/>
                <a:ea typeface="Calibri"/>
                <a:cs typeface="Calibri"/>
                <a:sym typeface="Calibri"/>
              </a:rPr>
              <a:t>TIPOS ABSTRACTOS DE DATOS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p4"/>
          <p:cNvGrpSpPr/>
          <p:nvPr/>
        </p:nvGrpSpPr>
        <p:grpSpPr>
          <a:xfrm>
            <a:off x="1139819" y="1816646"/>
            <a:ext cx="2340610" cy="25400"/>
            <a:chOff x="1133919" y="1515833"/>
            <a:chExt cx="2340610" cy="25400"/>
          </a:xfrm>
        </p:grpSpPr>
        <p:sp>
          <p:nvSpPr>
            <p:cNvPr id="114" name="Google Shape;114;p4"/>
            <p:cNvSpPr/>
            <p:nvPr/>
          </p:nvSpPr>
          <p:spPr>
            <a:xfrm>
              <a:off x="1133919" y="1515833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1133919" y="1515833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952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1133919" y="1515833"/>
              <a:ext cx="305435" cy="25400"/>
            </a:xfrm>
            <a:custGeom>
              <a:rect b="b" l="l" r="r" t="t"/>
              <a:pathLst>
                <a:path extrusionOk="0" h="25400" w="305434">
                  <a:moveTo>
                    <a:pt x="0" y="25305"/>
                  </a:moveTo>
                  <a:lnTo>
                    <a:pt x="0" y="0"/>
                  </a:lnTo>
                  <a:lnTo>
                    <a:pt x="305235" y="0"/>
                  </a:lnTo>
                  <a:lnTo>
                    <a:pt x="305235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1133919" y="1515833"/>
              <a:ext cx="305435" cy="25400"/>
            </a:xfrm>
            <a:custGeom>
              <a:rect b="b" l="l" r="r" t="t"/>
              <a:pathLst>
                <a:path extrusionOk="0" h="25400" w="305434">
                  <a:moveTo>
                    <a:pt x="0" y="25305"/>
                  </a:moveTo>
                  <a:lnTo>
                    <a:pt x="0" y="0"/>
                  </a:lnTo>
                  <a:lnTo>
                    <a:pt x="305235" y="0"/>
                  </a:lnTo>
                  <a:lnTo>
                    <a:pt x="305235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C64"/>
            </a:solidFill>
            <a:ln cap="flat" cmpd="sng" w="9525">
              <a:solidFill>
                <a:srgbClr val="FFDC6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type="title"/>
          </p:nvPr>
        </p:nvSpPr>
        <p:spPr>
          <a:xfrm>
            <a:off x="95300" y="48964"/>
            <a:ext cx="3158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TADs: un ejemplo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354919" y="928131"/>
            <a:ext cx="34677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Una fecha está definida por: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número que represente el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día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número que represente el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mes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número que represente el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año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84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Dada una fecha, ¿qué nos gustaría preguntarle y/o pedirle?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4455667" y="3348084"/>
            <a:ext cx="571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6"/>
          <p:cNvGrpSpPr/>
          <p:nvPr/>
        </p:nvGrpSpPr>
        <p:grpSpPr>
          <a:xfrm>
            <a:off x="0" y="0"/>
            <a:ext cx="4608195" cy="271780"/>
            <a:chOff x="0" y="0"/>
            <a:chExt cx="4608195" cy="271780"/>
          </a:xfrm>
        </p:grpSpPr>
        <p:sp>
          <p:nvSpPr>
            <p:cNvPr id="130" name="Google Shape;130;p6"/>
            <p:cNvSpPr/>
            <p:nvPr/>
          </p:nvSpPr>
          <p:spPr>
            <a:xfrm>
              <a:off x="954037" y="73177"/>
              <a:ext cx="178435" cy="140335"/>
            </a:xfrm>
            <a:custGeom>
              <a:rect b="b" l="l" r="r" t="t"/>
              <a:pathLst>
                <a:path extrusionOk="0" h="140335" w="178434">
                  <a:moveTo>
                    <a:pt x="178087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178087" y="140017"/>
                  </a:lnTo>
                  <a:lnTo>
                    <a:pt x="178087" y="0"/>
                  </a:lnTo>
                  <a:close/>
                </a:path>
              </a:pathLst>
            </a:custGeom>
            <a:solidFill>
              <a:srgbClr val="FFEF6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0" y="0"/>
              <a:ext cx="4608195" cy="271780"/>
            </a:xfrm>
            <a:custGeom>
              <a:rect b="b" l="l" r="r" t="t"/>
              <a:pathLst>
                <a:path extrusionOk="0" h="271780" w="4608195">
                  <a:moveTo>
                    <a:pt x="4608004" y="0"/>
                  </a:moveTo>
                  <a:lnTo>
                    <a:pt x="0" y="0"/>
                  </a:lnTo>
                  <a:lnTo>
                    <a:pt x="0" y="271551"/>
                  </a:lnTo>
                  <a:lnTo>
                    <a:pt x="4608004" y="271551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6"/>
          <p:cNvSpPr txBox="1"/>
          <p:nvPr>
            <p:ph type="title"/>
          </p:nvPr>
        </p:nvSpPr>
        <p:spPr>
          <a:xfrm>
            <a:off x="95300" y="40001"/>
            <a:ext cx="3158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TADs: un ejemplo</a:t>
            </a:r>
            <a:endParaRPr/>
          </a:p>
        </p:txBody>
      </p:sp>
      <p:sp>
        <p:nvSpPr>
          <p:cNvPr id="133" name="Google Shape;133;p6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347294" y="569856"/>
            <a:ext cx="3766800" cy="22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Una fecha está definida por: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número que represente el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día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número que represente el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mes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número que represente el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año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4668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Dada una fecha, qué nos gustaría preguntarle y/o pedirle?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Saber cuál es el día.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Saber cuál es el mes.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Saber cuál es el año.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246379" marR="5080" rtl="0" algn="l">
              <a:lnSpc>
                <a:spcPct val="1212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Que devuelva un string con la fecha en determinado formato (US, por ejemplo).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95300" y="61214"/>
            <a:ext cx="3158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TADs: un ejemplo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95300" y="3341884"/>
            <a:ext cx="5487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7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347294" y="549485"/>
            <a:ext cx="3866400" cy="17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Sería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interesante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contar con un </a:t>
            </a:r>
            <a:r>
              <a:rPr lang="en-US" sz="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tipo de datos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que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encapsule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una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fecha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Posibles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operaciones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del Tipo Abstracto de Datos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fecha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246379" marR="128270" rtl="0" algn="l">
              <a:lnSpc>
                <a:spcPct val="121200"/>
              </a:lnSpc>
              <a:spcBef>
                <a:spcPts val="76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CrearFecha(dia,mes,año), que crea una fecha con los parámetros int dia, mes y año.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Dia(f), que dada una fecha f devuelve un int con el día.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Mes(f), que dada una fecha f devuelve un int con el mes.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Año(f), que dada una fecha f devuelve un int con el año.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246379" marR="5080" rtl="0" algn="l">
              <a:lnSpc>
                <a:spcPct val="1212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ImprimirFormatoUS(f), que dada una fecha f devuelve un string con la fecha en formato mm/dd/aaaa.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359994" y="2444191"/>
            <a:ext cx="3888000" cy="1539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Definición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359994" y="2620187"/>
            <a:ext cx="3888000" cy="312900"/>
          </a:xfrm>
          <a:prstGeom prst="rect">
            <a:avLst/>
          </a:prstGeom>
          <a:solidFill>
            <a:srgbClr val="F4F2ED"/>
          </a:solidFill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7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lang="en-US" sz="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Tipo Abstracto de Datos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(TAD) es un modelo matemático, lógico, que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37465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describe las operaciones y como manipular un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tipo de datos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2366010" y="2619028"/>
            <a:ext cx="153035" cy="114935"/>
          </a:xfrm>
          <a:custGeom>
            <a:rect b="b" l="l" r="r" t="t"/>
            <a:pathLst>
              <a:path extrusionOk="0" h="114935" w="153035">
                <a:moveTo>
                  <a:pt x="152653" y="0"/>
                </a:moveTo>
                <a:lnTo>
                  <a:pt x="0" y="0"/>
                </a:lnTo>
                <a:lnTo>
                  <a:pt x="0" y="114562"/>
                </a:lnTo>
                <a:lnTo>
                  <a:pt x="152653" y="114562"/>
                </a:lnTo>
                <a:lnTo>
                  <a:pt x="152653" y="0"/>
                </a:lnTo>
                <a:close/>
              </a:path>
            </a:pathLst>
          </a:custGeom>
          <a:solidFill>
            <a:srgbClr val="FFEF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2671305" y="1817078"/>
            <a:ext cx="280035" cy="114935"/>
          </a:xfrm>
          <a:custGeom>
            <a:rect b="b" l="l" r="r" t="t"/>
            <a:pathLst>
              <a:path extrusionOk="0" h="114935" w="280035">
                <a:moveTo>
                  <a:pt x="279857" y="0"/>
                </a:moveTo>
                <a:lnTo>
                  <a:pt x="0" y="0"/>
                </a:lnTo>
                <a:lnTo>
                  <a:pt x="0" y="114566"/>
                </a:lnTo>
                <a:lnTo>
                  <a:pt x="279857" y="114566"/>
                </a:lnTo>
                <a:lnTo>
                  <a:pt x="279857" y="0"/>
                </a:lnTo>
                <a:close/>
              </a:path>
            </a:pathLst>
          </a:custGeom>
          <a:solidFill>
            <a:srgbClr val="FFEF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0" y="0"/>
            <a:ext cx="4608195" cy="271780"/>
          </a:xfrm>
          <a:custGeom>
            <a:rect b="b" l="l" r="r" t="t"/>
            <a:pathLst>
              <a:path extrusionOk="0" h="271780" w="4608195">
                <a:moveTo>
                  <a:pt x="4608004" y="0"/>
                </a:moveTo>
                <a:lnTo>
                  <a:pt x="0" y="0"/>
                </a:lnTo>
                <a:lnTo>
                  <a:pt x="0" y="271551"/>
                </a:lnTo>
                <a:lnTo>
                  <a:pt x="4608004" y="271551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 txBox="1"/>
          <p:nvPr>
            <p:ph type="title"/>
          </p:nvPr>
        </p:nvSpPr>
        <p:spPr>
          <a:xfrm>
            <a:off x="95300" y="18464"/>
            <a:ext cx="3158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TADs: algunas preguntas</a:t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431825" y="426892"/>
            <a:ext cx="34575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Cuáles son los detalles de </a:t>
            </a: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de un TAD?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520700" rtl="0" algn="ctr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 usuario (programador) </a:t>
            </a:r>
            <a:r>
              <a:rPr lang="en-US" sz="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 interesa.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Qué necesitamos para poder interactuar con un TAD?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533400" marR="5080" rtl="0" algn="ctr">
              <a:lnSpc>
                <a:spcPct val="1212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nombre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del tipo de datos, qué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operaciones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(funciones, procedimientos) provee,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restricciones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sobre su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utilización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360994" y="1461672"/>
            <a:ext cx="3888000" cy="1539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3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Intuición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60994" y="1637669"/>
            <a:ext cx="3888104" cy="357505"/>
          </a:xfrm>
          <a:custGeom>
            <a:rect b="b" l="l" r="r" t="t"/>
            <a:pathLst>
              <a:path extrusionOk="0" h="357505" w="3888104">
                <a:moveTo>
                  <a:pt x="3888003" y="0"/>
                </a:moveTo>
                <a:lnTo>
                  <a:pt x="0" y="0"/>
                </a:lnTo>
                <a:lnTo>
                  <a:pt x="0" y="357327"/>
                </a:lnTo>
                <a:lnTo>
                  <a:pt x="3888003" y="357327"/>
                </a:lnTo>
                <a:lnTo>
                  <a:pt x="3888003" y="0"/>
                </a:lnTo>
                <a:close/>
              </a:path>
            </a:pathLst>
          </a:custGeom>
          <a:solidFill>
            <a:srgbClr val="F4F2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386254" y="1602379"/>
            <a:ext cx="33318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lang="en-US" sz="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TAD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 puede implementar de muchas maneras distintas, y es transparente para el </a:t>
            </a: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usuario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(léase, programador).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360994" y="2093789"/>
            <a:ext cx="3888000" cy="153900"/>
          </a:xfrm>
          <a:prstGeom prst="rect">
            <a:avLst/>
          </a:prstGeom>
          <a:solidFill>
            <a:srgbClr val="FFDC64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3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Estructura de datos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60994" y="2269773"/>
            <a:ext cx="3888104" cy="856614"/>
          </a:xfrm>
          <a:custGeom>
            <a:rect b="b" l="l" r="r" t="t"/>
            <a:pathLst>
              <a:path extrusionOk="0" h="856614" w="3888104">
                <a:moveTo>
                  <a:pt x="3888003" y="0"/>
                </a:moveTo>
                <a:lnTo>
                  <a:pt x="0" y="0"/>
                </a:lnTo>
                <a:lnTo>
                  <a:pt x="0" y="856094"/>
                </a:lnTo>
                <a:lnTo>
                  <a:pt x="3888003" y="856094"/>
                </a:lnTo>
                <a:lnTo>
                  <a:pt x="3888003" y="0"/>
                </a:lnTo>
                <a:close/>
              </a:path>
            </a:pathLst>
          </a:custGeom>
          <a:solidFill>
            <a:srgbClr val="F4F2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360994" y="2269773"/>
            <a:ext cx="38880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7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Una </a:t>
            </a:r>
            <a:r>
              <a:rPr lang="en-US" sz="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estructura de datos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 una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implementación concreta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 un TAD. Es una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37465" marR="174625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colección de valores relacionados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La misma organiza la información de una particular, con una representación específica que relaciona los valores y provee operaciones y funciones que pueden aplicarse con sus respectivas garantías de eficiencia.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95300" y="3341884"/>
            <a:ext cx="548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8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type="title"/>
          </p:nvPr>
        </p:nvSpPr>
        <p:spPr>
          <a:xfrm>
            <a:off x="95300" y="18464"/>
            <a:ext cx="3158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Estructuras de datos</a:t>
            </a: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347294" y="521063"/>
            <a:ext cx="19557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Retomemos el ejemplo del TAD fecha.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1244472" y="1207041"/>
            <a:ext cx="21195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Alternativas para representar una fecha?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1682597" y="1994250"/>
            <a:ext cx="12432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Ventajas y desventajas?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1140333" y="2781447"/>
            <a:ext cx="23280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Qué estructuras de datos estuvimos usando?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95300" y="3348084"/>
            <a:ext cx="5487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4455667" y="3348084"/>
            <a:ext cx="571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ɕ</a:t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 txBox="1"/>
          <p:nvPr>
            <p:ph type="title"/>
          </p:nvPr>
        </p:nvSpPr>
        <p:spPr>
          <a:xfrm>
            <a:off x="95300" y="18464"/>
            <a:ext cx="3158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Estructuras de datos: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list</a:t>
            </a:r>
            <a:endParaRPr/>
          </a:p>
        </p:txBody>
      </p:sp>
      <p:sp>
        <p:nvSpPr>
          <p:cNvPr id="182" name="Google Shape;182;p10"/>
          <p:cNvSpPr txBox="1"/>
          <p:nvPr/>
        </p:nvSpPr>
        <p:spPr>
          <a:xfrm>
            <a:off x="347294" y="430791"/>
            <a:ext cx="38799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Algunos tipos/estructuras de datos que vimos hasta ahora: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Algunas operaciones que vimos sobre list: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l[i]: accede a la posición i de 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len(l): retorna la cantidad de elementos de 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l.append(elem): agrega elem al final de l.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Procedimiento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l.pop(): quita el último elemento de l.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Procedimiento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277620" lvl="0" marL="1323340" marR="508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Por qué es importante entender qué es un TAD, una estructura de datos, y la diferencia entre ellos?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95300" y="3348084"/>
            <a:ext cx="5487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4424032" y="3348084"/>
            <a:ext cx="889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1o</a:t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/>
          <p:nvPr/>
        </p:nvSpPr>
        <p:spPr>
          <a:xfrm>
            <a:off x="0" y="0"/>
            <a:ext cx="4608195" cy="271780"/>
          </a:xfrm>
          <a:custGeom>
            <a:rect b="b" l="l" r="r" t="t"/>
            <a:pathLst>
              <a:path extrusionOk="0" h="271780" w="4608195">
                <a:moveTo>
                  <a:pt x="4608004" y="0"/>
                </a:moveTo>
                <a:lnTo>
                  <a:pt x="0" y="0"/>
                </a:lnTo>
                <a:lnTo>
                  <a:pt x="0" y="271551"/>
                </a:lnTo>
                <a:lnTo>
                  <a:pt x="4608004" y="271551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 txBox="1"/>
          <p:nvPr/>
        </p:nvSpPr>
        <p:spPr>
          <a:xfrm>
            <a:off x="95300" y="18475"/>
            <a:ext cx="2733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Estructuras de datos: en la práctica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1" name="Google Shape;1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182" y="768798"/>
            <a:ext cx="3980334" cy="176610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1"/>
          <p:cNvSpPr txBox="1"/>
          <p:nvPr/>
        </p:nvSpPr>
        <p:spPr>
          <a:xfrm>
            <a:off x="1244688" y="2813095"/>
            <a:ext cx="21189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Sabemos cómo está implementada list?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 txBox="1"/>
          <p:nvPr/>
        </p:nvSpPr>
        <p:spPr>
          <a:xfrm>
            <a:off x="4424032" y="3341884"/>
            <a:ext cx="88900" cy="113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1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 txBox="1"/>
          <p:nvPr>
            <p:ph type="title"/>
          </p:nvPr>
        </p:nvSpPr>
        <p:spPr>
          <a:xfrm>
            <a:off x="95300" y="18475"/>
            <a:ext cx="25620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Estructuras de datos: intuición</a:t>
            </a:r>
            <a:endParaRPr/>
          </a:p>
        </p:txBody>
      </p:sp>
      <p:sp>
        <p:nvSpPr>
          <p:cNvPr id="201" name="Google Shape;201;p12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347294" y="454299"/>
            <a:ext cx="37629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Las estructuras de datos cuentan generalmente con dos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partes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246379" marR="5080" rtl="0" algn="l">
              <a:lnSpc>
                <a:spcPct val="1212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Parte pública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Disponible al usuario externo. El nombre del tipo, las operaciones, funciones. Restricciones sobre su utilización.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Garantías de eficiencia (complejidad)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246379" marR="229234" rtl="0" algn="l">
              <a:lnSpc>
                <a:spcPct val="1212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Parte privada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Sólo accesible dentro del tipo/estructura de datos. Contiene la implementación concreta del mismo, incluyendo su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representación interna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y la definición de los métodos (funciones y procedimientos) provistos por el mismo.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Utilizado por los programadores del tipo/estructura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359994" y="2254694"/>
            <a:ext cx="3888000" cy="1539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3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Ventaja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359994" y="2430678"/>
            <a:ext cx="3888000" cy="619200"/>
          </a:xfrm>
          <a:prstGeom prst="rect">
            <a:avLst/>
          </a:prstGeom>
          <a:solidFill>
            <a:srgbClr val="F4F2ED"/>
          </a:solidFill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7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Mantener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encapsulada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y transparente la implementación permite ordenar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37465" marR="116204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mejor el desarrollo. Ejemplo: mientras se respeten las especificaciones establecidas en hace afuera del tipo (parte pública), es posible modificar la representación interna sin que el usuario del mismo se vea afectado.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 txBox="1"/>
          <p:nvPr>
            <p:ph type="title"/>
          </p:nvPr>
        </p:nvSpPr>
        <p:spPr>
          <a:xfrm>
            <a:off x="95300" y="18464"/>
            <a:ext cx="3158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Ejercicio</a:t>
            </a:r>
            <a:endParaRPr/>
          </a:p>
        </p:txBody>
      </p:sp>
      <p:sp>
        <p:nvSpPr>
          <p:cNvPr id="210" name="Google Shape;210;p13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347294" y="793956"/>
            <a:ext cx="3693300" cy="16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Estamos trabajando en un proyecto de traducción automática de textos, y necesitamos manejar un traductor del Inglés al Castellano. A modo de ejemplo: en el texto, para traducir los números nos gustaría realizar los siguientes reemplazos: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traducir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one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uno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traducir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two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dos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034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 las herramientas que tenemos, podemos hacerlo?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 txBox="1"/>
          <p:nvPr/>
        </p:nvSpPr>
        <p:spPr>
          <a:xfrm>
            <a:off x="1129672" y="1618694"/>
            <a:ext cx="18537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cap="small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introducción a diccionarios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17" name="Google Shape;217;p14"/>
          <p:cNvGrpSpPr/>
          <p:nvPr/>
        </p:nvGrpSpPr>
        <p:grpSpPr>
          <a:xfrm>
            <a:off x="1139831" y="1816650"/>
            <a:ext cx="2340610" cy="25400"/>
            <a:chOff x="1133919" y="1518500"/>
            <a:chExt cx="2340610" cy="25400"/>
          </a:xfrm>
        </p:grpSpPr>
        <p:sp>
          <p:nvSpPr>
            <p:cNvPr id="218" name="Google Shape;218;p14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952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cap="flat" cmpd="sng" w="952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/>
          <p:nvPr>
            <p:ph type="title"/>
          </p:nvPr>
        </p:nvSpPr>
        <p:spPr>
          <a:xfrm>
            <a:off x="95300" y="48955"/>
            <a:ext cx="3158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Diccionarios</a:t>
            </a:r>
            <a:endParaRPr/>
          </a:p>
        </p:txBody>
      </p:sp>
      <p:sp>
        <p:nvSpPr>
          <p:cNvPr id="227" name="Google Shape;227;p15"/>
          <p:cNvSpPr txBox="1"/>
          <p:nvPr/>
        </p:nvSpPr>
        <p:spPr>
          <a:xfrm>
            <a:off x="347294" y="464455"/>
            <a:ext cx="3833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Hasta ahora la estructura de datos más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compleja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 la que trabajamos es list. Una de sus principales caracteristicas es que permite trabajar con una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colección de elementos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que poseen un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orden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y se acceden mediante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índices numéricos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 txBox="1"/>
          <p:nvPr/>
        </p:nvSpPr>
        <p:spPr>
          <a:xfrm>
            <a:off x="359994" y="1419313"/>
            <a:ext cx="1944300" cy="1539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3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Diccionario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 txBox="1"/>
          <p:nvPr/>
        </p:nvSpPr>
        <p:spPr>
          <a:xfrm>
            <a:off x="359994" y="1595297"/>
            <a:ext cx="1944300" cy="451500"/>
          </a:xfrm>
          <a:prstGeom prst="rect">
            <a:avLst/>
          </a:prstGeom>
          <a:solidFill>
            <a:srgbClr val="F4F2ED"/>
          </a:solidFill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7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lang="en-US" sz="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diccionario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 un contenedor que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37465" marR="27686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permite asociar un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significado (valor)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una determinada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clave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359994" y="2361069"/>
            <a:ext cx="3888000" cy="1539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3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Intuición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359994" y="2537053"/>
            <a:ext cx="3888000" cy="451500"/>
          </a:xfrm>
          <a:prstGeom prst="rect">
            <a:avLst/>
          </a:prstGeom>
          <a:solidFill>
            <a:srgbClr val="F4F2ED"/>
          </a:solidFill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7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Los </a:t>
            </a: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diccionarios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son similares a las listas en el sentido de que se utilizan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37465" marR="43815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para guardar elementos. En las listas, los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índices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deben ser números enteros. Para los diccionarios, pueden ser tipos de datos más generales.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4424032" y="3348084"/>
            <a:ext cx="889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1y</a:t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/>
          <p:nvPr/>
        </p:nvSpPr>
        <p:spPr>
          <a:xfrm>
            <a:off x="0" y="0"/>
            <a:ext cx="4608195" cy="271780"/>
          </a:xfrm>
          <a:custGeom>
            <a:rect b="b" l="l" r="r" t="t"/>
            <a:pathLst>
              <a:path extrusionOk="0" h="271780" w="4608195">
                <a:moveTo>
                  <a:pt x="4608004" y="0"/>
                </a:moveTo>
                <a:lnTo>
                  <a:pt x="0" y="0"/>
                </a:lnTo>
                <a:lnTo>
                  <a:pt x="0" y="271551"/>
                </a:lnTo>
                <a:lnTo>
                  <a:pt x="4608004" y="271551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6"/>
          <p:cNvSpPr txBox="1"/>
          <p:nvPr>
            <p:ph type="title"/>
          </p:nvPr>
        </p:nvSpPr>
        <p:spPr>
          <a:xfrm>
            <a:off x="95300" y="18464"/>
            <a:ext cx="3158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Diccionarios</a:t>
            </a:r>
            <a:endParaRPr/>
          </a:p>
        </p:txBody>
      </p:sp>
      <p:sp>
        <p:nvSpPr>
          <p:cNvPr id="239" name="Google Shape;239;p16"/>
          <p:cNvSpPr txBox="1"/>
          <p:nvPr/>
        </p:nvSpPr>
        <p:spPr>
          <a:xfrm>
            <a:off x="347294" y="367355"/>
            <a:ext cx="36753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Como se compone un diccionario: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contiene una colección de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índices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que se los denomina </a:t>
            </a:r>
            <a:r>
              <a:rPr lang="en-US" sz="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claves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contiene una colección de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valores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que se los denomina </a:t>
            </a:r>
            <a:r>
              <a:rPr lang="en-US" sz="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significados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246379" marR="276225" rtl="0" algn="l">
              <a:lnSpc>
                <a:spcPct val="1212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cada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clave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está asociada con un </a:t>
            </a: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único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significando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A cada par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(clave,significado)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 lo denomina </a:t>
            </a:r>
            <a:r>
              <a:rPr lang="en-US" sz="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item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21200"/>
              </a:lnSpc>
              <a:spcBef>
                <a:spcPts val="76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 Python, los diccionarios (dict) proveen una funcionalidad similar a la requerida en el ejercicio: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1333703" y="2133676"/>
            <a:ext cx="1941195" cy="0"/>
          </a:xfrm>
          <a:custGeom>
            <a:rect b="b" l="l" r="r" t="t"/>
            <a:pathLst>
              <a:path extrusionOk="0" h="120000" w="1941195">
                <a:moveTo>
                  <a:pt x="0" y="0"/>
                </a:moveTo>
                <a:lnTo>
                  <a:pt x="1940585" y="0"/>
                </a:lnTo>
              </a:path>
            </a:pathLst>
          </a:cu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 txBox="1"/>
          <p:nvPr/>
        </p:nvSpPr>
        <p:spPr>
          <a:xfrm>
            <a:off x="1396923" y="1920040"/>
            <a:ext cx="8103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Diccionario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número en inglés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6"/>
          <p:cNvSpPr txBox="1"/>
          <p:nvPr/>
        </p:nvSpPr>
        <p:spPr>
          <a:xfrm>
            <a:off x="2508184" y="1969590"/>
            <a:ext cx="5856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dict clave </a:t>
            </a:r>
            <a:r>
              <a:rPr lang="en-US"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lang="en-US"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370169" y="2186818"/>
            <a:ext cx="28638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061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número en castellano    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valor (value)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 usamos un diccionario en el ejerecicio planteado,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Qué tipo de dato va a ser el key?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Qué tipo de dato va a ser el value?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6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"/>
          <p:cNvSpPr txBox="1"/>
          <p:nvPr>
            <p:ph type="ctrTitle"/>
          </p:nvPr>
        </p:nvSpPr>
        <p:spPr>
          <a:xfrm>
            <a:off x="95300" y="22286"/>
            <a:ext cx="11745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Diccionarios</a:t>
            </a:r>
            <a:endParaRPr/>
          </a:p>
        </p:txBody>
      </p:sp>
      <p:sp>
        <p:nvSpPr>
          <p:cNvPr id="252" name="Google Shape;252;p17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381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347294" y="563655"/>
            <a:ext cx="3657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 ese caso, decimos que tenemos un dict(string,string) (y que se lee como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diccionario de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25590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Qué operaciones nos gustaría pedirle a un diccionario?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7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 txBox="1"/>
          <p:nvPr>
            <p:ph type="title"/>
          </p:nvPr>
        </p:nvSpPr>
        <p:spPr>
          <a:xfrm>
            <a:off x="95300" y="18464"/>
            <a:ext cx="3158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Diccionarios</a:t>
            </a:r>
            <a:endParaRPr/>
          </a:p>
        </p:txBody>
      </p:sp>
      <p:sp>
        <p:nvSpPr>
          <p:cNvPr id="261" name="Google Shape;261;p18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347294" y="567466"/>
            <a:ext cx="3657600" cy="22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 ese caso, decimos que tenemos un dict(string,string) (y que se lee como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diccionario de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r>
              <a:rPr i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25590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Qué operaciones nos gustaría pedirle a un diccionario?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Crear un diccionario.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Definir una palabra (key) con su significado (value).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Obtener el significado (value) de una palabra (key).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Consultar si una palabra (key) está definida.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Obtener el conjunto de palabras (keys).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Obtener el conjunto de significados (values).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Borrar una palabra (key) y su significado (value).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"/>
          <p:cNvSpPr txBox="1"/>
          <p:nvPr>
            <p:ph type="title"/>
          </p:nvPr>
        </p:nvSpPr>
        <p:spPr>
          <a:xfrm>
            <a:off x="918911" y="1582913"/>
            <a:ext cx="27723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marR="508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BÁSICAS DE DICCIONARIOS</a:t>
            </a:r>
            <a:endParaRPr/>
          </a:p>
        </p:txBody>
      </p:sp>
      <p:grpSp>
        <p:nvGrpSpPr>
          <p:cNvPr id="268" name="Google Shape;268;p19"/>
          <p:cNvGrpSpPr/>
          <p:nvPr/>
        </p:nvGrpSpPr>
        <p:grpSpPr>
          <a:xfrm>
            <a:off x="918896" y="1847967"/>
            <a:ext cx="2752089" cy="29875"/>
            <a:chOff x="1133919" y="1618246"/>
            <a:chExt cx="2340610" cy="25400"/>
          </a:xfrm>
        </p:grpSpPr>
        <p:sp>
          <p:nvSpPr>
            <p:cNvPr id="269" name="Google Shape;269;p19"/>
            <p:cNvSpPr/>
            <p:nvPr/>
          </p:nvSpPr>
          <p:spPr>
            <a:xfrm>
              <a:off x="1133919" y="1618246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6"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1133919" y="1618246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11200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6"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1133919" y="1618246"/>
              <a:ext cx="1628139" cy="25400"/>
            </a:xfrm>
            <a:custGeom>
              <a:rect b="b" l="l" r="r" t="t"/>
              <a:pathLst>
                <a:path extrusionOk="0" h="25400" w="1628139">
                  <a:moveTo>
                    <a:pt x="0" y="25305"/>
                  </a:moveTo>
                  <a:lnTo>
                    <a:pt x="0" y="0"/>
                  </a:lnTo>
                  <a:lnTo>
                    <a:pt x="1627924" y="0"/>
                  </a:lnTo>
                  <a:lnTo>
                    <a:pt x="1627924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6"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1133919" y="1618246"/>
              <a:ext cx="1628139" cy="25400"/>
            </a:xfrm>
            <a:custGeom>
              <a:rect b="b" l="l" r="r" t="t"/>
              <a:pathLst>
                <a:path extrusionOk="0" h="25400" w="1628139">
                  <a:moveTo>
                    <a:pt x="0" y="25305"/>
                  </a:moveTo>
                  <a:lnTo>
                    <a:pt x="0" y="0"/>
                  </a:lnTo>
                  <a:lnTo>
                    <a:pt x="1627924" y="0"/>
                  </a:lnTo>
                  <a:lnTo>
                    <a:pt x="1627924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C64"/>
            </a:solidFill>
            <a:ln cap="flat" cmpd="sng" w="11200">
              <a:solidFill>
                <a:srgbClr val="FFDC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6"/>
            </a:p>
          </p:txBody>
        </p:sp>
      </p:grp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"/>
          <p:cNvSpPr txBox="1"/>
          <p:nvPr>
            <p:ph type="title"/>
          </p:nvPr>
        </p:nvSpPr>
        <p:spPr>
          <a:xfrm>
            <a:off x="95300" y="18464"/>
            <a:ext cx="3158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básicas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431825" y="666017"/>
            <a:ext cx="3829200" cy="19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 </a:t>
            </a:r>
            <a:r>
              <a:rPr lang="en-US" sz="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Crear un diccionario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Existen dos formas de crear un diccionario: usando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61925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{} o la función dict().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6129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= { }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16129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= </a:t>
            </a:r>
            <a:r>
              <a:rPr lang="en-US" sz="7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 c t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 )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161925" marR="159385" rtl="0" algn="l">
              <a:lnSpc>
                <a:spcPct val="121200"/>
              </a:lnSpc>
              <a:spcBef>
                <a:spcPts val="63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El inicio/fin del diccionario se representa con llaves {}. Los </a:t>
            </a:r>
            <a:r>
              <a:rPr lang="en-US" sz="900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ítems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 separan por comas (,), y el doble punto (:) relaciona clave con significado.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6129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= {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uno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two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dos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16129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</a:t>
            </a:r>
            <a:r>
              <a:rPr lang="en-US" sz="7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pri nt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 eng2sp )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161925" marR="115570" rtl="0" algn="l">
              <a:lnSpc>
                <a:spcPct val="1212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Intuitivamente, gran parte de las operaciones se especifican de manera similar a las listas. Sin embargo, el contenedor es más complejo (e internamente están sucediendo otras cosas).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4424032" y="3348084"/>
            <a:ext cx="889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2o</a:t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"/>
          <p:cNvSpPr txBox="1"/>
          <p:nvPr>
            <p:ph type="title"/>
          </p:nvPr>
        </p:nvSpPr>
        <p:spPr>
          <a:xfrm>
            <a:off x="95300" y="18464"/>
            <a:ext cx="3158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básicas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69900" y="329060"/>
            <a:ext cx="4107300" cy="27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49859" lvl="0" marL="523875" marR="15367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 </a:t>
            </a:r>
            <a:r>
              <a:rPr lang="en-US" sz="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Acceso/definición/modificación de elementos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Todas estas tareas se realizan utilizando el operador [].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523240" rtl="0" algn="l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= {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uno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two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dos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52324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uno = eng2sp [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] </a:t>
            </a:r>
            <a:r>
              <a:rPr lang="en-US" sz="7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# Pedimos significado de clave  ' uno '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52324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</a:t>
            </a:r>
            <a:r>
              <a:rPr lang="en-US" sz="7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print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 uno )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52324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otro_ val = eng2sp [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 r e s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] </a:t>
            </a:r>
            <a:r>
              <a:rPr lang="en-US" sz="7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# Que sucede?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523875" marR="124460" rtl="0" algn="l">
              <a:lnSpc>
                <a:spcPct val="1212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Podemos definir nuevos ítems y modificar la definición de alguno ya existente.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523240" rtl="0" algn="l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= {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uno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two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dos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52324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[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three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] =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 r e s '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52324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[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two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] =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 r e s '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523875" marR="238125" rtl="0" algn="l">
              <a:lnSpc>
                <a:spcPct val="121200"/>
              </a:lnSpc>
              <a:spcBef>
                <a:spcPts val="439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Para saber si una clave se encuentra definida o no en el diccionario podemos usar el operador in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523240" rtl="0" algn="l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= {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uno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two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dos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-6350" lvl="0" marL="529590" marR="2571115" rtl="0" algn="l">
              <a:lnSpc>
                <a:spcPct val="11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lang="en-US" sz="7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eng2sp True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-12064" lvl="0" marL="534670" marR="2517775" rtl="0" algn="l">
              <a:lnSpc>
                <a:spcPct val="11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four ' </a:t>
            </a:r>
            <a:r>
              <a:rPr lang="en-US" sz="7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eng2sp False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523875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Este operador también funciona con listas! (pero no puede usarse en el</a:t>
            </a:r>
            <a:r>
              <a:rPr baseline="30000" lang="en-US" sz="13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30000" lang="en-US" sz="13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30000" lang="en-US" sz="13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endParaRPr baseline="30000" sz="13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424032" y="3348084"/>
            <a:ext cx="889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2"/>
          <p:cNvSpPr txBox="1"/>
          <p:nvPr>
            <p:ph type="title"/>
          </p:nvPr>
        </p:nvSpPr>
        <p:spPr>
          <a:xfrm>
            <a:off x="95300" y="18464"/>
            <a:ext cx="3158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básicas</a:t>
            </a:r>
            <a:endParaRPr/>
          </a:p>
        </p:txBody>
      </p:sp>
      <p:sp>
        <p:nvSpPr>
          <p:cNvPr id="292" name="Google Shape;292;p22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431825" y="766372"/>
            <a:ext cx="3813300" cy="1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49860" lvl="0" marL="161925" marR="1651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Eliminar una clave y su significado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De forma similar a la lista, podemos utilizar la función del.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6129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= {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uno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two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dos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16129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</a:t>
            </a:r>
            <a:r>
              <a:rPr lang="en-US" sz="7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del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eng2sp [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16129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399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{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two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dos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161925" marR="508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lang="en-US" sz="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Cantidad de ítems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La función len nos permite saber cuántos ítems tiene un diccionario.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6129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= {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uno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two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7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dos '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-5080" lvl="0" marL="166370" marR="2857500" rtl="0" algn="l">
              <a:lnSpc>
                <a:spcPct val="11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</a:t>
            </a:r>
            <a:r>
              <a:rPr lang="en-US" sz="7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len </a:t>
            </a:r>
            <a:r>
              <a:rPr lang="en-US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 eng2sp ) 2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3"/>
          <p:cNvSpPr txBox="1"/>
          <p:nvPr>
            <p:ph type="title"/>
          </p:nvPr>
        </p:nvSpPr>
        <p:spPr>
          <a:xfrm>
            <a:off x="95300" y="18475"/>
            <a:ext cx="38556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Diccionarios: algunas preguntas (para la próxima clase)</a:t>
            </a:r>
            <a:endParaRPr/>
          </a:p>
        </p:txBody>
      </p:sp>
      <p:sp>
        <p:nvSpPr>
          <p:cNvPr id="299" name="Google Shape;299;p23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3"/>
          <p:cNvSpPr txBox="1"/>
          <p:nvPr/>
        </p:nvSpPr>
        <p:spPr>
          <a:xfrm>
            <a:off x="876769" y="780575"/>
            <a:ext cx="28551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Cualquier tipo de dato puede ser clave y/o significado?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 txBox="1"/>
          <p:nvPr/>
        </p:nvSpPr>
        <p:spPr>
          <a:xfrm>
            <a:off x="1417319" y="1365333"/>
            <a:ext cx="17736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Cómo recorremos un diccionario?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 txBox="1"/>
          <p:nvPr/>
        </p:nvSpPr>
        <p:spPr>
          <a:xfrm>
            <a:off x="657225" y="1950100"/>
            <a:ext cx="40695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Qué reglas deben seguir los conjuntos de claves y significados?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 txBox="1"/>
          <p:nvPr/>
        </p:nvSpPr>
        <p:spPr>
          <a:xfrm>
            <a:off x="1630387" y="2534851"/>
            <a:ext cx="13476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Algunas buenas prácticas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4"/>
          <p:cNvSpPr/>
          <p:nvPr/>
        </p:nvSpPr>
        <p:spPr>
          <a:xfrm>
            <a:off x="0" y="0"/>
            <a:ext cx="4608195" cy="271780"/>
          </a:xfrm>
          <a:custGeom>
            <a:rect b="b" l="l" r="r" t="t"/>
            <a:pathLst>
              <a:path extrusionOk="0" h="271780" w="4608195">
                <a:moveTo>
                  <a:pt x="4608004" y="0"/>
                </a:moveTo>
                <a:lnTo>
                  <a:pt x="0" y="0"/>
                </a:lnTo>
                <a:lnTo>
                  <a:pt x="0" y="271551"/>
                </a:lnTo>
                <a:lnTo>
                  <a:pt x="4608004" y="271551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95300" y="18475"/>
            <a:ext cx="31299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Diccionarios, TADs y estructuras de datos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10" name="Google Shape;3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214" y="664810"/>
            <a:ext cx="3100103" cy="2159999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4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4"/>
          <p:cNvSpPr/>
          <p:nvPr/>
        </p:nvSpPr>
        <p:spPr>
          <a:xfrm flipH="1" rot="10800000">
            <a:off x="-8250" y="3165341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4"/>
          <p:cNvSpPr txBox="1"/>
          <p:nvPr/>
        </p:nvSpPr>
        <p:spPr>
          <a:xfrm>
            <a:off x="76250" y="3189931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5"/>
          <p:cNvSpPr txBox="1"/>
          <p:nvPr/>
        </p:nvSpPr>
        <p:spPr>
          <a:xfrm>
            <a:off x="1123743" y="1310950"/>
            <a:ext cx="1133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EJERCICIOS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19" name="Google Shape;319;p25"/>
          <p:cNvGrpSpPr/>
          <p:nvPr/>
        </p:nvGrpSpPr>
        <p:grpSpPr>
          <a:xfrm>
            <a:off x="1133919" y="1526234"/>
            <a:ext cx="2340610" cy="25400"/>
            <a:chOff x="1133919" y="1526234"/>
            <a:chExt cx="2340610" cy="25400"/>
          </a:xfrm>
        </p:grpSpPr>
        <p:sp>
          <p:nvSpPr>
            <p:cNvPr id="320" name="Google Shape;320;p25"/>
            <p:cNvSpPr/>
            <p:nvPr/>
          </p:nvSpPr>
          <p:spPr>
            <a:xfrm>
              <a:off x="1133919" y="1526234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5"/>
            <p:cNvSpPr/>
            <p:nvPr/>
          </p:nvSpPr>
          <p:spPr>
            <a:xfrm>
              <a:off x="1133919" y="1526234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952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5"/>
            <p:cNvSpPr/>
            <p:nvPr/>
          </p:nvSpPr>
          <p:spPr>
            <a:xfrm>
              <a:off x="1133919" y="1526234"/>
              <a:ext cx="2239010" cy="25400"/>
            </a:xfrm>
            <a:custGeom>
              <a:rect b="b" l="l" r="r" t="t"/>
              <a:pathLst>
                <a:path extrusionOk="0" h="25400" w="2239010">
                  <a:moveTo>
                    <a:pt x="0" y="25305"/>
                  </a:moveTo>
                  <a:lnTo>
                    <a:pt x="0" y="0"/>
                  </a:lnTo>
                  <a:lnTo>
                    <a:pt x="2238396" y="0"/>
                  </a:lnTo>
                  <a:lnTo>
                    <a:pt x="2238396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5"/>
            <p:cNvSpPr/>
            <p:nvPr/>
          </p:nvSpPr>
          <p:spPr>
            <a:xfrm>
              <a:off x="1133919" y="1526234"/>
              <a:ext cx="2239010" cy="25400"/>
            </a:xfrm>
            <a:custGeom>
              <a:rect b="b" l="l" r="r" t="t"/>
              <a:pathLst>
                <a:path extrusionOk="0" h="25400" w="2239010">
                  <a:moveTo>
                    <a:pt x="0" y="25305"/>
                  </a:moveTo>
                  <a:lnTo>
                    <a:pt x="0" y="0"/>
                  </a:lnTo>
                  <a:lnTo>
                    <a:pt x="2238396" y="0"/>
                  </a:lnTo>
                  <a:lnTo>
                    <a:pt x="2238396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C64"/>
            </a:solidFill>
            <a:ln cap="flat" cmpd="sng" w="9525">
              <a:solidFill>
                <a:srgbClr val="FFDC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/>
          <p:nvPr/>
        </p:nvSpPr>
        <p:spPr>
          <a:xfrm>
            <a:off x="0" y="0"/>
            <a:ext cx="4608195" cy="271780"/>
          </a:xfrm>
          <a:custGeom>
            <a:rect b="b" l="l" r="r" t="t"/>
            <a:pathLst>
              <a:path extrusionOk="0" h="271780" w="4608195">
                <a:moveTo>
                  <a:pt x="4608004" y="0"/>
                </a:moveTo>
                <a:lnTo>
                  <a:pt x="0" y="0"/>
                </a:lnTo>
                <a:lnTo>
                  <a:pt x="0" y="271551"/>
                </a:lnTo>
                <a:lnTo>
                  <a:pt x="4608004" y="271551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6"/>
          <p:cNvSpPr txBox="1"/>
          <p:nvPr>
            <p:ph type="title"/>
          </p:nvPr>
        </p:nvSpPr>
        <p:spPr>
          <a:xfrm>
            <a:off x="95300" y="18464"/>
            <a:ext cx="3158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Ejercicio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4424032" y="3341884"/>
            <a:ext cx="88900" cy="113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26"/>
          <p:cNvSpPr txBox="1"/>
          <p:nvPr>
            <p:ph idx="1" type="body"/>
          </p:nvPr>
        </p:nvSpPr>
        <p:spPr>
          <a:xfrm>
            <a:off x="408000" y="699275"/>
            <a:ext cx="4016100" cy="22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Tenemos el siguiente diccionario guardado en una variable que indica para cuatro personas cuál es su signo en el horóscopo chino:</a:t>
            </a:r>
            <a:endParaRPr/>
          </a:p>
          <a:p>
            <a:pPr indent="0" lvl="0" marL="2032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700"/>
              <a:t>horosocopo_chino = { </a:t>
            </a:r>
            <a:r>
              <a:rPr lang="en-US" sz="700">
                <a:solidFill>
                  <a:srgbClr val="9300D1"/>
                </a:solidFill>
              </a:rPr>
              <a:t>' Ƒaime ' </a:t>
            </a:r>
            <a:r>
              <a:rPr lang="en-US" sz="700"/>
              <a:t>:  </a:t>
            </a:r>
            <a:r>
              <a:rPr lang="en-US" sz="700">
                <a:solidFill>
                  <a:srgbClr val="9300D1"/>
                </a:solidFill>
              </a:rPr>
              <a:t>' perro ' </a:t>
            </a:r>
            <a:r>
              <a:rPr lang="en-US" sz="700"/>
              <a:t>,  </a:t>
            </a:r>
            <a:r>
              <a:rPr lang="en-US" sz="700">
                <a:solidFill>
                  <a:srgbClr val="9300D1"/>
                </a:solidFill>
              </a:rPr>
              <a:t>' Mariana ' </a:t>
            </a:r>
            <a:r>
              <a:rPr lang="en-US" sz="700"/>
              <a:t>:  </a:t>
            </a:r>
            <a:r>
              <a:rPr lang="en-US" sz="700">
                <a:solidFill>
                  <a:srgbClr val="9300D1"/>
                </a:solidFill>
              </a:rPr>
              <a:t>' chancho ' </a:t>
            </a:r>
            <a:r>
              <a:rPr lang="en-US" sz="700"/>
              <a:t>,  </a:t>
            </a:r>
            <a:r>
              <a:rPr lang="en-US" sz="700">
                <a:solidFill>
                  <a:srgbClr val="9300D1"/>
                </a:solidFill>
              </a:rPr>
              <a:t>' Ƒuan ' </a:t>
            </a:r>
            <a:r>
              <a:rPr lang="en-US" sz="700"/>
              <a:t>:  </a:t>
            </a:r>
            <a:r>
              <a:rPr lang="en-US" sz="700">
                <a:solidFill>
                  <a:srgbClr val="9300D1"/>
                </a:solidFill>
              </a:rPr>
              <a:t>'</a:t>
            </a:r>
            <a:endParaRPr sz="700"/>
          </a:p>
          <a:p>
            <a:pPr indent="0" lvl="0" marL="277495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9300D1"/>
                </a:solidFill>
              </a:rPr>
              <a:t>gal l o ' </a:t>
            </a:r>
            <a:r>
              <a:rPr lang="en-US" sz="700"/>
              <a:t>,  </a:t>
            </a:r>
            <a:r>
              <a:rPr lang="en-US" sz="700">
                <a:solidFill>
                  <a:srgbClr val="9300D1"/>
                </a:solidFill>
              </a:rPr>
              <a:t>' Ana ' </a:t>
            </a:r>
            <a:r>
              <a:rPr lang="en-US" sz="700"/>
              <a:t>:  </a:t>
            </a:r>
            <a:r>
              <a:rPr lang="en-US" sz="700">
                <a:solidFill>
                  <a:srgbClr val="9300D1"/>
                </a:solidFill>
              </a:rPr>
              <a:t>' perro ' </a:t>
            </a:r>
            <a:r>
              <a:rPr lang="en-US" sz="700"/>
              <a:t>}</a:t>
            </a:r>
            <a:endParaRPr sz="700"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127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/>
              <a:t>En función de las operaciones vistas, determinar si es posible escribir en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/>
              <a:t>Python las siguientes consultas y, en caso afirmativo, hacerlo.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715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6DBF"/>
                </a:solidFill>
              </a:rPr>
              <a:t>◯ </a:t>
            </a:r>
            <a:r>
              <a:rPr lang="en-US"/>
              <a:t>Ana está entre las claves del diccionario.</a:t>
            </a:r>
            <a:endParaRPr/>
          </a:p>
          <a:p>
            <a:pPr indent="0" lvl="0" marL="97155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6DBF"/>
                </a:solidFill>
              </a:rPr>
              <a:t>◯ </a:t>
            </a:r>
            <a:r>
              <a:rPr lang="en-US"/>
              <a:t>Jaime no está entre las claves del diccionario.</a:t>
            </a:r>
            <a:endParaRPr/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6DBF"/>
                </a:solidFill>
              </a:rPr>
              <a:t>◯ </a:t>
            </a:r>
            <a:r>
              <a:rPr lang="en-US"/>
              <a:t>El signo zodiacal de Mariana es </a:t>
            </a:r>
            <a:r>
              <a:rPr b="1" lang="en-US"/>
              <a:t>perro</a:t>
            </a:r>
            <a:r>
              <a:rPr lang="en-US"/>
              <a:t>.</a:t>
            </a:r>
            <a:endParaRPr/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700"/>
              </a:spcAft>
              <a:buNone/>
            </a:pPr>
            <a:r>
              <a:rPr lang="en-US">
                <a:solidFill>
                  <a:srgbClr val="006DBF"/>
                </a:solidFill>
              </a:rPr>
              <a:t>◯ </a:t>
            </a:r>
            <a:r>
              <a:rPr lang="en-US"/>
              <a:t>Alguna persona tiene como signo zodiacal </a:t>
            </a:r>
            <a:r>
              <a:rPr b="1" lang="en-US"/>
              <a:t>pato</a:t>
            </a:r>
            <a:r>
              <a:rPr lang="en-US"/>
              <a:t>.</a:t>
            </a:r>
            <a:endParaRPr/>
          </a:p>
        </p:txBody>
      </p:sp>
      <p:sp>
        <p:nvSpPr>
          <p:cNvPr id="332" name="Google Shape;332;p26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6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2026-02-08T20:39:11Z</dcterms:created>
  <dc:creator>Juan José Miranda-Bront (jmiranda@utdt.edu)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2019-04-06T00:00:00Z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2026-02-08T00:00:00Z</vt:filetime>
  </property>
  <property fmtid="{D5CDD505-2E9C-101B-9397-08002B2CF9AE}" pid="5" name="PTEX.Fullbanner">
    <vt:lpwstr>This is pdfTeX, Version 3.14159265-2.6-1.40.18 (TeX Live 2017/Debian) kpathsea version 6.2.3</vt:lpwstr>
  </property>
  <property fmtid="{D5CDD505-2E9C-101B-9397-08002B2CF9AE}" pid="6" name="Producer">
    <vt:lpwstr>pdfTeX-1.40.18</vt:lpwstr>
  </property>
</Properties>
</file>