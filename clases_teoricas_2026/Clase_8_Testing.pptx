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6858000" cx="9144000"/>
  <p:notesSz cx="6858000" cy="9144000"/>
  <p:embeddedFontLst>
    <p:embeddedFont>
      <p:font typeface="Tahoma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Tahoma-bold.fntdata"/><Relationship Id="rId10" Type="http://schemas.openxmlformats.org/officeDocument/2006/relationships/slide" Target="slides/slide5.xml"/><Relationship Id="rId32" Type="http://schemas.openxmlformats.org/officeDocument/2006/relationships/font" Target="fonts/Tahoma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c825225681_0_0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97" name="Google Shape;97;g3c825225681_0_0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1" name="Google Shape;141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3" name="Google Shape;153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8" name="Google Shape;18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p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825225681_0_98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222" name="Google Shape;222;g3c825225681_0_98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2" name="Google Shape;232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3" name="Google Shape;243;p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4" name="Google Shape;254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c825225681_0_107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265" name="Google Shape;265;g3c825225681_0_107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5" name="Google Shape;275;p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6" name="Google Shape;286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1" name="Google Shape;301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2" name="Google Shape;312;p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3" name="Google Shape;323;p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7" name="Google Shape;337;p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8" name="Google Shape;348;p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0" name="Google Shape;360;p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1" name="Google Shape;371;p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 showMasterSp="0">
  <p:cSld name="Blank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/>
          <p:nvPr/>
        </p:nvSpPr>
        <p:spPr>
          <a:xfrm>
            <a:off x="0" y="0"/>
            <a:ext cx="9135747" cy="6852123"/>
          </a:xfrm>
          <a:custGeom>
            <a:rect b="b" l="l" r="r" t="t"/>
            <a:pathLst>
              <a:path extrusionOk="0" h="3456304" w="4608195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3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3108960" y="6377939"/>
            <a:ext cx="2925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0" type="dt"/>
          </p:nvPr>
        </p:nvSpPr>
        <p:spPr>
          <a:xfrm>
            <a:off x="457200" y="6377939"/>
            <a:ext cx="210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8724559" y="6622449"/>
            <a:ext cx="3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1397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 rot="10800000">
            <a:off x="-16364" y="6294231"/>
            <a:ext cx="9176700" cy="3282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79315" rotWithShape="0" dir="5400000" dist="45606">
              <a:srgbClr val="000000">
                <a:alpha val="34510"/>
              </a:srgbClr>
            </a:outerShdw>
          </a:effectLst>
        </p:spPr>
        <p:txBody>
          <a:bodyPr anchorCtr="0" anchor="ctr" bIns="90625" lIns="181275" spcFirstLastPara="1" rIns="181275" wrap="square" tIns="906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51240" y="6343001"/>
            <a:ext cx="15888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64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6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274322" y="2004443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Nociones básicas de testing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1574216" y="3620557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Profesor: 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1574216" y="4219890"/>
            <a:ext cx="84963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Auxiliares: Daniela Longas - M Victoria Tolosa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SOBRE BUGS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0" name="Google Shape;100;p1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101" name="Google Shape;101;p1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Bug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14" name="Google Shape;11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 txBox="1"/>
          <p:nvPr/>
        </p:nvSpPr>
        <p:spPr>
          <a:xfrm>
            <a:off x="232391" y="1511765"/>
            <a:ext cx="84963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Al comenzar las clases comentamos el concepto de bug. Básicamente es un mal funcionamiento del código.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mismo puede ser por errores: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Sintácticos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 ejecución 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Semánticos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Siendo estos últimos los más peligrosos y difíciles de encontrar.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Además de esto, existen las </a:t>
            </a:r>
            <a:r>
              <a:rPr b="1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fallas técnicas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Bugs/fallos famosos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25" name="Google Shape;1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32391" y="1511765"/>
            <a:ext cx="8496300" cy="3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 lo largo de la Historia ha habido varios bugs famosos, pero hagamos historia reciente: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caso de bugs sintácticos: Cyberpunk 2077 (2020)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caso de fallas de tecnología: Episodio AWS Cono Sur (12/12/2025)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caso de bug de ejecución: Aterrizaje del Apolo 11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Cyberpunk 2077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36" name="Google Shape;13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8"/>
          <p:cNvSpPr txBox="1"/>
          <p:nvPr/>
        </p:nvSpPr>
        <p:spPr>
          <a:xfrm>
            <a:off x="99041" y="4745940"/>
            <a:ext cx="8496300" cy="25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b="0" i="0" lang="en-US" sz="23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videojuego con un gran fanbase</a:t>
            </a:r>
            <a:endParaRPr b="0" i="0" sz="23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b="0" i="0" lang="en-US" sz="23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Su lanzamiento estuvo lleno de glitches (bugs de sintaxis que literalmente “traban” el juego.</a:t>
            </a:r>
            <a:endParaRPr b="0" i="0" sz="23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b="0" i="0" lang="en-US" sz="23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Millones de dólares de pérdida.</a:t>
            </a:r>
            <a:endParaRPr b="0" i="0" sz="23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b="0" i="0" lang="en-US" sz="23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Hasta el día de hoy reporta bugs (mucho menos)</a:t>
            </a:r>
            <a:endParaRPr b="0" i="0" sz="23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1725" y="1407120"/>
            <a:ext cx="7453062" cy="3244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9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9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9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9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Incidente de AWS Cono Sur 12/12/2025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48" name="Google Shape;14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9"/>
          <p:cNvSpPr txBox="1"/>
          <p:nvPr/>
        </p:nvSpPr>
        <p:spPr>
          <a:xfrm>
            <a:off x="99041" y="4531640"/>
            <a:ext cx="8496300" cy="267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Los servidores de AWS tuvieron una sobrecarga de tráfico, además de errores en actualizaciones de APIs.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Tuvieron que reparar servidores físicos en data centers.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Esto implicó un día entero con el servicio caído.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principal billetera virtual del país, por ende, tampoco funcionó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Millones de dólares de pérdidas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85975" y="1254720"/>
            <a:ext cx="4972050" cy="308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0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Apollo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60" name="Google Shape;16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0"/>
          <p:cNvSpPr txBox="1"/>
          <p:nvPr/>
        </p:nvSpPr>
        <p:spPr>
          <a:xfrm>
            <a:off x="99041" y="4531640"/>
            <a:ext cx="84963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Misión espacial estadounidense.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código procesaba más datos de los que debía, saturando la CPU y forzando alunizaje manual.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Podría haber significado una tragedia humana (además de haberse perdido </a:t>
            </a:r>
            <a:r>
              <a:rPr b="1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muchos</a:t>
            </a: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millones de dólares).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b="0" i="0" lang="en-US" sz="21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Por suerte todo salió bien.</a:t>
            </a:r>
            <a:endParaRPr b="0" i="0" sz="21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20" title="Apollo_11_insignia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75650" y="1254720"/>
            <a:ext cx="2943094" cy="2972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1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1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1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1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La certeza no existe (en la práctica)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72" name="Google Shape;17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1"/>
          <p:cNvSpPr txBox="1"/>
          <p:nvPr/>
        </p:nvSpPr>
        <p:spPr>
          <a:xfrm>
            <a:off x="232391" y="1511765"/>
            <a:ext cx="84963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Mediante buenas prácticas y testing uno puede “ganar confianza” con el código que crea, pero: es posible estar 100% seguro de que un script no generará bugs?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Teóricamente, </a:t>
            </a:r>
            <a:r>
              <a:rPr b="1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Primero se hace una especificación formal del programa.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Luego se demuestra su factibilidad para cualquier tipo de input.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la práctica </a:t>
            </a:r>
            <a:r>
              <a:rPr b="1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nadie hace esto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ya que es increíblemente tedioso y no va de la mano con los tiempos lógicos de producción.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2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2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sintaxis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83" name="Google Shape;18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90638" y="1640920"/>
            <a:ext cx="6562725" cy="217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2"/>
          <p:cNvSpPr txBox="1"/>
          <p:nvPr/>
        </p:nvSpPr>
        <p:spPr>
          <a:xfrm>
            <a:off x="99041" y="4093265"/>
            <a:ext cx="8496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Son los más fáciles de corregir. La mayoría de las veces el mismo lenguaje te indica cuál es el error. 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3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3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3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3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3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ejecución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95" name="Google Shape;19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3"/>
          <p:cNvSpPr txBox="1"/>
          <p:nvPr/>
        </p:nvSpPr>
        <p:spPr>
          <a:xfrm>
            <a:off x="99041" y="4093265"/>
            <a:ext cx="84963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su nombre lo indica, suelen aparecer en medio de una ejecución. El script “comienza a correr” sin detectar errores de sintaxis y a la mitad de la ejecución “algo sucede”.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81888" y="1338950"/>
            <a:ext cx="3530628" cy="252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4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4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4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4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ejecución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07" name="Google Shape;20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5238" y="1913676"/>
            <a:ext cx="8070626" cy="372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5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5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5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5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ejecución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18" name="Google Shape;21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5238" y="1913676"/>
            <a:ext cx="8070626" cy="372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SOBRE TESTING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25" name="Google Shape;225;p26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226" name="Google Shape;226;p26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7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7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7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Testing: intuición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39" name="Google Shape;23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7"/>
          <p:cNvSpPr txBox="1"/>
          <p:nvPr/>
        </p:nvSpPr>
        <p:spPr>
          <a:xfrm>
            <a:off x="232391" y="1511765"/>
            <a:ext cx="8496300" cy="55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su nombre lo indica, testear un código es básicamente someterlo a una serie de </a:t>
            </a:r>
            <a:r>
              <a:rPr b="1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casos límite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para evaluar su comportamiento.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Ejemplo: tenemos una function que se encarga de extraer datos y guardarlos en una base de datos. 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el volumen de datos a extraer es ENORME?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vienen datos duplicados?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al extraer no viene ningún dato? 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Está bueno generar un test unitario para cada uno de estos casos border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Bugs semánticos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50" name="Google Shape;25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8"/>
          <p:cNvSpPr txBox="1"/>
          <p:nvPr/>
        </p:nvSpPr>
        <p:spPr>
          <a:xfrm>
            <a:off x="323850" y="1667645"/>
            <a:ext cx="84963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ya dijimos, son los más difíciles de detectar. Se dan cuando el script ejecuta bien pero no da los resultados deseados.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Vemos que estos son los tipos de bugs sobre los cuáles tiene sentido realizar tests unitarios.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Por qué no tiene sentido realizar tests sobre errores sintácticos o de ejecución?</a:t>
            </a:r>
            <a:endParaRPr b="0" i="0" sz="24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9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9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9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9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9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Lógica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61" name="Google Shape;26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9"/>
          <p:cNvSpPr txBox="1"/>
          <p:nvPr/>
        </p:nvSpPr>
        <p:spPr>
          <a:xfrm>
            <a:off x="323850" y="1667645"/>
            <a:ext cx="84963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lógica de un test unitario es plantear casos en los que sabemos el resultado: si la function efectivamente hace lo que queremos, este test tiene que dar X resultado.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Para hacer tests unitarios, en esta materia usaremos la </a:t>
            </a:r>
            <a:r>
              <a:rPr b="1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librería unittest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0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EJEMPLO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68" name="Google Shape;268;p30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269" name="Google Shape;269;p30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0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0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0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1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31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1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1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1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82" name="Google Shape;28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0138" y="1397395"/>
            <a:ext cx="6943725" cy="391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2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2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2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2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2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93" name="Google Shape;29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32"/>
          <p:cNvSpPr txBox="1"/>
          <p:nvPr/>
        </p:nvSpPr>
        <p:spPr>
          <a:xfrm>
            <a:off x="323850" y="1667650"/>
            <a:ext cx="2676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Resolvemos así: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2"/>
          <p:cNvSpPr txBox="1"/>
          <p:nvPr/>
        </p:nvSpPr>
        <p:spPr>
          <a:xfrm>
            <a:off x="206100" y="4937150"/>
            <a:ext cx="8731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Cómo quedarían los tests de esta function usando la librería unittest?</a:t>
            </a:r>
            <a:endParaRPr b="0" i="0" sz="24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6" name="Google Shape;296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54975" y="2936595"/>
            <a:ext cx="5665850" cy="1213459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32"/>
          <p:cNvSpPr txBox="1"/>
          <p:nvPr/>
        </p:nvSpPr>
        <p:spPr>
          <a:xfrm>
            <a:off x="3931925" y="1722650"/>
            <a:ext cx="2676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Esperamos esto: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8" name="Google Shape;298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425" y="2231875"/>
            <a:ext cx="3657600" cy="22131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3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3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3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3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3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08" name="Google Shape;30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0600" y="1590365"/>
            <a:ext cx="8172950" cy="3860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34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4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4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4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19" name="Google Shape;31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4"/>
          <p:cNvSpPr txBox="1"/>
          <p:nvPr/>
        </p:nvSpPr>
        <p:spPr>
          <a:xfrm>
            <a:off x="323850" y="1667650"/>
            <a:ext cx="7391400" cy="5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Nomenclatura: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Los tests deben definirse en un archivo aparte, importando la librería unittest e importando la/s functions a testear desde otros scripts (debe estar todo en la misma carpeta).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 define una </a:t>
            </a:r>
            <a:r>
              <a:rPr b="0" i="0" lang="en-US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clase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 La misma puede llamarse de cualquier manera pero su argumento debe ser </a:t>
            </a:r>
            <a:r>
              <a:rPr b="0" i="0" lang="en-US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unittest.TestCase</a:t>
            </a:r>
            <a:endParaRPr b="0" i="0" sz="24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Dentro se define una function por cada set de tests que queramos tener. El argumento de dicha function es </a:t>
            </a:r>
            <a:r>
              <a:rPr b="0" i="0" lang="en-US" sz="24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</a:t>
            </a: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Dentro de esta function se definen los tests puntuales.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Todo se llama con un unittest.main()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5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5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5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5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30" name="Google Shape;330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5"/>
          <p:cNvSpPr txBox="1"/>
          <p:nvPr/>
        </p:nvSpPr>
        <p:spPr>
          <a:xfrm>
            <a:off x="323850" y="1667650"/>
            <a:ext cx="73914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Justamente esta function está bien formulada, por lo tanto el resultado será que todos los tests pasaron la prueba. 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2" name="Google Shape;332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325" y="2575250"/>
            <a:ext cx="5010150" cy="11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5"/>
          <p:cNvSpPr txBox="1"/>
          <p:nvPr/>
        </p:nvSpPr>
        <p:spPr>
          <a:xfrm>
            <a:off x="274325" y="4235950"/>
            <a:ext cx="54537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modificamos ahora la function de manera de que haya pruebas que fallen?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4" name="Google Shape;334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80425" y="4036450"/>
            <a:ext cx="3088225" cy="168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6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6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6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6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6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44" name="Google Shape;34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8838" y="1413689"/>
            <a:ext cx="7026318" cy="491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7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37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37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7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7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55" name="Google Shape;35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37"/>
          <p:cNvSpPr txBox="1"/>
          <p:nvPr/>
        </p:nvSpPr>
        <p:spPr>
          <a:xfrm>
            <a:off x="160850" y="4489225"/>
            <a:ext cx="84345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Vemos que el test te especifica: la cantidad de failures, cuáles fueron los tests particulares que fallaron y en qué function están.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7" name="Google Shape;357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8463" y="1258051"/>
            <a:ext cx="7027075" cy="293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3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3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En la vida 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67" name="Google Shape;36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8"/>
          <p:cNvSpPr txBox="1"/>
          <p:nvPr/>
        </p:nvSpPr>
        <p:spPr>
          <a:xfrm>
            <a:off x="263300" y="1333000"/>
            <a:ext cx="84345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Hay muchas maneras de testear: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Testeos automáticos (CI/CD)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Code Review (uso de repositorios)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Test Driven Development (no tan común).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9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39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39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39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39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De tarea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78" name="Google Shape;37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9"/>
          <p:cNvSpPr txBox="1"/>
          <p:nvPr/>
        </p:nvSpPr>
        <p:spPr>
          <a:xfrm>
            <a:off x="263300" y="1254725"/>
            <a:ext cx="84345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tests unitarios para cada uno e los ejercicios del TP1</a:t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