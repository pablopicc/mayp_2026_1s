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AC4F4B-FB1E-4761-8A35-778D735845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02462B-381B-4DEA-996D-4D66E6475E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F1EACA1-2C22-49FF-8A6F-AA61DEDD05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DAEE104-17A2-4E39-8DAE-D26DE93424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CCC7D35-6DD3-45AB-9AFD-4D81CD8DB0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6EB40A7-91B2-47AC-8CB8-FA3313946D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0B5275C-F933-4A8D-8951-ADC475DE19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A60FDF9-68A8-4125-84E4-7C0741DB49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E73F720-6CBD-4C29-B241-B61926F376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9553AC5-31FA-4DD6-BD3B-85AA63CD96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E97E197-F014-49B1-B117-F2E323FEBC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E7611C8B-450B-4410-BCB4-D1E183BBB3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AD3B26-7E33-4B49-AA42-5AA8B8D4FF64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F309C5-47F5-4F79-8736-08460C259CF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013D51-5BC5-4459-971C-48F89F833BD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81;p13"/>
          <p:cNvSpPr/>
          <p:nvPr/>
        </p:nvSpPr>
        <p:spPr>
          <a:xfrm>
            <a:off x="0" y="0"/>
            <a:ext cx="9135360" cy="6851880"/>
          </a:xfrm>
          <a:custGeom>
            <a:avLst/>
            <a:gdLst>
              <a:gd name="textAreaLeft" fmla="*/ 0 w 9135360"/>
              <a:gd name="textAreaRight" fmla="*/ 9135720 w 9135360"/>
              <a:gd name="textAreaTop" fmla="*/ 0 h 6851880"/>
              <a:gd name="textAreaBottom" fmla="*/ 6852240 h 6851880"/>
            </a:gdLst>
            <a:ahLst/>
            <a:rect l="textAreaLeft" t="textAreaTop" r="textAreaRight" b="textAreaBottom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3108960" y="6377760"/>
            <a:ext cx="29257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1"/>
          </p:nvPr>
        </p:nvSpPr>
        <p:spPr>
          <a:xfrm>
            <a:off x="457200" y="6377760"/>
            <a:ext cx="210276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12"/>
          </p:nvPr>
        </p:nvSpPr>
        <p:spPr>
          <a:xfrm>
            <a:off x="8724600" y="6622560"/>
            <a:ext cx="3020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39680"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333333"/>
                </a:solidFill>
                <a:latin typeface="Times New Roman"/>
                <a:ea typeface="Times New Roman"/>
              </a:defRPr>
            </a:lvl1pPr>
          </a:lstStyle>
          <a:p>
            <a:pPr marL="139680" indent="0" algn="r">
              <a:lnSpc>
                <a:spcPct val="100000"/>
              </a:lnSpc>
              <a:buNone/>
              <a:tabLst>
                <a:tab algn="l" pos="0"/>
              </a:tabLst>
            </a:pPr>
            <a:fld id="{F77EC9BB-43BA-4BB1-B26F-8DB7A5977794}" type="slidenum">
              <a:rPr b="0" lang="en-US" sz="10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Google Shape;85;p13"/>
          <p:cNvSpPr/>
          <p:nvPr/>
        </p:nvSpPr>
        <p:spPr>
          <a:xfrm flipH="1" rot="10800000">
            <a:off x="-16200" y="6294600"/>
            <a:ext cx="9176400" cy="327960"/>
          </a:xfrm>
          <a:prstGeom prst="rect">
            <a:avLst/>
          </a:prstGeom>
          <a:solidFill>
            <a:srgbClr val="2d2d2d"/>
          </a:solidFill>
          <a:ln w="0">
            <a:noFill/>
          </a:ln>
          <a:effectLst>
            <a:outerShdw blurRad="79200" dir="5400000" dist="4572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81440" rIns="181440" tIns="90720" bIns="90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Google Shape;86;p13"/>
          <p:cNvSpPr/>
          <p:nvPr/>
        </p:nvSpPr>
        <p:spPr>
          <a:xfrm>
            <a:off x="151200" y="6342840"/>
            <a:ext cx="15883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36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Calibri"/>
              </a:rPr>
              <a:t>Pablo J Piccoli Bornia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9325D2-8A59-4A44-A7D4-6AB655C51EE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ED77E2-589D-4C8F-8C88-6221F567C39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347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6A2EA8-3E3A-4940-B29F-87EF2F3CAF5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6C3ABF-9B16-4B32-A53A-B2A680E314B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3BD712-0278-4CE6-8179-838E583637E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45FD0A-5A60-4821-83EC-42C1DBA9A5B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0E1195-3065-4949-B3CB-BA32550EFA8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499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1CD01D-822E-4C55-9360-F474D37D4154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91;p14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92;p14"/>
          <p:cNvSpPr/>
          <p:nvPr/>
        </p:nvSpPr>
        <p:spPr>
          <a:xfrm>
            <a:off x="274320" y="200448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Nociones básicas de testing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93;p14"/>
          <p:cNvSpPr/>
          <p:nvPr/>
        </p:nvSpPr>
        <p:spPr>
          <a:xfrm>
            <a:off x="1574280" y="3620520"/>
            <a:ext cx="849600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d2d2d"/>
                </a:solidFill>
                <a:latin typeface="Calibri"/>
                <a:ea typeface="Calibri"/>
              </a:rPr>
              <a:t>Profesor: Pablo J Piccoli Bornia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94;p14"/>
          <p:cNvSpPr/>
          <p:nvPr/>
        </p:nvSpPr>
        <p:spPr>
          <a:xfrm>
            <a:off x="1574280" y="4219920"/>
            <a:ext cx="84960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Auxiliares: Daniela Longas - M Victoria Tolosa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99;p15"/>
          <p:cNvSpPr/>
          <p:nvPr/>
        </p:nvSpPr>
        <p:spPr>
          <a:xfrm>
            <a:off x="2240640" y="3207600"/>
            <a:ext cx="367632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556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 cap="small">
                <a:solidFill>
                  <a:srgbClr val="f4f2ed"/>
                </a:solidFill>
                <a:latin typeface="Tahoma"/>
                <a:ea typeface="Tahoma"/>
              </a:rPr>
              <a:t>SOBRE BUGS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0" name="Google Shape;100;p15"/>
          <p:cNvGrpSpPr/>
          <p:nvPr/>
        </p:nvGrpSpPr>
        <p:grpSpPr>
          <a:xfrm>
            <a:off x="2260800" y="3600000"/>
            <a:ext cx="4642200" cy="50040"/>
            <a:chOff x="2260800" y="3600000"/>
            <a:chExt cx="4642200" cy="50040"/>
          </a:xfrm>
        </p:grpSpPr>
        <p:sp>
          <p:nvSpPr>
            <p:cNvPr id="81" name="Google Shape;101;p15"/>
            <p:cNvSpPr/>
            <p:nvPr/>
          </p:nvSpPr>
          <p:spPr>
            <a:xfrm>
              <a:off x="2260800" y="3600000"/>
              <a:ext cx="4642200" cy="500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Google Shape;102;p15"/>
            <p:cNvSpPr/>
            <p:nvPr/>
          </p:nvSpPr>
          <p:spPr>
            <a:xfrm>
              <a:off x="2260800" y="3600000"/>
              <a:ext cx="4642200" cy="500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w="18875">
              <a:solidFill>
                <a:srgbClr val="f4f2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" name="Google Shape;103;p15"/>
            <p:cNvSpPr/>
            <p:nvPr/>
          </p:nvSpPr>
          <p:spPr>
            <a:xfrm>
              <a:off x="2260800" y="3600000"/>
              <a:ext cx="2421720" cy="500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" name="Google Shape;104;p15"/>
            <p:cNvSpPr/>
            <p:nvPr/>
          </p:nvSpPr>
          <p:spPr>
            <a:xfrm>
              <a:off x="2260800" y="3600000"/>
              <a:ext cx="2421720" cy="500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w="18875">
              <a:solidFill>
                <a:srgbClr val="f1c2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fade thruBlk="true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09;p16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110;p16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11;p16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Google Shape;112;p16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13;p16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Bug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Google Shape;114;p1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91" name="Google Shape;115;p16"/>
          <p:cNvSpPr/>
          <p:nvPr/>
        </p:nvSpPr>
        <p:spPr>
          <a:xfrm>
            <a:off x="232560" y="1511640"/>
            <a:ext cx="84960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Al comenzar las clases comentamos el concepto de bug. Básicamente es un mal funcionamiento del código.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El mismo puede ser por errores: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Sintácticos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De ejecución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Semánticos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Siendo estos últimos los más peligrosos y difíciles de encontrar.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Además de esto, existen las </a:t>
            </a:r>
            <a:r>
              <a:rPr b="1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fallas técnicas</a:t>
            </a: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120;p17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21;p17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22;p17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23;p17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124;p17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Bugs/fallos famosos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Google Shape;125;p17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98" name="Google Shape;126;p17"/>
          <p:cNvSpPr/>
          <p:nvPr/>
        </p:nvSpPr>
        <p:spPr>
          <a:xfrm>
            <a:off x="232560" y="1511640"/>
            <a:ext cx="84960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A lo largo de la Historia ha habido varios bugs famosos, pero hagamos historia reciente: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Famoso caso de bugs sintácticos: Cyberpunk 2077 (2020)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Famoso caso de fallas de tecnología: Episodio AWS Cono Sur (12/12/2025)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Famoso caso de bug de ejecución: Aterrizaje del Apolo 11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131;p18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Google Shape;132;p18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33;p18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134;p18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Google Shape;135;p18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Cyberpunk 2077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Google Shape;136;p18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05" name="Google Shape;137;p18"/>
          <p:cNvSpPr/>
          <p:nvPr/>
        </p:nvSpPr>
        <p:spPr>
          <a:xfrm>
            <a:off x="99000" y="4745880"/>
            <a:ext cx="8496000" cy="24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indent="-37476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300" spc="-1" strike="noStrike">
                <a:solidFill>
                  <a:srgbClr val="2d2d2d"/>
                </a:solidFill>
                <a:latin typeface="Calibri"/>
                <a:ea typeface="Calibri"/>
              </a:rPr>
              <a:t>Famoso videojuego con un gran fanbase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marL="457200" indent="-37476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300" spc="-1" strike="noStrike">
                <a:solidFill>
                  <a:srgbClr val="2d2d2d"/>
                </a:solidFill>
                <a:latin typeface="Calibri"/>
                <a:ea typeface="Calibri"/>
              </a:rPr>
              <a:t>Su lanzamiento estuvo lleno de glitches (bugs de sintaxis que literalmente “traban” el juego.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marL="457200" indent="-37476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300" spc="-1" strike="noStrike">
                <a:solidFill>
                  <a:srgbClr val="2d2d2d"/>
                </a:solidFill>
                <a:latin typeface="Calibri"/>
                <a:ea typeface="Calibri"/>
              </a:rPr>
              <a:t>Millones de dólares de pérdida.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marL="457200" indent="-37476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300" spc="-1" strike="noStrike">
                <a:solidFill>
                  <a:srgbClr val="2d2d2d"/>
                </a:solidFill>
                <a:latin typeface="Calibri"/>
                <a:ea typeface="Calibri"/>
              </a:rPr>
              <a:t>Hasta el día de hoy reporta bugs (mucho menos)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Google Shape;138;p18" descr=""/>
          <p:cNvPicPr/>
          <p:nvPr/>
        </p:nvPicPr>
        <p:blipFill>
          <a:blip r:embed="rId2"/>
          <a:stretch/>
        </p:blipFill>
        <p:spPr>
          <a:xfrm>
            <a:off x="931680" y="1407240"/>
            <a:ext cx="7452720" cy="324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43;p19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44;p19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45;p19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146;p19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47;p19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Incidente de AWS Cono Sur 12/12/2025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Google Shape;148;p19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13" name="Google Shape;149;p19"/>
          <p:cNvSpPr/>
          <p:nvPr/>
        </p:nvSpPr>
        <p:spPr>
          <a:xfrm>
            <a:off x="99000" y="4115160"/>
            <a:ext cx="849600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indent="-36180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100" spc="-1" strike="noStrike">
                <a:solidFill>
                  <a:srgbClr val="2d2d2d"/>
                </a:solidFill>
                <a:latin typeface="Calibri"/>
                <a:ea typeface="Calibri"/>
              </a:rPr>
              <a:t>Los servidores de AWS tuvieron una sobrecarga de tráfico, además de errores en actualizaciones de APIs.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100" spc="-1" strike="noStrike">
                <a:solidFill>
                  <a:srgbClr val="2d2d2d"/>
                </a:solidFill>
                <a:latin typeface="Calibri"/>
                <a:ea typeface="Calibri"/>
              </a:rPr>
              <a:t>Tuvieron que reparar servidores físicos en data centers.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100" spc="-1" strike="noStrike">
                <a:solidFill>
                  <a:srgbClr val="2d2d2d"/>
                </a:solidFill>
                <a:latin typeface="Calibri"/>
                <a:ea typeface="Calibri"/>
              </a:rPr>
              <a:t>Esto implicó un día entero con el servicio caído.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100" spc="-1" strike="noStrike">
                <a:solidFill>
                  <a:srgbClr val="2d2d2d"/>
                </a:solidFill>
                <a:latin typeface="Calibri"/>
                <a:ea typeface="Calibri"/>
              </a:rPr>
              <a:t>La principal billetera virtual del país, por ende, tampoco funcionó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100" spc="-1" strike="noStrike">
                <a:solidFill>
                  <a:srgbClr val="2d2d2d"/>
                </a:solidFill>
                <a:latin typeface="Calibri"/>
                <a:ea typeface="Calibri"/>
              </a:rPr>
              <a:t>Millones de dólares de pérdidas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Google Shape;150;p19" descr=""/>
          <p:cNvPicPr/>
          <p:nvPr/>
        </p:nvPicPr>
        <p:blipFill>
          <a:blip r:embed="rId2"/>
          <a:stretch/>
        </p:blipFill>
        <p:spPr>
          <a:xfrm>
            <a:off x="2085840" y="1254600"/>
            <a:ext cx="4543560" cy="282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55;p20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156;p20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57;p20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Google Shape;158;p20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Google Shape;159;p20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Apollo 11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Google Shape;160;p20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21" name="Google Shape;161;p20"/>
          <p:cNvSpPr/>
          <p:nvPr/>
        </p:nvSpPr>
        <p:spPr>
          <a:xfrm>
            <a:off x="99000" y="4531680"/>
            <a:ext cx="8496000" cy="22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57200" indent="-36180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100" spc="-1" strike="noStrike">
                <a:solidFill>
                  <a:srgbClr val="2d2d2d"/>
                </a:solidFill>
                <a:latin typeface="Calibri"/>
                <a:ea typeface="Calibri"/>
              </a:rPr>
              <a:t>Misión espacial estadounidense.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100" spc="-1" strike="noStrike">
                <a:solidFill>
                  <a:srgbClr val="2d2d2d"/>
                </a:solidFill>
                <a:latin typeface="Calibri"/>
                <a:ea typeface="Calibri"/>
              </a:rPr>
              <a:t>El código procesaba más datos de los que debía, saturando la CPU y forzando alunizaje manual.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100" spc="-1" strike="noStrike">
                <a:solidFill>
                  <a:srgbClr val="2d2d2d"/>
                </a:solidFill>
                <a:latin typeface="Calibri"/>
                <a:ea typeface="Calibri"/>
              </a:rPr>
              <a:t>Podría haber significado una tragedia humana (además de haberse perdido </a:t>
            </a:r>
            <a:r>
              <a:rPr b="1" lang="en-US" sz="2100" spc="-1" strike="noStrike">
                <a:solidFill>
                  <a:srgbClr val="2d2d2d"/>
                </a:solidFill>
                <a:latin typeface="Calibri"/>
                <a:ea typeface="Calibri"/>
              </a:rPr>
              <a:t>muchos</a:t>
            </a:r>
            <a:r>
              <a:rPr b="0" lang="en-US" sz="2100" spc="-1" strike="noStrike">
                <a:solidFill>
                  <a:srgbClr val="2d2d2d"/>
                </a:solidFill>
                <a:latin typeface="Calibri"/>
                <a:ea typeface="Calibri"/>
              </a:rPr>
              <a:t> millones de dólares).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57200" indent="-361800">
              <a:lnSpc>
                <a:spcPct val="100000"/>
              </a:lnSpc>
              <a:buClr>
                <a:srgbClr val="2d2d2d"/>
              </a:buClr>
              <a:buFont typeface="Calibri"/>
              <a:buChar char="●"/>
            </a:pPr>
            <a:r>
              <a:rPr b="0" lang="en-US" sz="2100" spc="-1" strike="noStrike">
                <a:solidFill>
                  <a:srgbClr val="2d2d2d"/>
                </a:solidFill>
                <a:latin typeface="Calibri"/>
                <a:ea typeface="Calibri"/>
              </a:rPr>
              <a:t>Por suerte todo salió bien.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Google Shape;162;p20" descr=""/>
          <p:cNvPicPr/>
          <p:nvPr/>
        </p:nvPicPr>
        <p:blipFill>
          <a:blip r:embed="rId2"/>
          <a:stretch/>
        </p:blipFill>
        <p:spPr>
          <a:xfrm>
            <a:off x="2875680" y="1254600"/>
            <a:ext cx="2942640" cy="297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67;p2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168;p21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169;p21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170;p21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171;p21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La certeza no existe (en la práctica)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Google Shape;172;p21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29" name="Google Shape;173;p21"/>
          <p:cNvSpPr/>
          <p:nvPr/>
        </p:nvSpPr>
        <p:spPr>
          <a:xfrm>
            <a:off x="232560" y="1511640"/>
            <a:ext cx="8496000" cy="54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Mediante buenas prácticas y testing uno puede “ganar confianza” con el código que crea, pero: es posible estar 100% seguro de que un script no generará bugs?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Teóricamente, </a:t>
            </a:r>
            <a:r>
              <a:rPr b="1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si</a:t>
            </a: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Primero se hace una especificación formal del programa.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Luego se demuestra su factibilidad para cualquier tipo de input.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En la práctica </a:t>
            </a:r>
            <a:r>
              <a:rPr b="1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nadie hace esto</a:t>
            </a: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 ya que es increíblemente tedioso y no va de la mano con los tiempos lógicos de producción.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78;p22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180;p22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Google Shape;181;p22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182;p22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Tipos de bugs de sintaxis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Google Shape;183;p22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pic>
        <p:nvPicPr>
          <p:cNvPr id="136" name="Google Shape;184;p22" descr=""/>
          <p:cNvPicPr/>
          <p:nvPr/>
        </p:nvPicPr>
        <p:blipFill>
          <a:blip r:embed="rId2"/>
          <a:stretch/>
        </p:blipFill>
        <p:spPr>
          <a:xfrm>
            <a:off x="1290600" y="1640880"/>
            <a:ext cx="6562440" cy="2171520"/>
          </a:xfrm>
          <a:prstGeom prst="rect">
            <a:avLst/>
          </a:prstGeom>
          <a:ln w="0">
            <a:noFill/>
          </a:ln>
        </p:spPr>
      </p:pic>
      <p:sp>
        <p:nvSpPr>
          <p:cNvPr id="137" name="Google Shape;185;p22"/>
          <p:cNvSpPr/>
          <p:nvPr/>
        </p:nvSpPr>
        <p:spPr>
          <a:xfrm>
            <a:off x="99000" y="4093200"/>
            <a:ext cx="8496000" cy="14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Son los más fáciles de corregir. La mayoría de las veces el mismo lenguaje te indica cuál es el error.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90;p23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191;p23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192;p23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193;p23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194;p23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Tipos de bugs de ejecución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Google Shape;195;p23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44" name="Google Shape;196;p23"/>
          <p:cNvSpPr/>
          <p:nvPr/>
        </p:nvSpPr>
        <p:spPr>
          <a:xfrm>
            <a:off x="99000" y="4093200"/>
            <a:ext cx="84960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Como su nombre lo indica, suelen aparecer en medio de una ejecución. El script “comienza a correr” sin detectar errores de sintaxis y a la mitad de la ejecución “algo sucede”.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Google Shape;197;p23" descr=""/>
          <p:cNvPicPr/>
          <p:nvPr/>
        </p:nvPicPr>
        <p:blipFill>
          <a:blip r:embed="rId2"/>
          <a:stretch/>
        </p:blipFill>
        <p:spPr>
          <a:xfrm>
            <a:off x="2581920" y="1338840"/>
            <a:ext cx="3530160" cy="252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202;p24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203;p24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204;p2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Google Shape;205;p24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206;p24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Tipos de bugs de ejecución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Google Shape;207;p24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pic>
        <p:nvPicPr>
          <p:cNvPr id="152" name="Google Shape;208;p24" descr=""/>
          <p:cNvPicPr/>
          <p:nvPr/>
        </p:nvPicPr>
        <p:blipFill>
          <a:blip r:embed="rId2"/>
          <a:stretch/>
        </p:blipFill>
        <p:spPr>
          <a:xfrm>
            <a:off x="445320" y="1913760"/>
            <a:ext cx="8070120" cy="3726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224;p26"/>
          <p:cNvSpPr/>
          <p:nvPr/>
        </p:nvSpPr>
        <p:spPr>
          <a:xfrm>
            <a:off x="2240640" y="3207600"/>
            <a:ext cx="367632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556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 cap="small">
                <a:solidFill>
                  <a:srgbClr val="f4f2ed"/>
                </a:solidFill>
                <a:latin typeface="Tahoma"/>
                <a:ea typeface="Tahoma"/>
              </a:rPr>
              <a:t>SOBRE TESTING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4" name="Google Shape;225;p26"/>
          <p:cNvGrpSpPr/>
          <p:nvPr/>
        </p:nvGrpSpPr>
        <p:grpSpPr>
          <a:xfrm>
            <a:off x="2260800" y="3600000"/>
            <a:ext cx="4642200" cy="50040"/>
            <a:chOff x="2260800" y="3600000"/>
            <a:chExt cx="4642200" cy="50040"/>
          </a:xfrm>
        </p:grpSpPr>
        <p:sp>
          <p:nvSpPr>
            <p:cNvPr id="155" name="Google Shape;226;p26"/>
            <p:cNvSpPr/>
            <p:nvPr/>
          </p:nvSpPr>
          <p:spPr>
            <a:xfrm>
              <a:off x="2260800" y="3600000"/>
              <a:ext cx="4642200" cy="500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Google Shape;227;p26"/>
            <p:cNvSpPr/>
            <p:nvPr/>
          </p:nvSpPr>
          <p:spPr>
            <a:xfrm>
              <a:off x="2260800" y="3600000"/>
              <a:ext cx="4642200" cy="500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w="18875">
              <a:solidFill>
                <a:srgbClr val="f4f2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" name="Google Shape;228;p26"/>
            <p:cNvSpPr/>
            <p:nvPr/>
          </p:nvSpPr>
          <p:spPr>
            <a:xfrm>
              <a:off x="2260800" y="3600000"/>
              <a:ext cx="2421720" cy="500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" name="Google Shape;229;p26"/>
            <p:cNvSpPr/>
            <p:nvPr/>
          </p:nvSpPr>
          <p:spPr>
            <a:xfrm>
              <a:off x="2260800" y="3600000"/>
              <a:ext cx="2421720" cy="500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w="18875">
              <a:solidFill>
                <a:srgbClr val="f1c2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fade thruBlk="true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234;p27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235;p27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236;p27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Google Shape;237;p27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Google Shape;238;p27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Testing: intuición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Google Shape;239;p27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65" name="Google Shape;240;p27"/>
          <p:cNvSpPr/>
          <p:nvPr/>
        </p:nvSpPr>
        <p:spPr>
          <a:xfrm>
            <a:off x="232560" y="1511640"/>
            <a:ext cx="8496000" cy="54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Como su nombre lo indica, testear un código es básicamente someterlo a una serie de </a:t>
            </a:r>
            <a:r>
              <a:rPr b="1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casos límite</a:t>
            </a: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 para evaluar su comportamiento.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Ejemplo: tenemos una function que se encarga de extraer datos y guardarlos en una base de datos.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Qué pasa si el volumen de datos a extraer es ENORME?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Qué pasa si vienen datos duplicados?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Qué pasa si al extraer no viene ningún dato?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Está bueno generar un test unitario para cada uno de estos casos border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245;p28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Google Shape;246;p28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247;p28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Google Shape;248;p28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Google Shape;249;p28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Bugs semánticos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Google Shape;250;p28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72" name="Google Shape;251;p28"/>
          <p:cNvSpPr/>
          <p:nvPr/>
        </p:nvSpPr>
        <p:spPr>
          <a:xfrm>
            <a:off x="324000" y="1667520"/>
            <a:ext cx="84960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Como ya dijimos, son los más difíciles de detectar. Se dan cuando el script ejecuta bien pero no da los resultados deseados.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Vemos que estos son los tipos de bugs sobre los cuáles tiene sentido realizar tests unitarios.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Calibri"/>
              </a:rPr>
              <a:t>Por qué no tiene sentido realizar tests sobre errores sintácticos o de ejecución?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256;p29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257;p29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58;p29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259;p29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60;p29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Lógica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Google Shape;261;p29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79" name="Google Shape;262;p29"/>
          <p:cNvSpPr/>
          <p:nvPr/>
        </p:nvSpPr>
        <p:spPr>
          <a:xfrm>
            <a:off x="324000" y="1667520"/>
            <a:ext cx="8496000" cy="36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La lógica de un test unitario es plantear casos en los que sabemos el resultado: si la function efectivamente hace lo que queremos, este test tiene que dar X resultado.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Para hacer tests unitarios, en esta materia usaremos la </a:t>
            </a:r>
            <a:r>
              <a:rPr b="1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librería unittest</a:t>
            </a: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267;p30"/>
          <p:cNvSpPr/>
          <p:nvPr/>
        </p:nvSpPr>
        <p:spPr>
          <a:xfrm>
            <a:off x="2240640" y="3207600"/>
            <a:ext cx="367632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556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 cap="small">
                <a:solidFill>
                  <a:srgbClr val="f4f2ed"/>
                </a:solidFill>
                <a:latin typeface="Tahoma"/>
                <a:ea typeface="Tahoma"/>
              </a:rPr>
              <a:t>EJEMPLO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1" name="Google Shape;268;p30"/>
          <p:cNvGrpSpPr/>
          <p:nvPr/>
        </p:nvGrpSpPr>
        <p:grpSpPr>
          <a:xfrm>
            <a:off x="2260800" y="3600000"/>
            <a:ext cx="4642200" cy="50040"/>
            <a:chOff x="2260800" y="3600000"/>
            <a:chExt cx="4642200" cy="50040"/>
          </a:xfrm>
        </p:grpSpPr>
        <p:sp>
          <p:nvSpPr>
            <p:cNvPr id="182" name="Google Shape;269;p30"/>
            <p:cNvSpPr/>
            <p:nvPr/>
          </p:nvSpPr>
          <p:spPr>
            <a:xfrm>
              <a:off x="2260800" y="3600000"/>
              <a:ext cx="4642200" cy="500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" name="Google Shape;270;p30"/>
            <p:cNvSpPr/>
            <p:nvPr/>
          </p:nvSpPr>
          <p:spPr>
            <a:xfrm>
              <a:off x="2260800" y="3600000"/>
              <a:ext cx="4642200" cy="500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w="18875">
              <a:solidFill>
                <a:srgbClr val="f4f2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" name="Google Shape;271;p30"/>
            <p:cNvSpPr/>
            <p:nvPr/>
          </p:nvSpPr>
          <p:spPr>
            <a:xfrm>
              <a:off x="2260800" y="3600000"/>
              <a:ext cx="2421720" cy="500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" name="Google Shape;272;p30"/>
            <p:cNvSpPr/>
            <p:nvPr/>
          </p:nvSpPr>
          <p:spPr>
            <a:xfrm>
              <a:off x="2260800" y="3600000"/>
              <a:ext cx="2421720" cy="500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w="18875">
              <a:solidFill>
                <a:srgbClr val="f1c2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fade thruBlk="true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277;p3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278;p31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279;p31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Google Shape;280;p31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281;p31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Ejemplo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Google Shape;282;p31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pic>
        <p:nvPicPr>
          <p:cNvPr id="192" name="Google Shape;283;p31" descr=""/>
          <p:cNvPicPr/>
          <p:nvPr/>
        </p:nvPicPr>
        <p:blipFill>
          <a:blip r:embed="rId2"/>
          <a:stretch/>
        </p:blipFill>
        <p:spPr>
          <a:xfrm>
            <a:off x="1100160" y="1397520"/>
            <a:ext cx="6943320" cy="391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288;p32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289;p3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Google Shape;290;p32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Google Shape;291;p32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292;p32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Ejemplo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" name="Google Shape;293;p32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99" name="Google Shape;294;p32"/>
          <p:cNvSpPr/>
          <p:nvPr/>
        </p:nvSpPr>
        <p:spPr>
          <a:xfrm>
            <a:off x="324000" y="1667520"/>
            <a:ext cx="267624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Resolvemos así: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295;p32"/>
          <p:cNvSpPr/>
          <p:nvPr/>
        </p:nvSpPr>
        <p:spPr>
          <a:xfrm>
            <a:off x="206280" y="4937040"/>
            <a:ext cx="87314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Calibri"/>
              </a:rPr>
              <a:t>Cómo quedarían los tests de esta function usando la librería unittest?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Google Shape;296;p32" descr=""/>
          <p:cNvPicPr/>
          <p:nvPr/>
        </p:nvPicPr>
        <p:blipFill>
          <a:blip r:embed="rId2"/>
          <a:stretch/>
        </p:blipFill>
        <p:spPr>
          <a:xfrm>
            <a:off x="3354840" y="2936520"/>
            <a:ext cx="5665320" cy="1213200"/>
          </a:xfrm>
          <a:prstGeom prst="rect">
            <a:avLst/>
          </a:prstGeom>
          <a:ln w="0">
            <a:noFill/>
          </a:ln>
        </p:spPr>
      </p:pic>
      <p:sp>
        <p:nvSpPr>
          <p:cNvPr id="202" name="Google Shape;297;p32"/>
          <p:cNvSpPr/>
          <p:nvPr/>
        </p:nvSpPr>
        <p:spPr>
          <a:xfrm>
            <a:off x="3931920" y="1722600"/>
            <a:ext cx="267624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Esperamos esto: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Google Shape;298;p32" descr=""/>
          <p:cNvPicPr/>
          <p:nvPr/>
        </p:nvPicPr>
        <p:blipFill>
          <a:blip r:embed="rId3"/>
          <a:stretch/>
        </p:blipFill>
        <p:spPr>
          <a:xfrm>
            <a:off x="105480" y="2232000"/>
            <a:ext cx="3657240" cy="221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303;p33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304;p33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Google Shape;305;p33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Google Shape;306;p33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Google Shape;307;p33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Ejemplo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Google Shape;308;p33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pic>
        <p:nvPicPr>
          <p:cNvPr id="210" name="Google Shape;309;p33" descr=""/>
          <p:cNvPicPr/>
          <p:nvPr/>
        </p:nvPicPr>
        <p:blipFill>
          <a:blip r:embed="rId2"/>
          <a:stretch/>
        </p:blipFill>
        <p:spPr>
          <a:xfrm>
            <a:off x="220680" y="1590480"/>
            <a:ext cx="8172720" cy="385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314;p34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Google Shape;315;p34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Google Shape;316;p3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Google Shape;317;p34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Google Shape;318;p34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Ejemplo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Google Shape;319;p34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217" name="Google Shape;320;p34"/>
          <p:cNvSpPr/>
          <p:nvPr/>
        </p:nvSpPr>
        <p:spPr>
          <a:xfrm>
            <a:off x="228600" y="1143000"/>
            <a:ext cx="7391160" cy="65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Nomenclatura: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Los tests deben definirse en un archivo aparte, importando la librería unittest e importando la/s functions a testear desde otros scripts (debe estar todo en la misma carpeta).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Se define una </a:t>
            </a: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Calibri"/>
              </a:rPr>
              <a:t>clase</a:t>
            </a: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. La misma puede llamarse de cualquier manera pero su argumento debe ser </a:t>
            </a: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Calibri"/>
              </a:rPr>
              <a:t>unittest.TestCase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Dentro se define una function por cada set de tests que queramos tener. El argumento de dicha function es </a:t>
            </a:r>
            <a:r>
              <a:rPr b="0" lang="en-US" sz="2400" spc="-1" strike="noStrike">
                <a:solidFill>
                  <a:srgbClr val="ff0000"/>
                </a:solidFill>
                <a:latin typeface="Calibri"/>
                <a:ea typeface="Calibri"/>
              </a:rPr>
              <a:t>self</a:t>
            </a: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Dentro de esta function se definen los tests puntuales.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Todo se llama con un unittest.main()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325;p35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Google Shape;326;p35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327;p35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Google Shape;328;p35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329;p35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Ejemplo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Google Shape;330;p35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224" name="Google Shape;331;p35"/>
          <p:cNvSpPr/>
          <p:nvPr/>
        </p:nvSpPr>
        <p:spPr>
          <a:xfrm>
            <a:off x="324000" y="1667520"/>
            <a:ext cx="73911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Justamente esta function está bien formulada, por lo tanto el resultado será que todos los tests pasaron la prueba.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Google Shape;332;p35" descr=""/>
          <p:cNvPicPr/>
          <p:nvPr/>
        </p:nvPicPr>
        <p:blipFill>
          <a:blip r:embed="rId2"/>
          <a:stretch/>
        </p:blipFill>
        <p:spPr>
          <a:xfrm>
            <a:off x="274320" y="2575080"/>
            <a:ext cx="5009760" cy="1123560"/>
          </a:xfrm>
          <a:prstGeom prst="rect">
            <a:avLst/>
          </a:prstGeom>
          <a:ln w="0">
            <a:noFill/>
          </a:ln>
        </p:spPr>
      </p:pic>
      <p:sp>
        <p:nvSpPr>
          <p:cNvPr id="226" name="Google Shape;333;p35"/>
          <p:cNvSpPr/>
          <p:nvPr/>
        </p:nvSpPr>
        <p:spPr>
          <a:xfrm>
            <a:off x="274320" y="4236120"/>
            <a:ext cx="54532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Qué pasa si modificamos ahora la function de manera de que haya pruebas que fallen?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7" name="Google Shape;334;p35" descr=""/>
          <p:cNvPicPr/>
          <p:nvPr/>
        </p:nvPicPr>
        <p:blipFill>
          <a:blip r:embed="rId3"/>
          <a:stretch/>
        </p:blipFill>
        <p:spPr>
          <a:xfrm>
            <a:off x="5880600" y="4036320"/>
            <a:ext cx="3087720" cy="168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339;p36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340;p36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341;p36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Google Shape;342;p36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Google Shape;343;p36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Ejemplo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Google Shape;344;p3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pic>
        <p:nvPicPr>
          <p:cNvPr id="234" name="Google Shape;345;p36" descr=""/>
          <p:cNvPicPr/>
          <p:nvPr/>
        </p:nvPicPr>
        <p:blipFill>
          <a:blip r:embed="rId2"/>
          <a:stretch/>
        </p:blipFill>
        <p:spPr>
          <a:xfrm>
            <a:off x="1058760" y="1413720"/>
            <a:ext cx="7026120" cy="491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350;p37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351;p37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Google Shape;352;p37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Google Shape;353;p37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354;p37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Ejemplo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Google Shape;355;p37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241" name="Google Shape;356;p37"/>
          <p:cNvSpPr/>
          <p:nvPr/>
        </p:nvSpPr>
        <p:spPr>
          <a:xfrm>
            <a:off x="160920" y="4489200"/>
            <a:ext cx="84340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Vemos que el test te especifica: la cantidad de failures, cuáles fueron los tests particulares que fallaron y en qué function están.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2" name="Google Shape;357;p37" descr=""/>
          <p:cNvPicPr/>
          <p:nvPr/>
        </p:nvPicPr>
        <p:blipFill>
          <a:blip r:embed="rId2"/>
          <a:stretch/>
        </p:blipFill>
        <p:spPr>
          <a:xfrm>
            <a:off x="1058400" y="1258200"/>
            <a:ext cx="7026840" cy="29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362;p38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oogle Shape;363;p38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364;p38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Google Shape;365;p38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366;p38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En la vida real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Google Shape;367;p38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249" name="Google Shape;368;p38"/>
          <p:cNvSpPr/>
          <p:nvPr/>
        </p:nvSpPr>
        <p:spPr>
          <a:xfrm>
            <a:off x="263160" y="1333080"/>
            <a:ext cx="8434080" cy="29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Hay muchas maneras de testear: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Testeos automáticos (CI/CD)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Code Review (uso de repositorios)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2d2d2d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Test Driven Development (no tan común).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373;p39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374;p39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Google Shape;375;p39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Google Shape;376;p39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Google Shape;377;p39"/>
          <p:cNvSpPr/>
          <p:nvPr/>
        </p:nvSpPr>
        <p:spPr>
          <a:xfrm>
            <a:off x="365760" y="7315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  <a:ea typeface="Calibri"/>
              </a:rPr>
              <a:t>De tarea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5" name="Google Shape;378;p39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256" name="Google Shape;379;p39"/>
          <p:cNvSpPr/>
          <p:nvPr/>
        </p:nvSpPr>
        <p:spPr>
          <a:xfrm>
            <a:off x="263160" y="1254600"/>
            <a:ext cx="843408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Crear tests unitarios para cada uno e los ejercicios del TP1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2026-03-15T15:46:47Z</dcterms:modified>
  <cp:revision>1</cp:revision>
  <dc:subject/>
  <dc:title/>
</cp:coreProperties>
</file>