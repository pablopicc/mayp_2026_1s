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3460750" cx="4610100"/>
  <p:notesSz cx="4610100" cy="3460750"/>
  <p:embeddedFontLst>
    <p:embeddedFont>
      <p:font typeface="Tahom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d21a8fa4a_0_35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d21a8fa4a_0_35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21a8fa4a_0_25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ed21a8fa4a_0_25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d249d3334_0_0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ed249d3334_0_0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249d3334_1_2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ed249d3334_1_2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d249d3334_1_13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ed249d3334_1_13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249d3334_0_9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ed249d3334_0_9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249d3334_1_24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ed249d3334_1_24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d249d3334_1_34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ed249d3334_1_34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249d3334_1_45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249d3334_1_45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d21a8fa4a_0_45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ed21a8fa4a_0_45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d249d3334_1_67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ed249d3334_1_67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d249d3334_1_77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ed249d3334_1_77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d249d3334_1_8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ed249d3334_1_8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d249d3334_1_9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ed249d3334_1_9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d249d3334_1_108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ed249d3334_1_108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d249d3334_1_118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ed249d3334_1_118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95300" y="18464"/>
            <a:ext cx="3158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7294" y="665280"/>
            <a:ext cx="37941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None/>
              <a:defRPr i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Font typeface="Calibri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SzPts val="800"/>
              <a:buFont typeface="Calibri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95300" y="18464"/>
            <a:ext cx="7365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691515" y="1938020"/>
            <a:ext cx="3227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None/>
              <a:defRPr i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SzPts val="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4608195" cy="3456304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95300" y="18464"/>
            <a:ext cx="3158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100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1567434" y="3218497"/>
            <a:ext cx="147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230505" y="3218497"/>
            <a:ext cx="106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398632" y="3341884"/>
            <a:ext cx="152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6921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69215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-8250" y="3176275"/>
            <a:ext cx="4626600" cy="165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76250" y="3200866"/>
            <a:ext cx="8010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ctrTitle"/>
          </p:nvPr>
        </p:nvSpPr>
        <p:spPr>
          <a:xfrm>
            <a:off x="157153" y="500979"/>
            <a:ext cx="42957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0" name="Google Shape;40;p6"/>
          <p:cNvSpPr txBox="1"/>
          <p:nvPr>
            <p:ph idx="1" type="subTitle"/>
          </p:nvPr>
        </p:nvSpPr>
        <p:spPr>
          <a:xfrm>
            <a:off x="157149" y="1906911"/>
            <a:ext cx="429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157149" y="1447177"/>
            <a:ext cx="4295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57149" y="775431"/>
            <a:ext cx="42957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157149" y="775431"/>
            <a:ext cx="20166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2436335" y="775431"/>
            <a:ext cx="20166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157149" y="373830"/>
            <a:ext cx="14157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157149" y="934978"/>
            <a:ext cx="1415700" cy="21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730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47168" y="302879"/>
            <a:ext cx="32103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2305050" y="-84"/>
            <a:ext cx="2305200" cy="346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225" lIns="51225" spcFirstLastPara="1" rIns="51225" wrap="square" tIns="5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133856" y="829729"/>
            <a:ext cx="2039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133856" y="1886020"/>
            <a:ext cx="203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2490331" y="487186"/>
            <a:ext cx="1934400" cy="24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157149" y="2846498"/>
            <a:ext cx="3024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hasCustomPrompt="1" type="title"/>
          </p:nvPr>
        </p:nvSpPr>
        <p:spPr>
          <a:xfrm>
            <a:off x="157149" y="744245"/>
            <a:ext cx="42957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225" lIns="51225" spcFirstLastPara="1" rIns="51225" wrap="square" tIns="512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r>
              <a:t>xx%</a:t>
            </a: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157149" y="2120942"/>
            <a:ext cx="42957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7149" y="299430"/>
            <a:ext cx="429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7149" y="775431"/>
            <a:ext cx="42957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225" lIns="51225" spcFirstLastPara="1" rIns="51225" wrap="square" tIns="512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○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■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●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○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■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●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○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■"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271531" y="3137596"/>
            <a:ext cx="27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25" lIns="51225" spcFirstLastPara="1" rIns="51225" wrap="square" tIns="512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47294" y="2037529"/>
            <a:ext cx="2508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040" y="3115462"/>
            <a:ext cx="948648" cy="14594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293900" y="939250"/>
            <a:ext cx="29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15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Clase_16: Grafos</a:t>
            </a:r>
            <a:endParaRPr b="1" i="0" sz="15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62525" y="1966650"/>
            <a:ext cx="84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62525" y="2233175"/>
            <a:ext cx="849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Longas, M Victoria Tolosa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1129646" y="1618700"/>
            <a:ext cx="256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4F2ED"/>
                </a:solidFill>
                <a:latin typeface="Calibri"/>
                <a:ea typeface="Calibri"/>
                <a:cs typeface="Calibri"/>
                <a:sym typeface="Calibri"/>
              </a:rPr>
              <a:t>Grafos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8"/>
          <p:cNvGrpSpPr/>
          <p:nvPr/>
        </p:nvGrpSpPr>
        <p:grpSpPr>
          <a:xfrm>
            <a:off x="1139819" y="1816646"/>
            <a:ext cx="2340610" cy="25400"/>
            <a:chOff x="1133919" y="1515833"/>
            <a:chExt cx="2340610" cy="25400"/>
          </a:xfrm>
        </p:grpSpPr>
        <p:sp>
          <p:nvSpPr>
            <p:cNvPr id="94" name="Google Shape;94;p18"/>
            <p:cNvSpPr/>
            <p:nvPr/>
          </p:nvSpPr>
          <p:spPr>
            <a:xfrm>
              <a:off x="1133919" y="1515833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1133919" y="1515833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952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8"/>
            <p:cNvSpPr/>
            <p:nvPr/>
          </p:nvSpPr>
          <p:spPr>
            <a:xfrm>
              <a:off x="1133919" y="1515833"/>
              <a:ext cx="305435" cy="25400"/>
            </a:xfrm>
            <a:custGeom>
              <a:rect b="b" l="l" r="r" t="t"/>
              <a:pathLst>
                <a:path extrusionOk="0" h="25400" w="305434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1133919" y="1515833"/>
              <a:ext cx="305435" cy="25400"/>
            </a:xfrm>
            <a:custGeom>
              <a:rect b="b" l="l" r="r" t="t"/>
              <a:pathLst>
                <a:path extrusionOk="0" h="25400" w="305434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cap="flat" cmpd="sng" w="9525">
              <a:solidFill>
                <a:srgbClr val="FFDC6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45924" y="442550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455667" y="3348084"/>
            <a:ext cx="573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5927" y="752700"/>
            <a:ext cx="43506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grafo es una manera de estructurar la información basada en nodos y arcos. La misma es especialmente útil para relacionar datos entre sí cuando los mismos forman interconexiones que no responden a una jerarquía o a una secuencia lógica per-se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725" y="1865900"/>
            <a:ext cx="1280125" cy="12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45924" y="442550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45927" y="752700"/>
            <a:ext cx="43506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nodo es la entidad principal de un grafo, usualmente se la representa gráficamente con un círculo y lleva un nombre único dentro del grafo.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arco se representa como una línea o flecha, dependiendo del tipo de grafo. Suele relacionar 2 nodos entre sí y puede contener más información que simplemente la relación entre 2 nodos (a estas “relaciones extra” se las suele llamar peso).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Ej: en una ciudad una calle (arco) puede relacionar 2 esquinas (nodo) y la calle puede contener más información (longitud, número de casas, número de árboles, etc)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45924" y="442550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5927" y="752700"/>
            <a:ext cx="43506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Miles de sistemas/situaciones de nuestro dia a dia pueden ser modelados mediamte grafos.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Calles y esquinas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Redes sociales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Vínculos entre familias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Diagramas de flujo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 en el fondo la utilidad es siempre la misma: relacionar entidades entre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134199" y="411588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75" y="752698"/>
            <a:ext cx="4305299" cy="12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20700" y="2214925"/>
            <a:ext cx="4070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el fondo, esto puede ser representado como un grafo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/>
        </p:nvSpPr>
        <p:spPr>
          <a:xfrm>
            <a:off x="134199" y="411588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598" y="685500"/>
            <a:ext cx="4247799" cy="24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/>
        </p:nvSpPr>
        <p:spPr>
          <a:xfrm>
            <a:off x="134199" y="411588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450" y="593900"/>
            <a:ext cx="2321174" cy="24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Categorizaci</a:t>
            </a: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ón de grafos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25" y="877700"/>
            <a:ext cx="4305300" cy="197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Categorización de grafos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45927" y="752700"/>
            <a:ext cx="43506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Gráficamente, en un grafo dirigido los arcos son representados por flechas, mientras que en un no-dirigido, simplemente por líneas.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un grafo ponderado, sobre los arcos están explicitados los valores de los pesos.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Categorización de grafos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45927" y="752700"/>
            <a:ext cx="43506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grafo puede ser también acíclico o cíclico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01900"/>
            <a:ext cx="1860475" cy="15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4900" y="985750"/>
            <a:ext cx="1692750" cy="2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Definiciones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99" name="Google Shape;1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14600"/>
            <a:ext cx="4305298" cy="108612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/>
        </p:nvSpPr>
        <p:spPr>
          <a:xfrm>
            <a:off x="213677" y="1953375"/>
            <a:ext cx="4350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un grafo DIRIGIDO los sucesores de un nodo son los que están al final de la flecha partiendo desde ese nodo.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un grafo DIRIGIDO los predecesores de un nodo son los que están al comienzo de una flecha que apunta hacia ese nodo.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45924" y="442550"/>
            <a:ext cx="1357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10" name="Google Shape;2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75" y="770575"/>
            <a:ext cx="4179796" cy="2326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Ejercicio conceptual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0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105077" y="814600"/>
            <a:ext cx="43506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 lo dicho hasta ahora, ¿cómo clasificarían a los nodos de ejemplo que vimos al comienzo de la clase?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Librería networkx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105077" y="814600"/>
            <a:ext cx="4350600" cy="2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 una librería diseñada especialmente para el manejo de grafos.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Posee varios métodos, entre ellos algunos para: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 un grafo (nx.Graph) y un grafo dirigido (nx.DiGraph)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Listar los nodos de un grafo.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Agregar un/varios nodos (add_node, add_nodes_from)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Agregar una/varias aristas (add_edge, add_edges_from)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Listar los nodos de un grafo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Listar las aristas de un grafo.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un grafo dirigido, listar los sucesores de un nodo.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un grafo dirigido, listar los predecesores de un nodo.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 un grafo leyendo información de un .csv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 un grafo ponderado leyendo info de un .csv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Combinación networkx -matplotlib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40" name="Google Shape;2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105077" y="814600"/>
            <a:ext cx="43506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Usando la librería Matplotlib, uno puede generar y personalizar gráficos con los grafos creados.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938" y="1251500"/>
            <a:ext cx="2646225" cy="18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/>
        </p:nvSpPr>
        <p:spPr>
          <a:xfrm>
            <a:off x="45927" y="442550"/>
            <a:ext cx="395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Sintaxis de los grafos de networkx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51" name="Google Shape;2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105077" y="814600"/>
            <a:ext cx="43506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Grafo[nodo] devuelve todos los nodos conexos con los atributos de los arcos.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Grafo[nodo][nodo] devuelve todos los atributos del arco que une esos nodos.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Grafo[nodo][nodo][atributo] devuelve el valor puntual de un atributo del arco.</a:t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105077" y="814600"/>
            <a:ext cx="43506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8425"/>
            <a:ext cx="4610100" cy="27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/>
        </p:nvSpPr>
        <p:spPr>
          <a:xfrm>
            <a:off x="4455667" y="3348084"/>
            <a:ext cx="573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b="0" i="0" sz="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0" y="0"/>
            <a:ext cx="4610100" cy="3444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70" name="Google Shape;2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400" y="1961"/>
            <a:ext cx="548700" cy="34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5"/>
          <p:cNvSpPr txBox="1"/>
          <p:nvPr/>
        </p:nvSpPr>
        <p:spPr>
          <a:xfrm>
            <a:off x="0" y="111525"/>
            <a:ext cx="400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" y="346625"/>
            <a:ext cx="4610099" cy="276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