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6858000" cx="9144000"/>
  <p:notesSz cx="6858000" cy="9144000"/>
  <p:embeddedFontLst>
    <p:embeddedFont>
      <p:font typeface="Tahoma"/>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Tahoma-bold.fntdata"/><Relationship Id="rId16" Type="http://schemas.openxmlformats.org/officeDocument/2006/relationships/slide" Target="slides/slide11.xml"/><Relationship Id="rId38" Type="http://schemas.openxmlformats.org/officeDocument/2006/relationships/font" Target="fonts/Tahoma-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9" name="Google Shape;8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beb1261f25_0_0:notes"/>
          <p:cNvSpPr txBox="1"/>
          <p:nvPr>
            <p:ph idx="1" type="body"/>
          </p:nvPr>
        </p:nvSpPr>
        <p:spPr>
          <a:xfrm>
            <a:off x="685785" y="4343383"/>
            <a:ext cx="5486700" cy="4114800"/>
          </a:xfrm>
          <a:prstGeom prst="rect">
            <a:avLst/>
          </a:prstGeom>
          <a:noFill/>
          <a:ln>
            <a:noFill/>
          </a:ln>
        </p:spPr>
        <p:txBody>
          <a:bodyPr anchorCtr="0" anchor="t" bIns="171200" lIns="171200" spcFirstLastPara="1" rIns="171200" wrap="square" tIns="171200">
            <a:noAutofit/>
          </a:bodyPr>
          <a:lstStyle/>
          <a:p>
            <a:pPr indent="0" lvl="0" marL="0" rtl="0" algn="l">
              <a:lnSpc>
                <a:spcPct val="100000"/>
              </a:lnSpc>
              <a:spcBef>
                <a:spcPts val="0"/>
              </a:spcBef>
              <a:spcAft>
                <a:spcPts val="0"/>
              </a:spcAft>
              <a:buSzPts val="2100"/>
              <a:buNone/>
            </a:pPr>
            <a:r>
              <a:t/>
            </a:r>
            <a:endParaRPr/>
          </a:p>
        </p:txBody>
      </p:sp>
      <p:sp>
        <p:nvSpPr>
          <p:cNvPr id="96" name="Google Shape;96;g3beb1261f25_0_0:notes"/>
          <p:cNvSpPr/>
          <p:nvPr>
            <p:ph idx="2" type="sldImg"/>
          </p:nvPr>
        </p:nvSpPr>
        <p:spPr>
          <a:xfrm>
            <a:off x="1141124" y="685783"/>
            <a:ext cx="4576200" cy="3429000"/>
          </a:xfrm>
          <a:custGeom>
            <a:rect b="b" l="l" r="r" t="t"/>
            <a:pathLst>
              <a:path extrusionOk="0" h="120000" w="120000">
                <a:moveTo>
                  <a:pt x="0" y="0"/>
                </a:moveTo>
                <a:lnTo>
                  <a:pt x="120000" y="0"/>
                </a:lnTo>
                <a:lnTo>
                  <a:pt x="120000" y="120000"/>
                </a:lnTo>
                <a:lnTo>
                  <a:pt x="0" y="120000"/>
                </a:lnTo>
                <a:close/>
              </a:path>
            </a:pathLst>
          </a:custGeom>
          <a:noFill/>
          <a:ln cap="flat" cmpd="sng" w="178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6" name="Google Shape;10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0" name="Google Shape;120;p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3" name="Google Shape;133;p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5" name="Google Shape;145;p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p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4" name="Google Shape;174;p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6" name="Google Shape;186;p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beb1261f25_0_98:notes"/>
          <p:cNvSpPr txBox="1"/>
          <p:nvPr>
            <p:ph idx="1" type="body"/>
          </p:nvPr>
        </p:nvSpPr>
        <p:spPr>
          <a:xfrm>
            <a:off x="685785" y="4343383"/>
            <a:ext cx="5486700" cy="4114800"/>
          </a:xfrm>
          <a:prstGeom prst="rect">
            <a:avLst/>
          </a:prstGeom>
          <a:noFill/>
          <a:ln>
            <a:noFill/>
          </a:ln>
        </p:spPr>
        <p:txBody>
          <a:bodyPr anchorCtr="0" anchor="t" bIns="171200" lIns="171200" spcFirstLastPara="1" rIns="171200" wrap="square" tIns="171200">
            <a:noAutofit/>
          </a:bodyPr>
          <a:lstStyle/>
          <a:p>
            <a:pPr indent="0" lvl="0" marL="0" rtl="0" algn="l">
              <a:lnSpc>
                <a:spcPct val="100000"/>
              </a:lnSpc>
              <a:spcBef>
                <a:spcPts val="0"/>
              </a:spcBef>
              <a:spcAft>
                <a:spcPts val="0"/>
              </a:spcAft>
              <a:buSzPts val="2100"/>
              <a:buNone/>
            </a:pPr>
            <a:r>
              <a:t/>
            </a:r>
            <a:endParaRPr/>
          </a:p>
        </p:txBody>
      </p:sp>
      <p:sp>
        <p:nvSpPr>
          <p:cNvPr id="198" name="Google Shape;198;g3beb1261f25_0_98:notes"/>
          <p:cNvSpPr/>
          <p:nvPr>
            <p:ph idx="2" type="sldImg"/>
          </p:nvPr>
        </p:nvSpPr>
        <p:spPr>
          <a:xfrm>
            <a:off x="1141124" y="685783"/>
            <a:ext cx="4576200" cy="3429000"/>
          </a:xfrm>
          <a:custGeom>
            <a:rect b="b" l="l" r="r" t="t"/>
            <a:pathLst>
              <a:path extrusionOk="0" h="120000" w="120000">
                <a:moveTo>
                  <a:pt x="0" y="0"/>
                </a:moveTo>
                <a:lnTo>
                  <a:pt x="120000" y="0"/>
                </a:lnTo>
                <a:lnTo>
                  <a:pt x="120000" y="120000"/>
                </a:lnTo>
                <a:lnTo>
                  <a:pt x="0" y="120000"/>
                </a:lnTo>
                <a:close/>
              </a:path>
            </a:pathLst>
          </a:custGeom>
          <a:noFill/>
          <a:ln cap="flat" cmpd="sng" w="178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8" name="Google Shape;208;p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22" name="Google Shape;222;p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35" name="Google Shape;235;p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beb1261f25_0_107:notes"/>
          <p:cNvSpPr txBox="1"/>
          <p:nvPr>
            <p:ph idx="1" type="body"/>
          </p:nvPr>
        </p:nvSpPr>
        <p:spPr>
          <a:xfrm>
            <a:off x="685785" y="4343383"/>
            <a:ext cx="5486700" cy="4114800"/>
          </a:xfrm>
          <a:prstGeom prst="rect">
            <a:avLst/>
          </a:prstGeom>
          <a:noFill/>
          <a:ln>
            <a:noFill/>
          </a:ln>
        </p:spPr>
        <p:txBody>
          <a:bodyPr anchorCtr="0" anchor="t" bIns="171200" lIns="171200" spcFirstLastPara="1" rIns="171200" wrap="square" tIns="171200">
            <a:noAutofit/>
          </a:bodyPr>
          <a:lstStyle/>
          <a:p>
            <a:pPr indent="0" lvl="0" marL="0" rtl="0" algn="l">
              <a:lnSpc>
                <a:spcPct val="100000"/>
              </a:lnSpc>
              <a:spcBef>
                <a:spcPts val="0"/>
              </a:spcBef>
              <a:spcAft>
                <a:spcPts val="0"/>
              </a:spcAft>
              <a:buSzPts val="2100"/>
              <a:buNone/>
            </a:pPr>
            <a:r>
              <a:t/>
            </a:r>
            <a:endParaRPr/>
          </a:p>
        </p:txBody>
      </p:sp>
      <p:sp>
        <p:nvSpPr>
          <p:cNvPr id="249" name="Google Shape;249;g3beb1261f25_0_107:notes"/>
          <p:cNvSpPr/>
          <p:nvPr>
            <p:ph idx="2" type="sldImg"/>
          </p:nvPr>
        </p:nvSpPr>
        <p:spPr>
          <a:xfrm>
            <a:off x="1141124" y="685783"/>
            <a:ext cx="4576200" cy="3429000"/>
          </a:xfrm>
          <a:custGeom>
            <a:rect b="b" l="l" r="r" t="t"/>
            <a:pathLst>
              <a:path extrusionOk="0" h="120000" w="120000">
                <a:moveTo>
                  <a:pt x="0" y="0"/>
                </a:moveTo>
                <a:lnTo>
                  <a:pt x="120000" y="0"/>
                </a:lnTo>
                <a:lnTo>
                  <a:pt x="120000" y="120000"/>
                </a:lnTo>
                <a:lnTo>
                  <a:pt x="0" y="120000"/>
                </a:lnTo>
                <a:close/>
              </a:path>
            </a:pathLst>
          </a:custGeom>
          <a:noFill/>
          <a:ln cap="flat" cmpd="sng" w="178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9" name="Google Shape;259;p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1" name="Google Shape;271;p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5" name="Google Shape;285;p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7" name="Google Shape;297;p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0" name="Google Shape;310;p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2" name="Google Shape;322;p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4" name="Google Shape;334;p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beb1261f25_0_116:notes"/>
          <p:cNvSpPr txBox="1"/>
          <p:nvPr>
            <p:ph idx="1" type="body"/>
          </p:nvPr>
        </p:nvSpPr>
        <p:spPr>
          <a:xfrm>
            <a:off x="685785" y="4343383"/>
            <a:ext cx="5486700" cy="4114800"/>
          </a:xfrm>
          <a:prstGeom prst="rect">
            <a:avLst/>
          </a:prstGeom>
          <a:noFill/>
          <a:ln>
            <a:noFill/>
          </a:ln>
        </p:spPr>
        <p:txBody>
          <a:bodyPr anchorCtr="0" anchor="t" bIns="171200" lIns="171200" spcFirstLastPara="1" rIns="171200" wrap="square" tIns="171200">
            <a:noAutofit/>
          </a:bodyPr>
          <a:lstStyle/>
          <a:p>
            <a:pPr indent="0" lvl="0" marL="0" rtl="0" algn="l">
              <a:lnSpc>
                <a:spcPct val="100000"/>
              </a:lnSpc>
              <a:spcBef>
                <a:spcPts val="0"/>
              </a:spcBef>
              <a:spcAft>
                <a:spcPts val="0"/>
              </a:spcAft>
              <a:buSzPts val="2100"/>
              <a:buNone/>
            </a:pPr>
            <a:r>
              <a:t/>
            </a:r>
            <a:endParaRPr/>
          </a:p>
        </p:txBody>
      </p:sp>
      <p:sp>
        <p:nvSpPr>
          <p:cNvPr id="346" name="Google Shape;346;g3beb1261f25_0_116:notes"/>
          <p:cNvSpPr/>
          <p:nvPr>
            <p:ph idx="2" type="sldImg"/>
          </p:nvPr>
        </p:nvSpPr>
        <p:spPr>
          <a:xfrm>
            <a:off x="1141124" y="685783"/>
            <a:ext cx="4576200" cy="3429000"/>
          </a:xfrm>
          <a:custGeom>
            <a:rect b="b" l="l" r="r" t="t"/>
            <a:pathLst>
              <a:path extrusionOk="0" h="120000" w="120000">
                <a:moveTo>
                  <a:pt x="0" y="0"/>
                </a:moveTo>
                <a:lnTo>
                  <a:pt x="120000" y="0"/>
                </a:lnTo>
                <a:lnTo>
                  <a:pt x="120000" y="120000"/>
                </a:lnTo>
                <a:lnTo>
                  <a:pt x="0" y="120000"/>
                </a:lnTo>
                <a:close/>
              </a:path>
            </a:pathLst>
          </a:custGeom>
          <a:noFill/>
          <a:ln cap="flat" cmpd="sng" w="178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56" name="Google Shape;356;p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68" name="Google Shape;368;p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82" name="Google Shape;382;p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95" name="Google Shape;395;p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8" name="Google Shape;408;p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20" name="Google Shape;420;p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32" name="Google Shape;432;p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3beb1261f25_0_125:notes"/>
          <p:cNvSpPr txBox="1"/>
          <p:nvPr>
            <p:ph idx="1" type="body"/>
          </p:nvPr>
        </p:nvSpPr>
        <p:spPr>
          <a:xfrm>
            <a:off x="685785" y="4343383"/>
            <a:ext cx="5486700" cy="4114800"/>
          </a:xfrm>
          <a:prstGeom prst="rect">
            <a:avLst/>
          </a:prstGeom>
          <a:noFill/>
          <a:ln>
            <a:noFill/>
          </a:ln>
        </p:spPr>
        <p:txBody>
          <a:bodyPr anchorCtr="0" anchor="t" bIns="171200" lIns="171200" spcFirstLastPara="1" rIns="171200" wrap="square" tIns="171200">
            <a:noAutofit/>
          </a:bodyPr>
          <a:lstStyle/>
          <a:p>
            <a:pPr indent="0" lvl="0" marL="0" rtl="0" algn="l">
              <a:lnSpc>
                <a:spcPct val="100000"/>
              </a:lnSpc>
              <a:spcBef>
                <a:spcPts val="0"/>
              </a:spcBef>
              <a:spcAft>
                <a:spcPts val="0"/>
              </a:spcAft>
              <a:buSzPts val="2100"/>
              <a:buNone/>
            </a:pPr>
            <a:r>
              <a:t/>
            </a:r>
            <a:endParaRPr/>
          </a:p>
        </p:txBody>
      </p:sp>
      <p:sp>
        <p:nvSpPr>
          <p:cNvPr id="444" name="Google Shape;444;g3beb1261f25_0_125:notes"/>
          <p:cNvSpPr/>
          <p:nvPr>
            <p:ph idx="2" type="sldImg"/>
          </p:nvPr>
        </p:nvSpPr>
        <p:spPr>
          <a:xfrm>
            <a:off x="1141124" y="685783"/>
            <a:ext cx="4576200" cy="3429000"/>
          </a:xfrm>
          <a:custGeom>
            <a:rect b="b" l="l" r="r" t="t"/>
            <a:pathLst>
              <a:path extrusionOk="0" h="120000" w="120000">
                <a:moveTo>
                  <a:pt x="0" y="0"/>
                </a:moveTo>
                <a:lnTo>
                  <a:pt x="120000" y="0"/>
                </a:lnTo>
                <a:lnTo>
                  <a:pt x="120000" y="120000"/>
                </a:lnTo>
                <a:lnTo>
                  <a:pt x="0" y="120000"/>
                </a:lnTo>
                <a:close/>
              </a:path>
            </a:pathLst>
          </a:custGeom>
          <a:noFill/>
          <a:ln cap="flat" cmpd="sng" w="17825">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54" name="Google Shape;454;p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7" name="Google Shape;467;p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showMasterSp="0">
  <p:cSld name="Blank">
    <p:bg>
      <p:bgPr>
        <a:solidFill>
          <a:schemeClr val="lt1"/>
        </a:solidFill>
      </p:bgPr>
    </p:bg>
    <p:spTree>
      <p:nvGrpSpPr>
        <p:cNvPr id="80" name="Shape 80"/>
        <p:cNvGrpSpPr/>
        <p:nvPr/>
      </p:nvGrpSpPr>
      <p:grpSpPr>
        <a:xfrm>
          <a:off x="0" y="0"/>
          <a:ext cx="0" cy="0"/>
          <a:chOff x="0" y="0"/>
          <a:chExt cx="0" cy="0"/>
        </a:xfrm>
      </p:grpSpPr>
      <p:sp>
        <p:nvSpPr>
          <p:cNvPr id="81" name="Google Shape;81;p13"/>
          <p:cNvSpPr/>
          <p:nvPr/>
        </p:nvSpPr>
        <p:spPr>
          <a:xfrm>
            <a:off x="0" y="0"/>
            <a:ext cx="9135747" cy="6852123"/>
          </a:xfrm>
          <a:custGeom>
            <a:rect b="b" l="l" r="r" t="t"/>
            <a:pathLst>
              <a:path extrusionOk="0" h="3456304" w="4608195">
                <a:moveTo>
                  <a:pt x="4608004" y="0"/>
                </a:moveTo>
                <a:lnTo>
                  <a:pt x="0" y="0"/>
                </a:lnTo>
                <a:lnTo>
                  <a:pt x="0" y="3456000"/>
                </a:lnTo>
                <a:lnTo>
                  <a:pt x="4608004" y="3456000"/>
                </a:lnTo>
                <a:lnTo>
                  <a:pt x="4608004" y="0"/>
                </a:lnTo>
                <a:close/>
              </a:path>
            </a:pathLst>
          </a:custGeom>
          <a:solidFill>
            <a:srgbClr val="33333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82" name="Google Shape;82;p13"/>
          <p:cNvSpPr txBox="1"/>
          <p:nvPr>
            <p:ph idx="11" type="ftr"/>
          </p:nvPr>
        </p:nvSpPr>
        <p:spPr>
          <a:xfrm>
            <a:off x="3108960" y="6377939"/>
            <a:ext cx="2925900" cy="342900"/>
          </a:xfrm>
          <a:prstGeom prst="rect">
            <a:avLst/>
          </a:prstGeom>
          <a:noFill/>
          <a:ln>
            <a:noFill/>
          </a:ln>
        </p:spPr>
        <p:txBody>
          <a:bodyPr anchorCtr="0" anchor="t" bIns="0" lIns="0" spcFirstLastPara="1" rIns="0" wrap="square" tIns="0">
            <a:spAutoFit/>
          </a:bodyPr>
          <a:lstStyle>
            <a:lvl1pPr lvl="0" marR="0" algn="ctr">
              <a:lnSpc>
                <a:spcPct val="100000"/>
              </a:lnSpc>
              <a:spcBef>
                <a:spcPts val="0"/>
              </a:spcBef>
              <a:spcAft>
                <a:spcPts val="0"/>
              </a:spcAft>
              <a:buClr>
                <a:srgbClr val="000000"/>
              </a:buClr>
              <a:buSzPts val="2800"/>
              <a:buFont typeface="Arial"/>
              <a:buNone/>
              <a:defRPr b="0" i="0" sz="28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p:txBody>
      </p:sp>
      <p:sp>
        <p:nvSpPr>
          <p:cNvPr id="83" name="Google Shape;83;p13"/>
          <p:cNvSpPr txBox="1"/>
          <p:nvPr>
            <p:ph idx="10" type="dt"/>
          </p:nvPr>
        </p:nvSpPr>
        <p:spPr>
          <a:xfrm>
            <a:off x="457200" y="6377939"/>
            <a:ext cx="2103000" cy="342900"/>
          </a:xfrm>
          <a:prstGeom prst="rect">
            <a:avLst/>
          </a:prstGeom>
          <a:noFill/>
          <a:ln>
            <a:noFill/>
          </a:ln>
        </p:spPr>
        <p:txBody>
          <a:bodyPr anchorCtr="0" anchor="t" bIns="0" lIns="0" spcFirstLastPara="1" rIns="0" wrap="square" tIns="0">
            <a:spAutoFit/>
          </a:bodyPr>
          <a:lstStyle>
            <a:lvl1pPr lvl="0" marR="0" algn="l">
              <a:lnSpc>
                <a:spcPct val="100000"/>
              </a:lnSpc>
              <a:spcBef>
                <a:spcPts val="0"/>
              </a:spcBef>
              <a:spcAft>
                <a:spcPts val="0"/>
              </a:spcAft>
              <a:buClr>
                <a:srgbClr val="000000"/>
              </a:buClr>
              <a:buSzPts val="2800"/>
              <a:buFont typeface="Arial"/>
              <a:buNone/>
              <a:defRPr b="0" i="0" sz="28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p:txBody>
      </p:sp>
      <p:sp>
        <p:nvSpPr>
          <p:cNvPr id="84" name="Google Shape;84;p13"/>
          <p:cNvSpPr txBox="1"/>
          <p:nvPr>
            <p:ph idx="12" type="sldNum"/>
          </p:nvPr>
        </p:nvSpPr>
        <p:spPr>
          <a:xfrm>
            <a:off x="8724559" y="6622449"/>
            <a:ext cx="302400" cy="153900"/>
          </a:xfrm>
          <a:prstGeom prst="rect">
            <a:avLst/>
          </a:prstGeom>
          <a:noFill/>
          <a:ln>
            <a:noFill/>
          </a:ln>
        </p:spPr>
        <p:txBody>
          <a:bodyPr anchorCtr="0" anchor="t" bIns="0" lIns="0" spcFirstLastPara="1" rIns="0" wrap="square" tIns="0">
            <a:spAutoFit/>
          </a:bodyPr>
          <a:lstStyle>
            <a:lvl1pPr indent="0" lvl="0"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1pPr>
            <a:lvl2pPr indent="0" lvl="1"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2pPr>
            <a:lvl3pPr indent="0" lvl="2"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3pPr>
            <a:lvl4pPr indent="0" lvl="3"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4pPr>
            <a:lvl5pPr indent="0" lvl="4"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5pPr>
            <a:lvl6pPr indent="0" lvl="5"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6pPr>
            <a:lvl7pPr indent="0" lvl="6"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7pPr>
            <a:lvl8pPr indent="0" lvl="7"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8pPr>
            <a:lvl9pPr indent="0" lvl="8" marL="139700" marR="0" algn="r">
              <a:lnSpc>
                <a:spcPct val="100000"/>
              </a:lnSpc>
              <a:spcBef>
                <a:spcPts val="0"/>
              </a:spcBef>
              <a:spcAft>
                <a:spcPts val="0"/>
              </a:spcAft>
              <a:buClr>
                <a:srgbClr val="000000"/>
              </a:buClr>
              <a:buSzPts val="1000"/>
              <a:buFont typeface="Arial"/>
              <a:buNone/>
              <a:defRPr b="0" i="0" sz="1000" u="none" cap="none" strike="noStrike">
                <a:solidFill>
                  <a:srgbClr val="333333"/>
                </a:solidFill>
                <a:latin typeface="Times New Roman"/>
                <a:ea typeface="Times New Roman"/>
                <a:cs typeface="Times New Roman"/>
                <a:sym typeface="Times New Roman"/>
              </a:defRPr>
            </a:lvl9pPr>
          </a:lstStyle>
          <a:p>
            <a:pPr indent="0" lvl="0" marL="139700" rtl="0" algn="r">
              <a:spcBef>
                <a:spcPts val="0"/>
              </a:spcBef>
              <a:spcAft>
                <a:spcPts val="0"/>
              </a:spcAft>
              <a:buNone/>
            </a:pPr>
            <a:fld id="{00000000-1234-1234-1234-123412341234}" type="slidenum">
              <a:rPr lang="en-US"/>
              <a:t>‹#›</a:t>
            </a:fld>
            <a:endParaRPr sz="1200">
              <a:solidFill>
                <a:schemeClr val="dk2"/>
              </a:solidFill>
              <a:latin typeface="Arial"/>
              <a:ea typeface="Arial"/>
              <a:cs typeface="Arial"/>
              <a:sym typeface="Arial"/>
            </a:endParaRPr>
          </a:p>
        </p:txBody>
      </p:sp>
      <p:sp>
        <p:nvSpPr>
          <p:cNvPr id="85" name="Google Shape;85;p13"/>
          <p:cNvSpPr/>
          <p:nvPr/>
        </p:nvSpPr>
        <p:spPr>
          <a:xfrm flipH="1" rot="10800000">
            <a:off x="-16364" y="6294231"/>
            <a:ext cx="9176700" cy="328200"/>
          </a:xfrm>
          <a:prstGeom prst="rect">
            <a:avLst/>
          </a:prstGeom>
          <a:solidFill>
            <a:srgbClr val="2D2D2D"/>
          </a:solidFill>
          <a:ln>
            <a:noFill/>
          </a:ln>
          <a:effectLst>
            <a:outerShdw blurRad="79315" rotWithShape="0" dir="5400000" dist="45606">
              <a:srgbClr val="000000">
                <a:alpha val="34510"/>
              </a:srgbClr>
            </a:outerShdw>
          </a:effectLst>
        </p:spPr>
        <p:txBody>
          <a:bodyPr anchorCtr="0" anchor="ctr" bIns="90625" lIns="181275" spcFirstLastPara="1" rIns="181275" wrap="square" tIns="90625">
            <a:noAutofit/>
          </a:bodyPr>
          <a:lstStyle/>
          <a:p>
            <a:pPr indent="0" lvl="0" marL="0" marR="0" rtl="0" algn="ctr">
              <a:lnSpc>
                <a:spcPct val="100000"/>
              </a:lnSpc>
              <a:spcBef>
                <a:spcPts val="0"/>
              </a:spcBef>
              <a:spcAft>
                <a:spcPts val="0"/>
              </a:spcAft>
              <a:buClr>
                <a:srgbClr val="000000"/>
              </a:buClr>
              <a:buSzPts val="3600"/>
              <a:buFont typeface="Arial"/>
              <a:buNone/>
            </a:pPr>
            <a:r>
              <a:t/>
            </a:r>
            <a:endParaRPr b="0" i="0" sz="3600" u="none" cap="none" strike="noStrike">
              <a:solidFill>
                <a:srgbClr val="000000"/>
              </a:solidFill>
              <a:latin typeface="Calibri"/>
              <a:ea typeface="Calibri"/>
              <a:cs typeface="Calibri"/>
              <a:sym typeface="Calibri"/>
            </a:endParaRPr>
          </a:p>
        </p:txBody>
      </p:sp>
      <p:sp>
        <p:nvSpPr>
          <p:cNvPr id="86" name="Google Shape;86;p13"/>
          <p:cNvSpPr txBox="1"/>
          <p:nvPr/>
        </p:nvSpPr>
        <p:spPr>
          <a:xfrm>
            <a:off x="151240" y="6343001"/>
            <a:ext cx="1588800" cy="221400"/>
          </a:xfrm>
          <a:prstGeom prst="rect">
            <a:avLst/>
          </a:prstGeom>
          <a:noFill/>
          <a:ln>
            <a:noFill/>
          </a:ln>
        </p:spPr>
        <p:txBody>
          <a:bodyPr anchorCtr="0" anchor="t" bIns="0" lIns="0" spcFirstLastPara="1" rIns="0" wrap="square" tIns="36475">
            <a:spAutoFit/>
          </a:bodyPr>
          <a:lstStyle/>
          <a:p>
            <a:pPr indent="0" lvl="0" marL="0" marR="0" rtl="0" algn="l">
              <a:lnSpc>
                <a:spcPct val="100000"/>
              </a:lnSpc>
              <a:spcBef>
                <a:spcPts val="0"/>
              </a:spcBef>
              <a:spcAft>
                <a:spcPts val="0"/>
              </a:spcAft>
              <a:buClr>
                <a:srgbClr val="000000"/>
              </a:buClr>
              <a:buSzPts val="5600"/>
              <a:buFont typeface="Arial"/>
              <a:buNone/>
            </a:pPr>
            <a:r>
              <a:rPr b="0" i="0" lang="en-US" sz="1200" u="none" cap="none" strike="noStrike">
                <a:solidFill>
                  <a:schemeClr val="lt1"/>
                </a:solidFill>
                <a:latin typeface="Calibri"/>
                <a:ea typeface="Calibri"/>
                <a:cs typeface="Calibri"/>
                <a:sym typeface="Calibri"/>
              </a:rPr>
              <a:t>Pablo J Piccoli Bornia</a:t>
            </a:r>
            <a:endParaRPr b="0" i="0" sz="600" u="none" cap="none" strike="noStrike">
              <a:solidFill>
                <a:schemeClr val="lt1"/>
              </a:solidFill>
              <a:latin typeface="Times New Roman"/>
              <a:ea typeface="Times New Roman"/>
              <a:cs typeface="Times New Roman"/>
              <a:sym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 name="Shape 90"/>
        <p:cNvGrpSpPr/>
        <p:nvPr/>
      </p:nvGrpSpPr>
      <p:grpSpPr>
        <a:xfrm>
          <a:off x="0" y="0"/>
          <a:ext cx="0" cy="0"/>
          <a:chOff x="0" y="0"/>
          <a:chExt cx="0" cy="0"/>
        </a:xfrm>
      </p:grpSpPr>
      <p:sp>
        <p:nvSpPr>
          <p:cNvPr id="91" name="Google Shape;91;p14"/>
          <p:cNvSpPr txBox="1"/>
          <p:nvPr/>
        </p:nvSpPr>
        <p:spPr>
          <a:xfrm>
            <a:off x="635000" y="19050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Clase 4: Iteración + Introducción a listas</a:t>
            </a:r>
            <a:endParaRPr b="0" i="0" sz="1400" u="none" cap="none" strike="noStrike">
              <a:solidFill>
                <a:srgbClr val="000000"/>
              </a:solidFill>
              <a:latin typeface="Arial"/>
              <a:ea typeface="Arial"/>
              <a:cs typeface="Arial"/>
              <a:sym typeface="Arial"/>
            </a:endParaRPr>
          </a:p>
        </p:txBody>
      </p:sp>
      <p:sp>
        <p:nvSpPr>
          <p:cNvPr id="92" name="Google Shape;92;p14"/>
          <p:cNvSpPr txBox="1"/>
          <p:nvPr/>
        </p:nvSpPr>
        <p:spPr>
          <a:xfrm>
            <a:off x="635000" y="3556000"/>
            <a:ext cx="8496300" cy="520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0" i="0" lang="en-US" sz="2800" u="none" cap="none" strike="noStrike">
                <a:solidFill>
                  <a:srgbClr val="2D2D2D"/>
                </a:solidFill>
                <a:latin typeface="Calibri"/>
                <a:ea typeface="Calibri"/>
                <a:cs typeface="Calibri"/>
                <a:sym typeface="Calibri"/>
              </a:rPr>
              <a:t>Profesor: Pablo J Piccoli Bornia</a:t>
            </a:r>
            <a:endParaRPr b="0" i="0" sz="1400" u="none" cap="none" strike="noStrike">
              <a:solidFill>
                <a:srgbClr val="000000"/>
              </a:solidFill>
              <a:latin typeface="Arial"/>
              <a:ea typeface="Arial"/>
              <a:cs typeface="Arial"/>
              <a:sym typeface="Arial"/>
            </a:endParaRPr>
          </a:p>
        </p:txBody>
      </p:sp>
      <p:sp>
        <p:nvSpPr>
          <p:cNvPr id="93" name="Google Shape;93;p14"/>
          <p:cNvSpPr txBox="1"/>
          <p:nvPr/>
        </p:nvSpPr>
        <p:spPr>
          <a:xfrm>
            <a:off x="635000" y="4318000"/>
            <a:ext cx="8496300" cy="1193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400"/>
              <a:buFont typeface="Arial"/>
              <a:buNone/>
            </a:pPr>
            <a:r>
              <a:rPr b="0" i="0" lang="en-US" sz="2400" u="none" cap="none" strike="noStrike">
                <a:solidFill>
                  <a:srgbClr val="2D2D2D"/>
                </a:solidFill>
                <a:latin typeface="Calibri"/>
                <a:ea typeface="Calibri"/>
                <a:cs typeface="Calibri"/>
                <a:sym typeface="Calibri"/>
              </a:rPr>
              <a:t>Auxiliares: Daniela Longas M Victoria Tolosa</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5"/>
          <p:cNvSpPr txBox="1"/>
          <p:nvPr/>
        </p:nvSpPr>
        <p:spPr>
          <a:xfrm>
            <a:off x="2240672" y="3207687"/>
            <a:ext cx="3676800" cy="361500"/>
          </a:xfrm>
          <a:prstGeom prst="rect">
            <a:avLst/>
          </a:prstGeom>
          <a:noFill/>
          <a:ln>
            <a:noFill/>
          </a:ln>
        </p:spPr>
        <p:txBody>
          <a:bodyPr anchorCtr="0" anchor="t" bIns="0" lIns="0" spcFirstLastPara="1" rIns="0" wrap="square" tIns="22650">
            <a:spAutoFit/>
          </a:bodyPr>
          <a:lstStyle/>
          <a:p>
            <a:pPr indent="0" lvl="0" marL="25400" marR="0" rtl="0" algn="l">
              <a:lnSpc>
                <a:spcPct val="100000"/>
              </a:lnSpc>
              <a:spcBef>
                <a:spcPts val="0"/>
              </a:spcBef>
              <a:spcAft>
                <a:spcPts val="0"/>
              </a:spcAft>
              <a:buClr>
                <a:srgbClr val="000000"/>
              </a:buClr>
              <a:buSzPts val="2200"/>
              <a:buFont typeface="Arial"/>
              <a:buNone/>
            </a:pPr>
            <a:r>
              <a:rPr lang="en-US" sz="2200" cap="small">
                <a:solidFill>
                  <a:srgbClr val="F4F2ED"/>
                </a:solidFill>
                <a:latin typeface="Tahoma"/>
                <a:ea typeface="Tahoma"/>
                <a:cs typeface="Tahoma"/>
                <a:sym typeface="Tahoma"/>
              </a:rPr>
              <a:t>WHILE LOOP</a:t>
            </a:r>
            <a:endParaRPr b="0" i="0" sz="2200" u="none" cap="none" strike="noStrike">
              <a:solidFill>
                <a:srgbClr val="000000"/>
              </a:solidFill>
              <a:latin typeface="Tahoma"/>
              <a:ea typeface="Tahoma"/>
              <a:cs typeface="Tahoma"/>
              <a:sym typeface="Tahoma"/>
            </a:endParaRPr>
          </a:p>
        </p:txBody>
      </p:sp>
      <p:grpSp>
        <p:nvGrpSpPr>
          <p:cNvPr id="99" name="Google Shape;99;p15"/>
          <p:cNvGrpSpPr/>
          <p:nvPr/>
        </p:nvGrpSpPr>
        <p:grpSpPr>
          <a:xfrm>
            <a:off x="2260855" y="3600041"/>
            <a:ext cx="4642600" cy="50335"/>
            <a:chOff x="1133919" y="1518500"/>
            <a:chExt cx="2340610" cy="25400"/>
          </a:xfrm>
        </p:grpSpPr>
        <p:sp>
          <p:nvSpPr>
            <p:cNvPr id="100" name="Google Shape;100;p15"/>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solidFill>
              <a:srgbClr val="F4F2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101" name="Google Shape;101;p15"/>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noFill/>
            <a:ln cap="flat" cmpd="sng" w="18875">
              <a:solidFill>
                <a:srgbClr val="F4F2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102" name="Google Shape;102;p15"/>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006DB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103" name="Google Shape;103;p15"/>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FFD966"/>
            </a:solidFill>
            <a:ln cap="flat" cmpd="sng" w="18875">
              <a:solidFill>
                <a:srgbClr val="F1C23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grpSp>
    </p:spTree>
  </p:cSld>
  <p:clrMapOvr>
    <a:masterClrMapping/>
  </p:clrMapOvr>
  <p:transition>
    <p:fade thruBlk="1"/>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16"/>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9" name="Google Shape;109;p16"/>
          <p:cNvSpPr txBox="1"/>
          <p:nvPr/>
        </p:nvSpPr>
        <p:spPr>
          <a:xfrm>
            <a:off x="254000" y="190500"/>
            <a:ext cx="5715000" cy="266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10" name="Google Shape;110;p16"/>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11" name="Google Shape;111;p16"/>
          <p:cNvSpPr/>
          <p:nvPr/>
        </p:nvSpPr>
        <p:spPr>
          <a:xfrm>
            <a:off x="0" y="6286500"/>
            <a:ext cx="9144000" cy="384048"/>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2" name="Google Shape;112;p16"/>
          <p:cNvSpPr txBox="1"/>
          <p:nvPr/>
        </p:nvSpPr>
        <p:spPr>
          <a:xfrm>
            <a:off x="254000" y="8509000"/>
            <a:ext cx="5715000" cy="17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13" name="Google Shape;113;p16"/>
          <p:cNvSpPr txBox="1"/>
          <p:nvPr/>
        </p:nvSpPr>
        <p:spPr>
          <a:xfrm>
            <a:off x="177800" y="6375400"/>
            <a:ext cx="5715000" cy="17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14" name="Google Shape;114;p16"/>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Iteración</a:t>
            </a:r>
            <a:endParaRPr b="0" i="0" sz="1400" u="none" cap="none" strike="noStrike">
              <a:solidFill>
                <a:srgbClr val="000000"/>
              </a:solidFill>
              <a:latin typeface="Arial"/>
              <a:ea typeface="Arial"/>
              <a:cs typeface="Arial"/>
              <a:sym typeface="Arial"/>
            </a:endParaRPr>
          </a:p>
        </p:txBody>
      </p:sp>
      <p:sp>
        <p:nvSpPr>
          <p:cNvPr id="115" name="Google Shape;115;p16"/>
          <p:cNvSpPr txBox="1"/>
          <p:nvPr/>
        </p:nvSpPr>
        <p:spPr>
          <a:xfrm>
            <a:off x="301975" y="1719150"/>
            <a:ext cx="8829300" cy="615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Un loop es una estructura de control que permite repetir un cálculo/operatoria una cierta cantidad de veces.</a:t>
            </a:r>
            <a:endParaRPr b="0" i="0" sz="2000" u="none" cap="none" strike="noStrike">
              <a:solidFill>
                <a:srgbClr val="2D2D2D"/>
              </a:solidFill>
              <a:latin typeface="Calibri"/>
              <a:ea typeface="Calibri"/>
              <a:cs typeface="Calibri"/>
              <a:sym typeface="Calibri"/>
            </a:endParaRPr>
          </a:p>
        </p:txBody>
      </p:sp>
      <p:sp>
        <p:nvSpPr>
          <p:cNvPr id="116" name="Google Shape;116;p16"/>
          <p:cNvSpPr txBox="1"/>
          <p:nvPr/>
        </p:nvSpPr>
        <p:spPr>
          <a:xfrm>
            <a:off x="254000" y="280642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While loop</a:t>
            </a:r>
            <a:endParaRPr b="0" i="0" sz="1400" u="none" cap="none" strike="noStrike">
              <a:solidFill>
                <a:srgbClr val="000000"/>
              </a:solidFill>
              <a:latin typeface="Arial"/>
              <a:ea typeface="Arial"/>
              <a:cs typeface="Arial"/>
              <a:sym typeface="Arial"/>
            </a:endParaRPr>
          </a:p>
        </p:txBody>
      </p:sp>
      <p:sp>
        <p:nvSpPr>
          <p:cNvPr id="117" name="Google Shape;117;p16"/>
          <p:cNvSpPr txBox="1"/>
          <p:nvPr/>
        </p:nvSpPr>
        <p:spPr>
          <a:xfrm>
            <a:off x="301975" y="3496200"/>
            <a:ext cx="8829300" cy="1231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En caso del while loop lo que determina la cantidad de iteraciones a dar es el hecho de cumplir una condición dada por una operación booleana.</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 </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17"/>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 name="Google Shape;123;p17"/>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24" name="Google Shape;124;p17"/>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25" name="Google Shape;125;p17"/>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 name="Google Shape;126;p17"/>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27" name="Google Shape;127;p17"/>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28" name="Google Shape;128;p17"/>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Sintaxis</a:t>
            </a:r>
            <a:endParaRPr b="0" i="0" sz="1400" u="none" cap="none" strike="noStrike">
              <a:solidFill>
                <a:srgbClr val="000000"/>
              </a:solidFill>
              <a:latin typeface="Arial"/>
              <a:ea typeface="Arial"/>
              <a:cs typeface="Arial"/>
              <a:sym typeface="Arial"/>
            </a:endParaRPr>
          </a:p>
        </p:txBody>
      </p:sp>
      <p:pic>
        <p:nvPicPr>
          <p:cNvPr id="129" name="Google Shape;129;p17"/>
          <p:cNvPicPr preferRelativeResize="0"/>
          <p:nvPr/>
        </p:nvPicPr>
        <p:blipFill rotWithShape="1">
          <a:blip r:embed="rId4">
            <a:alphaModFix/>
          </a:blip>
          <a:srcRect b="0" l="0" r="0" t="0"/>
          <a:stretch/>
        </p:blipFill>
        <p:spPr>
          <a:xfrm>
            <a:off x="2714400" y="1435350"/>
            <a:ext cx="3096275" cy="2441775"/>
          </a:xfrm>
          <a:prstGeom prst="rect">
            <a:avLst/>
          </a:prstGeom>
          <a:noFill/>
          <a:ln>
            <a:noFill/>
          </a:ln>
        </p:spPr>
      </p:pic>
      <p:sp>
        <p:nvSpPr>
          <p:cNvPr id="130" name="Google Shape;130;p17"/>
          <p:cNvSpPr txBox="1"/>
          <p:nvPr/>
        </p:nvSpPr>
        <p:spPr>
          <a:xfrm>
            <a:off x="97400" y="4154500"/>
            <a:ext cx="8829300" cy="15393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Indentación</a:t>
            </a:r>
            <a:r>
              <a:rPr b="0" i="0" lang="en-US" sz="2000" u="none" cap="none" strike="noStrike">
                <a:solidFill>
                  <a:srgbClr val="2D2D2D"/>
                </a:solidFill>
                <a:latin typeface="Calibri"/>
                <a:ea typeface="Calibri"/>
                <a:cs typeface="Calibri"/>
                <a:sym typeface="Calibri"/>
              </a:rPr>
              <a:t>: al igual que el if, una sangría delimita el rango de acción.</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Corolario/guarda</a:t>
            </a:r>
            <a:r>
              <a:rPr b="0" i="0" lang="en-US" sz="2000" u="none" cap="none" strike="noStrike">
                <a:solidFill>
                  <a:srgbClr val="2D2D2D"/>
                </a:solidFill>
                <a:latin typeface="Calibri"/>
                <a:ea typeface="Calibri"/>
                <a:cs typeface="Calibri"/>
                <a:sym typeface="Calibri"/>
              </a:rPr>
              <a:t>: al igual que el if hay una operación cuyo resultado es un bool.</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Contador</a:t>
            </a:r>
            <a:r>
              <a:rPr b="0" i="0" lang="en-US" sz="2000" u="none" cap="none" strike="noStrike">
                <a:solidFill>
                  <a:srgbClr val="2D2D2D"/>
                </a:solidFill>
                <a:latin typeface="Calibri"/>
                <a:ea typeface="Calibri"/>
                <a:cs typeface="Calibri"/>
                <a:sym typeface="Calibri"/>
              </a:rPr>
              <a:t>: </a:t>
            </a:r>
            <a:r>
              <a:rPr b="0" i="0" lang="en-US" sz="2000" u="sng" cap="none" strike="noStrike">
                <a:solidFill>
                  <a:srgbClr val="2D2D2D"/>
                </a:solidFill>
                <a:latin typeface="Calibri"/>
                <a:ea typeface="Calibri"/>
                <a:cs typeface="Calibri"/>
                <a:sym typeface="Calibri"/>
              </a:rPr>
              <a:t>no es condición necesaria</a:t>
            </a:r>
            <a:r>
              <a:rPr b="0" i="0" lang="en-US" sz="2000" u="none" cap="none" strike="noStrike">
                <a:solidFill>
                  <a:srgbClr val="2D2D2D"/>
                </a:solidFill>
                <a:latin typeface="Calibri"/>
                <a:ea typeface="Calibri"/>
                <a:cs typeface="Calibri"/>
                <a:sym typeface="Calibri"/>
              </a:rPr>
              <a:t> para que el while exista. Pero usualmente los while loops tienen una variable que </a:t>
            </a:r>
            <a:r>
              <a:rPr b="1" i="0" lang="en-US" sz="2000" u="none" cap="none" strike="noStrike">
                <a:solidFill>
                  <a:srgbClr val="FF0000"/>
                </a:solidFill>
                <a:latin typeface="Calibri"/>
                <a:ea typeface="Calibri"/>
                <a:cs typeface="Calibri"/>
                <a:sym typeface="Calibri"/>
              </a:rPr>
              <a:t>cambia</a:t>
            </a:r>
            <a:r>
              <a:rPr b="0" i="0" lang="en-US" sz="2000" u="none" cap="none" strike="noStrike">
                <a:solidFill>
                  <a:srgbClr val="2D2D2D"/>
                </a:solidFill>
                <a:latin typeface="Calibri"/>
                <a:ea typeface="Calibri"/>
                <a:cs typeface="Calibri"/>
                <a:sym typeface="Calibri"/>
              </a:rPr>
              <a:t> dentro del mismo loop y que sirve para cortar la ejecución. En este caso es un contador.</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8"/>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 name="Google Shape;136;p18"/>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37" name="Google Shape;137;p18"/>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38" name="Google Shape;138;p18"/>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 name="Google Shape;139;p18"/>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40" name="Google Shape;140;p18"/>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41" name="Google Shape;141;p18"/>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Sintaxis</a:t>
            </a:r>
            <a:endParaRPr b="0" i="0" sz="1400" u="none" cap="none" strike="noStrike">
              <a:solidFill>
                <a:srgbClr val="000000"/>
              </a:solidFill>
              <a:latin typeface="Arial"/>
              <a:ea typeface="Arial"/>
              <a:cs typeface="Arial"/>
              <a:sym typeface="Arial"/>
            </a:endParaRPr>
          </a:p>
        </p:txBody>
      </p:sp>
      <p:sp>
        <p:nvSpPr>
          <p:cNvPr id="142" name="Google Shape;142;p18"/>
          <p:cNvSpPr txBox="1"/>
          <p:nvPr/>
        </p:nvSpPr>
        <p:spPr>
          <a:xfrm>
            <a:off x="97400" y="1582750"/>
            <a:ext cx="8829300" cy="923400"/>
          </a:xfrm>
          <a:prstGeom prst="rect">
            <a:avLst/>
          </a:prstGeom>
          <a:noFill/>
          <a:ln>
            <a:noFill/>
          </a:ln>
        </p:spPr>
        <p:txBody>
          <a:bodyPr anchorCtr="0" anchor="t" bIns="0" lIns="0" spcFirstLastPara="1" rIns="0" wrap="square" tIns="0">
            <a:spAutoFit/>
          </a:bodyPr>
          <a:lstStyle/>
          <a:p>
            <a:pPr indent="0" lvl="0" marL="45720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Un while loop seguirá corriendo siempre y cuando su corolario/guarda de como resultado True. Cuando dicho resultado pasa a ser False, la operación se corta y uno sale del loop</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 name="Shape 146"/>
        <p:cNvGrpSpPr/>
        <p:nvPr/>
      </p:nvGrpSpPr>
      <p:grpSpPr>
        <a:xfrm>
          <a:off x="0" y="0"/>
          <a:ext cx="0" cy="0"/>
          <a:chOff x="0" y="0"/>
          <a:chExt cx="0" cy="0"/>
        </a:xfrm>
      </p:grpSpPr>
      <p:sp>
        <p:nvSpPr>
          <p:cNvPr id="147" name="Google Shape;147;p19"/>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 name="Google Shape;148;p19"/>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49" name="Google Shape;149;p19"/>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50" name="Google Shape;150;p19"/>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 name="Google Shape;151;p19"/>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52" name="Google Shape;152;p19"/>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53" name="Google Shape;153;p19"/>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Ejemplos</a:t>
            </a:r>
            <a:endParaRPr b="0" i="0" sz="1400" u="none" cap="none" strike="noStrike">
              <a:solidFill>
                <a:srgbClr val="000000"/>
              </a:solidFill>
              <a:latin typeface="Arial"/>
              <a:ea typeface="Arial"/>
              <a:cs typeface="Arial"/>
              <a:sym typeface="Arial"/>
            </a:endParaRPr>
          </a:p>
        </p:txBody>
      </p:sp>
      <p:pic>
        <p:nvPicPr>
          <p:cNvPr id="154" name="Google Shape;154;p19"/>
          <p:cNvPicPr preferRelativeResize="0"/>
          <p:nvPr/>
        </p:nvPicPr>
        <p:blipFill rotWithShape="1">
          <a:blip r:embed="rId4">
            <a:alphaModFix/>
          </a:blip>
          <a:srcRect b="0" l="0" r="0" t="0"/>
          <a:stretch/>
        </p:blipFill>
        <p:spPr>
          <a:xfrm>
            <a:off x="454400" y="1542500"/>
            <a:ext cx="6937050" cy="863650"/>
          </a:xfrm>
          <a:prstGeom prst="rect">
            <a:avLst/>
          </a:prstGeom>
          <a:noFill/>
          <a:ln>
            <a:noFill/>
          </a:ln>
        </p:spPr>
      </p:pic>
      <p:sp>
        <p:nvSpPr>
          <p:cNvPr id="155" name="Google Shape;155;p19"/>
          <p:cNvSpPr txBox="1"/>
          <p:nvPr/>
        </p:nvSpPr>
        <p:spPr>
          <a:xfrm>
            <a:off x="51575" y="2587775"/>
            <a:ext cx="8829300" cy="3078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Qué hace esta esta pieza de código? Es a propósito?</a:t>
            </a:r>
            <a:endParaRPr b="0" i="0" sz="2000" u="none" cap="none" strike="noStrike">
              <a:solidFill>
                <a:srgbClr val="2D2D2D"/>
              </a:solidFill>
              <a:latin typeface="Calibri"/>
              <a:ea typeface="Calibri"/>
              <a:cs typeface="Calibri"/>
              <a:sym typeface="Calibri"/>
            </a:endParaRPr>
          </a:p>
        </p:txBody>
      </p:sp>
      <p:pic>
        <p:nvPicPr>
          <p:cNvPr id="156" name="Google Shape;156;p19"/>
          <p:cNvPicPr preferRelativeResize="0"/>
          <p:nvPr/>
        </p:nvPicPr>
        <p:blipFill rotWithShape="1">
          <a:blip r:embed="rId5">
            <a:alphaModFix/>
          </a:blip>
          <a:srcRect b="0" l="0" r="0" t="0"/>
          <a:stretch/>
        </p:blipFill>
        <p:spPr>
          <a:xfrm>
            <a:off x="454400" y="3272363"/>
            <a:ext cx="2855025" cy="1277250"/>
          </a:xfrm>
          <a:prstGeom prst="rect">
            <a:avLst/>
          </a:prstGeom>
          <a:noFill/>
          <a:ln>
            <a:noFill/>
          </a:ln>
        </p:spPr>
      </p:pic>
      <p:sp>
        <p:nvSpPr>
          <p:cNvPr id="157" name="Google Shape;157;p19"/>
          <p:cNvSpPr txBox="1"/>
          <p:nvPr/>
        </p:nvSpPr>
        <p:spPr>
          <a:xfrm>
            <a:off x="0" y="4781038"/>
            <a:ext cx="8829300" cy="3078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Y aqui?</a:t>
            </a:r>
            <a:endParaRPr b="0" i="0" sz="2000" u="none" cap="none" strike="noStrike">
              <a:solidFill>
                <a:srgbClr val="2D2D2D"/>
              </a:solidFill>
              <a:latin typeface="Calibri"/>
              <a:ea typeface="Calibri"/>
              <a:cs typeface="Calibri"/>
              <a:sym typeface="Calibri"/>
            </a:endParaRPr>
          </a:p>
        </p:txBody>
      </p:sp>
      <p:pic>
        <p:nvPicPr>
          <p:cNvPr id="158" name="Google Shape;158;p19"/>
          <p:cNvPicPr preferRelativeResize="0"/>
          <p:nvPr/>
        </p:nvPicPr>
        <p:blipFill rotWithShape="1">
          <a:blip r:embed="rId6">
            <a:alphaModFix/>
          </a:blip>
          <a:srcRect b="0" l="0" r="0" t="0"/>
          <a:stretch/>
        </p:blipFill>
        <p:spPr>
          <a:xfrm>
            <a:off x="4348300" y="3202413"/>
            <a:ext cx="2731850" cy="1417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20"/>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4" name="Google Shape;164;p20"/>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65" name="Google Shape;165;p20"/>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66" name="Google Shape;166;p20"/>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 name="Google Shape;167;p20"/>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68" name="Google Shape;168;p20"/>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69" name="Google Shape;169;p20"/>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Iteración infinita</a:t>
            </a:r>
            <a:endParaRPr b="0" i="0" sz="1400" u="none" cap="none" strike="noStrike">
              <a:solidFill>
                <a:srgbClr val="000000"/>
              </a:solidFill>
              <a:latin typeface="Arial"/>
              <a:ea typeface="Arial"/>
              <a:cs typeface="Arial"/>
              <a:sym typeface="Arial"/>
            </a:endParaRPr>
          </a:p>
        </p:txBody>
      </p:sp>
      <p:sp>
        <p:nvSpPr>
          <p:cNvPr id="170" name="Google Shape;170;p20"/>
          <p:cNvSpPr txBox="1"/>
          <p:nvPr/>
        </p:nvSpPr>
        <p:spPr>
          <a:xfrm>
            <a:off x="211775" y="1594150"/>
            <a:ext cx="8829300" cy="1231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Los ejemplos anteriores dan cuenta de lo que sucede cuando no hay una manera de que la guarda de como resultado “False”.</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La mayoría de las veces (y en el marco de esta materia) esto es un bug. </a:t>
            </a:r>
            <a:endParaRPr b="0" i="0" sz="2000" u="none" cap="none" strike="noStrike">
              <a:solidFill>
                <a:srgbClr val="2D2D2D"/>
              </a:solidFill>
              <a:latin typeface="Calibri"/>
              <a:ea typeface="Calibri"/>
              <a:cs typeface="Calibri"/>
              <a:sym typeface="Calibri"/>
            </a:endParaRPr>
          </a:p>
        </p:txBody>
      </p:sp>
      <p:sp>
        <p:nvSpPr>
          <p:cNvPr id="171" name="Google Shape;171;p20"/>
          <p:cNvSpPr txBox="1"/>
          <p:nvPr/>
        </p:nvSpPr>
        <p:spPr>
          <a:xfrm>
            <a:off x="254000" y="3597450"/>
            <a:ext cx="88293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Tip: a la hora de debuggear un script, los prints suelen ser muy útiles ! </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 name="Shape 175"/>
        <p:cNvGrpSpPr/>
        <p:nvPr/>
      </p:nvGrpSpPr>
      <p:grpSpPr>
        <a:xfrm>
          <a:off x="0" y="0"/>
          <a:ext cx="0" cy="0"/>
          <a:chOff x="0" y="0"/>
          <a:chExt cx="0" cy="0"/>
        </a:xfrm>
      </p:grpSpPr>
      <p:sp>
        <p:nvSpPr>
          <p:cNvPr id="176" name="Google Shape;176;p21"/>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7" name="Google Shape;177;p21"/>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78" name="Google Shape;178;p21"/>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79" name="Google Shape;179;p21"/>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0" name="Google Shape;180;p21"/>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81" name="Google Shape;181;p21"/>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82" name="Google Shape;182;p21"/>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Ejercicio</a:t>
            </a:r>
            <a:endParaRPr b="0" i="0" sz="1400" u="none" cap="none" strike="noStrike">
              <a:solidFill>
                <a:srgbClr val="000000"/>
              </a:solidFill>
              <a:latin typeface="Arial"/>
              <a:ea typeface="Arial"/>
              <a:cs typeface="Arial"/>
              <a:sym typeface="Arial"/>
            </a:endParaRPr>
          </a:p>
        </p:txBody>
      </p:sp>
      <p:sp>
        <p:nvSpPr>
          <p:cNvPr id="183" name="Google Shape;183;p21"/>
          <p:cNvSpPr txBox="1"/>
          <p:nvPr/>
        </p:nvSpPr>
        <p:spPr>
          <a:xfrm>
            <a:off x="211775" y="1594150"/>
            <a:ext cx="8829300" cy="615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Codear una function que reciba como input un número y devuelva si el mismo es un número primo o no.</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22"/>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9" name="Google Shape;189;p22"/>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190" name="Google Shape;190;p22"/>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191" name="Google Shape;191;p22"/>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2" name="Google Shape;192;p22"/>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93" name="Google Shape;193;p22"/>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194" name="Google Shape;194;p22"/>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Ejercicio 2</a:t>
            </a:r>
            <a:endParaRPr b="0" i="0" sz="1400" u="none" cap="none" strike="noStrike">
              <a:solidFill>
                <a:srgbClr val="000000"/>
              </a:solidFill>
              <a:latin typeface="Arial"/>
              <a:ea typeface="Arial"/>
              <a:cs typeface="Arial"/>
              <a:sym typeface="Arial"/>
            </a:endParaRPr>
          </a:p>
        </p:txBody>
      </p:sp>
      <p:sp>
        <p:nvSpPr>
          <p:cNvPr id="195" name="Google Shape;195;p22"/>
          <p:cNvSpPr txBox="1"/>
          <p:nvPr/>
        </p:nvSpPr>
        <p:spPr>
          <a:xfrm>
            <a:off x="211775" y="1594150"/>
            <a:ext cx="88293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Así como en clases pasadas creamos una function recursiva que devuelva el factorial de un número. Crear ahora una function que devuelva nuevamente el factorial de un número pero iterando con un while loop.</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3"/>
          <p:cNvSpPr txBox="1"/>
          <p:nvPr/>
        </p:nvSpPr>
        <p:spPr>
          <a:xfrm>
            <a:off x="2240672" y="3207687"/>
            <a:ext cx="3676800" cy="361500"/>
          </a:xfrm>
          <a:prstGeom prst="rect">
            <a:avLst/>
          </a:prstGeom>
          <a:noFill/>
          <a:ln>
            <a:noFill/>
          </a:ln>
        </p:spPr>
        <p:txBody>
          <a:bodyPr anchorCtr="0" anchor="t" bIns="0" lIns="0" spcFirstLastPara="1" rIns="0" wrap="square" tIns="22650">
            <a:spAutoFit/>
          </a:bodyPr>
          <a:lstStyle/>
          <a:p>
            <a:pPr indent="0" lvl="0" marL="25400" marR="0" rtl="0" algn="l">
              <a:lnSpc>
                <a:spcPct val="100000"/>
              </a:lnSpc>
              <a:spcBef>
                <a:spcPts val="0"/>
              </a:spcBef>
              <a:spcAft>
                <a:spcPts val="0"/>
              </a:spcAft>
              <a:buClr>
                <a:srgbClr val="000000"/>
              </a:buClr>
              <a:buSzPts val="2200"/>
              <a:buFont typeface="Arial"/>
              <a:buNone/>
            </a:pPr>
            <a:r>
              <a:rPr lang="en-US" sz="2200" cap="small">
                <a:solidFill>
                  <a:srgbClr val="F4F2ED"/>
                </a:solidFill>
                <a:latin typeface="Tahoma"/>
                <a:ea typeface="Tahoma"/>
                <a:cs typeface="Tahoma"/>
                <a:sym typeface="Tahoma"/>
              </a:rPr>
              <a:t>LISTAS</a:t>
            </a:r>
            <a:endParaRPr b="0" i="0" sz="2200" u="none" cap="none" strike="noStrike">
              <a:solidFill>
                <a:srgbClr val="000000"/>
              </a:solidFill>
              <a:latin typeface="Tahoma"/>
              <a:ea typeface="Tahoma"/>
              <a:cs typeface="Tahoma"/>
              <a:sym typeface="Tahoma"/>
            </a:endParaRPr>
          </a:p>
        </p:txBody>
      </p:sp>
      <p:grpSp>
        <p:nvGrpSpPr>
          <p:cNvPr id="201" name="Google Shape;201;p23"/>
          <p:cNvGrpSpPr/>
          <p:nvPr/>
        </p:nvGrpSpPr>
        <p:grpSpPr>
          <a:xfrm>
            <a:off x="2260855" y="3600041"/>
            <a:ext cx="4642600" cy="50335"/>
            <a:chOff x="1133919" y="1518500"/>
            <a:chExt cx="2340610" cy="25400"/>
          </a:xfrm>
        </p:grpSpPr>
        <p:sp>
          <p:nvSpPr>
            <p:cNvPr id="202" name="Google Shape;202;p23"/>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solidFill>
              <a:srgbClr val="F4F2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03" name="Google Shape;203;p23"/>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noFill/>
            <a:ln cap="flat" cmpd="sng" w="18875">
              <a:solidFill>
                <a:srgbClr val="F4F2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04" name="Google Shape;204;p23"/>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006DB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05" name="Google Shape;205;p23"/>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FFD966"/>
            </a:solidFill>
            <a:ln cap="flat" cmpd="sng" w="18875">
              <a:solidFill>
                <a:srgbClr val="F1C23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grpSp>
    </p:spTree>
  </p:cSld>
  <p:clrMapOvr>
    <a:masterClrMapping/>
  </p:clrMapOvr>
  <p:transition>
    <p:fade thruBlk="1"/>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4"/>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p24"/>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212" name="Google Shape;212;p24"/>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213" name="Google Shape;213;p24"/>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4" name="Google Shape;214;p24"/>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15" name="Google Shape;215;p24"/>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16" name="Google Shape;216;p24"/>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Definiciones</a:t>
            </a:r>
            <a:endParaRPr b="0" i="0" sz="1400" u="none" cap="none" strike="noStrike">
              <a:solidFill>
                <a:srgbClr val="000000"/>
              </a:solidFill>
              <a:latin typeface="Arial"/>
              <a:ea typeface="Arial"/>
              <a:cs typeface="Arial"/>
              <a:sym typeface="Arial"/>
            </a:endParaRPr>
          </a:p>
        </p:txBody>
      </p:sp>
      <p:sp>
        <p:nvSpPr>
          <p:cNvPr id="217" name="Google Shape;217;p24"/>
          <p:cNvSpPr txBox="1"/>
          <p:nvPr/>
        </p:nvSpPr>
        <p:spPr>
          <a:xfrm>
            <a:off x="101150" y="1584400"/>
            <a:ext cx="88293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Hasta ahora lidiamos simplemente con tipos de datos elementales.</a:t>
            </a:r>
            <a:endParaRPr b="0" i="0" sz="2000" u="none" cap="none" strike="noStrike">
              <a:solidFill>
                <a:srgbClr val="2D2D2D"/>
              </a:solidFill>
              <a:latin typeface="Calibri"/>
              <a:ea typeface="Calibri"/>
              <a:cs typeface="Calibri"/>
              <a:sym typeface="Calibri"/>
            </a:endParaRPr>
          </a:p>
        </p:txBody>
      </p:sp>
      <p:sp>
        <p:nvSpPr>
          <p:cNvPr id="218" name="Google Shape;218;p24"/>
          <p:cNvSpPr txBox="1"/>
          <p:nvPr/>
        </p:nvSpPr>
        <p:spPr>
          <a:xfrm>
            <a:off x="101150" y="2253100"/>
            <a:ext cx="8829300" cy="1231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Introducimos ahora el concepto de </a:t>
            </a:r>
            <a:r>
              <a:rPr b="1" i="0" lang="en-US" sz="2000" u="none" cap="none" strike="noStrike">
                <a:solidFill>
                  <a:srgbClr val="2D2D2D"/>
                </a:solidFill>
                <a:latin typeface="Calibri"/>
                <a:ea typeface="Calibri"/>
                <a:cs typeface="Calibri"/>
                <a:sym typeface="Calibri"/>
              </a:rPr>
              <a:t>estructuras de datos</a:t>
            </a:r>
            <a:r>
              <a:rPr b="0" i="0" lang="en-US" sz="2000" u="none" cap="none" strike="noStrike">
                <a:solidFill>
                  <a:srgbClr val="2D2D2D"/>
                </a:solidFill>
                <a:latin typeface="Calibri"/>
                <a:ea typeface="Calibri"/>
                <a:cs typeface="Calibri"/>
                <a:sym typeface="Calibri"/>
              </a:rPr>
              <a:t>. Una estructura de datos es un item/objeto capaz de almacenar varios datos en su interior. Los mismos pueden ser tipos de datos distintos (osea, dentro de una estructura de datos puede haber al mismo tiempo strings e integers por ejemplo).</a:t>
            </a:r>
            <a:endParaRPr b="0" i="0" sz="2000" u="none" cap="none" strike="noStrike">
              <a:solidFill>
                <a:srgbClr val="2D2D2D"/>
              </a:solidFill>
              <a:latin typeface="Calibri"/>
              <a:ea typeface="Calibri"/>
              <a:cs typeface="Calibri"/>
              <a:sym typeface="Calibri"/>
            </a:endParaRPr>
          </a:p>
        </p:txBody>
      </p:sp>
      <p:sp>
        <p:nvSpPr>
          <p:cNvPr id="219" name="Google Shape;219;p24"/>
          <p:cNvSpPr txBox="1"/>
          <p:nvPr/>
        </p:nvSpPr>
        <p:spPr>
          <a:xfrm>
            <a:off x="101150" y="3924500"/>
            <a:ext cx="8829300" cy="153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En la materia veremos estos tipos de estructuras de datos:</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Listas</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Tuplas</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Sets</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Diccionarios</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 name="Shape 223"/>
        <p:cNvGrpSpPr/>
        <p:nvPr/>
      </p:nvGrpSpPr>
      <p:grpSpPr>
        <a:xfrm>
          <a:off x="0" y="0"/>
          <a:ext cx="0" cy="0"/>
          <a:chOff x="0" y="0"/>
          <a:chExt cx="0" cy="0"/>
        </a:xfrm>
      </p:grpSpPr>
      <p:sp>
        <p:nvSpPr>
          <p:cNvPr id="224" name="Google Shape;224;p25"/>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5" name="Google Shape;225;p25"/>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226" name="Google Shape;226;p25"/>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227" name="Google Shape;227;p25"/>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8" name="Google Shape;228;p25"/>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29" name="Google Shape;229;p25"/>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30" name="Google Shape;230;p25"/>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Listas</a:t>
            </a:r>
            <a:endParaRPr b="0" i="0" sz="1400" u="none" cap="none" strike="noStrike">
              <a:solidFill>
                <a:srgbClr val="000000"/>
              </a:solidFill>
              <a:latin typeface="Arial"/>
              <a:ea typeface="Arial"/>
              <a:cs typeface="Arial"/>
              <a:sym typeface="Arial"/>
            </a:endParaRPr>
          </a:p>
        </p:txBody>
      </p:sp>
      <p:sp>
        <p:nvSpPr>
          <p:cNvPr id="231" name="Google Shape;231;p25"/>
          <p:cNvSpPr txBox="1"/>
          <p:nvPr/>
        </p:nvSpPr>
        <p:spPr>
          <a:xfrm>
            <a:off x="101150" y="1584400"/>
            <a:ext cx="8829300" cy="2154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Estructura de datos que tiene las siguientes características:</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Sus elementos están ordenados de manera secuencial (esto las diferencia de los sets y los diccionarios)</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Sus elementos son mutables (esto las diferencia de las tuplas)</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Puede tener elementos repetidos (esto las diferencia de los sets)</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2D2D2D"/>
              </a:solidFill>
              <a:latin typeface="Calibri"/>
              <a:ea typeface="Calibri"/>
              <a:cs typeface="Calibri"/>
              <a:sym typeface="Calibri"/>
            </a:endParaRPr>
          </a:p>
        </p:txBody>
      </p:sp>
      <p:sp>
        <p:nvSpPr>
          <p:cNvPr id="232" name="Google Shape;232;p25"/>
          <p:cNvSpPr txBox="1"/>
          <p:nvPr/>
        </p:nvSpPr>
        <p:spPr>
          <a:xfrm>
            <a:off x="101150" y="3739300"/>
            <a:ext cx="8829300" cy="1231500"/>
          </a:xfrm>
          <a:prstGeom prst="rect">
            <a:avLst/>
          </a:prstGeom>
          <a:noFill/>
          <a:ln>
            <a:noFill/>
          </a:ln>
        </p:spPr>
        <p:txBody>
          <a:bodyPr anchorCtr="0" anchor="t" bIns="0" lIns="0" spcFirstLastPara="1" rIns="0" wrap="square" tIns="0">
            <a:spAutoFit/>
          </a:bodyPr>
          <a:lstStyle/>
          <a:p>
            <a:pPr indent="0" lvl="0" marL="45720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Si bien las listas (al igual que el resto de las estructuras de datos) pueden tener dentro elementos de distinto tipo, esto se considera una </a:t>
            </a:r>
            <a:r>
              <a:rPr b="0" i="0" lang="en-US" sz="2000" u="none" cap="none" strike="noStrike">
                <a:solidFill>
                  <a:srgbClr val="FF0000"/>
                </a:solidFill>
                <a:latin typeface="Calibri"/>
                <a:ea typeface="Calibri"/>
                <a:cs typeface="Calibri"/>
                <a:sym typeface="Calibri"/>
              </a:rPr>
              <a:t>mala práctica</a:t>
            </a:r>
            <a:r>
              <a:rPr b="0" i="0" lang="en-US" sz="2000" u="none" cap="none" strike="noStrike">
                <a:solidFill>
                  <a:srgbClr val="2D2D2D"/>
                </a:solidFill>
                <a:latin typeface="Calibri"/>
                <a:ea typeface="Calibri"/>
                <a:cs typeface="Calibri"/>
                <a:sym typeface="Calibri"/>
              </a:rPr>
              <a:t>. Se espera que todos los elementos dentro de una lista tengan el mismo tipo.</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2D2D2D"/>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6"/>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8" name="Google Shape;238;p26"/>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239" name="Google Shape;239;p26"/>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240" name="Google Shape;240;p26"/>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1" name="Google Shape;241;p26"/>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42" name="Google Shape;242;p26"/>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43" name="Google Shape;243;p26"/>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Listas: sintaxis</a:t>
            </a:r>
            <a:endParaRPr b="0" i="0" sz="1400" u="none" cap="none" strike="noStrike">
              <a:solidFill>
                <a:srgbClr val="000000"/>
              </a:solidFill>
              <a:latin typeface="Arial"/>
              <a:ea typeface="Arial"/>
              <a:cs typeface="Arial"/>
              <a:sym typeface="Arial"/>
            </a:endParaRPr>
          </a:p>
        </p:txBody>
      </p:sp>
      <p:sp>
        <p:nvSpPr>
          <p:cNvPr id="244" name="Google Shape;244;p26"/>
          <p:cNvSpPr txBox="1"/>
          <p:nvPr/>
        </p:nvSpPr>
        <p:spPr>
          <a:xfrm>
            <a:off x="101150" y="1584400"/>
            <a:ext cx="8829300" cy="18471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Las listas se representan con corchetes y sus elementos están separados por coma.</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0" i="0" lang="en-US" sz="2000" u="none" cap="none" strike="noStrike">
                <a:solidFill>
                  <a:srgbClr val="2D2D2D"/>
                </a:solidFill>
                <a:latin typeface="Calibri"/>
                <a:ea typeface="Calibri"/>
                <a:cs typeface="Calibri"/>
                <a:sym typeface="Calibri"/>
              </a:rPr>
              <a:t>Para crear una lista vacía se puede usar el comando list() o simplemente abrir y cerrar corchetes: []</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2D2D2D"/>
                </a:solidFill>
                <a:latin typeface="Calibri"/>
                <a:ea typeface="Calibri"/>
                <a:cs typeface="Calibri"/>
                <a:sym typeface="Calibri"/>
              </a:rPr>
              <a:t>Ejemplos:</a:t>
            </a:r>
            <a:endParaRPr b="0" i="0" sz="2000" u="none" cap="none" strike="noStrike">
              <a:solidFill>
                <a:srgbClr val="2D2D2D"/>
              </a:solidFill>
              <a:latin typeface="Calibri"/>
              <a:ea typeface="Calibri"/>
              <a:cs typeface="Calibri"/>
              <a:sym typeface="Calibri"/>
            </a:endParaRPr>
          </a:p>
        </p:txBody>
      </p:sp>
      <p:pic>
        <p:nvPicPr>
          <p:cNvPr id="245" name="Google Shape;245;p26"/>
          <p:cNvPicPr preferRelativeResize="0"/>
          <p:nvPr/>
        </p:nvPicPr>
        <p:blipFill rotWithShape="1">
          <a:blip r:embed="rId4">
            <a:alphaModFix/>
          </a:blip>
          <a:srcRect b="0" l="0" r="0" t="0"/>
          <a:stretch/>
        </p:blipFill>
        <p:spPr>
          <a:xfrm>
            <a:off x="2188475" y="3554675"/>
            <a:ext cx="4767050" cy="1333725"/>
          </a:xfrm>
          <a:prstGeom prst="rect">
            <a:avLst/>
          </a:prstGeom>
          <a:noFill/>
          <a:ln>
            <a:noFill/>
          </a:ln>
        </p:spPr>
      </p:pic>
      <p:sp>
        <p:nvSpPr>
          <p:cNvPr id="246" name="Google Shape;246;p26"/>
          <p:cNvSpPr txBox="1"/>
          <p:nvPr/>
        </p:nvSpPr>
        <p:spPr>
          <a:xfrm>
            <a:off x="157350" y="5168350"/>
            <a:ext cx="88293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FF0000"/>
                </a:solidFill>
                <a:latin typeface="Calibri"/>
                <a:ea typeface="Calibri"/>
                <a:cs typeface="Calibri"/>
                <a:sym typeface="Calibri"/>
              </a:rPr>
              <a:t>Qué notan en la 3ra variable?</a:t>
            </a:r>
            <a:endParaRPr b="0" i="0" sz="2000" u="none" cap="none" strike="noStrike">
              <a:solidFill>
                <a:srgbClr val="FF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27"/>
          <p:cNvSpPr txBox="1"/>
          <p:nvPr/>
        </p:nvSpPr>
        <p:spPr>
          <a:xfrm>
            <a:off x="2240672" y="3207687"/>
            <a:ext cx="3676800" cy="361500"/>
          </a:xfrm>
          <a:prstGeom prst="rect">
            <a:avLst/>
          </a:prstGeom>
          <a:noFill/>
          <a:ln>
            <a:noFill/>
          </a:ln>
        </p:spPr>
        <p:txBody>
          <a:bodyPr anchorCtr="0" anchor="t" bIns="0" lIns="0" spcFirstLastPara="1" rIns="0" wrap="square" tIns="22650">
            <a:spAutoFit/>
          </a:bodyPr>
          <a:lstStyle/>
          <a:p>
            <a:pPr indent="0" lvl="0" marL="0" marR="0" rtl="0" algn="l">
              <a:lnSpc>
                <a:spcPct val="100000"/>
              </a:lnSpc>
              <a:spcBef>
                <a:spcPts val="0"/>
              </a:spcBef>
              <a:spcAft>
                <a:spcPts val="0"/>
              </a:spcAft>
              <a:buClr>
                <a:srgbClr val="000000"/>
              </a:buClr>
              <a:buSzPts val="2200"/>
              <a:buFont typeface="Arial"/>
              <a:buNone/>
            </a:pPr>
            <a:r>
              <a:rPr lang="en-US" sz="2200" cap="small">
                <a:solidFill>
                  <a:srgbClr val="F4F2ED"/>
                </a:solidFill>
                <a:latin typeface="Tahoma"/>
                <a:ea typeface="Tahoma"/>
                <a:cs typeface="Tahoma"/>
                <a:sym typeface="Tahoma"/>
              </a:rPr>
              <a:t>OPERACIONES CON LISTAS</a:t>
            </a:r>
            <a:endParaRPr b="0" i="0" sz="2200" u="none" cap="none" strike="noStrike">
              <a:solidFill>
                <a:srgbClr val="000000"/>
              </a:solidFill>
              <a:latin typeface="Tahoma"/>
              <a:ea typeface="Tahoma"/>
              <a:cs typeface="Tahoma"/>
              <a:sym typeface="Tahoma"/>
            </a:endParaRPr>
          </a:p>
        </p:txBody>
      </p:sp>
      <p:grpSp>
        <p:nvGrpSpPr>
          <p:cNvPr id="252" name="Google Shape;252;p27"/>
          <p:cNvGrpSpPr/>
          <p:nvPr/>
        </p:nvGrpSpPr>
        <p:grpSpPr>
          <a:xfrm>
            <a:off x="2260855" y="3600041"/>
            <a:ext cx="4642600" cy="50335"/>
            <a:chOff x="1133919" y="1518500"/>
            <a:chExt cx="2340610" cy="25400"/>
          </a:xfrm>
        </p:grpSpPr>
        <p:sp>
          <p:nvSpPr>
            <p:cNvPr id="253" name="Google Shape;253;p27"/>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solidFill>
              <a:srgbClr val="F4F2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54" name="Google Shape;254;p27"/>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noFill/>
            <a:ln cap="flat" cmpd="sng" w="18875">
              <a:solidFill>
                <a:srgbClr val="F4F2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55" name="Google Shape;255;p27"/>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006DB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256" name="Google Shape;256;p27"/>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FFD966"/>
            </a:solidFill>
            <a:ln cap="flat" cmpd="sng" w="18875">
              <a:solidFill>
                <a:srgbClr val="F1C23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grpSp>
    </p:spTree>
  </p:cSld>
  <p:clrMapOvr>
    <a:masterClrMapping/>
  </p:clrMapOvr>
  <p:transition>
    <p:fade thruBlk="1"/>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 name="Shape 260"/>
        <p:cNvGrpSpPr/>
        <p:nvPr/>
      </p:nvGrpSpPr>
      <p:grpSpPr>
        <a:xfrm>
          <a:off x="0" y="0"/>
          <a:ext cx="0" cy="0"/>
          <a:chOff x="0" y="0"/>
          <a:chExt cx="0" cy="0"/>
        </a:xfrm>
      </p:grpSpPr>
      <p:sp>
        <p:nvSpPr>
          <p:cNvPr id="261" name="Google Shape;261;p28"/>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2" name="Google Shape;262;p28"/>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263" name="Google Shape;263;p28"/>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264" name="Google Shape;264;p28"/>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5" name="Google Shape;265;p28"/>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66" name="Google Shape;266;p28"/>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67" name="Google Shape;267;p28"/>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Operaciones</a:t>
            </a:r>
            <a:endParaRPr b="0" i="0" sz="1400" u="none" cap="none" strike="noStrike">
              <a:solidFill>
                <a:srgbClr val="000000"/>
              </a:solidFill>
              <a:latin typeface="Arial"/>
              <a:ea typeface="Arial"/>
              <a:cs typeface="Arial"/>
              <a:sym typeface="Arial"/>
            </a:endParaRPr>
          </a:p>
        </p:txBody>
      </p:sp>
      <p:sp>
        <p:nvSpPr>
          <p:cNvPr id="268" name="Google Shape;268;p28"/>
          <p:cNvSpPr txBox="1"/>
          <p:nvPr/>
        </p:nvSpPr>
        <p:spPr>
          <a:xfrm>
            <a:off x="101150" y="1584400"/>
            <a:ext cx="8829300" cy="24627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len(</a:t>
            </a:r>
            <a:r>
              <a:rPr b="1" i="0" lang="en-US" sz="2000" u="none" cap="none" strike="noStrike">
                <a:solidFill>
                  <a:srgbClr val="00FF00"/>
                </a:solidFill>
                <a:latin typeface="Calibri"/>
                <a:ea typeface="Calibri"/>
                <a:cs typeface="Calibri"/>
                <a:sym typeface="Calibri"/>
              </a:rPr>
              <a:t>&lt;lista&gt;</a:t>
            </a:r>
            <a:r>
              <a:rPr b="1" i="0" lang="en-US" sz="2000" u="none" cap="none" strike="noStrike">
                <a:solidFill>
                  <a:srgbClr val="2D2D2D"/>
                </a:solidFill>
                <a:latin typeface="Calibri"/>
                <a:ea typeface="Calibri"/>
                <a:cs typeface="Calibri"/>
                <a:sym typeface="Calibri"/>
              </a:rPr>
              <a:t>)</a:t>
            </a:r>
            <a:r>
              <a:rPr b="0" i="0" lang="en-US" sz="2000" u="none" cap="none" strike="noStrike">
                <a:solidFill>
                  <a:srgbClr val="2D2D2D"/>
                </a:solidFill>
                <a:latin typeface="Calibri"/>
                <a:ea typeface="Calibri"/>
                <a:cs typeface="Calibri"/>
                <a:sym typeface="Calibri"/>
              </a:rPr>
              <a:t>: Esta función devuelve un integer que da cuenta de la cantidad de elementos que esta lista posee.</a:t>
            </a:r>
            <a:endParaRPr b="0"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00FF00"/>
                </a:solidFill>
                <a:latin typeface="Calibri"/>
                <a:ea typeface="Calibri"/>
                <a:cs typeface="Calibri"/>
                <a:sym typeface="Calibri"/>
              </a:rPr>
              <a:t>&lt;lista&gt;</a:t>
            </a:r>
            <a:r>
              <a:rPr b="1" i="0" lang="en-US" sz="2000" u="none" cap="none" strike="noStrike">
                <a:solidFill>
                  <a:schemeClr val="dk1"/>
                </a:solidFill>
                <a:latin typeface="Calibri"/>
                <a:ea typeface="Calibri"/>
                <a:cs typeface="Calibri"/>
                <a:sym typeface="Calibri"/>
              </a:rPr>
              <a:t>.append(</a:t>
            </a:r>
            <a:r>
              <a:rPr b="1" i="0" lang="en-US" sz="2000" u="none" cap="none" strike="noStrike">
                <a:solidFill>
                  <a:srgbClr val="FF0000"/>
                </a:solidFill>
                <a:latin typeface="Calibri"/>
                <a:ea typeface="Calibri"/>
                <a:cs typeface="Calibri"/>
                <a:sym typeface="Calibri"/>
              </a:rPr>
              <a:t>&lt;element&gt;</a:t>
            </a:r>
            <a:r>
              <a:rPr b="1" i="0" lang="en-US" sz="2000" u="none" cap="none" strike="noStrike">
                <a:solidFill>
                  <a:schemeClr val="dk1"/>
                </a:solidFill>
                <a:latin typeface="Calibri"/>
                <a:ea typeface="Calibri"/>
                <a:cs typeface="Calibri"/>
                <a:sym typeface="Calibri"/>
              </a:rPr>
              <a:t>): </a:t>
            </a:r>
            <a:r>
              <a:rPr b="0" i="0" lang="en-US" sz="2000" u="none" cap="none" strike="noStrike">
                <a:solidFill>
                  <a:schemeClr val="dk1"/>
                </a:solidFill>
                <a:latin typeface="Calibri"/>
                <a:ea typeface="Calibri"/>
                <a:cs typeface="Calibri"/>
                <a:sym typeface="Calibri"/>
              </a:rPr>
              <a:t>Esta función agrega un elemento a la última posición de la lista.</a:t>
            </a:r>
            <a:endParaRPr b="0" i="0" sz="2000" u="none" cap="none" strike="noStrike">
              <a:solidFill>
                <a:schemeClr val="dk1"/>
              </a:solidFill>
              <a:latin typeface="Calibri"/>
              <a:ea typeface="Calibri"/>
              <a:cs typeface="Calibri"/>
              <a:sym typeface="Calibri"/>
            </a:endParaRPr>
          </a:p>
          <a:p>
            <a:pPr indent="-355600" lvl="0" marL="457200" marR="0" rtl="0" algn="l">
              <a:lnSpc>
                <a:spcPct val="100000"/>
              </a:lnSpc>
              <a:spcBef>
                <a:spcPts val="0"/>
              </a:spcBef>
              <a:spcAft>
                <a:spcPts val="0"/>
              </a:spcAft>
              <a:buClr>
                <a:schemeClr val="dk1"/>
              </a:buClr>
              <a:buSzPts val="2000"/>
              <a:buFont typeface="Calibri"/>
              <a:buChar char="●"/>
            </a:pPr>
            <a:r>
              <a:rPr b="1" i="0" lang="en-US" sz="2000" u="none" cap="none" strike="noStrike">
                <a:solidFill>
                  <a:srgbClr val="00FF00"/>
                </a:solidFill>
                <a:latin typeface="Calibri"/>
                <a:ea typeface="Calibri"/>
                <a:cs typeface="Calibri"/>
                <a:sym typeface="Calibri"/>
              </a:rPr>
              <a:t>&lt;lista&gt;</a:t>
            </a:r>
            <a:r>
              <a:rPr b="1" i="0" lang="en-US" sz="2000" u="none" cap="none" strike="noStrike">
                <a:solidFill>
                  <a:schemeClr val="dk1"/>
                </a:solidFill>
                <a:latin typeface="Calibri"/>
                <a:ea typeface="Calibri"/>
                <a:cs typeface="Calibri"/>
                <a:sym typeface="Calibri"/>
              </a:rPr>
              <a:t>.insert(</a:t>
            </a:r>
            <a:r>
              <a:rPr b="1" i="0" lang="en-US" sz="2000" u="none" cap="none" strike="noStrike">
                <a:solidFill>
                  <a:srgbClr val="FF0000"/>
                </a:solidFill>
                <a:latin typeface="Calibri"/>
                <a:ea typeface="Calibri"/>
                <a:cs typeface="Calibri"/>
                <a:sym typeface="Calibri"/>
              </a:rPr>
              <a:t>&lt;posicion&gt;</a:t>
            </a:r>
            <a:r>
              <a:rPr b="1" i="0" lang="en-US" sz="2000" u="none" cap="none" strike="noStrike">
                <a:solidFill>
                  <a:schemeClr val="dk1"/>
                </a:solidFill>
                <a:latin typeface="Calibri"/>
                <a:ea typeface="Calibri"/>
                <a:cs typeface="Calibri"/>
                <a:sym typeface="Calibri"/>
              </a:rPr>
              <a:t>,</a:t>
            </a:r>
            <a:r>
              <a:rPr b="1" i="0" lang="en-US" sz="2000" u="none" cap="none" strike="noStrike">
                <a:solidFill>
                  <a:srgbClr val="FF0000"/>
                </a:solidFill>
                <a:latin typeface="Calibri"/>
                <a:ea typeface="Calibri"/>
                <a:cs typeface="Calibri"/>
                <a:sym typeface="Calibri"/>
              </a:rPr>
              <a:t>&lt;element&gt;</a:t>
            </a:r>
            <a:r>
              <a:rPr b="1" i="0" lang="en-US" sz="2000" u="none" cap="none" strike="noStrike">
                <a:solidFill>
                  <a:schemeClr val="dk1"/>
                </a:solidFill>
                <a:latin typeface="Calibri"/>
                <a:ea typeface="Calibri"/>
                <a:cs typeface="Calibri"/>
                <a:sym typeface="Calibri"/>
              </a:rPr>
              <a:t>): </a:t>
            </a:r>
            <a:r>
              <a:rPr b="0" i="0" lang="en-US" sz="2000" u="none" cap="none" strike="noStrike">
                <a:solidFill>
                  <a:schemeClr val="dk1"/>
                </a:solidFill>
                <a:latin typeface="Calibri"/>
                <a:ea typeface="Calibri"/>
                <a:cs typeface="Calibri"/>
                <a:sym typeface="Calibri"/>
              </a:rPr>
              <a:t>Agrega el elemento en la posición indicada.</a:t>
            </a:r>
            <a:endParaRPr b="0" i="0" sz="2000" u="none" cap="none" strike="noStrike">
              <a:solidFill>
                <a:schemeClr val="dk1"/>
              </a:solidFill>
              <a:latin typeface="Calibri"/>
              <a:ea typeface="Calibri"/>
              <a:cs typeface="Calibri"/>
              <a:sym typeface="Calibri"/>
            </a:endParaRPr>
          </a:p>
          <a:p>
            <a:pPr indent="-355600" lvl="0" marL="457200" marR="0" rtl="0" algn="l">
              <a:lnSpc>
                <a:spcPct val="100000"/>
              </a:lnSpc>
              <a:spcBef>
                <a:spcPts val="0"/>
              </a:spcBef>
              <a:spcAft>
                <a:spcPts val="0"/>
              </a:spcAft>
              <a:buClr>
                <a:schemeClr val="dk1"/>
              </a:buClr>
              <a:buSzPts val="2000"/>
              <a:buFont typeface="Calibri"/>
              <a:buChar char="●"/>
            </a:pPr>
            <a:r>
              <a:rPr b="1" i="0" lang="en-US" sz="2000" u="none" cap="none" strike="noStrike">
                <a:solidFill>
                  <a:srgbClr val="00FF00"/>
                </a:solidFill>
                <a:latin typeface="Calibri"/>
                <a:ea typeface="Calibri"/>
                <a:cs typeface="Calibri"/>
                <a:sym typeface="Calibri"/>
              </a:rPr>
              <a:t>&lt;lista&gt;</a:t>
            </a:r>
            <a:r>
              <a:rPr b="1" i="0" lang="en-US" sz="2000" u="none" cap="none" strike="noStrike">
                <a:solidFill>
                  <a:schemeClr val="dk1"/>
                </a:solidFill>
                <a:latin typeface="Calibri"/>
                <a:ea typeface="Calibri"/>
                <a:cs typeface="Calibri"/>
                <a:sym typeface="Calibri"/>
              </a:rPr>
              <a:t>.pop(): </a:t>
            </a:r>
            <a:r>
              <a:rPr b="0" i="0" lang="en-US" sz="2000" u="none" cap="none" strike="noStrike">
                <a:solidFill>
                  <a:schemeClr val="dk1"/>
                </a:solidFill>
                <a:latin typeface="Calibri"/>
                <a:ea typeface="Calibri"/>
                <a:cs typeface="Calibri"/>
                <a:sym typeface="Calibri"/>
              </a:rPr>
              <a:t>Devuelve (y a la vez elimina de la lista) el elemento de la última posición de la misma.</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sp>
        <p:nvSpPr>
          <p:cNvPr id="273" name="Google Shape;273;p29"/>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4" name="Google Shape;274;p29"/>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275" name="Google Shape;275;p29"/>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276" name="Google Shape;276;p29"/>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7" name="Google Shape;277;p29"/>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78" name="Google Shape;278;p29"/>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79" name="Google Shape;279;p29"/>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Operaciones. Ejemplo</a:t>
            </a:r>
            <a:endParaRPr b="0" i="0" sz="1400" u="none" cap="none" strike="noStrike">
              <a:solidFill>
                <a:srgbClr val="000000"/>
              </a:solidFill>
              <a:latin typeface="Arial"/>
              <a:ea typeface="Arial"/>
              <a:cs typeface="Arial"/>
              <a:sym typeface="Arial"/>
            </a:endParaRPr>
          </a:p>
        </p:txBody>
      </p:sp>
      <p:sp>
        <p:nvSpPr>
          <p:cNvPr id="280" name="Google Shape;280;p29"/>
          <p:cNvSpPr txBox="1"/>
          <p:nvPr/>
        </p:nvSpPr>
        <p:spPr>
          <a:xfrm>
            <a:off x="101150" y="1584400"/>
            <a:ext cx="88293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Calibri"/>
              <a:ea typeface="Calibri"/>
              <a:cs typeface="Calibri"/>
              <a:sym typeface="Calibri"/>
            </a:endParaRPr>
          </a:p>
        </p:txBody>
      </p:sp>
      <p:pic>
        <p:nvPicPr>
          <p:cNvPr id="281" name="Google Shape;281;p29"/>
          <p:cNvPicPr preferRelativeResize="0"/>
          <p:nvPr/>
        </p:nvPicPr>
        <p:blipFill rotWithShape="1">
          <a:blip r:embed="rId4">
            <a:alphaModFix/>
          </a:blip>
          <a:srcRect b="0" l="0" r="0" t="0"/>
          <a:stretch/>
        </p:blipFill>
        <p:spPr>
          <a:xfrm>
            <a:off x="578500" y="1584400"/>
            <a:ext cx="7312101" cy="2421850"/>
          </a:xfrm>
          <a:prstGeom prst="rect">
            <a:avLst/>
          </a:prstGeom>
          <a:noFill/>
          <a:ln>
            <a:noFill/>
          </a:ln>
        </p:spPr>
      </p:pic>
      <p:sp>
        <p:nvSpPr>
          <p:cNvPr id="282" name="Google Shape;282;p29"/>
          <p:cNvSpPr txBox="1"/>
          <p:nvPr/>
        </p:nvSpPr>
        <p:spPr>
          <a:xfrm>
            <a:off x="254000" y="4380500"/>
            <a:ext cx="88293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sng" cap="none" strike="noStrike">
                <a:solidFill>
                  <a:srgbClr val="FF0000"/>
                </a:solidFill>
                <a:latin typeface="Calibri"/>
                <a:ea typeface="Calibri"/>
                <a:cs typeface="Calibri"/>
                <a:sym typeface="Calibri"/>
              </a:rPr>
              <a:t>Muy importante</a:t>
            </a:r>
            <a:r>
              <a:rPr b="1" i="0" lang="en-US" sz="2000" u="none" cap="none" strike="noStrike">
                <a:solidFill>
                  <a:srgbClr val="2D2D2D"/>
                </a:solidFill>
                <a:latin typeface="Calibri"/>
                <a:ea typeface="Calibri"/>
                <a:cs typeface="Calibri"/>
                <a:sym typeface="Calibri"/>
              </a:rPr>
              <a:t>: qué sucede en la asignación de last_2 y j?</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Donde se inserta el 8 al usar insert?</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30"/>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8" name="Google Shape;288;p30"/>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289" name="Google Shape;289;p30"/>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290" name="Google Shape;290;p30"/>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1" name="Google Shape;291;p30"/>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92" name="Google Shape;292;p30"/>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293" name="Google Shape;293;p30"/>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Indexación</a:t>
            </a:r>
            <a:endParaRPr b="0" i="0" sz="1400" u="none" cap="none" strike="noStrike">
              <a:solidFill>
                <a:srgbClr val="000000"/>
              </a:solidFill>
              <a:latin typeface="Arial"/>
              <a:ea typeface="Arial"/>
              <a:cs typeface="Arial"/>
              <a:sym typeface="Arial"/>
            </a:endParaRPr>
          </a:p>
        </p:txBody>
      </p:sp>
      <p:sp>
        <p:nvSpPr>
          <p:cNvPr id="294" name="Google Shape;294;p30"/>
          <p:cNvSpPr txBox="1"/>
          <p:nvPr/>
        </p:nvSpPr>
        <p:spPr>
          <a:xfrm>
            <a:off x="101150" y="1584400"/>
            <a:ext cx="8829300" cy="2770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Como dijimos antes, una de las características de las listas es que sus elementos están ordenados en una secuencia.</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Llamamos índice al lugar puntual de la lista donde ese elemento se encuentra.</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Para referirnos a un elemento particular de una lista, la nomenclatura es </a:t>
            </a:r>
            <a:r>
              <a:rPr b="1" i="0" lang="en-US" sz="2000" u="none" cap="none" strike="noStrike">
                <a:solidFill>
                  <a:srgbClr val="00FF00"/>
                </a:solidFill>
                <a:latin typeface="Calibri"/>
                <a:ea typeface="Calibri"/>
                <a:cs typeface="Calibri"/>
                <a:sym typeface="Calibri"/>
              </a:rPr>
              <a:t>lista</a:t>
            </a:r>
            <a:r>
              <a:rPr b="1" i="0" lang="en-US" sz="2000" u="none" cap="none" strike="noStrike">
                <a:solidFill>
                  <a:srgbClr val="2D2D2D"/>
                </a:solidFill>
                <a:latin typeface="Calibri"/>
                <a:ea typeface="Calibri"/>
                <a:cs typeface="Calibri"/>
                <a:sym typeface="Calibri"/>
              </a:rPr>
              <a:t>[</a:t>
            </a:r>
            <a:r>
              <a:rPr b="1" i="0" lang="en-US" sz="2000" u="none" cap="none" strike="noStrike">
                <a:solidFill>
                  <a:srgbClr val="FF0000"/>
                </a:solidFill>
                <a:latin typeface="Calibri"/>
                <a:ea typeface="Calibri"/>
                <a:cs typeface="Calibri"/>
                <a:sym typeface="Calibri"/>
              </a:rPr>
              <a:t>indice</a:t>
            </a:r>
            <a:r>
              <a:rPr b="1" i="0" lang="en-US" sz="2000" u="none" cap="none" strike="noStrike">
                <a:solidFill>
                  <a:srgbClr val="2D2D2D"/>
                </a:solidFill>
                <a:latin typeface="Calibri"/>
                <a:ea typeface="Calibri"/>
                <a:cs typeface="Calibri"/>
                <a:sym typeface="Calibri"/>
              </a:rPr>
              <a:t>]</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Esto nos puede servir para seleccionar un elemento, para redefinirlo o para borrarlo</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8" name="Shape 298"/>
        <p:cNvGrpSpPr/>
        <p:nvPr/>
      </p:nvGrpSpPr>
      <p:grpSpPr>
        <a:xfrm>
          <a:off x="0" y="0"/>
          <a:ext cx="0" cy="0"/>
          <a:chOff x="0" y="0"/>
          <a:chExt cx="0" cy="0"/>
        </a:xfrm>
      </p:grpSpPr>
      <p:sp>
        <p:nvSpPr>
          <p:cNvPr id="299" name="Google Shape;299;p31"/>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0" name="Google Shape;300;p31"/>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01" name="Google Shape;301;p31"/>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02" name="Google Shape;302;p31"/>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3" name="Google Shape;303;p31"/>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04" name="Google Shape;304;p31"/>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05" name="Google Shape;305;p31"/>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Indexación. Ejemplo</a:t>
            </a:r>
            <a:endParaRPr b="0" i="0" sz="1400" u="none" cap="none" strike="noStrike">
              <a:solidFill>
                <a:srgbClr val="000000"/>
              </a:solidFill>
              <a:latin typeface="Arial"/>
              <a:ea typeface="Arial"/>
              <a:cs typeface="Arial"/>
              <a:sym typeface="Arial"/>
            </a:endParaRPr>
          </a:p>
        </p:txBody>
      </p:sp>
      <p:sp>
        <p:nvSpPr>
          <p:cNvPr id="306" name="Google Shape;306;p31"/>
          <p:cNvSpPr txBox="1"/>
          <p:nvPr/>
        </p:nvSpPr>
        <p:spPr>
          <a:xfrm>
            <a:off x="101150" y="1584400"/>
            <a:ext cx="88293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Sigamos con el ejemplo anterior</a:t>
            </a:r>
            <a:endParaRPr b="1" i="0" sz="2000" u="none" cap="none" strike="noStrike">
              <a:solidFill>
                <a:srgbClr val="2D2D2D"/>
              </a:solidFill>
              <a:latin typeface="Calibri"/>
              <a:ea typeface="Calibri"/>
              <a:cs typeface="Calibri"/>
              <a:sym typeface="Calibri"/>
            </a:endParaRPr>
          </a:p>
        </p:txBody>
      </p:sp>
      <p:pic>
        <p:nvPicPr>
          <p:cNvPr id="307" name="Google Shape;307;p31"/>
          <p:cNvPicPr preferRelativeResize="0"/>
          <p:nvPr/>
        </p:nvPicPr>
        <p:blipFill rotWithShape="1">
          <a:blip r:embed="rId4">
            <a:alphaModFix/>
          </a:blip>
          <a:srcRect b="0" l="0" r="0" t="0"/>
          <a:stretch/>
        </p:blipFill>
        <p:spPr>
          <a:xfrm>
            <a:off x="619975" y="2249175"/>
            <a:ext cx="6272250" cy="19299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32"/>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3" name="Google Shape;313;p32"/>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14" name="Google Shape;314;p32"/>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15" name="Google Shape;315;p32"/>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p32"/>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17" name="Google Shape;317;p32"/>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18" name="Google Shape;318;p32"/>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Indexación. Aclaraciones</a:t>
            </a:r>
            <a:endParaRPr b="0" i="0" sz="1400" u="none" cap="none" strike="noStrike">
              <a:solidFill>
                <a:srgbClr val="000000"/>
              </a:solidFill>
              <a:latin typeface="Arial"/>
              <a:ea typeface="Arial"/>
              <a:cs typeface="Arial"/>
              <a:sym typeface="Arial"/>
            </a:endParaRPr>
          </a:p>
        </p:txBody>
      </p:sp>
      <p:sp>
        <p:nvSpPr>
          <p:cNvPr id="319" name="Google Shape;319;p32"/>
          <p:cNvSpPr txBox="1"/>
          <p:nvPr/>
        </p:nvSpPr>
        <p:spPr>
          <a:xfrm>
            <a:off x="101150" y="1584400"/>
            <a:ext cx="8829300" cy="2154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Como ya notamos en los ejemplos anteriores, en la notación de Python, </a:t>
            </a:r>
            <a:r>
              <a:rPr b="1" i="0" lang="en-US" sz="2000" u="none" cap="none" strike="noStrike">
                <a:solidFill>
                  <a:srgbClr val="FF0000"/>
                </a:solidFill>
                <a:latin typeface="Calibri"/>
                <a:ea typeface="Calibri"/>
                <a:cs typeface="Calibri"/>
                <a:sym typeface="Calibri"/>
              </a:rPr>
              <a:t>el primer número es el 0</a:t>
            </a:r>
            <a:r>
              <a:rPr b="1" i="0" lang="en-US" sz="2000" u="none" cap="none" strike="noStrike">
                <a:solidFill>
                  <a:srgbClr val="2D2D2D"/>
                </a:solidFill>
                <a:latin typeface="Calibri"/>
                <a:ea typeface="Calibri"/>
                <a:cs typeface="Calibri"/>
                <a:sym typeface="Calibri"/>
              </a:rPr>
              <a:t>. Esto aplica a todas las estructuras de datos que veremos en la materia que puedan ser indexadas.</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Cuando pretendemos acceder de alguna manera a un elemento que no existe (pretendemos seleccionar el elemento 10 de un a lista de 6 elementos) tendremos el error </a:t>
            </a:r>
            <a:r>
              <a:rPr b="1" i="0" lang="en-US" sz="2000" u="none" cap="none" strike="noStrike">
                <a:solidFill>
                  <a:srgbClr val="FF0000"/>
                </a:solidFill>
                <a:latin typeface="Calibri"/>
                <a:ea typeface="Calibri"/>
                <a:cs typeface="Calibri"/>
                <a:sym typeface="Calibri"/>
              </a:rPr>
              <a:t>index out of range</a:t>
            </a:r>
            <a:endParaRPr b="1" i="0" sz="2000" u="none" cap="none" strike="noStrike">
              <a:solidFill>
                <a:srgbClr val="FF0000"/>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3"/>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5" name="Google Shape;325;p33"/>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26" name="Google Shape;326;p33"/>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27" name="Google Shape;327;p33"/>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8" name="Google Shape;328;p33"/>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29" name="Google Shape;329;p33"/>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30" name="Google Shape;330;p33"/>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Ejercicio FUNDAMENTAL</a:t>
            </a:r>
            <a:endParaRPr b="0" i="0" sz="1400" u="none" cap="none" strike="noStrike">
              <a:solidFill>
                <a:srgbClr val="000000"/>
              </a:solidFill>
              <a:latin typeface="Arial"/>
              <a:ea typeface="Arial"/>
              <a:cs typeface="Arial"/>
              <a:sym typeface="Arial"/>
            </a:endParaRPr>
          </a:p>
        </p:txBody>
      </p:sp>
      <p:sp>
        <p:nvSpPr>
          <p:cNvPr id="331" name="Google Shape;331;p33"/>
          <p:cNvSpPr txBox="1"/>
          <p:nvPr/>
        </p:nvSpPr>
        <p:spPr>
          <a:xfrm>
            <a:off x="101150" y="1584400"/>
            <a:ext cx="8829300" cy="2154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Dada la lista:</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lista_ej = [32,45,665,75,75,788,75,32]</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Generar un script que realice la sumatoria de los elementos de esta lista mediante iteración.</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4"/>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7" name="Google Shape;337;p34"/>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38" name="Google Shape;338;p34"/>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39" name="Google Shape;339;p34"/>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0" name="Google Shape;340;p34"/>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41" name="Google Shape;341;p34"/>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42" name="Google Shape;342;p34"/>
          <p:cNvSpPr txBox="1"/>
          <p:nvPr/>
        </p:nvSpPr>
        <p:spPr>
          <a:xfrm>
            <a:off x="371975" y="929775"/>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Ejercicio complementario</a:t>
            </a:r>
            <a:endParaRPr b="0" i="0" sz="1400" u="none" cap="none" strike="noStrike">
              <a:solidFill>
                <a:srgbClr val="000000"/>
              </a:solidFill>
              <a:latin typeface="Arial"/>
              <a:ea typeface="Arial"/>
              <a:cs typeface="Arial"/>
              <a:sym typeface="Arial"/>
            </a:endParaRPr>
          </a:p>
        </p:txBody>
      </p:sp>
      <p:sp>
        <p:nvSpPr>
          <p:cNvPr id="343" name="Google Shape;343;p34"/>
          <p:cNvSpPr txBox="1"/>
          <p:nvPr/>
        </p:nvSpPr>
        <p:spPr>
          <a:xfrm>
            <a:off x="101150" y="1584400"/>
            <a:ext cx="8829300" cy="153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Utilizando nuevamente los conceptos de indexación e iteración, crear una function que nos diga si la siguiente lista está ordenada de mayor a menor:</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lista=[7231,3232,321,33,2]</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35"/>
          <p:cNvSpPr txBox="1"/>
          <p:nvPr/>
        </p:nvSpPr>
        <p:spPr>
          <a:xfrm>
            <a:off x="2240677" y="3207675"/>
            <a:ext cx="5964300" cy="361500"/>
          </a:xfrm>
          <a:prstGeom prst="rect">
            <a:avLst/>
          </a:prstGeom>
          <a:noFill/>
          <a:ln>
            <a:noFill/>
          </a:ln>
        </p:spPr>
        <p:txBody>
          <a:bodyPr anchorCtr="0" anchor="t" bIns="0" lIns="0" spcFirstLastPara="1" rIns="0" wrap="square" tIns="22650">
            <a:spAutoFit/>
          </a:bodyPr>
          <a:lstStyle/>
          <a:p>
            <a:pPr indent="0" lvl="0" marL="25400" marR="0" rtl="0" algn="l">
              <a:lnSpc>
                <a:spcPct val="100000"/>
              </a:lnSpc>
              <a:spcBef>
                <a:spcPts val="0"/>
              </a:spcBef>
              <a:spcAft>
                <a:spcPts val="0"/>
              </a:spcAft>
              <a:buClr>
                <a:srgbClr val="000000"/>
              </a:buClr>
              <a:buSzPts val="2200"/>
              <a:buFont typeface="Arial"/>
              <a:buNone/>
            </a:pPr>
            <a:r>
              <a:rPr lang="en-US" sz="2200" cap="small">
                <a:solidFill>
                  <a:srgbClr val="F4F2ED"/>
                </a:solidFill>
                <a:latin typeface="Tahoma"/>
                <a:ea typeface="Tahoma"/>
                <a:cs typeface="Tahoma"/>
                <a:sym typeface="Tahoma"/>
              </a:rPr>
              <a:t>ALIASING: VALORS, OBJETOS Y REFERENCIAS</a:t>
            </a:r>
            <a:endParaRPr b="0" i="0" sz="2200" u="none" cap="none" strike="noStrike">
              <a:solidFill>
                <a:srgbClr val="000000"/>
              </a:solidFill>
              <a:latin typeface="Tahoma"/>
              <a:ea typeface="Tahoma"/>
              <a:cs typeface="Tahoma"/>
              <a:sym typeface="Tahoma"/>
            </a:endParaRPr>
          </a:p>
        </p:txBody>
      </p:sp>
      <p:grpSp>
        <p:nvGrpSpPr>
          <p:cNvPr id="349" name="Google Shape;349;p35"/>
          <p:cNvGrpSpPr/>
          <p:nvPr/>
        </p:nvGrpSpPr>
        <p:grpSpPr>
          <a:xfrm>
            <a:off x="2260855" y="3600041"/>
            <a:ext cx="4642600" cy="50335"/>
            <a:chOff x="1133919" y="1518500"/>
            <a:chExt cx="2340610" cy="25400"/>
          </a:xfrm>
        </p:grpSpPr>
        <p:sp>
          <p:nvSpPr>
            <p:cNvPr id="350" name="Google Shape;350;p35"/>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solidFill>
              <a:srgbClr val="F4F2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51" name="Google Shape;351;p35"/>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noFill/>
            <a:ln cap="flat" cmpd="sng" w="18875">
              <a:solidFill>
                <a:srgbClr val="F4F2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52" name="Google Shape;352;p35"/>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006DB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353" name="Google Shape;353;p35"/>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FFD966"/>
            </a:solidFill>
            <a:ln cap="flat" cmpd="sng" w="18875">
              <a:solidFill>
                <a:srgbClr val="F1C23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grpSp>
    </p:spTree>
  </p:cSld>
  <p:clrMapOvr>
    <a:masterClrMapping/>
  </p:clrMapOvr>
  <p:transition>
    <p:fade thruBlk="1"/>
  </p:transition>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6"/>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9" name="Google Shape;359;p36"/>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60" name="Google Shape;360;p36"/>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61" name="Google Shape;361;p36"/>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2" name="Google Shape;362;p36"/>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63" name="Google Shape;363;p36"/>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64" name="Google Shape;364;p36"/>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Valores y objetos</a:t>
            </a:r>
            <a:endParaRPr b="0" i="0" sz="1400" u="none" cap="none" strike="noStrike">
              <a:solidFill>
                <a:srgbClr val="000000"/>
              </a:solidFill>
              <a:latin typeface="Arial"/>
              <a:ea typeface="Arial"/>
              <a:cs typeface="Arial"/>
              <a:sym typeface="Arial"/>
            </a:endParaRPr>
          </a:p>
        </p:txBody>
      </p:sp>
      <p:sp>
        <p:nvSpPr>
          <p:cNvPr id="365" name="Google Shape;365;p36"/>
          <p:cNvSpPr txBox="1"/>
          <p:nvPr/>
        </p:nvSpPr>
        <p:spPr>
          <a:xfrm>
            <a:off x="101150" y="1584400"/>
            <a:ext cx="8829300" cy="4002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Hasta ahora venimos manejando los conceptos de </a:t>
            </a:r>
            <a:r>
              <a:rPr b="1" i="0" lang="en-US" sz="2000" u="sng" cap="none" strike="noStrike">
                <a:solidFill>
                  <a:srgbClr val="FF0000"/>
                </a:solidFill>
                <a:latin typeface="Calibri"/>
                <a:ea typeface="Calibri"/>
                <a:cs typeface="Calibri"/>
                <a:sym typeface="Calibri"/>
              </a:rPr>
              <a:t>valor</a:t>
            </a:r>
            <a:r>
              <a:rPr b="1" i="0" lang="en-US" sz="2000" u="none" cap="none" strike="noStrike">
                <a:solidFill>
                  <a:srgbClr val="FF0000"/>
                </a:solidFill>
                <a:latin typeface="Calibri"/>
                <a:ea typeface="Calibri"/>
                <a:cs typeface="Calibri"/>
                <a:sym typeface="Calibri"/>
              </a:rPr>
              <a:t>  </a:t>
            </a:r>
            <a:r>
              <a:rPr b="1" i="0" lang="en-US" sz="2000" u="none" cap="none" strike="noStrike">
                <a:solidFill>
                  <a:srgbClr val="2D2D2D"/>
                </a:solidFill>
                <a:latin typeface="Calibri"/>
                <a:ea typeface="Calibri"/>
                <a:cs typeface="Calibri"/>
                <a:sym typeface="Calibri"/>
              </a:rPr>
              <a:t>y  </a:t>
            </a:r>
            <a:r>
              <a:rPr b="1" i="0" lang="en-US" sz="2000" u="sng" cap="none" strike="noStrike">
                <a:solidFill>
                  <a:srgbClr val="FF0000"/>
                </a:solidFill>
                <a:latin typeface="Calibri"/>
                <a:ea typeface="Calibri"/>
                <a:cs typeface="Calibri"/>
                <a:sym typeface="Calibri"/>
              </a:rPr>
              <a:t>objeto </a:t>
            </a:r>
            <a:r>
              <a:rPr b="1" i="0" lang="en-US" sz="2000" u="none" cap="none" strike="noStrike">
                <a:solidFill>
                  <a:srgbClr val="000000"/>
                </a:solidFill>
                <a:latin typeface="Calibri"/>
                <a:ea typeface="Calibri"/>
                <a:cs typeface="Calibri"/>
                <a:sym typeface="Calibri"/>
              </a:rPr>
              <a:t> como si fueran lo mismo</a:t>
            </a:r>
            <a:r>
              <a:rPr b="1" i="0" lang="en-US" sz="2000" u="none" cap="none" strike="noStrike">
                <a:solidFill>
                  <a:srgbClr val="2D2D2D"/>
                </a:solidFill>
                <a:latin typeface="Calibri"/>
                <a:ea typeface="Calibri"/>
                <a:cs typeface="Calibri"/>
                <a:sym typeface="Calibri"/>
              </a:rPr>
              <a:t>. No lo son (precisamente)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Decimos que un </a:t>
            </a:r>
            <a:r>
              <a:rPr b="1" i="0" lang="en-US" sz="2000" u="sng" cap="none" strike="noStrike">
                <a:solidFill>
                  <a:srgbClr val="2D2D2D"/>
                </a:solidFill>
                <a:latin typeface="Calibri"/>
                <a:ea typeface="Calibri"/>
                <a:cs typeface="Calibri"/>
                <a:sym typeface="Calibri"/>
              </a:rPr>
              <a:t>objeto</a:t>
            </a:r>
            <a:r>
              <a:rPr b="1" i="0" lang="en-US" sz="2000" u="none" cap="none" strike="noStrike">
                <a:solidFill>
                  <a:srgbClr val="2D2D2D"/>
                </a:solidFill>
                <a:latin typeface="Calibri"/>
                <a:ea typeface="Calibri"/>
                <a:cs typeface="Calibri"/>
                <a:sym typeface="Calibri"/>
              </a:rPr>
              <a:t> es básicamente una secuencia de bits que ocupan lugar en memoria y que pueden ser utilizados por python.</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El valor es la expresión de ese objeto, la cual se guarda localmente.</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Qué consecuencia tiene esta diferencia tan sutil?</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sng" cap="none" strike="noStrike">
                <a:solidFill>
                  <a:srgbClr val="FF0000"/>
                </a:solidFill>
                <a:latin typeface="Calibri"/>
                <a:ea typeface="Calibri"/>
                <a:cs typeface="Calibri"/>
                <a:sym typeface="Calibri"/>
              </a:rPr>
              <a:t>QUE UN MISMO OBJETO PUEDE SER REPRESENTADO POR 2 VALORES</a:t>
            </a:r>
            <a:r>
              <a:rPr b="1" i="0" lang="en-US" sz="2000" u="none" cap="none" strike="noStrike">
                <a:solidFill>
                  <a:srgbClr val="2D2D2D"/>
                </a:solidFill>
                <a:latin typeface="Calibri"/>
                <a:ea typeface="Calibri"/>
                <a:cs typeface="Calibri"/>
                <a:sym typeface="Calibri"/>
              </a:rPr>
              <a:t>. Y ahí pueden generarse confusiones.</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9" name="Shape 369"/>
        <p:cNvGrpSpPr/>
        <p:nvPr/>
      </p:nvGrpSpPr>
      <p:grpSpPr>
        <a:xfrm>
          <a:off x="0" y="0"/>
          <a:ext cx="0" cy="0"/>
          <a:chOff x="0" y="0"/>
          <a:chExt cx="0" cy="0"/>
        </a:xfrm>
      </p:grpSpPr>
      <p:sp>
        <p:nvSpPr>
          <p:cNvPr id="370" name="Google Shape;370;p37"/>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1" name="Google Shape;371;p37"/>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72" name="Google Shape;372;p37"/>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73" name="Google Shape;373;p37"/>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4" name="Google Shape;374;p37"/>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75" name="Google Shape;375;p37"/>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76" name="Google Shape;376;p37"/>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Aliasing</a:t>
            </a:r>
            <a:endParaRPr b="0" i="0" sz="1400" u="none" cap="none" strike="noStrike">
              <a:solidFill>
                <a:srgbClr val="000000"/>
              </a:solidFill>
              <a:latin typeface="Arial"/>
              <a:ea typeface="Arial"/>
              <a:cs typeface="Arial"/>
              <a:sym typeface="Arial"/>
            </a:endParaRPr>
          </a:p>
        </p:txBody>
      </p:sp>
      <p:sp>
        <p:nvSpPr>
          <p:cNvPr id="377" name="Google Shape;377;p37"/>
          <p:cNvSpPr txBox="1"/>
          <p:nvPr/>
        </p:nvSpPr>
        <p:spPr>
          <a:xfrm>
            <a:off x="101150" y="1584400"/>
            <a:ext cx="88293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Cuando hablamos de objetos y tipos de datos simples, objeto y valor son efectivamente sinónimos.</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pic>
        <p:nvPicPr>
          <p:cNvPr id="378" name="Google Shape;378;p37"/>
          <p:cNvPicPr preferRelativeResize="0"/>
          <p:nvPr/>
        </p:nvPicPr>
        <p:blipFill rotWithShape="1">
          <a:blip r:embed="rId4">
            <a:alphaModFix/>
          </a:blip>
          <a:srcRect b="0" l="0" r="0" t="0"/>
          <a:stretch/>
        </p:blipFill>
        <p:spPr>
          <a:xfrm>
            <a:off x="152400" y="2660200"/>
            <a:ext cx="1951750" cy="2085200"/>
          </a:xfrm>
          <a:prstGeom prst="rect">
            <a:avLst/>
          </a:prstGeom>
          <a:noFill/>
          <a:ln>
            <a:noFill/>
          </a:ln>
        </p:spPr>
      </p:pic>
      <p:sp>
        <p:nvSpPr>
          <p:cNvPr id="379" name="Google Shape;379;p37"/>
          <p:cNvSpPr txBox="1"/>
          <p:nvPr/>
        </p:nvSpPr>
        <p:spPr>
          <a:xfrm>
            <a:off x="2328475" y="3011750"/>
            <a:ext cx="6214800" cy="15393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a y b son 2 variables diferentes. Tienen el mismo valor pero son objetos diferentes</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A pesar de decir a=b, a y b siguen siendo 2 objetos diferenciados. Cada uno ocupa su lugar en memoria</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38"/>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5" name="Google Shape;385;p38"/>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86" name="Google Shape;386;p38"/>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387" name="Google Shape;387;p38"/>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8" name="Google Shape;388;p38"/>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89" name="Google Shape;389;p38"/>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390" name="Google Shape;390;p38"/>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Aliasing</a:t>
            </a:r>
            <a:endParaRPr b="0" i="0" sz="1400" u="none" cap="none" strike="noStrike">
              <a:solidFill>
                <a:srgbClr val="000000"/>
              </a:solidFill>
              <a:latin typeface="Arial"/>
              <a:ea typeface="Arial"/>
              <a:cs typeface="Arial"/>
              <a:sym typeface="Arial"/>
            </a:endParaRPr>
          </a:p>
        </p:txBody>
      </p:sp>
      <p:pic>
        <p:nvPicPr>
          <p:cNvPr id="391" name="Google Shape;391;p38"/>
          <p:cNvPicPr preferRelativeResize="0"/>
          <p:nvPr/>
        </p:nvPicPr>
        <p:blipFill rotWithShape="1">
          <a:blip r:embed="rId4">
            <a:alphaModFix/>
          </a:blip>
          <a:srcRect b="0" l="0" r="0" t="0"/>
          <a:stretch/>
        </p:blipFill>
        <p:spPr>
          <a:xfrm>
            <a:off x="1107050" y="1341400"/>
            <a:ext cx="5715000" cy="3291052"/>
          </a:xfrm>
          <a:prstGeom prst="rect">
            <a:avLst/>
          </a:prstGeom>
          <a:noFill/>
          <a:ln>
            <a:noFill/>
          </a:ln>
        </p:spPr>
      </p:pic>
      <p:sp>
        <p:nvSpPr>
          <p:cNvPr id="392" name="Google Shape;392;p38"/>
          <p:cNvSpPr txBox="1"/>
          <p:nvPr/>
        </p:nvSpPr>
        <p:spPr>
          <a:xfrm>
            <a:off x="1402850" y="4877025"/>
            <a:ext cx="5123400" cy="615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Pensemos estas preguntas por unos instantes</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6" name="Shape 396"/>
        <p:cNvGrpSpPr/>
        <p:nvPr/>
      </p:nvGrpSpPr>
      <p:grpSpPr>
        <a:xfrm>
          <a:off x="0" y="0"/>
          <a:ext cx="0" cy="0"/>
          <a:chOff x="0" y="0"/>
          <a:chExt cx="0" cy="0"/>
        </a:xfrm>
      </p:grpSpPr>
      <p:sp>
        <p:nvSpPr>
          <p:cNvPr id="397" name="Google Shape;397;p39"/>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8" name="Google Shape;398;p39"/>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399" name="Google Shape;399;p39"/>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400" name="Google Shape;400;p39"/>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1" name="Google Shape;401;p39"/>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02" name="Google Shape;402;p39"/>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03" name="Google Shape;403;p39"/>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Aliasing</a:t>
            </a:r>
            <a:endParaRPr b="0" i="0" sz="1400" u="none" cap="none" strike="noStrike">
              <a:solidFill>
                <a:srgbClr val="000000"/>
              </a:solidFill>
              <a:latin typeface="Arial"/>
              <a:ea typeface="Arial"/>
              <a:cs typeface="Arial"/>
              <a:sym typeface="Arial"/>
            </a:endParaRPr>
          </a:p>
        </p:txBody>
      </p:sp>
      <p:pic>
        <p:nvPicPr>
          <p:cNvPr id="404" name="Google Shape;404;p39"/>
          <p:cNvPicPr preferRelativeResize="0"/>
          <p:nvPr/>
        </p:nvPicPr>
        <p:blipFill rotWithShape="1">
          <a:blip r:embed="rId4">
            <a:alphaModFix/>
          </a:blip>
          <a:srcRect b="0" l="0" r="0" t="0"/>
          <a:stretch/>
        </p:blipFill>
        <p:spPr>
          <a:xfrm>
            <a:off x="2321725" y="1341398"/>
            <a:ext cx="4067750" cy="2342450"/>
          </a:xfrm>
          <a:prstGeom prst="rect">
            <a:avLst/>
          </a:prstGeom>
          <a:noFill/>
          <a:ln>
            <a:noFill/>
          </a:ln>
        </p:spPr>
      </p:pic>
      <p:sp>
        <p:nvSpPr>
          <p:cNvPr id="405" name="Google Shape;405;p39"/>
          <p:cNvSpPr txBox="1"/>
          <p:nvPr/>
        </p:nvSpPr>
        <p:spPr>
          <a:xfrm>
            <a:off x="180450" y="3753825"/>
            <a:ext cx="8783100" cy="24627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Al principio está todo bien. lista_1 y lista_2 son 2 objetos creados independientes el uno del otro.</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Al variar uno, el otro no varía.</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Luego, usamos el operador asignación (=) y eso generó aliasing.</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lista_2=lista_1 quiere decir: tanto lista_1 como lista_2 apuntan al mismo objeto.</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Entonces, al modificar lista_2, lista_1 también se ve afectada.</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sp>
        <p:nvSpPr>
          <p:cNvPr id="410" name="Google Shape;410;p40"/>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1" name="Google Shape;411;p40"/>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412" name="Google Shape;412;p40"/>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413" name="Google Shape;413;p40"/>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4" name="Google Shape;414;p40"/>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15" name="Google Shape;415;p40"/>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16" name="Google Shape;416;p40"/>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Aliasing</a:t>
            </a:r>
            <a:endParaRPr b="0" i="0" sz="1400" u="none" cap="none" strike="noStrike">
              <a:solidFill>
                <a:srgbClr val="000000"/>
              </a:solidFill>
              <a:latin typeface="Arial"/>
              <a:ea typeface="Arial"/>
              <a:cs typeface="Arial"/>
              <a:sym typeface="Arial"/>
            </a:endParaRPr>
          </a:p>
        </p:txBody>
      </p:sp>
      <p:sp>
        <p:nvSpPr>
          <p:cNvPr id="417" name="Google Shape;417;p40"/>
          <p:cNvSpPr txBox="1"/>
          <p:nvPr/>
        </p:nvSpPr>
        <p:spPr>
          <a:xfrm>
            <a:off x="180450" y="1542525"/>
            <a:ext cx="8783100" cy="2462700"/>
          </a:xfrm>
          <a:prstGeom prst="rect">
            <a:avLst/>
          </a:prstGeom>
          <a:noFill/>
          <a:ln>
            <a:noFill/>
          </a:ln>
        </p:spPr>
        <p:txBody>
          <a:bodyPr anchorCtr="0" anchor="t" bIns="0" lIns="0" spcFirstLastPara="1" rIns="0" wrap="square" tIns="0">
            <a:spAutoFit/>
          </a:bodyPr>
          <a:lstStyle/>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Este fenómeno se llama aliasing porque el objeto posee un nombre (lista_1 en nuestro ejemplo) y luego existe un </a:t>
            </a:r>
            <a:r>
              <a:rPr b="1" i="0" lang="en-US" sz="2000" u="none" cap="none" strike="noStrike">
                <a:solidFill>
                  <a:srgbClr val="FF0000"/>
                </a:solidFill>
                <a:latin typeface="Calibri"/>
                <a:ea typeface="Calibri"/>
                <a:cs typeface="Calibri"/>
                <a:sym typeface="Calibri"/>
              </a:rPr>
              <a:t>alias</a:t>
            </a:r>
            <a:r>
              <a:rPr b="1" i="0" lang="en-US" sz="2000" u="none" cap="none" strike="noStrike">
                <a:solidFill>
                  <a:srgbClr val="2D2D2D"/>
                </a:solidFill>
                <a:latin typeface="Calibri"/>
                <a:ea typeface="Calibri"/>
                <a:cs typeface="Calibri"/>
                <a:sym typeface="Calibri"/>
              </a:rPr>
              <a:t> que </a:t>
            </a:r>
            <a:r>
              <a:rPr b="1" i="0" lang="en-US" sz="2000" u="none" cap="none" strike="noStrike">
                <a:solidFill>
                  <a:srgbClr val="FF0000"/>
                </a:solidFill>
                <a:latin typeface="Calibri"/>
                <a:ea typeface="Calibri"/>
                <a:cs typeface="Calibri"/>
                <a:sym typeface="Calibri"/>
              </a:rPr>
              <a:t>referencia</a:t>
            </a:r>
            <a:r>
              <a:rPr b="1" i="0" lang="en-US" sz="2000" u="none" cap="none" strike="noStrike">
                <a:solidFill>
                  <a:srgbClr val="2D2D2D"/>
                </a:solidFill>
                <a:latin typeface="Calibri"/>
                <a:ea typeface="Calibri"/>
                <a:cs typeface="Calibri"/>
                <a:sym typeface="Calibri"/>
              </a:rPr>
              <a:t> el mismo objeto (lista_2).</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Por qué Python hace esto? Porque </a:t>
            </a:r>
            <a:r>
              <a:rPr b="1" i="0" lang="en-US" sz="2000" u="sng" cap="none" strike="noStrike">
                <a:solidFill>
                  <a:srgbClr val="2D2D2D"/>
                </a:solidFill>
                <a:latin typeface="Calibri"/>
                <a:ea typeface="Calibri"/>
                <a:cs typeface="Calibri"/>
                <a:sym typeface="Calibri"/>
              </a:rPr>
              <a:t>pretende ahorrar espacio</a:t>
            </a:r>
            <a:r>
              <a:rPr b="1" i="0" lang="en-US" sz="2000" u="none" cap="none" strike="noStrike">
                <a:solidFill>
                  <a:srgbClr val="2D2D2D"/>
                </a:solidFill>
                <a:latin typeface="Calibri"/>
                <a:ea typeface="Calibri"/>
                <a:cs typeface="Calibri"/>
                <a:sym typeface="Calibri"/>
              </a:rPr>
              <a:t>. Un solo objeto con varios alias ocupa memoria una sola vez.</a:t>
            </a:r>
            <a:endParaRPr b="1" i="0" sz="2000" u="none" cap="none" strike="noStrike">
              <a:solidFill>
                <a:srgbClr val="2D2D2D"/>
              </a:solidFill>
              <a:latin typeface="Calibri"/>
              <a:ea typeface="Calibri"/>
              <a:cs typeface="Calibri"/>
              <a:sym typeface="Calibri"/>
            </a:endParaRPr>
          </a:p>
          <a:p>
            <a:pPr indent="-355600" lvl="0" marL="457200" marR="0" rtl="0" algn="l">
              <a:lnSpc>
                <a:spcPct val="100000"/>
              </a:lnSpc>
              <a:spcBef>
                <a:spcPts val="0"/>
              </a:spcBef>
              <a:spcAft>
                <a:spcPts val="0"/>
              </a:spcAft>
              <a:buClr>
                <a:srgbClr val="2D2D2D"/>
              </a:buClr>
              <a:buSzPts val="2000"/>
              <a:buFont typeface="Calibri"/>
              <a:buChar char="●"/>
            </a:pPr>
            <a:r>
              <a:rPr b="1" i="0" lang="en-US" sz="2000" u="none" cap="none" strike="noStrike">
                <a:solidFill>
                  <a:srgbClr val="2D2D2D"/>
                </a:solidFill>
                <a:latin typeface="Calibri"/>
                <a:ea typeface="Calibri"/>
                <a:cs typeface="Calibri"/>
                <a:sym typeface="Calibri"/>
              </a:rPr>
              <a:t>No es muy difícil darse cuenta por que este comportamiento suele ser un motivo de bugs en el código. Hay que ser cuidadoso!</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1" name="Shape 421"/>
        <p:cNvGrpSpPr/>
        <p:nvPr/>
      </p:nvGrpSpPr>
      <p:grpSpPr>
        <a:xfrm>
          <a:off x="0" y="0"/>
          <a:ext cx="0" cy="0"/>
          <a:chOff x="0" y="0"/>
          <a:chExt cx="0" cy="0"/>
        </a:xfrm>
      </p:grpSpPr>
      <p:sp>
        <p:nvSpPr>
          <p:cNvPr id="422" name="Google Shape;422;p41"/>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3" name="Google Shape;423;p41"/>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424" name="Google Shape;424;p41"/>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425" name="Google Shape;425;p41"/>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6" name="Google Shape;426;p41"/>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27" name="Google Shape;427;p41"/>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28" name="Google Shape;428;p41"/>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Ejercicio</a:t>
            </a:r>
            <a:endParaRPr b="0" i="0" sz="1400" u="none" cap="none" strike="noStrike">
              <a:solidFill>
                <a:srgbClr val="000000"/>
              </a:solidFill>
              <a:latin typeface="Arial"/>
              <a:ea typeface="Arial"/>
              <a:cs typeface="Arial"/>
              <a:sym typeface="Arial"/>
            </a:endParaRPr>
          </a:p>
        </p:txBody>
      </p:sp>
      <p:sp>
        <p:nvSpPr>
          <p:cNvPr id="429" name="Google Shape;429;p41"/>
          <p:cNvSpPr txBox="1"/>
          <p:nvPr/>
        </p:nvSpPr>
        <p:spPr>
          <a:xfrm>
            <a:off x="180450" y="1542525"/>
            <a:ext cx="8783100" cy="923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Crear una function que tome como argumento una lista, appendee el número 2000 y returnee dicha lista. La lista input no debe ser modificada.</a:t>
            </a:r>
            <a:endParaRPr b="1" i="0" sz="2000" u="none" cap="none" strike="noStrike">
              <a:solidFill>
                <a:srgbClr val="2D2D2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42"/>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5" name="Google Shape;435;p42"/>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436" name="Google Shape;436;p42"/>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437" name="Google Shape;437;p42"/>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8" name="Google Shape;438;p42"/>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39" name="Google Shape;439;p42"/>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40" name="Google Shape;440;p42"/>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Tip</a:t>
            </a:r>
            <a:endParaRPr b="0" i="0" sz="1400" u="none" cap="none" strike="noStrike">
              <a:solidFill>
                <a:srgbClr val="000000"/>
              </a:solidFill>
              <a:latin typeface="Arial"/>
              <a:ea typeface="Arial"/>
              <a:cs typeface="Arial"/>
              <a:sym typeface="Arial"/>
            </a:endParaRPr>
          </a:p>
        </p:txBody>
      </p:sp>
      <p:sp>
        <p:nvSpPr>
          <p:cNvPr id="441" name="Google Shape;441;p42"/>
          <p:cNvSpPr txBox="1"/>
          <p:nvPr/>
        </p:nvSpPr>
        <p:spPr>
          <a:xfrm>
            <a:off x="180450" y="1542525"/>
            <a:ext cx="8783100" cy="153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Si uno desea usar el operador asignación para crear una lista nueva que, además, sea un objeto diferente. Puede hacer un </a:t>
            </a:r>
            <a:r>
              <a:rPr b="1" i="0" lang="en-US" sz="2000" u="none" cap="none" strike="noStrike">
                <a:solidFill>
                  <a:srgbClr val="FF0000"/>
                </a:solidFill>
                <a:latin typeface="Calibri"/>
                <a:ea typeface="Calibri"/>
                <a:cs typeface="Calibri"/>
                <a:sym typeface="Calibri"/>
              </a:rPr>
              <a:t>deepcopy </a:t>
            </a:r>
            <a:r>
              <a:rPr b="1" i="0" lang="en-US" sz="2000" u="none" cap="none" strike="noStrike">
                <a:solidFill>
                  <a:srgbClr val="000000"/>
                </a:solidFill>
                <a:latin typeface="Calibri"/>
                <a:ea typeface="Calibri"/>
                <a:cs typeface="Calibri"/>
                <a:sym typeface="Calibri"/>
              </a:rPr>
              <a:t>con la función list.</a:t>
            </a:r>
            <a:endParaRPr b="1" i="0" sz="20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0000"/>
                </a:solidFill>
                <a:latin typeface="Calibri"/>
                <a:ea typeface="Calibri"/>
                <a:cs typeface="Calibri"/>
                <a:sym typeface="Calibri"/>
              </a:rPr>
              <a:t>lista_2= list(lista_1)</a:t>
            </a:r>
            <a:endParaRPr b="1" i="0" sz="20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43"/>
          <p:cNvSpPr txBox="1"/>
          <p:nvPr/>
        </p:nvSpPr>
        <p:spPr>
          <a:xfrm>
            <a:off x="2240672" y="3207687"/>
            <a:ext cx="3676800" cy="361500"/>
          </a:xfrm>
          <a:prstGeom prst="rect">
            <a:avLst/>
          </a:prstGeom>
          <a:noFill/>
          <a:ln>
            <a:noFill/>
          </a:ln>
        </p:spPr>
        <p:txBody>
          <a:bodyPr anchorCtr="0" anchor="t" bIns="0" lIns="0" spcFirstLastPara="1" rIns="0" wrap="square" tIns="22650">
            <a:spAutoFit/>
          </a:bodyPr>
          <a:lstStyle/>
          <a:p>
            <a:pPr indent="0" lvl="0" marL="25400" marR="0" rtl="0" algn="l">
              <a:lnSpc>
                <a:spcPct val="100000"/>
              </a:lnSpc>
              <a:spcBef>
                <a:spcPts val="0"/>
              </a:spcBef>
              <a:spcAft>
                <a:spcPts val="0"/>
              </a:spcAft>
              <a:buClr>
                <a:srgbClr val="000000"/>
              </a:buClr>
              <a:buSzPts val="2200"/>
              <a:buFont typeface="Arial"/>
              <a:buNone/>
            </a:pPr>
            <a:r>
              <a:rPr lang="en-US" sz="2200" cap="small">
                <a:solidFill>
                  <a:srgbClr val="F4F2ED"/>
                </a:solidFill>
                <a:latin typeface="Tahoma"/>
                <a:ea typeface="Tahoma"/>
                <a:cs typeface="Tahoma"/>
                <a:sym typeface="Tahoma"/>
              </a:rPr>
              <a:t>SLICING</a:t>
            </a:r>
            <a:endParaRPr b="0" i="0" sz="2200" u="none" cap="none" strike="noStrike">
              <a:solidFill>
                <a:srgbClr val="000000"/>
              </a:solidFill>
              <a:latin typeface="Tahoma"/>
              <a:ea typeface="Tahoma"/>
              <a:cs typeface="Tahoma"/>
              <a:sym typeface="Tahoma"/>
            </a:endParaRPr>
          </a:p>
        </p:txBody>
      </p:sp>
      <p:grpSp>
        <p:nvGrpSpPr>
          <p:cNvPr id="447" name="Google Shape;447;p43"/>
          <p:cNvGrpSpPr/>
          <p:nvPr/>
        </p:nvGrpSpPr>
        <p:grpSpPr>
          <a:xfrm>
            <a:off x="2260855" y="3600041"/>
            <a:ext cx="4642600" cy="50335"/>
            <a:chOff x="1133919" y="1518500"/>
            <a:chExt cx="2340610" cy="25400"/>
          </a:xfrm>
        </p:grpSpPr>
        <p:sp>
          <p:nvSpPr>
            <p:cNvPr id="448" name="Google Shape;448;p43"/>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solidFill>
              <a:srgbClr val="F4F2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449" name="Google Shape;449;p43"/>
            <p:cNvSpPr/>
            <p:nvPr/>
          </p:nvSpPr>
          <p:spPr>
            <a:xfrm>
              <a:off x="1133919" y="1518500"/>
              <a:ext cx="2340610" cy="25400"/>
            </a:xfrm>
            <a:custGeom>
              <a:rect b="b" l="l" r="r" t="t"/>
              <a:pathLst>
                <a:path extrusionOk="0" h="25400" w="2340610">
                  <a:moveTo>
                    <a:pt x="0" y="25305"/>
                  </a:moveTo>
                  <a:lnTo>
                    <a:pt x="0" y="0"/>
                  </a:lnTo>
                  <a:lnTo>
                    <a:pt x="2340180" y="0"/>
                  </a:lnTo>
                  <a:lnTo>
                    <a:pt x="2340180" y="25305"/>
                  </a:lnTo>
                  <a:lnTo>
                    <a:pt x="0" y="25305"/>
                  </a:lnTo>
                  <a:close/>
                </a:path>
              </a:pathLst>
            </a:custGeom>
            <a:noFill/>
            <a:ln cap="flat" cmpd="sng" w="18875">
              <a:solidFill>
                <a:srgbClr val="F4F2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450" name="Google Shape;450;p43"/>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006DB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sp>
          <p:nvSpPr>
            <p:cNvPr id="451" name="Google Shape;451;p43"/>
            <p:cNvSpPr/>
            <p:nvPr/>
          </p:nvSpPr>
          <p:spPr>
            <a:xfrm>
              <a:off x="1133919" y="1518500"/>
              <a:ext cx="1221105" cy="25400"/>
            </a:xfrm>
            <a:custGeom>
              <a:rect b="b" l="l" r="r" t="t"/>
              <a:pathLst>
                <a:path extrusionOk="0" h="25400" w="1221105">
                  <a:moveTo>
                    <a:pt x="0" y="25305"/>
                  </a:moveTo>
                  <a:lnTo>
                    <a:pt x="0" y="0"/>
                  </a:lnTo>
                  <a:lnTo>
                    <a:pt x="1220943" y="0"/>
                  </a:lnTo>
                  <a:lnTo>
                    <a:pt x="1220943" y="25305"/>
                  </a:lnTo>
                  <a:lnTo>
                    <a:pt x="0" y="25305"/>
                  </a:lnTo>
                  <a:close/>
                </a:path>
              </a:pathLst>
            </a:custGeom>
            <a:solidFill>
              <a:srgbClr val="FFD966"/>
            </a:solidFill>
            <a:ln cap="flat" cmpd="sng" w="18875">
              <a:solidFill>
                <a:srgbClr val="F1C23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rgbClr val="000000"/>
                </a:solidFill>
                <a:latin typeface="Arial"/>
                <a:ea typeface="Arial"/>
                <a:cs typeface="Arial"/>
                <a:sym typeface="Arial"/>
              </a:endParaRPr>
            </a:p>
          </p:txBody>
        </p:sp>
      </p:grpSp>
    </p:spTree>
  </p:cSld>
  <p:clrMapOvr>
    <a:masterClrMapping/>
  </p:clrMapOvr>
  <p:transition>
    <p:fade thruBlk="1"/>
  </p:transition>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44"/>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7" name="Google Shape;457;p44"/>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458" name="Google Shape;458;p44"/>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459" name="Google Shape;459;p44"/>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0" name="Google Shape;460;p44"/>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61" name="Google Shape;461;p44"/>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62" name="Google Shape;462;p44"/>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Slicing</a:t>
            </a:r>
            <a:endParaRPr b="0" i="0" sz="1400" u="none" cap="none" strike="noStrike">
              <a:solidFill>
                <a:srgbClr val="000000"/>
              </a:solidFill>
              <a:latin typeface="Arial"/>
              <a:ea typeface="Arial"/>
              <a:cs typeface="Arial"/>
              <a:sym typeface="Arial"/>
            </a:endParaRPr>
          </a:p>
        </p:txBody>
      </p:sp>
      <p:sp>
        <p:nvSpPr>
          <p:cNvPr id="463" name="Google Shape;463;p44"/>
          <p:cNvSpPr txBox="1"/>
          <p:nvPr/>
        </p:nvSpPr>
        <p:spPr>
          <a:xfrm>
            <a:off x="180450" y="1542525"/>
            <a:ext cx="8783100" cy="615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Es un operador que te permite obtener sublistas a partir de una lista. El lado derecho del conjunto de un slicing no incluye el límite </a:t>
            </a:r>
            <a:endParaRPr b="1" i="0" sz="2000" u="none" cap="none" strike="noStrike">
              <a:solidFill>
                <a:srgbClr val="2D2D2D"/>
              </a:solidFill>
              <a:latin typeface="Calibri"/>
              <a:ea typeface="Calibri"/>
              <a:cs typeface="Calibri"/>
              <a:sym typeface="Calibri"/>
            </a:endParaRPr>
          </a:p>
        </p:txBody>
      </p:sp>
      <p:pic>
        <p:nvPicPr>
          <p:cNvPr id="464" name="Google Shape;464;p44"/>
          <p:cNvPicPr preferRelativeResize="0"/>
          <p:nvPr/>
        </p:nvPicPr>
        <p:blipFill rotWithShape="1">
          <a:blip r:embed="rId4">
            <a:alphaModFix/>
          </a:blip>
          <a:srcRect b="0" l="0" r="0" t="0"/>
          <a:stretch/>
        </p:blipFill>
        <p:spPr>
          <a:xfrm>
            <a:off x="3475563" y="2234325"/>
            <a:ext cx="2192878" cy="397597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45"/>
          <p:cNvSpPr/>
          <p:nvPr/>
        </p:nvSpPr>
        <p:spPr>
          <a:xfrm>
            <a:off x="0" y="0"/>
            <a:ext cx="9144000" cy="571500"/>
          </a:xfrm>
          <a:prstGeom prst="rect">
            <a:avLst/>
          </a:prstGeom>
          <a:solidFill>
            <a:srgbClr val="FFDC64"/>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45"/>
          <p:cNvSpPr txBox="1"/>
          <p:nvPr/>
        </p:nvSpPr>
        <p:spPr>
          <a:xfrm>
            <a:off x="254000" y="190500"/>
            <a:ext cx="57150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2D2D2D"/>
                </a:solidFill>
                <a:latin typeface="Calibri"/>
                <a:ea typeface="Calibri"/>
                <a:cs typeface="Calibri"/>
                <a:sym typeface="Calibri"/>
              </a:rPr>
              <a:t>Métodos Analíticos y Programación</a:t>
            </a:r>
            <a:endParaRPr b="0" i="0" sz="1400" u="none" cap="none" strike="noStrike">
              <a:solidFill>
                <a:srgbClr val="000000"/>
              </a:solidFill>
              <a:latin typeface="Arial"/>
              <a:ea typeface="Arial"/>
              <a:cs typeface="Arial"/>
              <a:sym typeface="Arial"/>
            </a:endParaRPr>
          </a:p>
        </p:txBody>
      </p:sp>
      <p:pic>
        <p:nvPicPr>
          <p:cNvPr descr="di_tella2.png" id="471" name="Google Shape;471;p45"/>
          <p:cNvPicPr preferRelativeResize="0"/>
          <p:nvPr/>
        </p:nvPicPr>
        <p:blipFill rotWithShape="1">
          <a:blip r:embed="rId3">
            <a:alphaModFix/>
          </a:blip>
          <a:srcRect b="0" l="0" r="0" t="0"/>
          <a:stretch/>
        </p:blipFill>
        <p:spPr>
          <a:xfrm>
            <a:off x="8221450" y="31750"/>
            <a:ext cx="818650" cy="508001"/>
          </a:xfrm>
          <a:prstGeom prst="rect">
            <a:avLst/>
          </a:prstGeom>
          <a:noFill/>
          <a:ln>
            <a:noFill/>
          </a:ln>
        </p:spPr>
      </p:pic>
      <p:sp>
        <p:nvSpPr>
          <p:cNvPr id="472" name="Google Shape;472;p45"/>
          <p:cNvSpPr/>
          <p:nvPr/>
        </p:nvSpPr>
        <p:spPr>
          <a:xfrm>
            <a:off x="0" y="6286500"/>
            <a:ext cx="9144000" cy="384000"/>
          </a:xfrm>
          <a:prstGeom prst="rect">
            <a:avLst/>
          </a:prstGeom>
          <a:solidFill>
            <a:srgbClr val="2D2D2D"/>
          </a:solidFill>
          <a:ln>
            <a:noFill/>
          </a:ln>
          <a:effectLst>
            <a:outerShdw blurRad="40000" rotWithShape="0" dir="5400000" dist="23000">
              <a:srgbClr val="000000">
                <a:alpha val="3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3" name="Google Shape;473;p45"/>
          <p:cNvSpPr txBox="1"/>
          <p:nvPr/>
        </p:nvSpPr>
        <p:spPr>
          <a:xfrm>
            <a:off x="254000" y="85090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74" name="Google Shape;474;p45"/>
          <p:cNvSpPr txBox="1"/>
          <p:nvPr/>
        </p:nvSpPr>
        <p:spPr>
          <a:xfrm>
            <a:off x="177800" y="6375400"/>
            <a:ext cx="571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FFFFFF"/>
                </a:solidFill>
                <a:latin typeface="Calibri"/>
                <a:ea typeface="Calibri"/>
                <a:cs typeface="Calibri"/>
                <a:sym typeface="Calibri"/>
              </a:rPr>
              <a:t>Pablo J Piccoli Bornia</a:t>
            </a:r>
            <a:endParaRPr b="0" i="0" sz="1400" u="none" cap="none" strike="noStrike">
              <a:solidFill>
                <a:srgbClr val="000000"/>
              </a:solidFill>
              <a:latin typeface="Arial"/>
              <a:ea typeface="Arial"/>
              <a:cs typeface="Arial"/>
              <a:sym typeface="Arial"/>
            </a:endParaRPr>
          </a:p>
        </p:txBody>
      </p:sp>
      <p:sp>
        <p:nvSpPr>
          <p:cNvPr id="475" name="Google Shape;475;p45"/>
          <p:cNvSpPr txBox="1"/>
          <p:nvPr/>
        </p:nvSpPr>
        <p:spPr>
          <a:xfrm>
            <a:off x="101150" y="910300"/>
            <a:ext cx="8508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2D2D2D"/>
                </a:solidFill>
                <a:latin typeface="Calibri"/>
                <a:ea typeface="Calibri"/>
                <a:cs typeface="Calibri"/>
                <a:sym typeface="Calibri"/>
              </a:rPr>
              <a:t>Ejercicio</a:t>
            </a:r>
            <a:endParaRPr b="0" i="0" sz="1400" u="none" cap="none" strike="noStrike">
              <a:solidFill>
                <a:srgbClr val="000000"/>
              </a:solidFill>
              <a:latin typeface="Arial"/>
              <a:ea typeface="Arial"/>
              <a:cs typeface="Arial"/>
              <a:sym typeface="Arial"/>
            </a:endParaRPr>
          </a:p>
        </p:txBody>
      </p:sp>
      <p:sp>
        <p:nvSpPr>
          <p:cNvPr id="476" name="Google Shape;476;p45"/>
          <p:cNvSpPr txBox="1"/>
          <p:nvPr/>
        </p:nvSpPr>
        <p:spPr>
          <a:xfrm>
            <a:off x="180450" y="1542525"/>
            <a:ext cx="8783100" cy="615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2D2D2D"/>
                </a:solidFill>
                <a:latin typeface="Calibri"/>
                <a:ea typeface="Calibri"/>
                <a:cs typeface="Calibri"/>
                <a:sym typeface="Calibri"/>
              </a:rPr>
              <a:t>Crear una function cuyo input sea una lista y su output otra lista distinta que sea el </a:t>
            </a:r>
            <a:r>
              <a:rPr b="1" i="0" lang="en-US" sz="2000" u="none" cap="none" strike="noStrike">
                <a:solidFill>
                  <a:srgbClr val="FF0000"/>
                </a:solidFill>
                <a:latin typeface="Calibri"/>
                <a:ea typeface="Calibri"/>
                <a:cs typeface="Calibri"/>
                <a:sym typeface="Calibri"/>
              </a:rPr>
              <a:t>reverso</a:t>
            </a:r>
            <a:r>
              <a:rPr b="1" i="0" lang="en-US" sz="2000" u="none" cap="none" strike="noStrike">
                <a:solidFill>
                  <a:srgbClr val="2D2D2D"/>
                </a:solidFill>
                <a:latin typeface="Calibri"/>
                <a:ea typeface="Calibri"/>
                <a:cs typeface="Calibri"/>
                <a:sym typeface="Calibri"/>
              </a:rPr>
              <a:t> de la lista input.</a:t>
            </a:r>
            <a:endParaRPr b="1" i="0" sz="2000" u="none" cap="none" strike="noStrike">
              <a:solidFill>
                <a:srgbClr val="2D2D2D"/>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