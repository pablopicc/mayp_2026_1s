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32c363ecf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g3c32c363ecf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39a84346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g3939a84346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39a84346a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g3939a84346a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39a84346a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3939a84346a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39a84346a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g3939a84346a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39a84346a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g3939a84346a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39a84346a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g3939a84346a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39a84346a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g3939a84346a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39a84346a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g3939a84346a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939a84346a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g3939a84346a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39a84346a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g3939a84346a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939a84346a_0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g3939a84346a_0_1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39a84346a_0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g3939a84346a_0_1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93ad733ac8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g393ad733ac8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93ad733ac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g393ad733ac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3ad733ac8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g393ad733ac8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93ad733ac8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 name="Google Shape;309;g393ad733ac8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3ad733ac8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g393ad733ac8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93ad733ac8_0_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g393ad733ac8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c6f1a073e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5" name="Google Shape;345;g3c6f1a073ef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c6f1a073e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g3c6f1a073e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c6f1a073ef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g3c6f1a073ef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c6f1a073ef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c6f1a073ef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c6f1a073ef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g3c6f1a073ef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c6f1a073ef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9" name="Google Shape;409;g3c6f1a073ef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c6f1a073ef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g3c6f1a073ef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c6f1a073ef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3" name="Google Shape;433;g3c6f1a073ef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c6f1a073ef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g3c6f1a073ef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c6f1a073ef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7" name="Google Shape;457;g3c6f1a073ef_0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c6f1a073ef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0" name="Google Shape;470;g3c6f1a073ef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3"/>
          <p:cNvSpPr txBox="1"/>
          <p:nvPr/>
        </p:nvSpPr>
        <p:spPr>
          <a:xfrm>
            <a:off x="635000" y="1905000"/>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D2D2D"/>
                </a:solidFill>
                <a:latin typeface="Calibri"/>
                <a:ea typeface="Calibri"/>
                <a:cs typeface="Calibri"/>
                <a:sym typeface="Calibri"/>
              </a:rPr>
              <a:t>Clase </a:t>
            </a:r>
            <a:r>
              <a:rPr b="1" lang="en-US" sz="2800">
                <a:solidFill>
                  <a:srgbClr val="2D2D2D"/>
                </a:solidFill>
                <a:latin typeface="Calibri"/>
                <a:ea typeface="Calibri"/>
                <a:cs typeface="Calibri"/>
                <a:sym typeface="Calibri"/>
              </a:rPr>
              <a:t>4</a:t>
            </a:r>
            <a:r>
              <a:rPr b="1" i="0" lang="en-US" sz="2800" u="none" cap="none" strike="noStrike">
                <a:solidFill>
                  <a:srgbClr val="2D2D2D"/>
                </a:solidFill>
                <a:latin typeface="Calibri"/>
                <a:ea typeface="Calibri"/>
                <a:cs typeface="Calibri"/>
                <a:sym typeface="Calibri"/>
              </a:rPr>
              <a:t>: </a:t>
            </a:r>
            <a:r>
              <a:rPr b="1" lang="en-US" sz="2800">
                <a:solidFill>
                  <a:srgbClr val="2D2D2D"/>
                </a:solidFill>
                <a:latin typeface="Calibri"/>
                <a:ea typeface="Calibri"/>
                <a:cs typeface="Calibri"/>
                <a:sym typeface="Calibri"/>
              </a:rPr>
              <a:t>Iteración + Introducción a listas</a:t>
            </a:r>
            <a:endParaRPr b="0" i="0" sz="1400" u="none" cap="none" strike="noStrike">
              <a:solidFill>
                <a:srgbClr val="000000"/>
              </a:solidFill>
              <a:latin typeface="Arial"/>
              <a:ea typeface="Arial"/>
              <a:cs typeface="Arial"/>
              <a:sym typeface="Arial"/>
            </a:endParaRPr>
          </a:p>
        </p:txBody>
      </p:sp>
      <p:sp>
        <p:nvSpPr>
          <p:cNvPr id="85" name="Google Shape;85;p13"/>
          <p:cNvSpPr txBox="1"/>
          <p:nvPr/>
        </p:nvSpPr>
        <p:spPr>
          <a:xfrm>
            <a:off x="635000" y="3556000"/>
            <a:ext cx="8496300" cy="520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D2D2D"/>
                </a:solidFill>
                <a:latin typeface="Calibri"/>
                <a:ea typeface="Calibri"/>
                <a:cs typeface="Calibri"/>
                <a:sym typeface="Calibri"/>
              </a:rPr>
              <a:t>Profesor: Pablo J Piccoli Bornia</a:t>
            </a:r>
            <a:endParaRPr b="0" i="0" sz="1400" u="none" cap="none" strike="noStrike">
              <a:solidFill>
                <a:srgbClr val="000000"/>
              </a:solidFill>
              <a:latin typeface="Arial"/>
              <a:ea typeface="Arial"/>
              <a:cs typeface="Arial"/>
              <a:sym typeface="Arial"/>
            </a:endParaRPr>
          </a:p>
        </p:txBody>
      </p:sp>
      <p:sp>
        <p:nvSpPr>
          <p:cNvPr id="86" name="Google Shape;86;p13"/>
          <p:cNvSpPr txBox="1"/>
          <p:nvPr/>
        </p:nvSpPr>
        <p:spPr>
          <a:xfrm>
            <a:off x="635000" y="4318000"/>
            <a:ext cx="8496300" cy="1193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2D2D2D"/>
                </a:solidFill>
                <a:latin typeface="Calibri"/>
                <a:ea typeface="Calibri"/>
                <a:cs typeface="Calibri"/>
                <a:sym typeface="Calibri"/>
              </a:rPr>
              <a:t>Auxiliares: Daniela Longas M Victoria Tolosa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14"/>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14"/>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93" name="Google Shape;93;p14"/>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94" name="Google Shape;94;p14"/>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14"/>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96" name="Google Shape;96;p14"/>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97" name="Google Shape;97;p14"/>
          <p:cNvSpPr/>
          <p:nvPr/>
        </p:nvSpPr>
        <p:spPr>
          <a:xfrm>
            <a:off x="87675" y="759825"/>
            <a:ext cx="9001200" cy="529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8" name="Google Shape;98;p14"/>
          <p:cNvSpPr txBox="1"/>
          <p:nvPr/>
        </p:nvSpPr>
        <p:spPr>
          <a:xfrm>
            <a:off x="-132750" y="2593925"/>
            <a:ext cx="94095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solidFill>
                  <a:srgbClr val="2D2D2D"/>
                </a:solidFill>
                <a:latin typeface="Calibri"/>
                <a:ea typeface="Calibri"/>
                <a:cs typeface="Calibri"/>
                <a:sym typeface="Calibri"/>
              </a:rPr>
              <a:t>While loop</a:t>
            </a:r>
            <a:endParaRPr sz="4800">
              <a:solidFill>
                <a:srgbClr val="2D2D2D"/>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p15"/>
          <p:cNvSpPr/>
          <p:nvPr/>
        </p:nvSpPr>
        <p:spPr>
          <a:xfrm>
            <a:off x="0" y="0"/>
            <a:ext cx="9144000" cy="571500"/>
          </a:xfrm>
          <a:prstGeom prst="rect">
            <a:avLst/>
          </a:prstGeom>
          <a:solidFill>
            <a:srgbClr val="FFDC64"/>
          </a:soli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 name="Google Shape;104;p15"/>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05" name="Google Shape;105;p15"/>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06" name="Google Shape;106;p15"/>
          <p:cNvSpPr/>
          <p:nvPr/>
        </p:nvSpPr>
        <p:spPr>
          <a:xfrm>
            <a:off x="0" y="6286500"/>
            <a:ext cx="9144000" cy="384048"/>
          </a:xfrm>
          <a:prstGeom prst="rect">
            <a:avLst/>
          </a:prstGeom>
          <a:solidFill>
            <a:srgbClr val="2D2D2D"/>
          </a:soli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15"/>
          <p:cNvSpPr txBox="1"/>
          <p:nvPr/>
        </p:nvSpPr>
        <p:spPr>
          <a:xfrm>
            <a:off x="254000" y="8509000"/>
            <a:ext cx="5715000" cy="17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08" name="Google Shape;108;p15"/>
          <p:cNvSpPr txBox="1"/>
          <p:nvPr/>
        </p:nvSpPr>
        <p:spPr>
          <a:xfrm>
            <a:off x="177800" y="6375400"/>
            <a:ext cx="5715000" cy="17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09" name="Google Shape;109;p15"/>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Iteración</a:t>
            </a:r>
            <a:endParaRPr b="0" i="0" sz="1400" u="none" cap="none" strike="noStrike">
              <a:solidFill>
                <a:srgbClr val="000000"/>
              </a:solidFill>
              <a:latin typeface="Arial"/>
              <a:ea typeface="Arial"/>
              <a:cs typeface="Arial"/>
              <a:sym typeface="Arial"/>
            </a:endParaRPr>
          </a:p>
        </p:txBody>
      </p:sp>
      <p:sp>
        <p:nvSpPr>
          <p:cNvPr id="110" name="Google Shape;110;p15"/>
          <p:cNvSpPr txBox="1"/>
          <p:nvPr/>
        </p:nvSpPr>
        <p:spPr>
          <a:xfrm>
            <a:off x="301975" y="1719150"/>
            <a:ext cx="88293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Un loop es una estructura de control que permite repetir un cálculo/operatoria una cierta cantidad de veces.</a:t>
            </a:r>
            <a:endParaRPr sz="2000">
              <a:solidFill>
                <a:srgbClr val="2D2D2D"/>
              </a:solidFill>
              <a:latin typeface="Calibri"/>
              <a:ea typeface="Calibri"/>
              <a:cs typeface="Calibri"/>
              <a:sym typeface="Calibri"/>
            </a:endParaRPr>
          </a:p>
        </p:txBody>
      </p:sp>
      <p:sp>
        <p:nvSpPr>
          <p:cNvPr id="111" name="Google Shape;111;p15"/>
          <p:cNvSpPr txBox="1"/>
          <p:nvPr/>
        </p:nvSpPr>
        <p:spPr>
          <a:xfrm>
            <a:off x="254000" y="280642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While loop</a:t>
            </a:r>
            <a:endParaRPr b="0" i="0" sz="1400" u="none" cap="none" strike="noStrike">
              <a:solidFill>
                <a:srgbClr val="000000"/>
              </a:solidFill>
              <a:latin typeface="Arial"/>
              <a:ea typeface="Arial"/>
              <a:cs typeface="Arial"/>
              <a:sym typeface="Arial"/>
            </a:endParaRPr>
          </a:p>
        </p:txBody>
      </p:sp>
      <p:sp>
        <p:nvSpPr>
          <p:cNvPr id="112" name="Google Shape;112;p15"/>
          <p:cNvSpPr txBox="1"/>
          <p:nvPr/>
        </p:nvSpPr>
        <p:spPr>
          <a:xfrm>
            <a:off x="301975" y="3496200"/>
            <a:ext cx="8829300" cy="123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En caso del while loop lo que determina la cantidad de iteraciones a dar es el hecho de cumplir una condición dada por una operación booleana.</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a:solidFill>
                  <a:srgbClr val="2D2D2D"/>
                </a:solidFill>
                <a:latin typeface="Calibri"/>
                <a:ea typeface="Calibri"/>
                <a:cs typeface="Calibri"/>
                <a:sym typeface="Calibri"/>
              </a:rPr>
              <a:t> </a:t>
            </a:r>
            <a:endParaRPr sz="2000">
              <a:solidFill>
                <a:srgbClr val="2D2D2D"/>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16"/>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16"/>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19" name="Google Shape;119;p16"/>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20" name="Google Shape;120;p16"/>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16"/>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22" name="Google Shape;122;p16"/>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23" name="Google Shape;123;p16"/>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Sintaxis</a:t>
            </a:r>
            <a:endParaRPr b="0" i="0" sz="1400" u="none" cap="none" strike="noStrike">
              <a:solidFill>
                <a:srgbClr val="000000"/>
              </a:solidFill>
              <a:latin typeface="Arial"/>
              <a:ea typeface="Arial"/>
              <a:cs typeface="Arial"/>
              <a:sym typeface="Arial"/>
            </a:endParaRPr>
          </a:p>
        </p:txBody>
      </p:sp>
      <p:pic>
        <p:nvPicPr>
          <p:cNvPr id="124" name="Google Shape;124;p16"/>
          <p:cNvPicPr preferRelativeResize="0"/>
          <p:nvPr/>
        </p:nvPicPr>
        <p:blipFill>
          <a:blip r:embed="rId4">
            <a:alphaModFix/>
          </a:blip>
          <a:stretch>
            <a:fillRect/>
          </a:stretch>
        </p:blipFill>
        <p:spPr>
          <a:xfrm>
            <a:off x="2714400" y="1435350"/>
            <a:ext cx="3096275" cy="2441775"/>
          </a:xfrm>
          <a:prstGeom prst="rect">
            <a:avLst/>
          </a:prstGeom>
          <a:noFill/>
          <a:ln>
            <a:noFill/>
          </a:ln>
        </p:spPr>
      </p:pic>
      <p:sp>
        <p:nvSpPr>
          <p:cNvPr id="125" name="Google Shape;125;p16"/>
          <p:cNvSpPr txBox="1"/>
          <p:nvPr/>
        </p:nvSpPr>
        <p:spPr>
          <a:xfrm>
            <a:off x="97400" y="4154500"/>
            <a:ext cx="8829300" cy="1539300"/>
          </a:xfrm>
          <a:prstGeom prst="rect">
            <a:avLst/>
          </a:prstGeom>
          <a:noFill/>
          <a:ln>
            <a:noFill/>
          </a:ln>
        </p:spPr>
        <p:txBody>
          <a:bodyPr anchorCtr="0" anchor="t" bIns="0" lIns="0" spcFirstLastPara="1" rIns="0" wrap="square" tIns="0">
            <a:spAutoFit/>
          </a:bodyPr>
          <a:lstStyle/>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Indentación</a:t>
            </a:r>
            <a:r>
              <a:rPr lang="en-US" sz="2000">
                <a:solidFill>
                  <a:srgbClr val="2D2D2D"/>
                </a:solidFill>
                <a:latin typeface="Calibri"/>
                <a:ea typeface="Calibri"/>
                <a:cs typeface="Calibri"/>
                <a:sym typeface="Calibri"/>
              </a:rPr>
              <a:t>: al igual que el if, una sangría delimita el rango de acción.</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Corolario/guarda</a:t>
            </a:r>
            <a:r>
              <a:rPr lang="en-US" sz="2000">
                <a:solidFill>
                  <a:srgbClr val="2D2D2D"/>
                </a:solidFill>
                <a:latin typeface="Calibri"/>
                <a:ea typeface="Calibri"/>
                <a:cs typeface="Calibri"/>
                <a:sym typeface="Calibri"/>
              </a:rPr>
              <a:t>: al igual que el if hay una operación cuyo resultado es un bool.</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Contador</a:t>
            </a:r>
            <a:r>
              <a:rPr lang="en-US" sz="2000">
                <a:solidFill>
                  <a:srgbClr val="2D2D2D"/>
                </a:solidFill>
                <a:latin typeface="Calibri"/>
                <a:ea typeface="Calibri"/>
                <a:cs typeface="Calibri"/>
                <a:sym typeface="Calibri"/>
              </a:rPr>
              <a:t>: </a:t>
            </a:r>
            <a:r>
              <a:rPr lang="en-US" sz="2000" u="sng">
                <a:solidFill>
                  <a:srgbClr val="2D2D2D"/>
                </a:solidFill>
                <a:latin typeface="Calibri"/>
                <a:ea typeface="Calibri"/>
                <a:cs typeface="Calibri"/>
                <a:sym typeface="Calibri"/>
              </a:rPr>
              <a:t>no es condición necesaria</a:t>
            </a:r>
            <a:r>
              <a:rPr lang="en-US" sz="2000">
                <a:solidFill>
                  <a:srgbClr val="2D2D2D"/>
                </a:solidFill>
                <a:latin typeface="Calibri"/>
                <a:ea typeface="Calibri"/>
                <a:cs typeface="Calibri"/>
                <a:sym typeface="Calibri"/>
              </a:rPr>
              <a:t> para que el while exista. Pero usualmente los while loops tienen una variable que </a:t>
            </a:r>
            <a:r>
              <a:rPr b="1" lang="en-US" sz="2000">
                <a:solidFill>
                  <a:srgbClr val="FF0000"/>
                </a:solidFill>
                <a:latin typeface="Calibri"/>
                <a:ea typeface="Calibri"/>
                <a:cs typeface="Calibri"/>
                <a:sym typeface="Calibri"/>
              </a:rPr>
              <a:t>cambia</a:t>
            </a:r>
            <a:r>
              <a:rPr lang="en-US" sz="2000">
                <a:solidFill>
                  <a:srgbClr val="2D2D2D"/>
                </a:solidFill>
                <a:latin typeface="Calibri"/>
                <a:ea typeface="Calibri"/>
                <a:cs typeface="Calibri"/>
                <a:sym typeface="Calibri"/>
              </a:rPr>
              <a:t> dentro del mismo loop y que sirve para cortar la ejecución. En este caso es un contador.</a:t>
            </a:r>
            <a:endParaRPr sz="2000">
              <a:solidFill>
                <a:srgbClr val="2D2D2D"/>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17"/>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17"/>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32" name="Google Shape;132;p17"/>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33" name="Google Shape;133;p17"/>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 name="Google Shape;134;p17"/>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35" name="Google Shape;135;p17"/>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36" name="Google Shape;136;p17"/>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Sintaxis</a:t>
            </a:r>
            <a:endParaRPr b="0" i="0" sz="1400" u="none" cap="none" strike="noStrike">
              <a:solidFill>
                <a:srgbClr val="000000"/>
              </a:solidFill>
              <a:latin typeface="Arial"/>
              <a:ea typeface="Arial"/>
              <a:cs typeface="Arial"/>
              <a:sym typeface="Arial"/>
            </a:endParaRPr>
          </a:p>
        </p:txBody>
      </p:sp>
      <p:sp>
        <p:nvSpPr>
          <p:cNvPr id="137" name="Google Shape;137;p17"/>
          <p:cNvSpPr txBox="1"/>
          <p:nvPr/>
        </p:nvSpPr>
        <p:spPr>
          <a:xfrm>
            <a:off x="97400" y="1582750"/>
            <a:ext cx="8829300" cy="9234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rPr b="1" lang="en-US" sz="2000">
                <a:solidFill>
                  <a:srgbClr val="2D2D2D"/>
                </a:solidFill>
                <a:latin typeface="Calibri"/>
                <a:ea typeface="Calibri"/>
                <a:cs typeface="Calibri"/>
                <a:sym typeface="Calibri"/>
              </a:rPr>
              <a:t>Un while loop seguirá corriendo siempre y cuando su corolario/guarda de como resultado True. Cuando dicho resultado pasa a ser False, la operación se corta y uno sale del loop</a:t>
            </a:r>
            <a:endParaRPr sz="2000">
              <a:solidFill>
                <a:srgbClr val="2D2D2D"/>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p18"/>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18"/>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44" name="Google Shape;144;p18"/>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45" name="Google Shape;145;p18"/>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 name="Google Shape;146;p18"/>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47" name="Google Shape;147;p18"/>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48" name="Google Shape;148;p18"/>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Ejemplos</a:t>
            </a:r>
            <a:endParaRPr b="0" i="0" sz="1400" u="none" cap="none" strike="noStrike">
              <a:solidFill>
                <a:srgbClr val="000000"/>
              </a:solidFill>
              <a:latin typeface="Arial"/>
              <a:ea typeface="Arial"/>
              <a:cs typeface="Arial"/>
              <a:sym typeface="Arial"/>
            </a:endParaRPr>
          </a:p>
        </p:txBody>
      </p:sp>
      <p:pic>
        <p:nvPicPr>
          <p:cNvPr id="149" name="Google Shape;149;p18"/>
          <p:cNvPicPr preferRelativeResize="0"/>
          <p:nvPr/>
        </p:nvPicPr>
        <p:blipFill>
          <a:blip r:embed="rId4">
            <a:alphaModFix/>
          </a:blip>
          <a:stretch>
            <a:fillRect/>
          </a:stretch>
        </p:blipFill>
        <p:spPr>
          <a:xfrm>
            <a:off x="454400" y="1542500"/>
            <a:ext cx="6937050" cy="863650"/>
          </a:xfrm>
          <a:prstGeom prst="rect">
            <a:avLst/>
          </a:prstGeom>
          <a:noFill/>
          <a:ln>
            <a:noFill/>
          </a:ln>
        </p:spPr>
      </p:pic>
      <p:sp>
        <p:nvSpPr>
          <p:cNvPr id="150" name="Google Shape;150;p18"/>
          <p:cNvSpPr txBox="1"/>
          <p:nvPr/>
        </p:nvSpPr>
        <p:spPr>
          <a:xfrm>
            <a:off x="51575" y="2587775"/>
            <a:ext cx="8829300" cy="307800"/>
          </a:xfrm>
          <a:prstGeom prst="rect">
            <a:avLst/>
          </a:prstGeom>
          <a:noFill/>
          <a:ln>
            <a:noFill/>
          </a:ln>
        </p:spPr>
        <p:txBody>
          <a:bodyPr anchorCtr="0" anchor="t" bIns="0" lIns="0" spcFirstLastPara="1" rIns="0" wrap="square" tIns="0">
            <a:spAutoFit/>
          </a:bodyPr>
          <a:lstStyle/>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Qué hace esta esta pieza de código? Es a propósito?</a:t>
            </a:r>
            <a:endParaRPr sz="2000">
              <a:solidFill>
                <a:srgbClr val="2D2D2D"/>
              </a:solidFill>
              <a:latin typeface="Calibri"/>
              <a:ea typeface="Calibri"/>
              <a:cs typeface="Calibri"/>
              <a:sym typeface="Calibri"/>
            </a:endParaRPr>
          </a:p>
        </p:txBody>
      </p:sp>
      <p:pic>
        <p:nvPicPr>
          <p:cNvPr id="151" name="Google Shape;151;p18"/>
          <p:cNvPicPr preferRelativeResize="0"/>
          <p:nvPr/>
        </p:nvPicPr>
        <p:blipFill>
          <a:blip r:embed="rId5">
            <a:alphaModFix/>
          </a:blip>
          <a:stretch>
            <a:fillRect/>
          </a:stretch>
        </p:blipFill>
        <p:spPr>
          <a:xfrm>
            <a:off x="454400" y="3272363"/>
            <a:ext cx="2855025" cy="1277250"/>
          </a:xfrm>
          <a:prstGeom prst="rect">
            <a:avLst/>
          </a:prstGeom>
          <a:noFill/>
          <a:ln>
            <a:noFill/>
          </a:ln>
        </p:spPr>
      </p:pic>
      <p:sp>
        <p:nvSpPr>
          <p:cNvPr id="152" name="Google Shape;152;p18"/>
          <p:cNvSpPr txBox="1"/>
          <p:nvPr/>
        </p:nvSpPr>
        <p:spPr>
          <a:xfrm>
            <a:off x="0" y="4781038"/>
            <a:ext cx="8829300" cy="307800"/>
          </a:xfrm>
          <a:prstGeom prst="rect">
            <a:avLst/>
          </a:prstGeom>
          <a:noFill/>
          <a:ln>
            <a:noFill/>
          </a:ln>
        </p:spPr>
        <p:txBody>
          <a:bodyPr anchorCtr="0" anchor="t" bIns="0" lIns="0" spcFirstLastPara="1" rIns="0" wrap="square" tIns="0">
            <a:spAutoFit/>
          </a:bodyPr>
          <a:lstStyle/>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Y aqui?</a:t>
            </a:r>
            <a:endParaRPr sz="2000">
              <a:solidFill>
                <a:srgbClr val="2D2D2D"/>
              </a:solidFill>
              <a:latin typeface="Calibri"/>
              <a:ea typeface="Calibri"/>
              <a:cs typeface="Calibri"/>
              <a:sym typeface="Calibri"/>
            </a:endParaRPr>
          </a:p>
        </p:txBody>
      </p:sp>
      <p:pic>
        <p:nvPicPr>
          <p:cNvPr id="153" name="Google Shape;153;p18"/>
          <p:cNvPicPr preferRelativeResize="0"/>
          <p:nvPr/>
        </p:nvPicPr>
        <p:blipFill>
          <a:blip r:embed="rId6">
            <a:alphaModFix/>
          </a:blip>
          <a:stretch>
            <a:fillRect/>
          </a:stretch>
        </p:blipFill>
        <p:spPr>
          <a:xfrm>
            <a:off x="4348300" y="3202413"/>
            <a:ext cx="2731850" cy="1417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19"/>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19"/>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60" name="Google Shape;160;p19"/>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61" name="Google Shape;161;p19"/>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p19"/>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63" name="Google Shape;163;p19"/>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64" name="Google Shape;164;p19"/>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Iteración infinita</a:t>
            </a:r>
            <a:endParaRPr b="0" i="0" sz="1400" u="none" cap="none" strike="noStrike">
              <a:solidFill>
                <a:srgbClr val="000000"/>
              </a:solidFill>
              <a:latin typeface="Arial"/>
              <a:ea typeface="Arial"/>
              <a:cs typeface="Arial"/>
              <a:sym typeface="Arial"/>
            </a:endParaRPr>
          </a:p>
        </p:txBody>
      </p:sp>
      <p:sp>
        <p:nvSpPr>
          <p:cNvPr id="165" name="Google Shape;165;p19"/>
          <p:cNvSpPr txBox="1"/>
          <p:nvPr/>
        </p:nvSpPr>
        <p:spPr>
          <a:xfrm>
            <a:off x="211775" y="1594150"/>
            <a:ext cx="8829300" cy="123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Los ejemplos </a:t>
            </a:r>
            <a:r>
              <a:rPr lang="en-US" sz="2000">
                <a:solidFill>
                  <a:srgbClr val="2D2D2D"/>
                </a:solidFill>
                <a:latin typeface="Calibri"/>
                <a:ea typeface="Calibri"/>
                <a:cs typeface="Calibri"/>
                <a:sym typeface="Calibri"/>
              </a:rPr>
              <a:t>anteriores dan cuenta de lo que sucede cuando no hay una manera de que la guarda de como resultado “False”.</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a:solidFill>
                  <a:srgbClr val="2D2D2D"/>
                </a:solidFill>
                <a:latin typeface="Calibri"/>
                <a:ea typeface="Calibri"/>
                <a:cs typeface="Calibri"/>
                <a:sym typeface="Calibri"/>
              </a:rPr>
              <a:t>La mayoría de las veces (y en el marco de esta materia) esto es un bug.</a:t>
            </a:r>
            <a:r>
              <a:rPr lang="en-US" sz="2000">
                <a:solidFill>
                  <a:srgbClr val="2D2D2D"/>
                </a:solidFill>
                <a:latin typeface="Calibri"/>
                <a:ea typeface="Calibri"/>
                <a:cs typeface="Calibri"/>
                <a:sym typeface="Calibri"/>
              </a:rPr>
              <a:t> </a:t>
            </a:r>
            <a:endParaRPr sz="2000">
              <a:solidFill>
                <a:srgbClr val="2D2D2D"/>
              </a:solidFill>
              <a:latin typeface="Calibri"/>
              <a:ea typeface="Calibri"/>
              <a:cs typeface="Calibri"/>
              <a:sym typeface="Calibri"/>
            </a:endParaRPr>
          </a:p>
        </p:txBody>
      </p:sp>
      <p:sp>
        <p:nvSpPr>
          <p:cNvPr id="166" name="Google Shape;166;p19"/>
          <p:cNvSpPr txBox="1"/>
          <p:nvPr/>
        </p:nvSpPr>
        <p:spPr>
          <a:xfrm>
            <a:off x="254000" y="3597450"/>
            <a:ext cx="88293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Tip: a la hora de debuggear un script, los prints suelen ser muy útiles !</a:t>
            </a:r>
            <a:r>
              <a:rPr lang="en-US" sz="2000">
                <a:solidFill>
                  <a:srgbClr val="2D2D2D"/>
                </a:solidFill>
                <a:latin typeface="Calibri"/>
                <a:ea typeface="Calibri"/>
                <a:cs typeface="Calibri"/>
                <a:sym typeface="Calibri"/>
              </a:rPr>
              <a:t> </a:t>
            </a:r>
            <a:endParaRPr sz="2000">
              <a:solidFill>
                <a:srgbClr val="2D2D2D"/>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20"/>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p20"/>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73" name="Google Shape;173;p20"/>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74" name="Google Shape;174;p20"/>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20"/>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76" name="Google Shape;176;p20"/>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77" name="Google Shape;177;p20"/>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Ejercicio</a:t>
            </a:r>
            <a:endParaRPr b="0" i="0" sz="1400" u="none" cap="none" strike="noStrike">
              <a:solidFill>
                <a:srgbClr val="000000"/>
              </a:solidFill>
              <a:latin typeface="Arial"/>
              <a:ea typeface="Arial"/>
              <a:cs typeface="Arial"/>
              <a:sym typeface="Arial"/>
            </a:endParaRPr>
          </a:p>
        </p:txBody>
      </p:sp>
      <p:sp>
        <p:nvSpPr>
          <p:cNvPr id="178" name="Google Shape;178;p20"/>
          <p:cNvSpPr txBox="1"/>
          <p:nvPr/>
        </p:nvSpPr>
        <p:spPr>
          <a:xfrm>
            <a:off x="211775" y="1594150"/>
            <a:ext cx="88293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Codear una function que reciba como input un número y devuelva si el mismo es un número primo o no.</a:t>
            </a:r>
            <a:endParaRPr sz="2000">
              <a:solidFill>
                <a:srgbClr val="2D2D2D"/>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21"/>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p21"/>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85" name="Google Shape;185;p21"/>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86" name="Google Shape;186;p21"/>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7" name="Google Shape;187;p21"/>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88" name="Google Shape;188;p21"/>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89" name="Google Shape;189;p21"/>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Ejercicio 2</a:t>
            </a:r>
            <a:endParaRPr b="0" i="0" sz="1400" u="none" cap="none" strike="noStrike">
              <a:solidFill>
                <a:srgbClr val="000000"/>
              </a:solidFill>
              <a:latin typeface="Arial"/>
              <a:ea typeface="Arial"/>
              <a:cs typeface="Arial"/>
              <a:sym typeface="Arial"/>
            </a:endParaRPr>
          </a:p>
        </p:txBody>
      </p:sp>
      <p:sp>
        <p:nvSpPr>
          <p:cNvPr id="190" name="Google Shape;190;p21"/>
          <p:cNvSpPr txBox="1"/>
          <p:nvPr/>
        </p:nvSpPr>
        <p:spPr>
          <a:xfrm>
            <a:off x="211775" y="1594150"/>
            <a:ext cx="88293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Así como en clases pasadas creamos una function recursiva que devuelva el factorial de un número. Crear ahora una function que devuelva nuevamente el factorial de un número pero iterando con un while loop.</a:t>
            </a:r>
            <a:endParaRPr sz="2000">
              <a:solidFill>
                <a:srgbClr val="2D2D2D"/>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22"/>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p22"/>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97" name="Google Shape;197;p22"/>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98" name="Google Shape;198;p22"/>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9" name="Google Shape;199;p22"/>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00" name="Google Shape;200;p22"/>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01" name="Google Shape;201;p22"/>
          <p:cNvSpPr/>
          <p:nvPr/>
        </p:nvSpPr>
        <p:spPr>
          <a:xfrm>
            <a:off x="87675" y="759825"/>
            <a:ext cx="9001200" cy="529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2" name="Google Shape;202;p22"/>
          <p:cNvSpPr txBox="1"/>
          <p:nvPr/>
        </p:nvSpPr>
        <p:spPr>
          <a:xfrm>
            <a:off x="-132750" y="2593925"/>
            <a:ext cx="94095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solidFill>
                  <a:srgbClr val="2D2D2D"/>
                </a:solidFill>
                <a:latin typeface="Calibri"/>
                <a:ea typeface="Calibri"/>
                <a:cs typeface="Calibri"/>
                <a:sym typeface="Calibri"/>
              </a:rPr>
              <a:t>Listas</a:t>
            </a:r>
            <a:endParaRPr sz="4800">
              <a:solidFill>
                <a:srgbClr val="2D2D2D"/>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23"/>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23"/>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209" name="Google Shape;209;p23"/>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210" name="Google Shape;210;p23"/>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23"/>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12" name="Google Shape;212;p23"/>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13" name="Google Shape;213;p23"/>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Definiciones</a:t>
            </a:r>
            <a:endParaRPr b="0" i="0" sz="1400" u="none" cap="none" strike="noStrike">
              <a:solidFill>
                <a:srgbClr val="000000"/>
              </a:solidFill>
              <a:latin typeface="Arial"/>
              <a:ea typeface="Arial"/>
              <a:cs typeface="Arial"/>
              <a:sym typeface="Arial"/>
            </a:endParaRPr>
          </a:p>
        </p:txBody>
      </p:sp>
      <p:sp>
        <p:nvSpPr>
          <p:cNvPr id="214" name="Google Shape;214;p23"/>
          <p:cNvSpPr txBox="1"/>
          <p:nvPr/>
        </p:nvSpPr>
        <p:spPr>
          <a:xfrm>
            <a:off x="101150" y="1584400"/>
            <a:ext cx="88293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Hasta ahora lidiamos simplemente con tipos de datos elementales.</a:t>
            </a:r>
            <a:endParaRPr sz="2000">
              <a:solidFill>
                <a:srgbClr val="2D2D2D"/>
              </a:solidFill>
              <a:latin typeface="Calibri"/>
              <a:ea typeface="Calibri"/>
              <a:cs typeface="Calibri"/>
              <a:sym typeface="Calibri"/>
            </a:endParaRPr>
          </a:p>
        </p:txBody>
      </p:sp>
      <p:sp>
        <p:nvSpPr>
          <p:cNvPr id="215" name="Google Shape;215;p23"/>
          <p:cNvSpPr txBox="1"/>
          <p:nvPr/>
        </p:nvSpPr>
        <p:spPr>
          <a:xfrm>
            <a:off x="101150" y="2253100"/>
            <a:ext cx="8829300" cy="123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Introducimos ahora el concepto de </a:t>
            </a:r>
            <a:r>
              <a:rPr b="1" lang="en-US" sz="2000">
                <a:solidFill>
                  <a:srgbClr val="2D2D2D"/>
                </a:solidFill>
                <a:latin typeface="Calibri"/>
                <a:ea typeface="Calibri"/>
                <a:cs typeface="Calibri"/>
                <a:sym typeface="Calibri"/>
              </a:rPr>
              <a:t>estructuras de datos</a:t>
            </a:r>
            <a:r>
              <a:rPr lang="en-US" sz="2000">
                <a:solidFill>
                  <a:srgbClr val="2D2D2D"/>
                </a:solidFill>
                <a:latin typeface="Calibri"/>
                <a:ea typeface="Calibri"/>
                <a:cs typeface="Calibri"/>
                <a:sym typeface="Calibri"/>
              </a:rPr>
              <a:t>. Una estructura de datos es un item/objeto capaz de almacenar varios datos en su interior. Los mismos pueden ser tipos de datos distintos (osea, dentro de una estructura de datos puede haber al mismo tiempo strings e integers por ejemplo).</a:t>
            </a:r>
            <a:endParaRPr sz="2000">
              <a:solidFill>
                <a:srgbClr val="2D2D2D"/>
              </a:solidFill>
              <a:latin typeface="Calibri"/>
              <a:ea typeface="Calibri"/>
              <a:cs typeface="Calibri"/>
              <a:sym typeface="Calibri"/>
            </a:endParaRPr>
          </a:p>
        </p:txBody>
      </p:sp>
      <p:sp>
        <p:nvSpPr>
          <p:cNvPr id="216" name="Google Shape;216;p23"/>
          <p:cNvSpPr txBox="1"/>
          <p:nvPr/>
        </p:nvSpPr>
        <p:spPr>
          <a:xfrm>
            <a:off x="101150" y="3924500"/>
            <a:ext cx="8829300" cy="153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En la materia veremos estos tipos de estructuras de datos:</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Listas</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Tuplas</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Sets</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Diccionarios</a:t>
            </a:r>
            <a:endParaRPr sz="2000">
              <a:solidFill>
                <a:srgbClr val="2D2D2D"/>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24"/>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24"/>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223" name="Google Shape;223;p24"/>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224" name="Google Shape;224;p24"/>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5" name="Google Shape;225;p24"/>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26" name="Google Shape;226;p24"/>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27" name="Google Shape;227;p24"/>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Listas</a:t>
            </a:r>
            <a:endParaRPr b="0" i="0" sz="1400" u="none" cap="none" strike="noStrike">
              <a:solidFill>
                <a:srgbClr val="000000"/>
              </a:solidFill>
              <a:latin typeface="Arial"/>
              <a:ea typeface="Arial"/>
              <a:cs typeface="Arial"/>
              <a:sym typeface="Arial"/>
            </a:endParaRPr>
          </a:p>
        </p:txBody>
      </p:sp>
      <p:sp>
        <p:nvSpPr>
          <p:cNvPr id="228" name="Google Shape;228;p24"/>
          <p:cNvSpPr txBox="1"/>
          <p:nvPr/>
        </p:nvSpPr>
        <p:spPr>
          <a:xfrm>
            <a:off x="101150" y="1584400"/>
            <a:ext cx="8829300" cy="2154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2D2D2D"/>
                </a:solidFill>
                <a:latin typeface="Calibri"/>
                <a:ea typeface="Calibri"/>
                <a:cs typeface="Calibri"/>
                <a:sym typeface="Calibri"/>
              </a:rPr>
              <a:t>Estructura de datos que tiene las siguientes características:</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Sus elementos están ordenados de manera secuencial (esto las diferencia de los sets y los diccionarios)</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Sus elementos son mutables (esto las diferencia de las tuplas)</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Puede tener elementos repetidos (esto las diferencia de los sets)</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p:txBody>
      </p:sp>
      <p:sp>
        <p:nvSpPr>
          <p:cNvPr id="229" name="Google Shape;229;p24"/>
          <p:cNvSpPr txBox="1"/>
          <p:nvPr/>
        </p:nvSpPr>
        <p:spPr>
          <a:xfrm>
            <a:off x="101150" y="3739300"/>
            <a:ext cx="8829300" cy="12315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rPr lang="en-US" sz="2000">
                <a:solidFill>
                  <a:srgbClr val="2D2D2D"/>
                </a:solidFill>
                <a:latin typeface="Calibri"/>
                <a:ea typeface="Calibri"/>
                <a:cs typeface="Calibri"/>
                <a:sym typeface="Calibri"/>
              </a:rPr>
              <a:t>Si bien las listas (al igual que el resto de las estructuras de datos) pueden tener dentro elementos de distinto tipo, esto se considera una </a:t>
            </a:r>
            <a:r>
              <a:rPr lang="en-US" sz="2000">
                <a:solidFill>
                  <a:srgbClr val="FF0000"/>
                </a:solidFill>
                <a:latin typeface="Calibri"/>
                <a:ea typeface="Calibri"/>
                <a:cs typeface="Calibri"/>
                <a:sym typeface="Calibri"/>
              </a:rPr>
              <a:t>mala práctica</a:t>
            </a:r>
            <a:r>
              <a:rPr lang="en-US" sz="2000">
                <a:solidFill>
                  <a:srgbClr val="2D2D2D"/>
                </a:solidFill>
                <a:latin typeface="Calibri"/>
                <a:ea typeface="Calibri"/>
                <a:cs typeface="Calibri"/>
                <a:sym typeface="Calibri"/>
              </a:rPr>
              <a:t>. Se espera que todos los elementos dentro de una lista tengan el mismo tipo.</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25"/>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25"/>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236" name="Google Shape;236;p25"/>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237" name="Google Shape;237;p25"/>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25"/>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39" name="Google Shape;239;p25"/>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40" name="Google Shape;240;p25"/>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Listas: sintaxis</a:t>
            </a:r>
            <a:endParaRPr b="0" i="0" sz="1400" u="none" cap="none" strike="noStrike">
              <a:solidFill>
                <a:srgbClr val="000000"/>
              </a:solidFill>
              <a:latin typeface="Arial"/>
              <a:ea typeface="Arial"/>
              <a:cs typeface="Arial"/>
              <a:sym typeface="Arial"/>
            </a:endParaRPr>
          </a:p>
        </p:txBody>
      </p:sp>
      <p:sp>
        <p:nvSpPr>
          <p:cNvPr id="241" name="Google Shape;241;p25"/>
          <p:cNvSpPr txBox="1"/>
          <p:nvPr/>
        </p:nvSpPr>
        <p:spPr>
          <a:xfrm>
            <a:off x="101150" y="1584400"/>
            <a:ext cx="8829300" cy="1847100"/>
          </a:xfrm>
          <a:prstGeom prst="rect">
            <a:avLst/>
          </a:prstGeom>
          <a:noFill/>
          <a:ln>
            <a:noFill/>
          </a:ln>
        </p:spPr>
        <p:txBody>
          <a:bodyPr anchorCtr="0" anchor="t" bIns="0" lIns="0" spcFirstLastPara="1" rIns="0" wrap="square" tIns="0">
            <a:spAutoFit/>
          </a:bodyPr>
          <a:lstStyle/>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Las listas se representan con corchetes y sus elementos están separados por coma.</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lang="en-US" sz="2000">
                <a:solidFill>
                  <a:srgbClr val="2D2D2D"/>
                </a:solidFill>
                <a:latin typeface="Calibri"/>
                <a:ea typeface="Calibri"/>
                <a:cs typeface="Calibri"/>
                <a:sym typeface="Calibri"/>
              </a:rPr>
              <a:t>Para crear una lista vacía se puede usar el comando list() o simplemente abrir y cerrar corchetes: []</a:t>
            </a:r>
            <a:endParaRPr sz="2000">
              <a:solidFill>
                <a:srgbClr val="2D2D2D"/>
              </a:solidFill>
              <a:latin typeface="Calibri"/>
              <a:ea typeface="Calibri"/>
              <a:cs typeface="Calibri"/>
              <a:sym typeface="Calibri"/>
            </a:endParaRPr>
          </a:p>
          <a:p>
            <a:pPr indent="0" lvl="0" marL="0" rtl="0" algn="l">
              <a:spcBef>
                <a:spcPts val="0"/>
              </a:spcBef>
              <a:spcAft>
                <a:spcPts val="0"/>
              </a:spcAft>
              <a:buNone/>
            </a:pPr>
            <a:r>
              <a:t/>
            </a:r>
            <a:endParaRPr sz="2000">
              <a:solidFill>
                <a:srgbClr val="2D2D2D"/>
              </a:solidFill>
              <a:latin typeface="Calibri"/>
              <a:ea typeface="Calibri"/>
              <a:cs typeface="Calibri"/>
              <a:sym typeface="Calibri"/>
            </a:endParaRPr>
          </a:p>
          <a:p>
            <a:pPr indent="0" lvl="0" marL="0" rtl="0" algn="l">
              <a:spcBef>
                <a:spcPts val="0"/>
              </a:spcBef>
              <a:spcAft>
                <a:spcPts val="0"/>
              </a:spcAft>
              <a:buNone/>
            </a:pPr>
            <a:r>
              <a:rPr lang="en-US" sz="2000">
                <a:solidFill>
                  <a:srgbClr val="2D2D2D"/>
                </a:solidFill>
                <a:latin typeface="Calibri"/>
                <a:ea typeface="Calibri"/>
                <a:cs typeface="Calibri"/>
                <a:sym typeface="Calibri"/>
              </a:rPr>
              <a:t>Ejemplos:</a:t>
            </a:r>
            <a:endParaRPr sz="2000">
              <a:solidFill>
                <a:srgbClr val="2D2D2D"/>
              </a:solidFill>
              <a:latin typeface="Calibri"/>
              <a:ea typeface="Calibri"/>
              <a:cs typeface="Calibri"/>
              <a:sym typeface="Calibri"/>
            </a:endParaRPr>
          </a:p>
        </p:txBody>
      </p:sp>
      <p:pic>
        <p:nvPicPr>
          <p:cNvPr id="242" name="Google Shape;242;p25"/>
          <p:cNvPicPr preferRelativeResize="0"/>
          <p:nvPr/>
        </p:nvPicPr>
        <p:blipFill>
          <a:blip r:embed="rId4">
            <a:alphaModFix/>
          </a:blip>
          <a:stretch>
            <a:fillRect/>
          </a:stretch>
        </p:blipFill>
        <p:spPr>
          <a:xfrm>
            <a:off x="2188475" y="3554675"/>
            <a:ext cx="4767050" cy="1333725"/>
          </a:xfrm>
          <a:prstGeom prst="rect">
            <a:avLst/>
          </a:prstGeom>
          <a:noFill/>
          <a:ln>
            <a:noFill/>
          </a:ln>
        </p:spPr>
      </p:pic>
      <p:sp>
        <p:nvSpPr>
          <p:cNvPr id="243" name="Google Shape;243;p25"/>
          <p:cNvSpPr txBox="1"/>
          <p:nvPr/>
        </p:nvSpPr>
        <p:spPr>
          <a:xfrm>
            <a:off x="157350" y="5168350"/>
            <a:ext cx="88293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000">
                <a:solidFill>
                  <a:srgbClr val="FF0000"/>
                </a:solidFill>
                <a:latin typeface="Calibri"/>
                <a:ea typeface="Calibri"/>
                <a:cs typeface="Calibri"/>
                <a:sym typeface="Calibri"/>
              </a:rPr>
              <a:t>Qué notan en la 3ra variable?</a:t>
            </a:r>
            <a:endParaRPr sz="2000">
              <a:solidFill>
                <a:srgbClr val="FF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 name="Shape 247"/>
        <p:cNvGrpSpPr/>
        <p:nvPr/>
      </p:nvGrpSpPr>
      <p:grpSpPr>
        <a:xfrm>
          <a:off x="0" y="0"/>
          <a:ext cx="0" cy="0"/>
          <a:chOff x="0" y="0"/>
          <a:chExt cx="0" cy="0"/>
        </a:xfrm>
      </p:grpSpPr>
      <p:sp>
        <p:nvSpPr>
          <p:cNvPr id="248" name="Google Shape;248;p26"/>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9" name="Google Shape;249;p26"/>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250" name="Google Shape;250;p26"/>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251" name="Google Shape;251;p26"/>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p26"/>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53" name="Google Shape;253;p26"/>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54" name="Google Shape;254;p26"/>
          <p:cNvSpPr/>
          <p:nvPr/>
        </p:nvSpPr>
        <p:spPr>
          <a:xfrm>
            <a:off x="87675" y="759825"/>
            <a:ext cx="9001200" cy="529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55" name="Google Shape;255;p26"/>
          <p:cNvSpPr txBox="1"/>
          <p:nvPr/>
        </p:nvSpPr>
        <p:spPr>
          <a:xfrm>
            <a:off x="-132750" y="2593925"/>
            <a:ext cx="94095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solidFill>
                  <a:srgbClr val="2D2D2D"/>
                </a:solidFill>
                <a:latin typeface="Calibri"/>
                <a:ea typeface="Calibri"/>
                <a:cs typeface="Calibri"/>
                <a:sym typeface="Calibri"/>
              </a:rPr>
              <a:t>Operaciones con listas</a:t>
            </a:r>
            <a:endParaRPr sz="4800">
              <a:solidFill>
                <a:srgbClr val="2D2D2D"/>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27"/>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p27"/>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262" name="Google Shape;262;p27"/>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263" name="Google Shape;263;p27"/>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p27"/>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65" name="Google Shape;265;p27"/>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66" name="Google Shape;266;p27"/>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Operaciones</a:t>
            </a:r>
            <a:endParaRPr b="0" i="0" sz="1400" u="none" cap="none" strike="noStrike">
              <a:solidFill>
                <a:srgbClr val="000000"/>
              </a:solidFill>
              <a:latin typeface="Arial"/>
              <a:ea typeface="Arial"/>
              <a:cs typeface="Arial"/>
              <a:sym typeface="Arial"/>
            </a:endParaRPr>
          </a:p>
        </p:txBody>
      </p:sp>
      <p:sp>
        <p:nvSpPr>
          <p:cNvPr id="267" name="Google Shape;267;p27"/>
          <p:cNvSpPr txBox="1"/>
          <p:nvPr/>
        </p:nvSpPr>
        <p:spPr>
          <a:xfrm>
            <a:off x="101150" y="1584400"/>
            <a:ext cx="8829300" cy="2462700"/>
          </a:xfrm>
          <a:prstGeom prst="rect">
            <a:avLst/>
          </a:prstGeom>
          <a:noFill/>
          <a:ln>
            <a:noFill/>
          </a:ln>
        </p:spPr>
        <p:txBody>
          <a:bodyPr anchorCtr="0" anchor="t" bIns="0" lIns="0" spcFirstLastPara="1" rIns="0" wrap="square" tIns="0">
            <a:spAutoFit/>
          </a:bodyPr>
          <a:lstStyle/>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len(</a:t>
            </a:r>
            <a:r>
              <a:rPr b="1" lang="en-US" sz="2000">
                <a:solidFill>
                  <a:srgbClr val="00FF00"/>
                </a:solidFill>
                <a:latin typeface="Calibri"/>
                <a:ea typeface="Calibri"/>
                <a:cs typeface="Calibri"/>
                <a:sym typeface="Calibri"/>
              </a:rPr>
              <a:t>&lt;lista&gt;</a:t>
            </a:r>
            <a:r>
              <a:rPr b="1" lang="en-US" sz="2000">
                <a:solidFill>
                  <a:srgbClr val="2D2D2D"/>
                </a:solidFill>
                <a:latin typeface="Calibri"/>
                <a:ea typeface="Calibri"/>
                <a:cs typeface="Calibri"/>
                <a:sym typeface="Calibri"/>
              </a:rPr>
              <a:t>)</a:t>
            </a:r>
            <a:r>
              <a:rPr lang="en-US" sz="2000">
                <a:solidFill>
                  <a:srgbClr val="2D2D2D"/>
                </a:solidFill>
                <a:latin typeface="Calibri"/>
                <a:ea typeface="Calibri"/>
                <a:cs typeface="Calibri"/>
                <a:sym typeface="Calibri"/>
              </a:rPr>
              <a:t>: Esta función devuelve un integer que da cuenta de la cantidad de elementos que </a:t>
            </a:r>
            <a:r>
              <a:rPr lang="en-US" sz="2000">
                <a:solidFill>
                  <a:srgbClr val="2D2D2D"/>
                </a:solidFill>
                <a:latin typeface="Calibri"/>
                <a:ea typeface="Calibri"/>
                <a:cs typeface="Calibri"/>
                <a:sym typeface="Calibri"/>
              </a:rPr>
              <a:t>esta</a:t>
            </a:r>
            <a:r>
              <a:rPr lang="en-US" sz="2000">
                <a:solidFill>
                  <a:srgbClr val="2D2D2D"/>
                </a:solidFill>
                <a:latin typeface="Calibri"/>
                <a:ea typeface="Calibri"/>
                <a:cs typeface="Calibri"/>
                <a:sym typeface="Calibri"/>
              </a:rPr>
              <a:t> lista posee.</a:t>
            </a:r>
            <a:endParaRPr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00FF00"/>
                </a:solidFill>
                <a:latin typeface="Calibri"/>
                <a:ea typeface="Calibri"/>
                <a:cs typeface="Calibri"/>
                <a:sym typeface="Calibri"/>
              </a:rPr>
              <a:t>&lt;lista&gt;</a:t>
            </a:r>
            <a:r>
              <a:rPr b="1" lang="en-US" sz="2000">
                <a:solidFill>
                  <a:schemeClr val="dk1"/>
                </a:solidFill>
                <a:latin typeface="Calibri"/>
                <a:ea typeface="Calibri"/>
                <a:cs typeface="Calibri"/>
                <a:sym typeface="Calibri"/>
              </a:rPr>
              <a:t>.append(</a:t>
            </a:r>
            <a:r>
              <a:rPr b="1" lang="en-US" sz="2000">
                <a:solidFill>
                  <a:srgbClr val="FF0000"/>
                </a:solidFill>
                <a:latin typeface="Calibri"/>
                <a:ea typeface="Calibri"/>
                <a:cs typeface="Calibri"/>
                <a:sym typeface="Calibri"/>
              </a:rPr>
              <a:t>&lt;element&gt;</a:t>
            </a:r>
            <a:r>
              <a:rPr b="1" lang="en-US" sz="2000">
                <a:solidFill>
                  <a:schemeClr val="dk1"/>
                </a:solidFill>
                <a:latin typeface="Calibri"/>
                <a:ea typeface="Calibri"/>
                <a:cs typeface="Calibri"/>
                <a:sym typeface="Calibri"/>
              </a:rPr>
              <a:t>): </a:t>
            </a:r>
            <a:r>
              <a:rPr lang="en-US" sz="2000">
                <a:solidFill>
                  <a:schemeClr val="dk1"/>
                </a:solidFill>
                <a:latin typeface="Calibri"/>
                <a:ea typeface="Calibri"/>
                <a:cs typeface="Calibri"/>
                <a:sym typeface="Calibri"/>
              </a:rPr>
              <a:t>Esta función agrega un elemento a la última posición de la lista.</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b="1" lang="en-US" sz="2000">
                <a:solidFill>
                  <a:srgbClr val="00FF00"/>
                </a:solidFill>
                <a:latin typeface="Calibri"/>
                <a:ea typeface="Calibri"/>
                <a:cs typeface="Calibri"/>
                <a:sym typeface="Calibri"/>
              </a:rPr>
              <a:t>&lt;lista&gt;</a:t>
            </a:r>
            <a:r>
              <a:rPr b="1" lang="en-US" sz="2000">
                <a:solidFill>
                  <a:schemeClr val="dk1"/>
                </a:solidFill>
                <a:latin typeface="Calibri"/>
                <a:ea typeface="Calibri"/>
                <a:cs typeface="Calibri"/>
                <a:sym typeface="Calibri"/>
              </a:rPr>
              <a:t>.insert(</a:t>
            </a:r>
            <a:r>
              <a:rPr b="1" lang="en-US" sz="2000">
                <a:solidFill>
                  <a:srgbClr val="FF0000"/>
                </a:solidFill>
                <a:latin typeface="Calibri"/>
                <a:ea typeface="Calibri"/>
                <a:cs typeface="Calibri"/>
                <a:sym typeface="Calibri"/>
              </a:rPr>
              <a:t>&lt;posicion&gt;</a:t>
            </a:r>
            <a:r>
              <a:rPr b="1" lang="en-US" sz="2000">
                <a:solidFill>
                  <a:schemeClr val="dk1"/>
                </a:solidFill>
                <a:latin typeface="Calibri"/>
                <a:ea typeface="Calibri"/>
                <a:cs typeface="Calibri"/>
                <a:sym typeface="Calibri"/>
              </a:rPr>
              <a:t>,</a:t>
            </a:r>
            <a:r>
              <a:rPr b="1" lang="en-US" sz="2000">
                <a:solidFill>
                  <a:srgbClr val="FF0000"/>
                </a:solidFill>
                <a:latin typeface="Calibri"/>
                <a:ea typeface="Calibri"/>
                <a:cs typeface="Calibri"/>
                <a:sym typeface="Calibri"/>
              </a:rPr>
              <a:t>&lt;element&gt;</a:t>
            </a:r>
            <a:r>
              <a:rPr b="1" lang="en-US" sz="2000">
                <a:solidFill>
                  <a:schemeClr val="dk1"/>
                </a:solidFill>
                <a:latin typeface="Calibri"/>
                <a:ea typeface="Calibri"/>
                <a:cs typeface="Calibri"/>
                <a:sym typeface="Calibri"/>
              </a:rPr>
              <a:t>): </a:t>
            </a:r>
            <a:r>
              <a:rPr lang="en-US" sz="2000">
                <a:solidFill>
                  <a:schemeClr val="dk1"/>
                </a:solidFill>
                <a:latin typeface="Calibri"/>
                <a:ea typeface="Calibri"/>
                <a:cs typeface="Calibri"/>
                <a:sym typeface="Calibri"/>
              </a:rPr>
              <a:t>Agrega el elemento en la posición indicada.</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b="1" lang="en-US" sz="2000">
                <a:solidFill>
                  <a:srgbClr val="00FF00"/>
                </a:solidFill>
                <a:latin typeface="Calibri"/>
                <a:ea typeface="Calibri"/>
                <a:cs typeface="Calibri"/>
                <a:sym typeface="Calibri"/>
              </a:rPr>
              <a:t>&lt;lista&gt;</a:t>
            </a:r>
            <a:r>
              <a:rPr b="1" lang="en-US" sz="2000">
                <a:solidFill>
                  <a:schemeClr val="dk1"/>
                </a:solidFill>
                <a:latin typeface="Calibri"/>
                <a:ea typeface="Calibri"/>
                <a:cs typeface="Calibri"/>
                <a:sym typeface="Calibri"/>
              </a:rPr>
              <a:t>.pop(): </a:t>
            </a:r>
            <a:r>
              <a:rPr lang="en-US" sz="2000">
                <a:solidFill>
                  <a:schemeClr val="dk1"/>
                </a:solidFill>
                <a:latin typeface="Calibri"/>
                <a:ea typeface="Calibri"/>
                <a:cs typeface="Calibri"/>
                <a:sym typeface="Calibri"/>
              </a:rPr>
              <a:t>Devuelve (y a la vez elimina de la lista) el elemento de la última posición de la misma.</a:t>
            </a:r>
            <a:endParaRPr sz="2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8"/>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28"/>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274" name="Google Shape;274;p28"/>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275" name="Google Shape;275;p28"/>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6" name="Google Shape;276;p28"/>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77" name="Google Shape;277;p28"/>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78" name="Google Shape;278;p28"/>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Operaciones. Ejemplo</a:t>
            </a:r>
            <a:endParaRPr b="0" i="0" sz="1400" u="none" cap="none" strike="noStrike">
              <a:solidFill>
                <a:srgbClr val="000000"/>
              </a:solidFill>
              <a:latin typeface="Arial"/>
              <a:ea typeface="Arial"/>
              <a:cs typeface="Arial"/>
              <a:sym typeface="Arial"/>
            </a:endParaRPr>
          </a:p>
        </p:txBody>
      </p:sp>
      <p:sp>
        <p:nvSpPr>
          <p:cNvPr id="279" name="Google Shape;279;p28"/>
          <p:cNvSpPr txBox="1"/>
          <p:nvPr/>
        </p:nvSpPr>
        <p:spPr>
          <a:xfrm>
            <a:off x="101150" y="1584400"/>
            <a:ext cx="88293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id="280" name="Google Shape;280;p28"/>
          <p:cNvPicPr preferRelativeResize="0"/>
          <p:nvPr/>
        </p:nvPicPr>
        <p:blipFill>
          <a:blip r:embed="rId4">
            <a:alphaModFix/>
          </a:blip>
          <a:stretch>
            <a:fillRect/>
          </a:stretch>
        </p:blipFill>
        <p:spPr>
          <a:xfrm>
            <a:off x="578500" y="1584400"/>
            <a:ext cx="7312101" cy="2421850"/>
          </a:xfrm>
          <a:prstGeom prst="rect">
            <a:avLst/>
          </a:prstGeom>
          <a:noFill/>
          <a:ln>
            <a:noFill/>
          </a:ln>
        </p:spPr>
      </p:pic>
      <p:sp>
        <p:nvSpPr>
          <p:cNvPr id="281" name="Google Shape;281;p28"/>
          <p:cNvSpPr txBox="1"/>
          <p:nvPr/>
        </p:nvSpPr>
        <p:spPr>
          <a:xfrm>
            <a:off x="254000" y="4380500"/>
            <a:ext cx="88293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u="sng">
                <a:solidFill>
                  <a:srgbClr val="FF0000"/>
                </a:solidFill>
                <a:latin typeface="Calibri"/>
                <a:ea typeface="Calibri"/>
                <a:cs typeface="Calibri"/>
                <a:sym typeface="Calibri"/>
              </a:rPr>
              <a:t>Muy importante</a:t>
            </a:r>
            <a:r>
              <a:rPr b="1" lang="en-US" sz="2000">
                <a:solidFill>
                  <a:srgbClr val="2D2D2D"/>
                </a:solidFill>
                <a:latin typeface="Calibri"/>
                <a:ea typeface="Calibri"/>
                <a:cs typeface="Calibri"/>
                <a:sym typeface="Calibri"/>
              </a:rPr>
              <a:t>: qué sucede en la asignación de last_2 y j?</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2D2D2D"/>
                </a:solidFill>
                <a:latin typeface="Calibri"/>
                <a:ea typeface="Calibri"/>
                <a:cs typeface="Calibri"/>
                <a:sym typeface="Calibri"/>
              </a:rPr>
              <a:t>Donde se inserta el 8 al usar insert?</a:t>
            </a:r>
            <a:endParaRPr b="1" sz="2000">
              <a:solidFill>
                <a:srgbClr val="2D2D2D"/>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 name="Shape 285"/>
        <p:cNvGrpSpPr/>
        <p:nvPr/>
      </p:nvGrpSpPr>
      <p:grpSpPr>
        <a:xfrm>
          <a:off x="0" y="0"/>
          <a:ext cx="0" cy="0"/>
          <a:chOff x="0" y="0"/>
          <a:chExt cx="0" cy="0"/>
        </a:xfrm>
      </p:grpSpPr>
      <p:sp>
        <p:nvSpPr>
          <p:cNvPr id="286" name="Google Shape;286;p29"/>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29"/>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288" name="Google Shape;288;p29"/>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289" name="Google Shape;289;p29"/>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0" name="Google Shape;290;p29"/>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91" name="Google Shape;291;p29"/>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92" name="Google Shape;292;p29"/>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Indexación</a:t>
            </a:r>
            <a:endParaRPr b="0" i="0" sz="1400" u="none" cap="none" strike="noStrike">
              <a:solidFill>
                <a:srgbClr val="000000"/>
              </a:solidFill>
              <a:latin typeface="Arial"/>
              <a:ea typeface="Arial"/>
              <a:cs typeface="Arial"/>
              <a:sym typeface="Arial"/>
            </a:endParaRPr>
          </a:p>
        </p:txBody>
      </p:sp>
      <p:sp>
        <p:nvSpPr>
          <p:cNvPr id="293" name="Google Shape;293;p29"/>
          <p:cNvSpPr txBox="1"/>
          <p:nvPr/>
        </p:nvSpPr>
        <p:spPr>
          <a:xfrm>
            <a:off x="101150" y="1584400"/>
            <a:ext cx="8829300" cy="2770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Como dijimos antes, una de las características de las listas es que sus elementos están ordenados en una secuencia.</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2D2D2D"/>
                </a:solidFill>
                <a:latin typeface="Calibri"/>
                <a:ea typeface="Calibri"/>
                <a:cs typeface="Calibri"/>
                <a:sym typeface="Calibri"/>
              </a:rPr>
              <a:t>Llamamos índice al lugar puntual de la lista donde ese elemento se encuentra.</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2D2D2D"/>
                </a:solidFill>
                <a:latin typeface="Calibri"/>
                <a:ea typeface="Calibri"/>
                <a:cs typeface="Calibri"/>
                <a:sym typeface="Calibri"/>
              </a:rPr>
              <a:t>Para referirnos a un elemento particular de una lista, la nomenclatura es </a:t>
            </a:r>
            <a:r>
              <a:rPr b="1" lang="en-US" sz="2000">
                <a:solidFill>
                  <a:srgbClr val="00FF00"/>
                </a:solidFill>
                <a:latin typeface="Calibri"/>
                <a:ea typeface="Calibri"/>
                <a:cs typeface="Calibri"/>
                <a:sym typeface="Calibri"/>
              </a:rPr>
              <a:t>lista</a:t>
            </a:r>
            <a:r>
              <a:rPr b="1" lang="en-US" sz="2000">
                <a:solidFill>
                  <a:srgbClr val="2D2D2D"/>
                </a:solidFill>
                <a:latin typeface="Calibri"/>
                <a:ea typeface="Calibri"/>
                <a:cs typeface="Calibri"/>
                <a:sym typeface="Calibri"/>
              </a:rPr>
              <a:t>[</a:t>
            </a:r>
            <a:r>
              <a:rPr b="1" lang="en-US" sz="2000">
                <a:solidFill>
                  <a:srgbClr val="FF0000"/>
                </a:solidFill>
                <a:latin typeface="Calibri"/>
                <a:ea typeface="Calibri"/>
                <a:cs typeface="Calibri"/>
                <a:sym typeface="Calibri"/>
              </a:rPr>
              <a:t>indice</a:t>
            </a:r>
            <a:r>
              <a:rPr b="1" lang="en-US" sz="2000">
                <a:solidFill>
                  <a:srgbClr val="2D2D2D"/>
                </a:solidFill>
                <a:latin typeface="Calibri"/>
                <a:ea typeface="Calibri"/>
                <a:cs typeface="Calibri"/>
                <a:sym typeface="Calibri"/>
              </a:rPr>
              <a:t>]</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2D2D2D"/>
                </a:solidFill>
                <a:latin typeface="Calibri"/>
                <a:ea typeface="Calibri"/>
                <a:cs typeface="Calibri"/>
                <a:sym typeface="Calibri"/>
              </a:rPr>
              <a:t>Esto nos puede servir para seleccionar un elemento, para redefinirlo o para borrarlo</a:t>
            </a:r>
            <a:endParaRPr b="1" sz="2000">
              <a:solidFill>
                <a:srgbClr val="2D2D2D"/>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sp>
        <p:nvSpPr>
          <p:cNvPr id="298" name="Google Shape;298;p30"/>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30"/>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300" name="Google Shape;300;p30"/>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301" name="Google Shape;301;p30"/>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p30"/>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03" name="Google Shape;303;p30"/>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04" name="Google Shape;304;p30"/>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Indexación. Ejemplo</a:t>
            </a:r>
            <a:endParaRPr b="0" i="0" sz="1400" u="none" cap="none" strike="noStrike">
              <a:solidFill>
                <a:srgbClr val="000000"/>
              </a:solidFill>
              <a:latin typeface="Arial"/>
              <a:ea typeface="Arial"/>
              <a:cs typeface="Arial"/>
              <a:sym typeface="Arial"/>
            </a:endParaRPr>
          </a:p>
        </p:txBody>
      </p:sp>
      <p:sp>
        <p:nvSpPr>
          <p:cNvPr id="305" name="Google Shape;305;p30"/>
          <p:cNvSpPr txBox="1"/>
          <p:nvPr/>
        </p:nvSpPr>
        <p:spPr>
          <a:xfrm>
            <a:off x="101150" y="1584400"/>
            <a:ext cx="88293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Sigamos con el ejemplo anterior</a:t>
            </a:r>
            <a:endParaRPr b="1" sz="2000">
              <a:solidFill>
                <a:srgbClr val="2D2D2D"/>
              </a:solidFill>
              <a:latin typeface="Calibri"/>
              <a:ea typeface="Calibri"/>
              <a:cs typeface="Calibri"/>
              <a:sym typeface="Calibri"/>
            </a:endParaRPr>
          </a:p>
        </p:txBody>
      </p:sp>
      <p:pic>
        <p:nvPicPr>
          <p:cNvPr id="306" name="Google Shape;306;p30"/>
          <p:cNvPicPr preferRelativeResize="0"/>
          <p:nvPr/>
        </p:nvPicPr>
        <p:blipFill>
          <a:blip r:embed="rId4">
            <a:alphaModFix/>
          </a:blip>
          <a:stretch>
            <a:fillRect/>
          </a:stretch>
        </p:blipFill>
        <p:spPr>
          <a:xfrm>
            <a:off x="619975" y="2249175"/>
            <a:ext cx="6272250" cy="1929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sp>
        <p:nvSpPr>
          <p:cNvPr id="311" name="Google Shape;311;p31"/>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p31"/>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313" name="Google Shape;313;p31"/>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314" name="Google Shape;314;p31"/>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5" name="Google Shape;315;p31"/>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16" name="Google Shape;316;p31"/>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17" name="Google Shape;317;p31"/>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Indexación. Aclaraciones</a:t>
            </a:r>
            <a:endParaRPr b="0" i="0" sz="1400" u="none" cap="none" strike="noStrike">
              <a:solidFill>
                <a:srgbClr val="000000"/>
              </a:solidFill>
              <a:latin typeface="Arial"/>
              <a:ea typeface="Arial"/>
              <a:cs typeface="Arial"/>
              <a:sym typeface="Arial"/>
            </a:endParaRPr>
          </a:p>
        </p:txBody>
      </p:sp>
      <p:sp>
        <p:nvSpPr>
          <p:cNvPr id="318" name="Google Shape;318;p31"/>
          <p:cNvSpPr txBox="1"/>
          <p:nvPr/>
        </p:nvSpPr>
        <p:spPr>
          <a:xfrm>
            <a:off x="101150" y="1584400"/>
            <a:ext cx="8829300" cy="2154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Como ya notamos en los ejemplos anteriores, en la notación de Python, </a:t>
            </a:r>
            <a:r>
              <a:rPr b="1" lang="en-US" sz="2000">
                <a:solidFill>
                  <a:srgbClr val="FF0000"/>
                </a:solidFill>
                <a:latin typeface="Calibri"/>
                <a:ea typeface="Calibri"/>
                <a:cs typeface="Calibri"/>
                <a:sym typeface="Calibri"/>
              </a:rPr>
              <a:t>el primer número es el 0</a:t>
            </a:r>
            <a:r>
              <a:rPr b="1" lang="en-US" sz="2000">
                <a:solidFill>
                  <a:srgbClr val="2D2D2D"/>
                </a:solidFill>
                <a:latin typeface="Calibri"/>
                <a:ea typeface="Calibri"/>
                <a:cs typeface="Calibri"/>
                <a:sym typeface="Calibri"/>
              </a:rPr>
              <a:t>. Esto aplica a todas las estructuras de datos que veremos en la materia que puedan ser indexadas.</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2D2D2D"/>
                </a:solidFill>
                <a:latin typeface="Calibri"/>
                <a:ea typeface="Calibri"/>
                <a:cs typeface="Calibri"/>
                <a:sym typeface="Calibri"/>
              </a:rPr>
              <a:t>Cuando pretendemos acceder de alguna manera a un elemento que no existe (pretendemos seleccionar el elemento 10 de un a lista de 6 elementos) tendremos el error </a:t>
            </a:r>
            <a:r>
              <a:rPr b="1" lang="en-US" sz="2000">
                <a:solidFill>
                  <a:srgbClr val="FF0000"/>
                </a:solidFill>
                <a:latin typeface="Calibri"/>
                <a:ea typeface="Calibri"/>
                <a:cs typeface="Calibri"/>
                <a:sym typeface="Calibri"/>
              </a:rPr>
              <a:t>index out of range</a:t>
            </a:r>
            <a:endParaRPr b="1" sz="2000">
              <a:solidFill>
                <a:srgbClr val="FF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32"/>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4" name="Google Shape;324;p32"/>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325" name="Google Shape;325;p32"/>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326" name="Google Shape;326;p32"/>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32"/>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28" name="Google Shape;328;p32"/>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29" name="Google Shape;329;p32"/>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Ejercicio FUNDAMENTAL</a:t>
            </a:r>
            <a:endParaRPr b="0" i="0" sz="1400" u="none" cap="none" strike="noStrike">
              <a:solidFill>
                <a:srgbClr val="000000"/>
              </a:solidFill>
              <a:latin typeface="Arial"/>
              <a:ea typeface="Arial"/>
              <a:cs typeface="Arial"/>
              <a:sym typeface="Arial"/>
            </a:endParaRPr>
          </a:p>
        </p:txBody>
      </p:sp>
      <p:sp>
        <p:nvSpPr>
          <p:cNvPr id="330" name="Google Shape;330;p32"/>
          <p:cNvSpPr txBox="1"/>
          <p:nvPr/>
        </p:nvSpPr>
        <p:spPr>
          <a:xfrm>
            <a:off x="101150" y="1584400"/>
            <a:ext cx="8829300" cy="2154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Dada la lista:</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2D2D2D"/>
                </a:solidFill>
                <a:latin typeface="Calibri"/>
                <a:ea typeface="Calibri"/>
                <a:cs typeface="Calibri"/>
                <a:sym typeface="Calibri"/>
              </a:rPr>
              <a:t>lista_ej = [32,45,665,75,75,788,75,32]</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2D2D2D"/>
                </a:solidFill>
                <a:latin typeface="Calibri"/>
                <a:ea typeface="Calibri"/>
                <a:cs typeface="Calibri"/>
                <a:sym typeface="Calibri"/>
              </a:rPr>
              <a:t>Generar un script que realice la sumatoria de los elementos de esta lista mediante iteración.</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33"/>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6" name="Google Shape;336;p33"/>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337" name="Google Shape;337;p33"/>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338" name="Google Shape;338;p33"/>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33"/>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40" name="Google Shape;340;p33"/>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41" name="Google Shape;341;p33"/>
          <p:cNvSpPr txBox="1"/>
          <p:nvPr/>
        </p:nvSpPr>
        <p:spPr>
          <a:xfrm>
            <a:off x="371975" y="929775"/>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Ejercicio complementario</a:t>
            </a:r>
            <a:endParaRPr b="0" i="0" sz="1400" u="none" cap="none" strike="noStrike">
              <a:solidFill>
                <a:srgbClr val="000000"/>
              </a:solidFill>
              <a:latin typeface="Arial"/>
              <a:ea typeface="Arial"/>
              <a:cs typeface="Arial"/>
              <a:sym typeface="Arial"/>
            </a:endParaRPr>
          </a:p>
        </p:txBody>
      </p:sp>
      <p:sp>
        <p:nvSpPr>
          <p:cNvPr id="342" name="Google Shape;342;p33"/>
          <p:cNvSpPr txBox="1"/>
          <p:nvPr/>
        </p:nvSpPr>
        <p:spPr>
          <a:xfrm>
            <a:off x="101150" y="1584400"/>
            <a:ext cx="8829300" cy="153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Utilizando nuevamente los conceptos de indexación e iteración, crear una function que nos diga si la siguiente lista está ordenada de mayor a menor:</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2D2D2D"/>
                </a:solidFill>
                <a:latin typeface="Calibri"/>
                <a:ea typeface="Calibri"/>
                <a:cs typeface="Calibri"/>
                <a:sym typeface="Calibri"/>
              </a:rPr>
              <a:t>lista=[7231,3232,321,33,2]</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34"/>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p34"/>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349" name="Google Shape;349;p34"/>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350" name="Google Shape;350;p34"/>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1" name="Google Shape;351;p34"/>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52" name="Google Shape;352;p34"/>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53" name="Google Shape;353;p34"/>
          <p:cNvSpPr/>
          <p:nvPr/>
        </p:nvSpPr>
        <p:spPr>
          <a:xfrm>
            <a:off x="87675" y="759825"/>
            <a:ext cx="9001200" cy="529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54" name="Google Shape;354;p34"/>
          <p:cNvSpPr txBox="1"/>
          <p:nvPr/>
        </p:nvSpPr>
        <p:spPr>
          <a:xfrm>
            <a:off x="659325" y="2603675"/>
            <a:ext cx="7857900" cy="147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solidFill>
                  <a:srgbClr val="2D2D2D"/>
                </a:solidFill>
                <a:latin typeface="Calibri"/>
                <a:ea typeface="Calibri"/>
                <a:cs typeface="Calibri"/>
                <a:sym typeface="Calibri"/>
              </a:rPr>
              <a:t>Aliasing: valores, objetos y referencias</a:t>
            </a:r>
            <a:endParaRPr sz="4800">
              <a:solidFill>
                <a:srgbClr val="2D2D2D"/>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p35"/>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0" name="Google Shape;360;p35"/>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361" name="Google Shape;361;p35"/>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362" name="Google Shape;362;p35"/>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3" name="Google Shape;363;p35"/>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64" name="Google Shape;364;p35"/>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65" name="Google Shape;365;p35"/>
          <p:cNvSpPr txBox="1"/>
          <p:nvPr/>
        </p:nvSpPr>
        <p:spPr>
          <a:xfrm>
            <a:off x="101150" y="910300"/>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Valores y objetos</a:t>
            </a:r>
            <a:endParaRPr b="0" i="0" sz="1400" u="none" cap="none" strike="noStrike">
              <a:solidFill>
                <a:srgbClr val="000000"/>
              </a:solidFill>
              <a:latin typeface="Arial"/>
              <a:ea typeface="Arial"/>
              <a:cs typeface="Arial"/>
              <a:sym typeface="Arial"/>
            </a:endParaRPr>
          </a:p>
        </p:txBody>
      </p:sp>
      <p:sp>
        <p:nvSpPr>
          <p:cNvPr id="366" name="Google Shape;366;p35"/>
          <p:cNvSpPr txBox="1"/>
          <p:nvPr/>
        </p:nvSpPr>
        <p:spPr>
          <a:xfrm>
            <a:off x="101150" y="1584400"/>
            <a:ext cx="8829300" cy="4002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Hasta ahora venimos manejando los conceptos de </a:t>
            </a:r>
            <a:r>
              <a:rPr b="1" lang="en-US" sz="2000" u="sng">
                <a:solidFill>
                  <a:srgbClr val="FF0000"/>
                </a:solidFill>
                <a:latin typeface="Calibri"/>
                <a:ea typeface="Calibri"/>
                <a:cs typeface="Calibri"/>
                <a:sym typeface="Calibri"/>
              </a:rPr>
              <a:t>valor</a:t>
            </a:r>
            <a:r>
              <a:rPr b="1" lang="en-US" sz="2000">
                <a:solidFill>
                  <a:srgbClr val="FF0000"/>
                </a:solidFill>
                <a:latin typeface="Calibri"/>
                <a:ea typeface="Calibri"/>
                <a:cs typeface="Calibri"/>
                <a:sym typeface="Calibri"/>
              </a:rPr>
              <a:t>  </a:t>
            </a:r>
            <a:r>
              <a:rPr b="1" lang="en-US" sz="2000">
                <a:solidFill>
                  <a:srgbClr val="2D2D2D"/>
                </a:solidFill>
                <a:latin typeface="Calibri"/>
                <a:ea typeface="Calibri"/>
                <a:cs typeface="Calibri"/>
                <a:sym typeface="Calibri"/>
              </a:rPr>
              <a:t>y  </a:t>
            </a:r>
            <a:r>
              <a:rPr b="1" lang="en-US" sz="2000" u="sng">
                <a:solidFill>
                  <a:srgbClr val="FF0000"/>
                </a:solidFill>
                <a:latin typeface="Calibri"/>
                <a:ea typeface="Calibri"/>
                <a:cs typeface="Calibri"/>
                <a:sym typeface="Calibri"/>
              </a:rPr>
              <a:t>objeto</a:t>
            </a:r>
            <a:r>
              <a:rPr b="1" lang="en-US" sz="2000" u="sng">
                <a:solidFill>
                  <a:srgbClr val="FF0000"/>
                </a:solidFill>
                <a:latin typeface="Calibri"/>
                <a:ea typeface="Calibri"/>
                <a:cs typeface="Calibri"/>
                <a:sym typeface="Calibri"/>
              </a:rPr>
              <a:t> </a:t>
            </a:r>
            <a:r>
              <a:rPr b="1" lang="en-US" sz="2000">
                <a:latin typeface="Calibri"/>
                <a:ea typeface="Calibri"/>
                <a:cs typeface="Calibri"/>
                <a:sym typeface="Calibri"/>
              </a:rPr>
              <a:t> como si fueran lo mismo</a:t>
            </a:r>
            <a:r>
              <a:rPr b="1" lang="en-US" sz="2000">
                <a:solidFill>
                  <a:srgbClr val="2D2D2D"/>
                </a:solidFill>
                <a:latin typeface="Calibri"/>
                <a:ea typeface="Calibri"/>
                <a:cs typeface="Calibri"/>
                <a:sym typeface="Calibri"/>
              </a:rPr>
              <a:t>. No lo son (precisamente)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2D2D2D"/>
                </a:solidFill>
                <a:latin typeface="Calibri"/>
                <a:ea typeface="Calibri"/>
                <a:cs typeface="Calibri"/>
                <a:sym typeface="Calibri"/>
              </a:rPr>
              <a:t>Decimos que un </a:t>
            </a:r>
            <a:r>
              <a:rPr b="1" lang="en-US" sz="2000" u="sng">
                <a:solidFill>
                  <a:srgbClr val="2D2D2D"/>
                </a:solidFill>
                <a:latin typeface="Calibri"/>
                <a:ea typeface="Calibri"/>
                <a:cs typeface="Calibri"/>
                <a:sym typeface="Calibri"/>
              </a:rPr>
              <a:t>objeto</a:t>
            </a:r>
            <a:r>
              <a:rPr b="1" lang="en-US" sz="2000">
                <a:solidFill>
                  <a:srgbClr val="2D2D2D"/>
                </a:solidFill>
                <a:latin typeface="Calibri"/>
                <a:ea typeface="Calibri"/>
                <a:cs typeface="Calibri"/>
                <a:sym typeface="Calibri"/>
              </a:rPr>
              <a:t> es básicamente una secuencia de bits que ocupan lugar en memoria y que pueden ser utilizados por python.</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2D2D2D"/>
                </a:solidFill>
                <a:latin typeface="Calibri"/>
                <a:ea typeface="Calibri"/>
                <a:cs typeface="Calibri"/>
                <a:sym typeface="Calibri"/>
              </a:rPr>
              <a:t>El valor es la expresión de ese objeto, la cual se guarda localmente.</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a:solidFill>
                  <a:srgbClr val="2D2D2D"/>
                </a:solidFill>
                <a:latin typeface="Calibri"/>
                <a:ea typeface="Calibri"/>
                <a:cs typeface="Calibri"/>
                <a:sym typeface="Calibri"/>
              </a:rPr>
              <a:t>Qué consecuencia tiene esta diferencia tan sutil?</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rPr b="1" lang="en-US" sz="2000" u="sng">
                <a:solidFill>
                  <a:srgbClr val="FF0000"/>
                </a:solidFill>
                <a:latin typeface="Calibri"/>
                <a:ea typeface="Calibri"/>
                <a:cs typeface="Calibri"/>
                <a:sym typeface="Calibri"/>
              </a:rPr>
              <a:t>QUE UN MISMO OBJETO PUEDE SER REPRESENTADO POR 2 VALORES</a:t>
            </a:r>
            <a:r>
              <a:rPr b="1" lang="en-US" sz="2000">
                <a:solidFill>
                  <a:srgbClr val="2D2D2D"/>
                </a:solidFill>
                <a:latin typeface="Calibri"/>
                <a:ea typeface="Calibri"/>
                <a:cs typeface="Calibri"/>
                <a:sym typeface="Calibri"/>
              </a:rPr>
              <a:t>. Y ahí </a:t>
            </a:r>
            <a:r>
              <a:rPr b="1" lang="en-US" sz="2000">
                <a:solidFill>
                  <a:srgbClr val="2D2D2D"/>
                </a:solidFill>
                <a:latin typeface="Calibri"/>
                <a:ea typeface="Calibri"/>
                <a:cs typeface="Calibri"/>
                <a:sym typeface="Calibri"/>
              </a:rPr>
              <a:t>pueden</a:t>
            </a:r>
            <a:r>
              <a:rPr b="1" lang="en-US" sz="2000">
                <a:solidFill>
                  <a:srgbClr val="2D2D2D"/>
                </a:solidFill>
                <a:latin typeface="Calibri"/>
                <a:ea typeface="Calibri"/>
                <a:cs typeface="Calibri"/>
                <a:sym typeface="Calibri"/>
              </a:rPr>
              <a:t> generarse confusiones.</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36"/>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2" name="Google Shape;372;p36"/>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373" name="Google Shape;373;p36"/>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374" name="Google Shape;374;p36"/>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5" name="Google Shape;375;p36"/>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76" name="Google Shape;376;p36"/>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77" name="Google Shape;377;p36"/>
          <p:cNvSpPr txBox="1"/>
          <p:nvPr/>
        </p:nvSpPr>
        <p:spPr>
          <a:xfrm>
            <a:off x="101150" y="910300"/>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Aliasing</a:t>
            </a:r>
            <a:endParaRPr b="0" i="0" sz="1400" u="none" cap="none" strike="noStrike">
              <a:solidFill>
                <a:srgbClr val="000000"/>
              </a:solidFill>
              <a:latin typeface="Arial"/>
              <a:ea typeface="Arial"/>
              <a:cs typeface="Arial"/>
              <a:sym typeface="Arial"/>
            </a:endParaRPr>
          </a:p>
        </p:txBody>
      </p:sp>
      <p:sp>
        <p:nvSpPr>
          <p:cNvPr id="378" name="Google Shape;378;p36"/>
          <p:cNvSpPr txBox="1"/>
          <p:nvPr/>
        </p:nvSpPr>
        <p:spPr>
          <a:xfrm>
            <a:off x="101150" y="1584400"/>
            <a:ext cx="88293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Cuando hablamos de objetos y tipos de datos simples, objeto y valor son efectivamente sinónimos.</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p:txBody>
      </p:sp>
      <p:pic>
        <p:nvPicPr>
          <p:cNvPr id="379" name="Google Shape;379;p36"/>
          <p:cNvPicPr preferRelativeResize="0"/>
          <p:nvPr/>
        </p:nvPicPr>
        <p:blipFill>
          <a:blip r:embed="rId4">
            <a:alphaModFix/>
          </a:blip>
          <a:stretch>
            <a:fillRect/>
          </a:stretch>
        </p:blipFill>
        <p:spPr>
          <a:xfrm>
            <a:off x="152400" y="2660200"/>
            <a:ext cx="1951750" cy="2085200"/>
          </a:xfrm>
          <a:prstGeom prst="rect">
            <a:avLst/>
          </a:prstGeom>
          <a:noFill/>
          <a:ln>
            <a:noFill/>
          </a:ln>
        </p:spPr>
      </p:pic>
      <p:sp>
        <p:nvSpPr>
          <p:cNvPr id="380" name="Google Shape;380;p36"/>
          <p:cNvSpPr txBox="1"/>
          <p:nvPr/>
        </p:nvSpPr>
        <p:spPr>
          <a:xfrm>
            <a:off x="2328475" y="3011750"/>
            <a:ext cx="6214800" cy="1539300"/>
          </a:xfrm>
          <a:prstGeom prst="rect">
            <a:avLst/>
          </a:prstGeom>
          <a:noFill/>
          <a:ln>
            <a:noFill/>
          </a:ln>
        </p:spPr>
        <p:txBody>
          <a:bodyPr anchorCtr="0" anchor="t" bIns="0" lIns="0" spcFirstLastPara="1" rIns="0" wrap="square" tIns="0">
            <a:spAutoFit/>
          </a:bodyPr>
          <a:lstStyle/>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a y b son 2 variables diferentes. Tienen el mismo valor pero son objetos diferentes</a:t>
            </a:r>
            <a:endParaRPr b="1"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A pesar de decir a=b, a y b siguen siendo 2 objetos diferenciados. Cada uno ocupa su lugar en memoria</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4" name="Shape 384"/>
        <p:cNvGrpSpPr/>
        <p:nvPr/>
      </p:nvGrpSpPr>
      <p:grpSpPr>
        <a:xfrm>
          <a:off x="0" y="0"/>
          <a:ext cx="0" cy="0"/>
          <a:chOff x="0" y="0"/>
          <a:chExt cx="0" cy="0"/>
        </a:xfrm>
      </p:grpSpPr>
      <p:sp>
        <p:nvSpPr>
          <p:cNvPr id="385" name="Google Shape;385;p37"/>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37"/>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387" name="Google Shape;387;p37"/>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388" name="Google Shape;388;p37"/>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37"/>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90" name="Google Shape;390;p37"/>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391" name="Google Shape;391;p37"/>
          <p:cNvSpPr txBox="1"/>
          <p:nvPr/>
        </p:nvSpPr>
        <p:spPr>
          <a:xfrm>
            <a:off x="101150" y="910300"/>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Aliasing</a:t>
            </a:r>
            <a:endParaRPr b="0" i="0" sz="1400" u="none" cap="none" strike="noStrike">
              <a:solidFill>
                <a:srgbClr val="000000"/>
              </a:solidFill>
              <a:latin typeface="Arial"/>
              <a:ea typeface="Arial"/>
              <a:cs typeface="Arial"/>
              <a:sym typeface="Arial"/>
            </a:endParaRPr>
          </a:p>
        </p:txBody>
      </p:sp>
      <p:pic>
        <p:nvPicPr>
          <p:cNvPr id="392" name="Google Shape;392;p37"/>
          <p:cNvPicPr preferRelativeResize="0"/>
          <p:nvPr/>
        </p:nvPicPr>
        <p:blipFill>
          <a:blip r:embed="rId4">
            <a:alphaModFix/>
          </a:blip>
          <a:stretch>
            <a:fillRect/>
          </a:stretch>
        </p:blipFill>
        <p:spPr>
          <a:xfrm>
            <a:off x="1107050" y="1341400"/>
            <a:ext cx="5715000" cy="3291052"/>
          </a:xfrm>
          <a:prstGeom prst="rect">
            <a:avLst/>
          </a:prstGeom>
          <a:noFill/>
          <a:ln>
            <a:noFill/>
          </a:ln>
        </p:spPr>
      </p:pic>
      <p:sp>
        <p:nvSpPr>
          <p:cNvPr id="393" name="Google Shape;393;p37"/>
          <p:cNvSpPr txBox="1"/>
          <p:nvPr/>
        </p:nvSpPr>
        <p:spPr>
          <a:xfrm>
            <a:off x="1402850" y="4877025"/>
            <a:ext cx="51234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Pensemos estas preguntas por unos instantes</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38"/>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38"/>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400" name="Google Shape;400;p38"/>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401" name="Google Shape;401;p38"/>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2" name="Google Shape;402;p38"/>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03" name="Google Shape;403;p38"/>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04" name="Google Shape;404;p38"/>
          <p:cNvSpPr txBox="1"/>
          <p:nvPr/>
        </p:nvSpPr>
        <p:spPr>
          <a:xfrm>
            <a:off x="101150" y="910300"/>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Aliasing</a:t>
            </a:r>
            <a:endParaRPr b="0" i="0" sz="1400" u="none" cap="none" strike="noStrike">
              <a:solidFill>
                <a:srgbClr val="000000"/>
              </a:solidFill>
              <a:latin typeface="Arial"/>
              <a:ea typeface="Arial"/>
              <a:cs typeface="Arial"/>
              <a:sym typeface="Arial"/>
            </a:endParaRPr>
          </a:p>
        </p:txBody>
      </p:sp>
      <p:pic>
        <p:nvPicPr>
          <p:cNvPr id="405" name="Google Shape;405;p38"/>
          <p:cNvPicPr preferRelativeResize="0"/>
          <p:nvPr/>
        </p:nvPicPr>
        <p:blipFill>
          <a:blip r:embed="rId4">
            <a:alphaModFix/>
          </a:blip>
          <a:stretch>
            <a:fillRect/>
          </a:stretch>
        </p:blipFill>
        <p:spPr>
          <a:xfrm>
            <a:off x="2321725" y="1341398"/>
            <a:ext cx="4067750" cy="2342450"/>
          </a:xfrm>
          <a:prstGeom prst="rect">
            <a:avLst/>
          </a:prstGeom>
          <a:noFill/>
          <a:ln>
            <a:noFill/>
          </a:ln>
        </p:spPr>
      </p:pic>
      <p:sp>
        <p:nvSpPr>
          <p:cNvPr id="406" name="Google Shape;406;p38"/>
          <p:cNvSpPr txBox="1"/>
          <p:nvPr/>
        </p:nvSpPr>
        <p:spPr>
          <a:xfrm>
            <a:off x="180450" y="3753825"/>
            <a:ext cx="8783100" cy="2462700"/>
          </a:xfrm>
          <a:prstGeom prst="rect">
            <a:avLst/>
          </a:prstGeom>
          <a:noFill/>
          <a:ln>
            <a:noFill/>
          </a:ln>
        </p:spPr>
        <p:txBody>
          <a:bodyPr anchorCtr="0" anchor="t" bIns="0" lIns="0" spcFirstLastPara="1" rIns="0" wrap="square" tIns="0">
            <a:spAutoFit/>
          </a:bodyPr>
          <a:lstStyle/>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Al principio está todo bien. lista_1 y lista_2 son 2 objetos creados independientes el uno del otro.</a:t>
            </a:r>
            <a:endParaRPr b="1"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Al variar uno, el otro no varía.</a:t>
            </a:r>
            <a:endParaRPr b="1"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Luego, usamos el operador asignación (=) y eso generó aliasing.</a:t>
            </a:r>
            <a:endParaRPr b="1"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lista_2=lista_1 quiere decir: tanto lista_1 como lista_2 apuntan al mismo objeto.</a:t>
            </a:r>
            <a:endParaRPr b="1"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Entonces, al modificar lista_2, lista_1 también se ve afectada.</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39"/>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2" name="Google Shape;412;p39"/>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413" name="Google Shape;413;p39"/>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414" name="Google Shape;414;p39"/>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5" name="Google Shape;415;p39"/>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16" name="Google Shape;416;p39"/>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17" name="Google Shape;417;p39"/>
          <p:cNvSpPr txBox="1"/>
          <p:nvPr/>
        </p:nvSpPr>
        <p:spPr>
          <a:xfrm>
            <a:off x="101150" y="910300"/>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Aliasing</a:t>
            </a:r>
            <a:endParaRPr b="0" i="0" sz="1400" u="none" cap="none" strike="noStrike">
              <a:solidFill>
                <a:srgbClr val="000000"/>
              </a:solidFill>
              <a:latin typeface="Arial"/>
              <a:ea typeface="Arial"/>
              <a:cs typeface="Arial"/>
              <a:sym typeface="Arial"/>
            </a:endParaRPr>
          </a:p>
        </p:txBody>
      </p:sp>
      <p:sp>
        <p:nvSpPr>
          <p:cNvPr id="418" name="Google Shape;418;p39"/>
          <p:cNvSpPr txBox="1"/>
          <p:nvPr/>
        </p:nvSpPr>
        <p:spPr>
          <a:xfrm>
            <a:off x="180450" y="1542525"/>
            <a:ext cx="8783100" cy="2462700"/>
          </a:xfrm>
          <a:prstGeom prst="rect">
            <a:avLst/>
          </a:prstGeom>
          <a:noFill/>
          <a:ln>
            <a:noFill/>
          </a:ln>
        </p:spPr>
        <p:txBody>
          <a:bodyPr anchorCtr="0" anchor="t" bIns="0" lIns="0" spcFirstLastPara="1" rIns="0" wrap="square" tIns="0">
            <a:spAutoFit/>
          </a:bodyPr>
          <a:lstStyle/>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Este fenómeno se llama aliasing porque el objeto posee un nombre (lista_1 en nuestro ejemplo) y luego existe un </a:t>
            </a:r>
            <a:r>
              <a:rPr b="1" lang="en-US" sz="2000">
                <a:solidFill>
                  <a:srgbClr val="FF0000"/>
                </a:solidFill>
                <a:latin typeface="Calibri"/>
                <a:ea typeface="Calibri"/>
                <a:cs typeface="Calibri"/>
                <a:sym typeface="Calibri"/>
              </a:rPr>
              <a:t>alias</a:t>
            </a:r>
            <a:r>
              <a:rPr b="1" lang="en-US" sz="2000">
                <a:solidFill>
                  <a:srgbClr val="2D2D2D"/>
                </a:solidFill>
                <a:latin typeface="Calibri"/>
                <a:ea typeface="Calibri"/>
                <a:cs typeface="Calibri"/>
                <a:sym typeface="Calibri"/>
              </a:rPr>
              <a:t> que </a:t>
            </a:r>
            <a:r>
              <a:rPr b="1" lang="en-US" sz="2000">
                <a:solidFill>
                  <a:srgbClr val="FF0000"/>
                </a:solidFill>
                <a:latin typeface="Calibri"/>
                <a:ea typeface="Calibri"/>
                <a:cs typeface="Calibri"/>
                <a:sym typeface="Calibri"/>
              </a:rPr>
              <a:t>referencia</a:t>
            </a:r>
            <a:r>
              <a:rPr b="1" lang="en-US" sz="2000">
                <a:solidFill>
                  <a:srgbClr val="2D2D2D"/>
                </a:solidFill>
                <a:latin typeface="Calibri"/>
                <a:ea typeface="Calibri"/>
                <a:cs typeface="Calibri"/>
                <a:sym typeface="Calibri"/>
              </a:rPr>
              <a:t> el mismo objeto (lista_2).</a:t>
            </a:r>
            <a:endParaRPr b="1"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Por qué Python hace esto? Porque </a:t>
            </a:r>
            <a:r>
              <a:rPr b="1" lang="en-US" sz="2000" u="sng">
                <a:solidFill>
                  <a:srgbClr val="2D2D2D"/>
                </a:solidFill>
                <a:latin typeface="Calibri"/>
                <a:ea typeface="Calibri"/>
                <a:cs typeface="Calibri"/>
                <a:sym typeface="Calibri"/>
              </a:rPr>
              <a:t>pretende ahorrar espacio</a:t>
            </a:r>
            <a:r>
              <a:rPr b="1" lang="en-US" sz="2000">
                <a:solidFill>
                  <a:srgbClr val="2D2D2D"/>
                </a:solidFill>
                <a:latin typeface="Calibri"/>
                <a:ea typeface="Calibri"/>
                <a:cs typeface="Calibri"/>
                <a:sym typeface="Calibri"/>
              </a:rPr>
              <a:t>. Un solo objeto con varios alias ocupa memoria una sola vez.</a:t>
            </a:r>
            <a:endParaRPr b="1" sz="2000">
              <a:solidFill>
                <a:srgbClr val="2D2D2D"/>
              </a:solidFill>
              <a:latin typeface="Calibri"/>
              <a:ea typeface="Calibri"/>
              <a:cs typeface="Calibri"/>
              <a:sym typeface="Calibri"/>
            </a:endParaRPr>
          </a:p>
          <a:p>
            <a:pPr indent="-355600" lvl="0" marL="457200" rtl="0" algn="l">
              <a:spcBef>
                <a:spcPts val="0"/>
              </a:spcBef>
              <a:spcAft>
                <a:spcPts val="0"/>
              </a:spcAft>
              <a:buClr>
                <a:srgbClr val="2D2D2D"/>
              </a:buClr>
              <a:buSzPts val="2000"/>
              <a:buFont typeface="Calibri"/>
              <a:buChar char="●"/>
            </a:pPr>
            <a:r>
              <a:rPr b="1" lang="en-US" sz="2000">
                <a:solidFill>
                  <a:srgbClr val="2D2D2D"/>
                </a:solidFill>
                <a:latin typeface="Calibri"/>
                <a:ea typeface="Calibri"/>
                <a:cs typeface="Calibri"/>
                <a:sym typeface="Calibri"/>
              </a:rPr>
              <a:t>No es muy difícil darse cuenta por que este comportamiento suele ser un motivo de bugs en el código. Hay que ser cuidadoso!</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sp>
        <p:nvSpPr>
          <p:cNvPr id="423" name="Google Shape;423;p40"/>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4" name="Google Shape;424;p40"/>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425" name="Google Shape;425;p40"/>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426" name="Google Shape;426;p40"/>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40"/>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28" name="Google Shape;428;p40"/>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29" name="Google Shape;429;p40"/>
          <p:cNvSpPr txBox="1"/>
          <p:nvPr/>
        </p:nvSpPr>
        <p:spPr>
          <a:xfrm>
            <a:off x="101150" y="910300"/>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Ejercicio</a:t>
            </a:r>
            <a:endParaRPr b="0" i="0" sz="1400" u="none" cap="none" strike="noStrike">
              <a:solidFill>
                <a:srgbClr val="000000"/>
              </a:solidFill>
              <a:latin typeface="Arial"/>
              <a:ea typeface="Arial"/>
              <a:cs typeface="Arial"/>
              <a:sym typeface="Arial"/>
            </a:endParaRPr>
          </a:p>
        </p:txBody>
      </p:sp>
      <p:sp>
        <p:nvSpPr>
          <p:cNvPr id="430" name="Google Shape;430;p40"/>
          <p:cNvSpPr txBox="1"/>
          <p:nvPr/>
        </p:nvSpPr>
        <p:spPr>
          <a:xfrm>
            <a:off x="180450" y="1542525"/>
            <a:ext cx="87831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Crear una function que tome como argumento una lista, appendee el número 2000 y returnee dicha lista. La lista input no debe ser modificada.</a:t>
            </a:r>
            <a:endParaRPr b="1" sz="2000">
              <a:solidFill>
                <a:srgbClr val="2D2D2D"/>
              </a:solidFill>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41"/>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6" name="Google Shape;436;p41"/>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437" name="Google Shape;437;p41"/>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438" name="Google Shape;438;p41"/>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41"/>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40" name="Google Shape;440;p41"/>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41" name="Google Shape;441;p41"/>
          <p:cNvSpPr txBox="1"/>
          <p:nvPr/>
        </p:nvSpPr>
        <p:spPr>
          <a:xfrm>
            <a:off x="101150" y="910300"/>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Tip</a:t>
            </a:r>
            <a:endParaRPr b="0" i="0" sz="1400" u="none" cap="none" strike="noStrike">
              <a:solidFill>
                <a:srgbClr val="000000"/>
              </a:solidFill>
              <a:latin typeface="Arial"/>
              <a:ea typeface="Arial"/>
              <a:cs typeface="Arial"/>
              <a:sym typeface="Arial"/>
            </a:endParaRPr>
          </a:p>
        </p:txBody>
      </p:sp>
      <p:sp>
        <p:nvSpPr>
          <p:cNvPr id="442" name="Google Shape;442;p41"/>
          <p:cNvSpPr txBox="1"/>
          <p:nvPr/>
        </p:nvSpPr>
        <p:spPr>
          <a:xfrm>
            <a:off x="180450" y="1542525"/>
            <a:ext cx="8783100" cy="153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Si uno desea usar el operador asignación para crear una lista nueva que, además, sea un objeto diferente. Puede hacer un </a:t>
            </a:r>
            <a:r>
              <a:rPr b="1" lang="en-US" sz="2000">
                <a:solidFill>
                  <a:srgbClr val="FF0000"/>
                </a:solidFill>
                <a:latin typeface="Calibri"/>
                <a:ea typeface="Calibri"/>
                <a:cs typeface="Calibri"/>
                <a:sym typeface="Calibri"/>
              </a:rPr>
              <a:t>deepcopy </a:t>
            </a:r>
            <a:r>
              <a:rPr b="1" lang="en-US" sz="2000">
                <a:latin typeface="Calibri"/>
                <a:ea typeface="Calibri"/>
                <a:cs typeface="Calibri"/>
                <a:sym typeface="Calibri"/>
              </a:rPr>
              <a:t>con la función list.</a:t>
            </a:r>
            <a:endParaRPr b="1" sz="2000">
              <a:latin typeface="Calibri"/>
              <a:ea typeface="Calibri"/>
              <a:cs typeface="Calibri"/>
              <a:sym typeface="Calibri"/>
            </a:endParaRPr>
          </a:p>
          <a:p>
            <a:pPr indent="0" lvl="0" marL="0" rtl="0" algn="l">
              <a:spcBef>
                <a:spcPts val="0"/>
              </a:spcBef>
              <a:spcAft>
                <a:spcPts val="0"/>
              </a:spcAft>
              <a:buNone/>
            </a:pPr>
            <a:r>
              <a:t/>
            </a:r>
            <a:endParaRPr b="1" sz="2000">
              <a:latin typeface="Calibri"/>
              <a:ea typeface="Calibri"/>
              <a:cs typeface="Calibri"/>
              <a:sym typeface="Calibri"/>
            </a:endParaRPr>
          </a:p>
          <a:p>
            <a:pPr indent="0" lvl="0" marL="0" rtl="0" algn="l">
              <a:spcBef>
                <a:spcPts val="0"/>
              </a:spcBef>
              <a:spcAft>
                <a:spcPts val="0"/>
              </a:spcAft>
              <a:buNone/>
            </a:pPr>
            <a:r>
              <a:rPr b="1" lang="en-US" sz="2000">
                <a:latin typeface="Calibri"/>
                <a:ea typeface="Calibri"/>
                <a:cs typeface="Calibri"/>
                <a:sym typeface="Calibri"/>
              </a:rPr>
              <a:t>lista_2= list(lista_1)</a:t>
            </a:r>
            <a:endParaRPr b="1" sz="2000">
              <a:latin typeface="Calibri"/>
              <a:ea typeface="Calibri"/>
              <a:cs typeface="Calibri"/>
              <a:sym typeface="Calibri"/>
            </a:endParaRPr>
          </a:p>
          <a:p>
            <a:pPr indent="0" lvl="0" marL="0" rtl="0" algn="l">
              <a:spcBef>
                <a:spcPts val="0"/>
              </a:spcBef>
              <a:spcAft>
                <a:spcPts val="0"/>
              </a:spcAft>
              <a:buNone/>
            </a:pPr>
            <a:r>
              <a:t/>
            </a:r>
            <a:endParaRPr b="1" sz="2000">
              <a:solidFill>
                <a:srgbClr val="2D2D2D"/>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42"/>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8" name="Google Shape;448;p42"/>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449" name="Google Shape;449;p42"/>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450" name="Google Shape;450;p42"/>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p42"/>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52" name="Google Shape;452;p42"/>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53" name="Google Shape;453;p42"/>
          <p:cNvSpPr/>
          <p:nvPr/>
        </p:nvSpPr>
        <p:spPr>
          <a:xfrm>
            <a:off x="87675" y="759825"/>
            <a:ext cx="9001200" cy="529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54" name="Google Shape;454;p42"/>
          <p:cNvSpPr txBox="1"/>
          <p:nvPr/>
        </p:nvSpPr>
        <p:spPr>
          <a:xfrm>
            <a:off x="-132750" y="2593925"/>
            <a:ext cx="9409500" cy="738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4800">
                <a:solidFill>
                  <a:srgbClr val="2D2D2D"/>
                </a:solidFill>
                <a:latin typeface="Calibri"/>
                <a:ea typeface="Calibri"/>
                <a:cs typeface="Calibri"/>
                <a:sym typeface="Calibri"/>
              </a:rPr>
              <a:t>Slicing</a:t>
            </a:r>
            <a:endParaRPr sz="4800">
              <a:solidFill>
                <a:srgbClr val="2D2D2D"/>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43"/>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0" name="Google Shape;460;p43"/>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461" name="Google Shape;461;p43"/>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462" name="Google Shape;462;p43"/>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3" name="Google Shape;463;p43"/>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64" name="Google Shape;464;p43"/>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65" name="Google Shape;465;p43"/>
          <p:cNvSpPr txBox="1"/>
          <p:nvPr/>
        </p:nvSpPr>
        <p:spPr>
          <a:xfrm>
            <a:off x="101150" y="910300"/>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Slicing</a:t>
            </a:r>
            <a:endParaRPr b="0" i="0" sz="1400" u="none" cap="none" strike="noStrike">
              <a:solidFill>
                <a:srgbClr val="000000"/>
              </a:solidFill>
              <a:latin typeface="Arial"/>
              <a:ea typeface="Arial"/>
              <a:cs typeface="Arial"/>
              <a:sym typeface="Arial"/>
            </a:endParaRPr>
          </a:p>
        </p:txBody>
      </p:sp>
      <p:sp>
        <p:nvSpPr>
          <p:cNvPr id="466" name="Google Shape;466;p43"/>
          <p:cNvSpPr txBox="1"/>
          <p:nvPr/>
        </p:nvSpPr>
        <p:spPr>
          <a:xfrm>
            <a:off x="180450" y="1542525"/>
            <a:ext cx="87831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Es un operador que te permite obtener sublistas a partir de una lista. El lado derecho del conjunto de un slicing no incluye el límite </a:t>
            </a:r>
            <a:endParaRPr b="1" sz="2000">
              <a:solidFill>
                <a:srgbClr val="2D2D2D"/>
              </a:solidFill>
              <a:latin typeface="Calibri"/>
              <a:ea typeface="Calibri"/>
              <a:cs typeface="Calibri"/>
              <a:sym typeface="Calibri"/>
            </a:endParaRPr>
          </a:p>
        </p:txBody>
      </p:sp>
      <p:pic>
        <p:nvPicPr>
          <p:cNvPr id="467" name="Google Shape;467;p43"/>
          <p:cNvPicPr preferRelativeResize="0"/>
          <p:nvPr/>
        </p:nvPicPr>
        <p:blipFill>
          <a:blip r:embed="rId4">
            <a:alphaModFix/>
          </a:blip>
          <a:stretch>
            <a:fillRect/>
          </a:stretch>
        </p:blipFill>
        <p:spPr>
          <a:xfrm>
            <a:off x="3475563" y="2234325"/>
            <a:ext cx="2192878" cy="39759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1" name="Shape 471"/>
        <p:cNvGrpSpPr/>
        <p:nvPr/>
      </p:nvGrpSpPr>
      <p:grpSpPr>
        <a:xfrm>
          <a:off x="0" y="0"/>
          <a:ext cx="0" cy="0"/>
          <a:chOff x="0" y="0"/>
          <a:chExt cx="0" cy="0"/>
        </a:xfrm>
      </p:grpSpPr>
      <p:sp>
        <p:nvSpPr>
          <p:cNvPr id="472" name="Google Shape;472;p44"/>
          <p:cNvSpPr/>
          <p:nvPr/>
        </p:nvSpPr>
        <p:spPr>
          <a:xfrm>
            <a:off x="0" y="0"/>
            <a:ext cx="9144000" cy="571500"/>
          </a:xfrm>
          <a:prstGeom prst="rect">
            <a:avLst/>
          </a:prstGeom>
          <a:solidFill>
            <a:srgbClr val="FFDC64"/>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44"/>
          <p:cNvSpPr txBox="1"/>
          <p:nvPr/>
        </p:nvSpPr>
        <p:spPr>
          <a:xfrm>
            <a:off x="254000" y="190500"/>
            <a:ext cx="5715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474" name="Google Shape;474;p44"/>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475" name="Google Shape;475;p44"/>
          <p:cNvSpPr/>
          <p:nvPr/>
        </p:nvSpPr>
        <p:spPr>
          <a:xfrm>
            <a:off x="0" y="6286500"/>
            <a:ext cx="9144000" cy="384000"/>
          </a:xfrm>
          <a:prstGeom prst="rect">
            <a:avLst/>
          </a:prstGeom>
          <a:solidFill>
            <a:srgbClr val="2D2D2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44"/>
          <p:cNvSpPr txBox="1"/>
          <p:nvPr/>
        </p:nvSpPr>
        <p:spPr>
          <a:xfrm>
            <a:off x="254000" y="85090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77" name="Google Shape;477;p44"/>
          <p:cNvSpPr txBox="1"/>
          <p:nvPr/>
        </p:nvSpPr>
        <p:spPr>
          <a:xfrm>
            <a:off x="177800" y="63754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478" name="Google Shape;478;p44"/>
          <p:cNvSpPr txBox="1"/>
          <p:nvPr/>
        </p:nvSpPr>
        <p:spPr>
          <a:xfrm>
            <a:off x="101150" y="910300"/>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Ejercicio</a:t>
            </a:r>
            <a:endParaRPr b="0" i="0" sz="1400" u="none" cap="none" strike="noStrike">
              <a:solidFill>
                <a:srgbClr val="000000"/>
              </a:solidFill>
              <a:latin typeface="Arial"/>
              <a:ea typeface="Arial"/>
              <a:cs typeface="Arial"/>
              <a:sym typeface="Arial"/>
            </a:endParaRPr>
          </a:p>
        </p:txBody>
      </p:sp>
      <p:sp>
        <p:nvSpPr>
          <p:cNvPr id="479" name="Google Shape;479;p44"/>
          <p:cNvSpPr txBox="1"/>
          <p:nvPr/>
        </p:nvSpPr>
        <p:spPr>
          <a:xfrm>
            <a:off x="180450" y="1542525"/>
            <a:ext cx="87831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2000">
                <a:solidFill>
                  <a:srgbClr val="2D2D2D"/>
                </a:solidFill>
                <a:latin typeface="Calibri"/>
                <a:ea typeface="Calibri"/>
                <a:cs typeface="Calibri"/>
                <a:sym typeface="Calibri"/>
              </a:rPr>
              <a:t>Crear una function cuyo input sea una lista y su output otra lista distinta que sea el </a:t>
            </a:r>
            <a:r>
              <a:rPr b="1" lang="en-US" sz="2000">
                <a:solidFill>
                  <a:srgbClr val="FF0000"/>
                </a:solidFill>
                <a:latin typeface="Calibri"/>
                <a:ea typeface="Calibri"/>
                <a:cs typeface="Calibri"/>
                <a:sym typeface="Calibri"/>
              </a:rPr>
              <a:t>reverso</a:t>
            </a:r>
            <a:r>
              <a:rPr b="1" lang="en-US" sz="2000">
                <a:solidFill>
                  <a:srgbClr val="2D2D2D"/>
                </a:solidFill>
                <a:latin typeface="Calibri"/>
                <a:ea typeface="Calibri"/>
                <a:cs typeface="Calibri"/>
                <a:sym typeface="Calibri"/>
              </a:rPr>
              <a:t> de la lista input.</a:t>
            </a:r>
            <a:endParaRPr b="1" sz="2000">
              <a:solidFill>
                <a:srgbClr val="2D2D2D"/>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