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Tahoma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412364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9412364214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412364214_0_298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67" name="Google Shape;67;g39412364214_0_298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412364214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412364214_0_3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41236421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9412364214_0_5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412364214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9412364214_0_5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412364214_0_560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24" name="Google Shape;124;g39412364214_0_560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12364214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9412364214_0_5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412364214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9412364214_0_5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412364214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412364214_0_6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422adc7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9422adc75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412364214_0_669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96" name="Google Shape;196;g39412364214_0_669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422adc75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9422adc750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422adc75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9422adc750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422adc75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9422adc750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422adc75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9422adc750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422adc75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9422adc750_0_1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35747" cy="5141252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08960" y="4783454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83454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724559" y="4966837"/>
            <a:ext cx="3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397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 flipH="1" rot="10800000">
            <a:off x="-16364" y="4720823"/>
            <a:ext cx="9176700" cy="246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79315" rotWithShape="0" dir="5400000" dist="45606">
              <a:srgbClr val="000000">
                <a:alpha val="34510"/>
              </a:srgbClr>
            </a:outerShdw>
          </a:effectLst>
        </p:spPr>
        <p:txBody>
          <a:bodyPr anchorCtr="0" anchor="ctr" bIns="90625" lIns="181275" spcFirstLastPara="1" rIns="181275" wrap="square" tIns="90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1240" y="4757251"/>
            <a:ext cx="158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mailto:pau76@em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mailto:%27pau76@em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mailto:%27manu14@em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444547" y="1488726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574216" y="2715418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74216" y="3164918"/>
            <a:ext cx="84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-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ARCHIVOS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71" name="Google Shape;71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65750" y="1161300"/>
            <a:ext cx="744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archivo (en inglés, file) es una colección numerada y ordenada de bytes, que almacena datos procesables por un programa.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384070" y="2027617"/>
            <a:ext cx="79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un medio físico (disco rígido, pendrive, etc.).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84075" y="2709125"/>
            <a:ext cx="848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programa en ejecución puede leer y/o escribir datos almacenados en distintos archivos. A su vez, las variables de un programa en ejecución viven en la memoria RAM de la computadora, mucho más rápida que un disco rígido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46313" y="966303"/>
            <a:ext cx="858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nombre del archivo suele indicarse, mediante la extensión, la forma en que se organiza el contenido del archivo.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4375" y="1616000"/>
            <a:ext cx="527859" cy="69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5093" y="1626420"/>
            <a:ext cx="635515" cy="663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595" y="1609055"/>
            <a:ext cx="666769" cy="65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3644" y="1616000"/>
            <a:ext cx="527859" cy="69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94366" y="1621318"/>
            <a:ext cx="701570" cy="72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7316" y="1621318"/>
            <a:ext cx="727435" cy="72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7057" y="1621336"/>
            <a:ext cx="579662" cy="72741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71375" y="2383375"/>
            <a:ext cx="87918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dos tipos genéricos de archivos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(según su contenido):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binarios: organizan su contenido de distintas maneras (.png, .wav, .mp4, .pdf, .xlsx, .docx)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de texto: contienen únicamente caracteres imprimibles (.txt, .py, .html, .xml, .csv, .tex)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simplicidad,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vamos a trabajar con archivos de texto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pero no hay mayores diferencias conceptuales con los archivos binarios.</a:t>
            </a:r>
            <a:endParaRPr sz="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Archivos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176100" y="3312200"/>
            <a:ext cx="89679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compone de caracteres codificados en un sistema de codificación (ASCII, UTF-8, etc.), que representan letras, números, símbolos y espacios.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archivos de texto pueden ser creados y editados con cualquier editor de texto (Notepad, Atom, Vim, Sublime, etc.)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198836" y="1071850"/>
            <a:ext cx="3267600" cy="1665600"/>
          </a:xfrm>
          <a:prstGeom prst="rect">
            <a:avLst/>
          </a:prstGeom>
          <a:solidFill>
            <a:srgbClr val="F7F7F7"/>
          </a:solidFill>
          <a:ln cap="flat" cmpd="sng" w="15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6500">
            <a:spAutoFit/>
          </a:bodyPr>
          <a:lstStyle/>
          <a:p>
            <a:pPr indent="-211764" lvl="0" marL="403903" marR="667317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def sumar_divisores ( n): suma = 0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  <a:p>
            <a:pPr indent="0" lvl="0" marL="398739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i = 1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  <a:p>
            <a:pPr indent="-207633" lvl="0" marL="611536" marR="877018" rtl="0" algn="l">
              <a:lnSpc>
                <a:spcPct val="118750"/>
              </a:lnSpc>
              <a:spcBef>
                <a:spcPts val="57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while divisor &lt;= n: if n % i == 0: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  <a:p>
            <a:pPr indent="0" lvl="0" marL="824335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suma = suma + i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  <a:p>
            <a:pPr indent="203501" lvl="0" marL="404936" marR="1716849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i = i + 1 return suma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677552" y="1071610"/>
            <a:ext cx="3267600" cy="1674600"/>
          </a:xfrm>
          <a:prstGeom prst="rect">
            <a:avLst/>
          </a:prstGeom>
          <a:solidFill>
            <a:srgbClr val="F7F7F7"/>
          </a:solidFill>
          <a:ln cap="flat" cmpd="sng" w="15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6500">
            <a:spAutoFit/>
          </a:bodyPr>
          <a:lstStyle/>
          <a:p>
            <a:pPr indent="0" lvl="0" marL="180775" marR="6229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1">
                <a:latin typeface="Calibri"/>
                <a:ea typeface="Calibri"/>
                <a:cs typeface="Calibri"/>
                <a:sym typeface="Calibri"/>
              </a:rPr>
              <a:t>Lorem ipsum dolor sit amet, consectetur adipiscing elit. Fusce interdum pretium ante, nec lobortis erat venenatis nec. Nullam auctor lectus at enim consequat, non tincidunt risus ullamcorper. Suspendisse potenti.</a:t>
            </a:r>
            <a:endParaRPr sz="13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448625" y="2785850"/>
            <a:ext cx="7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suma.py</a:t>
            </a:r>
            <a:endParaRPr b="1" sz="1200"/>
          </a:p>
        </p:txBody>
      </p:sp>
      <p:sp>
        <p:nvSpPr>
          <p:cNvPr id="121" name="Google Shape;121;p18"/>
          <p:cNvSpPr txBox="1"/>
          <p:nvPr/>
        </p:nvSpPr>
        <p:spPr>
          <a:xfrm>
            <a:off x="5837950" y="2785863"/>
            <a:ext cx="9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lorem.txt</a:t>
            </a:r>
            <a:endParaRPr b="1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.CSV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7" name="Google Shape;127;p19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128" name="Google Shape;128;p1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436125" y="1071850"/>
            <a:ext cx="74619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(Comma Separated Values) son archivos de texto con un formato común para almacenar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36125" y="1753980"/>
            <a:ext cx="4812900" cy="16056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111125" marR="219900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Nombre,Edad,Profesión,Nacionalidad Juan,25,Ingeniero,Argentina María,30,Abogada,Mexicana Ana,35,Medica,Colombiana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1125" marR="219900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Luis,32,Arquitecto,Peruana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1125" marR="219900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Sofía,27,Periodista,Chilena Carlos,29,Ingeniero,Brasileño Laura,31,Economista,Paraguaya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65750" y="3458613"/>
            <a:ext cx="8778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83515" marR="17462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ucida Sans"/>
              <a:buChar char="➔"/>
            </a:pP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fila representa un registro o una entrada de datos, y las columnas representan los campos o atributos.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83515" marR="30480" rtl="0" algn="l">
              <a:lnSpc>
                <a:spcPct val="11875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ucida Sans"/>
              <a:buChar char="➔"/>
            </a:pPr>
            <a:r>
              <a:rPr lang="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valores en un archivo CSV están separados por comas (”,”) o por otro delimitador (ej: “;”).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9408254" y="3735450"/>
            <a:ext cx="36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7656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2020">
                <a:solidFill>
                  <a:srgbClr val="191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020">
              <a:solidFill>
                <a:srgbClr val="191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CSV - Lectura de Archivos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365750" y="1071850"/>
            <a:ext cx="59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open(filename</a:t>
            </a:r>
            <a:r>
              <a:rPr b="1" lang="es" sz="18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s" sz="18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abrimos un archivo en </a:t>
            </a:r>
            <a:r>
              <a:rPr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modo lectura.</a:t>
            </a: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44925" y="1474675"/>
            <a:ext cx="56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f = open ( ' SMSSpamCollection.txt ' )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834200" y="1224250"/>
            <a:ext cx="300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Windows, puede ser necesario un argumento adicional para reconocer la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codificación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texto:  f = open('padron.csv', 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encoding='utf-8'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538975" y="2314475"/>
            <a:ext cx="5059500" cy="46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texto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= f.read()	</a:t>
            </a:r>
            <a:r>
              <a:rPr lang="es" sz="13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#Cuidado: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¡puede consumir mucha memoria!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print(texto)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538978" y="2922625"/>
            <a:ext cx="5579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f.readline() 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devuelve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 un str) → leemos las líneas de a una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538975" y="3253600"/>
            <a:ext cx="5059500" cy="46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12446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print (f.readline( ))	 </a:t>
            </a:r>
            <a:r>
              <a:rPr lang="es" sz="13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#imprime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' Nombre , Edad ,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Profesión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Nacionalidad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'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446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print(f.readline(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)	 </a:t>
            </a:r>
            <a:r>
              <a:rPr lang="es" sz="13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#imprime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' Juan , 25 ,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Ingeniero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Argentina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'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38974" y="3866950"/>
            <a:ext cx="5579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Forma recomendad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a →</a:t>
            </a:r>
            <a:r>
              <a:rPr b="1" lang="es" sz="1500">
                <a:latin typeface="Calibri"/>
                <a:ea typeface="Calibri"/>
                <a:cs typeface="Calibri"/>
                <a:sym typeface="Calibri"/>
              </a:rPr>
              <a:t> iterar 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el archivo, leyendo línea a línea: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559225" y="4193925"/>
            <a:ext cx="5019000" cy="46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-130175" lvl="0" marL="258445" marR="2806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 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linea </a:t>
            </a:r>
            <a:r>
              <a:rPr lang="es" sz="13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f :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130175" lvl="0" marL="715645" marR="2806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linea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444924" y="1854768"/>
            <a:ext cx="723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f.read() </a:t>
            </a: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(devuelve un str) → leemos todo el contenido del archivo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CSV - Escritura de Archivos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444925" y="1071838"/>
            <a:ext cx="85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open(filename, 'w')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→abrimos un archivo en </a:t>
            </a: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modo escritura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es por write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444925" y="1474675"/>
            <a:ext cx="56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f = open ( ' primeros - diez. txt ' , 'w')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444924" y="2129456"/>
            <a:ext cx="72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f.write(</a:t>
            </a: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'...'</a:t>
            </a: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→ instrucción para escribir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559225" y="2598188"/>
            <a:ext cx="5665500" cy="49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827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 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s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[1,2,3,4,5,6,7,8,9,10]: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255903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f.write(</a:t>
            </a:r>
            <a:r>
              <a:rPr lang="es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str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(i) +'\n')</a:t>
            </a:r>
            <a:r>
              <a:rPr b="1" lang="es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s">
                <a:solidFill>
                  <a:srgbClr val="727272"/>
                </a:solidFill>
                <a:latin typeface="Calibri"/>
                <a:ea typeface="Calibri"/>
                <a:cs typeface="Calibri"/>
                <a:sym typeface="Calibri"/>
              </a:rPr>
              <a:t>#\n </a:t>
            </a:r>
            <a:r>
              <a:rPr b="1" lang="es">
                <a:solidFill>
                  <a:srgbClr val="727272"/>
                </a:solidFill>
                <a:latin typeface="Calibri"/>
                <a:ea typeface="Calibri"/>
                <a:cs typeface="Calibri"/>
                <a:sym typeface="Calibri"/>
              </a:rPr>
              <a:t>indica fin</a:t>
            </a:r>
            <a:r>
              <a:rPr b="1" lang="es">
                <a:solidFill>
                  <a:srgbClr val="727272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s">
                <a:solidFill>
                  <a:srgbClr val="727272"/>
                </a:solidFill>
                <a:latin typeface="Calibri"/>
                <a:ea typeface="Calibri"/>
                <a:cs typeface="Calibri"/>
                <a:sym typeface="Calibri"/>
              </a:rPr>
              <a:t>línea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6844825" y="2384750"/>
            <a:ext cx="218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315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 escriben los primeros diez números naturales en el archivo </a:t>
            </a: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primeros-diez.txt</a:t>
            </a:r>
            <a:r>
              <a:rPr lang="e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uno por línea.</a:t>
            </a:r>
            <a:endParaRPr sz="1200"/>
          </a:p>
        </p:txBody>
      </p:sp>
      <p:cxnSp>
        <p:nvCxnSpPr>
          <p:cNvPr id="180" name="Google Shape;180;p22"/>
          <p:cNvCxnSpPr>
            <a:stCxn id="178" idx="3"/>
            <a:endCxn id="179" idx="1"/>
          </p:cNvCxnSpPr>
          <p:nvPr/>
        </p:nvCxnSpPr>
        <p:spPr>
          <a:xfrm>
            <a:off x="6224725" y="2846438"/>
            <a:ext cx="62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2"/>
          <p:cNvSpPr txBox="1"/>
          <p:nvPr/>
        </p:nvSpPr>
        <p:spPr>
          <a:xfrm>
            <a:off x="559232" y="3459825"/>
            <a:ext cx="53466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terminar, es buena costumbre </a:t>
            </a:r>
            <a:r>
              <a:rPr b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cerrar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archivo: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59236" y="3867362"/>
            <a:ext cx="3876600" cy="23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ahoma"/>
                <a:ea typeface="Tahoma"/>
                <a:cs typeface="Tahoma"/>
                <a:sym typeface="Tahoma"/>
              </a:rPr>
              <a:t>f.close()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18050" y="1913925"/>
            <a:ext cx="8412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#Cuidado: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Los CSV tienen varias limitaciones para representar datos con estructuras complejas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→ estructura tabular fija, donde cada fila representa un registro y cada columna representa un campo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→ falta de soporte para anidamiento: no admiten la representación de estructuras anidadas o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jerárquicas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→ no almacenan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 sobre los tipos de datos de los campos (todos los valores se tratan como strings)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JSON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9" name="Google Shape;199;p24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200" name="Google Shape;200;p24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365750" y="4072525"/>
            <a:ext cx="7461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permiten representar estructuras de datos complejas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los tipos de los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428000" y="1707618"/>
            <a:ext cx="4812900" cy="22167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"carrito1"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[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0028" marR="270700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"marca"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"Nike"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"modelo"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"Air Max 90"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"precio"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60000.00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0028" marR="274764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"marca"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"Adidas"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"modelo"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"Superstar"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"precio"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40000.00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}],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"carrito2"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[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0028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"marca"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"Puma"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0028" marR="258635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"modelo"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"Suede Classic"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"precio"</a:t>
            </a: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35000.00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88400" y="971300"/>
            <a:ext cx="81843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(JavaScript Object Notation) es un formato estándar para almacenar y representar datos.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365750" y="1867050"/>
            <a:ext cx="85968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claves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deben ser strings(en JSON se escriben entre comillas dobles,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ej: </a:t>
            </a:r>
            <a:r>
              <a:rPr i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“delivery”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pueden ser String, Número, Array, Booleano, Objeto JSON(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ej: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s" sz="18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88400" y="971300"/>
            <a:ext cx="73959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formato JSON tienen reglas específicas que determinan los tipos de datos que son </a:t>
            </a:r>
            <a:r>
              <a:rPr lang="es" sz="1800">
                <a:solidFill>
                  <a:schemeClr val="dk1"/>
                </a:solidFill>
                <a:highlight>
                  <a:srgbClr val="FFD966"/>
                </a:highlight>
                <a:latin typeface="Calibri"/>
                <a:ea typeface="Calibri"/>
                <a:cs typeface="Calibri"/>
                <a:sym typeface="Calibri"/>
              </a:rPr>
              <a:t>válidos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las 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claves 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para los</a:t>
            </a: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valores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590025" y="2641313"/>
            <a:ext cx="6324900" cy="19308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{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295021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"tamano"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"mediana"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295021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"precio"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1499.99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149733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"adicionales"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"champinones"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"pepperoni"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"albahaca"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],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149733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"queso_extra"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307022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"delivery"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marR="307022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"cliente"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{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9390" marR="266700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"nombre"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"Paula"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9390" marR="266700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"telefono"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"1133876651"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,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9390" marR="266700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"correo"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900" u="sng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"pau76@em.com"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874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- Lectura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365750" y="1071850"/>
            <a:ext cx="9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json.load(file)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carga en un diccionario el contenido del archivo file → </a:t>
            </a:r>
            <a:r>
              <a:rPr b="1" lang="e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deserialización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274334" y="2022213"/>
            <a:ext cx="4641600" cy="18966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74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Se abre el archivo JSON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lang="e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'pedido.json'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pedido </a:t>
            </a:r>
            <a:r>
              <a:rPr lang="e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lang="e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load(f)	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devuelve un diccionario con el contenido del objeto JSON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'tamano'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	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'mediana'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'precio'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	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1499.99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'adicionales'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 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['champinones', 'pepperoni', 'albahaca']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'queso_extra'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 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False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'delivery'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	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True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(pedido[</a:t>
            </a:r>
            <a:r>
              <a:rPr lang="es" sz="9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'cliente'</a:t>
            </a: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])	</a:t>
            </a:r>
            <a:r>
              <a:rPr i="1" lang="es" sz="9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i="1" lang="es" sz="900" u="sng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{'nombre':'Paula','telefono':'1133876651','mail':'pau76@em.com'}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6000250" y="4019275"/>
            <a:ext cx="2532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00">
            <a:spAutoFit/>
          </a:bodyPr>
          <a:lstStyle/>
          <a:p>
            <a:pPr indent="0" lvl="0" marL="1780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21"/>
              <a:t>Los tipos de datos de JSON se convierten a tipos de datos en Python</a:t>
            </a:r>
            <a:endParaRPr b="1" i="1" sz="1021"/>
          </a:p>
        </p:txBody>
      </p:sp>
      <p:sp>
        <p:nvSpPr>
          <p:cNvPr id="243" name="Google Shape;243;p27"/>
          <p:cNvSpPr txBox="1"/>
          <p:nvPr/>
        </p:nvSpPr>
        <p:spPr>
          <a:xfrm>
            <a:off x="5554933" y="2105898"/>
            <a:ext cx="629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00">
            <a:spAutoFit/>
          </a:bodyPr>
          <a:lstStyle/>
          <a:p>
            <a:pPr indent="0" lvl="0" marL="178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21"/>
              <a:t>JSON</a:t>
            </a:r>
            <a:endParaRPr sz="84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7266246" y="2112197"/>
            <a:ext cx="0" cy="169212"/>
          </a:xfrm>
          <a:custGeom>
            <a:rect b="b" l="l" r="r" t="t"/>
            <a:pathLst>
              <a:path extrusionOk="0" h="120650" w="120000">
                <a:moveTo>
                  <a:pt x="0" y="120192"/>
                </a:moveTo>
                <a:lnTo>
                  <a:pt x="0" y="0"/>
                </a:lnTo>
              </a:path>
            </a:pathLst>
          </a:custGeom>
          <a:noFill/>
          <a:ln cap="flat" cmpd="sng" w="13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3"/>
          </a:p>
        </p:txBody>
      </p:sp>
      <p:sp>
        <p:nvSpPr>
          <p:cNvPr id="245" name="Google Shape;245;p27"/>
          <p:cNvSpPr txBox="1"/>
          <p:nvPr/>
        </p:nvSpPr>
        <p:spPr>
          <a:xfrm>
            <a:off x="7358442" y="2086666"/>
            <a:ext cx="4872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00">
            <a:spAutoFit/>
          </a:bodyPr>
          <a:lstStyle/>
          <a:p>
            <a:pPr indent="0" lvl="0" marL="1780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21"/>
              <a:t>Python</a:t>
            </a:r>
            <a:endParaRPr sz="1121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27"/>
          <p:cNvGrpSpPr/>
          <p:nvPr/>
        </p:nvGrpSpPr>
        <p:grpSpPr>
          <a:xfrm>
            <a:off x="5466290" y="2284271"/>
            <a:ext cx="3299156" cy="1428878"/>
            <a:chOff x="1127925" y="2415311"/>
            <a:chExt cx="2352675" cy="724179"/>
          </a:xfrm>
        </p:grpSpPr>
        <p:sp>
          <p:nvSpPr>
            <p:cNvPr id="247" name="Google Shape;247;p27"/>
            <p:cNvSpPr/>
            <p:nvPr/>
          </p:nvSpPr>
          <p:spPr>
            <a:xfrm>
              <a:off x="1127925" y="2415311"/>
              <a:ext cx="2352675" cy="0"/>
            </a:xfrm>
            <a:custGeom>
              <a:rect b="b" l="l" r="r" t="t"/>
              <a:pathLst>
                <a:path extrusionOk="0" h="120000" w="2352675">
                  <a:moveTo>
                    <a:pt x="0" y="0"/>
                  </a:moveTo>
                  <a:lnTo>
                    <a:pt x="2352141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2411552" y="2417851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2411552" y="2538044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2411552" y="2658249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2411552" y="2778442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2411552" y="2898648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2411552" y="3018840"/>
              <a:ext cx="0" cy="120650"/>
            </a:xfrm>
            <a:custGeom>
              <a:rect b="b" l="l" r="r" t="t"/>
              <a:pathLst>
                <a:path extrusionOk="0" h="120650" w="120000">
                  <a:moveTo>
                    <a:pt x="0" y="120192"/>
                  </a:moveTo>
                  <a:lnTo>
                    <a:pt x="0" y="0"/>
                  </a:lnTo>
                </a:path>
              </a:pathLst>
            </a:custGeom>
            <a:noFill/>
            <a:ln cap="flat" cmpd="sng" w="13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</p:grpSp>
      <p:sp>
        <p:nvSpPr>
          <p:cNvPr id="254" name="Google Shape;254;p27"/>
          <p:cNvSpPr txBox="1"/>
          <p:nvPr/>
        </p:nvSpPr>
        <p:spPr>
          <a:xfrm>
            <a:off x="5554915" y="2254189"/>
            <a:ext cx="16197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00">
            <a:spAutoFit/>
          </a:bodyPr>
          <a:lstStyle/>
          <a:p>
            <a:pPr indent="0" lvl="0" marL="17809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String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577004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Número(entero)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577004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Número(real)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577004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Array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Booleano (true/false)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760434" rtl="0" algn="l">
              <a:lnSpc>
                <a:spcPct val="118750"/>
              </a:lnSpc>
              <a:spcBef>
                <a:spcPts val="42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Objeto JSON </a:t>
            </a:r>
            <a:r>
              <a:rPr lang="es" sz="112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7266246" y="3331659"/>
            <a:ext cx="0" cy="169212"/>
          </a:xfrm>
          <a:custGeom>
            <a:rect b="b" l="l" r="r" t="t"/>
            <a:pathLst>
              <a:path extrusionOk="0" h="120650" w="120000">
                <a:moveTo>
                  <a:pt x="0" y="120192"/>
                </a:moveTo>
                <a:lnTo>
                  <a:pt x="0" y="0"/>
                </a:lnTo>
              </a:path>
            </a:pathLst>
          </a:custGeom>
          <a:noFill/>
          <a:ln cap="flat" cmpd="sng" w="13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3"/>
          </a:p>
        </p:txBody>
      </p:sp>
      <p:sp>
        <p:nvSpPr>
          <p:cNvPr id="256" name="Google Shape;256;p27"/>
          <p:cNvSpPr txBox="1"/>
          <p:nvPr/>
        </p:nvSpPr>
        <p:spPr>
          <a:xfrm>
            <a:off x="7309697" y="2254198"/>
            <a:ext cx="1619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025">
            <a:spAutoFit/>
          </a:bodyPr>
          <a:lstStyle/>
          <a:p>
            <a:pPr indent="0" lvl="0" marL="17809" marR="911809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str 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911809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int 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911809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float 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911809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bool (True/False)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986605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121">
                <a:latin typeface="Calibri"/>
                <a:ea typeface="Calibri"/>
                <a:cs typeface="Calibri"/>
                <a:sym typeface="Calibri"/>
              </a:rPr>
              <a:t>dict 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  <a:p>
            <a:pPr indent="0" lvl="0" marL="17809" marR="986605" rtl="0" algn="l">
              <a:lnSpc>
                <a:spcPct val="11875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s" sz="112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sz="112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7"/>
          <p:cNvCxnSpPr>
            <a:stCxn id="241" idx="3"/>
            <a:endCxn id="254" idx="1"/>
          </p:cNvCxnSpPr>
          <p:nvPr/>
        </p:nvCxnSpPr>
        <p:spPr>
          <a:xfrm>
            <a:off x="4915934" y="2970513"/>
            <a:ext cx="6390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66" name="Google Shape;2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JSON - Escritura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365750" y="998720"/>
            <a:ext cx="81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json.dump(dict,file,indent=n)</a:t>
            </a:r>
            <a:r>
              <a:rPr lang="es" sz="16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función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escribe un objeto JSON en el archivo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partir de los datos contenidos en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462550" y="2046598"/>
            <a:ext cx="5599200" cy="27324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74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2275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8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Se crean diccionarios con los datos </a:t>
            </a:r>
            <a:endParaRPr i="1" sz="800">
              <a:solidFill>
                <a:srgbClr val="3D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2275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cliente_json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()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2275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cliente_json[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'nombre'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'Manuel' </a:t>
            </a:r>
            <a:endParaRPr sz="800">
              <a:solidFill>
                <a:srgbClr val="BA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2275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cliente_json[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'telefono'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'1155955953' </a:t>
            </a:r>
            <a:endParaRPr sz="800">
              <a:solidFill>
                <a:srgbClr val="BA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22758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cliente_json[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'mail'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 u="sng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'manu14@em.com'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5501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()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5501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'tamano'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'chica' </a:t>
            </a:r>
            <a:endParaRPr sz="800">
              <a:solidFill>
                <a:srgbClr val="BA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25501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'precio'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1299.99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18643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'adicionales'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'jamon'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'morron'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18643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'queso_extra'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True </a:t>
            </a:r>
            <a:endParaRPr sz="8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18643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'delivery'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False </a:t>
            </a:r>
            <a:endParaRPr sz="8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186436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pedido_json[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'cliente'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]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cliente_json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39433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" sz="8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'nuevo-pedido.json'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800">
                <a:solidFill>
                  <a:srgbClr val="BA2121"/>
                </a:solidFill>
                <a:latin typeface="Calibri"/>
                <a:ea typeface="Calibri"/>
                <a:cs typeface="Calibri"/>
                <a:sym typeface="Calibri"/>
              </a:rPr>
              <a:t>'w'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)	</a:t>
            </a:r>
            <a:r>
              <a:rPr i="1" lang="es" sz="8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Se abre el archivo destino en modo escritura </a:t>
            </a:r>
            <a:endParaRPr i="1" sz="800">
              <a:solidFill>
                <a:srgbClr val="3D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39433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dump(pedido_json, f, indent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=4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)	</a:t>
            </a:r>
            <a:r>
              <a:rPr i="1" lang="es" sz="8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Se escriben los datos como objeto JSON </a:t>
            </a:r>
            <a:endParaRPr i="1" sz="800">
              <a:solidFill>
                <a:srgbClr val="3D7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" marR="39433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close()				</a:t>
            </a:r>
            <a:r>
              <a:rPr i="1" lang="es" sz="800">
                <a:solidFill>
                  <a:srgbClr val="3D7A7A"/>
                </a:solidFill>
                <a:latin typeface="Calibri"/>
                <a:ea typeface="Calibri"/>
                <a:cs typeface="Calibri"/>
                <a:sym typeface="Calibri"/>
              </a:rPr>
              <a:t># Se cierra el archivo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421925" y="1574075"/>
            <a:ext cx="76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parámetro (opcional)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indent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usa para dar formato al nuevo archivo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6223347" y="2507400"/>
            <a:ext cx="28041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➔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generar el </a:t>
            </a: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los tipos de datos de los valores en Python se transforman a tipos de datos JSON (</a:t>
            </a: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ej:</a:t>
            </a: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True pasa a ser true).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➔"/>
            </a:pPr>
            <a:r>
              <a:rPr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 de generar un objeto JSON a partir de un diccionario Python → </a:t>
            </a:r>
            <a:r>
              <a:rPr b="1" lang="es" sz="13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serialización</a:t>
            </a:r>
            <a:endParaRPr b="1" sz="500"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274320" y="4879093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80" name="Google Shape;2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JSON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401600" y="941850"/>
            <a:ext cx="85365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Considerar la clase Estudiante que se describe a continuación: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Estudiante(nom, leg, prom): Crea un nuevo estudiante con el nombre, el número de legajo y el promedio especificados.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e.nombre: nombre del estudiante 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e.legajo: número de legajo del estudiante 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➔"/>
            </a:pPr>
            <a:r>
              <a:rPr lang="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e.promedio: promedio del estudiante 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función 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serializar_estudiante(est, nom_archivo)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recibe como parámetros una instancia de la clase Estudiante y el nombre de un archivo JSON, y debe escribir en dicho archivo la serialización del objeto est.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siguiente ejemplo ilustra el uso de la función y el contenido que debe generarse: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1554963" y="3046513"/>
            <a:ext cx="3499800" cy="17805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es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estudiante</a:t>
            </a:r>
            <a:r>
              <a:rPr lang="es" sz="11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 import 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Estudiante</a:t>
            </a:r>
            <a:endParaRPr sz="11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 json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s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serializar_estudiante</a:t>
            </a: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(est, nom_archivo):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7F00"/>
                </a:solidFill>
                <a:latin typeface="Calibri"/>
                <a:ea typeface="Calibri"/>
                <a:cs typeface="Calibri"/>
                <a:sym typeface="Calibri"/>
              </a:rPr>
              <a:t>    ...</a:t>
            </a:r>
            <a:endParaRPr sz="11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= Estudiante(</a:t>
            </a:r>
            <a:r>
              <a:rPr lang="es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"Juan Pérez"</a:t>
            </a: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10234, 8.75</a:t>
            </a: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7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570865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serializar_estudiante(e, </a:t>
            </a:r>
            <a:r>
              <a:rPr lang="es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"estudiante.json"</a:t>
            </a:r>
            <a:r>
              <a:rPr lang="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5352032" y="3046513"/>
            <a:ext cx="2432700" cy="9423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{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s" sz="11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"nombre"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"Juan Pérez"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,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s" sz="11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 "legajo"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10234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,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s" sz="11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 "promedio"</a:t>
            </a: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8.75</a:t>
            </a:r>
            <a:endParaRPr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s" sz="11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