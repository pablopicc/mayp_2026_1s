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Tahom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Tahoma-bold.fntdata"/><Relationship Id="rId12" Type="http://schemas.openxmlformats.org/officeDocument/2006/relationships/slide" Target="slides/slide7.xml"/><Relationship Id="rId23" Type="http://schemas.openxmlformats.org/officeDocument/2006/relationships/font" Target="fonts/Tahom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4123642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g39412364214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412364214_0_298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67" name="Google Shape;67;g39412364214_0_298:notes"/>
          <p:cNvSpPr/>
          <p:nvPr>
            <p:ph idx="2" type="sldImg"/>
          </p:nvPr>
        </p:nvSpPr>
        <p:spPr>
          <a:xfrm>
            <a:off x="378424" y="685783"/>
            <a:ext cx="610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412364214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412364214_0_30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5824d6c6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95824d6c61_0_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824d6c61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95824d6c61_0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5824d6c61_0_271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31" name="Google Shape;131;g395824d6c61_0_271:notes"/>
          <p:cNvSpPr/>
          <p:nvPr>
            <p:ph idx="2" type="sldImg"/>
          </p:nvPr>
        </p:nvSpPr>
        <p:spPr>
          <a:xfrm>
            <a:off x="378424" y="685783"/>
            <a:ext cx="610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5824d6c6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95824d6c61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5824d6c6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95824d6c61_0_11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5824d6c6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95824d6c61_0_1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5824d6c61_0_280:notes"/>
          <p:cNvSpPr txBox="1"/>
          <p:nvPr>
            <p:ph idx="1" type="body"/>
          </p:nvPr>
        </p:nvSpPr>
        <p:spPr>
          <a:xfrm>
            <a:off x="685785" y="4343383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200" lIns="171200" spcFirstLastPara="1" rIns="171200" wrap="square" tIns="1712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83" name="Google Shape;183;g395824d6c61_0_280:notes"/>
          <p:cNvSpPr/>
          <p:nvPr>
            <p:ph idx="2" type="sldImg"/>
          </p:nvPr>
        </p:nvSpPr>
        <p:spPr>
          <a:xfrm>
            <a:off x="378424" y="685783"/>
            <a:ext cx="610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78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5824d6c61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95824d6c61_0_1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5824d6c6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95824d6c61_0_17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5824d6c61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95824d6c61_0_18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5824d6c61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g395824d6c61_0_20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5824d6c6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95824d6c61_0_2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5824d6c61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95824d6c61_0_2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5824d6c61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95824d6c61_0_2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>
  <p:cSld name="Blank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35747" cy="5141252"/>
          </a:xfrm>
          <a:custGeom>
            <a:rect b="b" l="l" r="r" t="t"/>
            <a:pathLst>
              <a:path extrusionOk="0" h="3456304" w="4608195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08960" y="4783454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83454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724559" y="4966837"/>
            <a:ext cx="302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13970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1397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/>
          <p:nvPr/>
        </p:nvSpPr>
        <p:spPr>
          <a:xfrm flipH="1" rot="10800000">
            <a:off x="-16364" y="4720823"/>
            <a:ext cx="9176700" cy="2460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79315" rotWithShape="0" dir="5400000" dist="45606">
              <a:srgbClr val="000000">
                <a:alpha val="34510"/>
              </a:srgbClr>
            </a:outerShdw>
          </a:effectLst>
        </p:spPr>
        <p:txBody>
          <a:bodyPr anchorCtr="0" anchor="ctr" bIns="90625" lIns="181275" spcFirstLastPara="1" rIns="181275" wrap="square" tIns="90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51240" y="4757251"/>
            <a:ext cx="1588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4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0" i="0" lang="e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6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hyperlink" Target="mailto:sofi04@em.co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1444547" y="1488726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APIs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1574216" y="2715418"/>
            <a:ext cx="849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" sz="2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Profesor: 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574216" y="3164918"/>
            <a:ext cx="84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Auxiliares: Daniela Longas - M Victoria Tolosa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2240672" y="236513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COMUNICACIÓN REMOTA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0" name="Google Shape;70;p15"/>
          <p:cNvGrpSpPr/>
          <p:nvPr/>
        </p:nvGrpSpPr>
        <p:grpSpPr>
          <a:xfrm>
            <a:off x="2260855" y="2700077"/>
            <a:ext cx="4642600" cy="37752"/>
            <a:chOff x="1133919" y="1518500"/>
            <a:chExt cx="2340610" cy="25400"/>
          </a:xfrm>
        </p:grpSpPr>
        <p:sp>
          <p:nvSpPr>
            <p:cNvPr id="71" name="Google Shape;71;p15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65760" y="548640"/>
            <a:ext cx="8229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Comunicación remota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931925" y="1555800"/>
            <a:ext cx="4891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actualidad, la mayoría de los programas que usamos se comunican con otros programas que corren en otros dispositivos: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chat, páginas web, audio, e-commerce, </a:t>
            </a:r>
            <a:r>
              <a:rPr i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geolocalización</a:t>
            </a:r>
            <a:r>
              <a:rPr i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redes sociales, juegos, videoconferencias, etc. 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85" name="Google Shape;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22" y="1364538"/>
            <a:ext cx="3301816" cy="25860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199350" y="4196150"/>
            <a:ext cx="874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sabe una app cuál es el clima actual? ¿Cómo obtiene Instagram los posts que ves?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365760" y="548640"/>
            <a:ext cx="8229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Comunicación remota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387049" y="1144550"/>
            <a:ext cx="517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Correo Postal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42075" y="3653525"/>
            <a:ext cx="8585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➔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origen, cada nivel delega la responsabilidad del envío en el nivel inferior.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➔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destino, cada nivel le avisa al nivel superior que “le llegó algo qué tiene que entregar”</a:t>
            </a:r>
            <a:endParaRPr sz="1600"/>
          </a:p>
        </p:txBody>
      </p:sp>
      <p:sp>
        <p:nvSpPr>
          <p:cNvPr id="100" name="Google Shape;100;p17"/>
          <p:cNvSpPr txBox="1"/>
          <p:nvPr/>
        </p:nvSpPr>
        <p:spPr>
          <a:xfrm>
            <a:off x="2501422" y="188840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Remitente</a:t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1397275" y="2282302"/>
            <a:ext cx="38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Oficina de correo de origen 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751460" y="228230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Oficina</a:t>
            </a:r>
            <a:r>
              <a:rPr lang="es"/>
              <a:t> de correo de destino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1667575" y="271478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Empresa de </a:t>
            </a:r>
            <a:r>
              <a:rPr lang="es"/>
              <a:t>logística</a:t>
            </a:r>
            <a:r>
              <a:rPr lang="es"/>
              <a:t> de origen </a:t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4917590" y="271478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Empresa de logística de destino</a:t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1984289" y="3130037"/>
            <a:ext cx="56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Terminal de origen               Terminal de destino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4118656" y="188839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Destinatario</a:t>
            </a:r>
            <a:endParaRPr/>
          </a:p>
        </p:txBody>
      </p:sp>
      <p:cxnSp>
        <p:nvCxnSpPr>
          <p:cNvPr id="107" name="Google Shape;107;p17"/>
          <p:cNvCxnSpPr/>
          <p:nvPr/>
        </p:nvCxnSpPr>
        <p:spPr>
          <a:xfrm>
            <a:off x="4504250" y="3342700"/>
            <a:ext cx="548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4375175" y="2194050"/>
            <a:ext cx="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" name="Google Shape;109;p17"/>
          <p:cNvCxnSpPr/>
          <p:nvPr/>
        </p:nvCxnSpPr>
        <p:spPr>
          <a:xfrm>
            <a:off x="4375175" y="2630885"/>
            <a:ext cx="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0" name="Google Shape;110;p17"/>
          <p:cNvCxnSpPr/>
          <p:nvPr/>
        </p:nvCxnSpPr>
        <p:spPr>
          <a:xfrm>
            <a:off x="4372701" y="3041407"/>
            <a:ext cx="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5196211" y="2194055"/>
            <a:ext cx="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2" name="Google Shape;112;p17"/>
          <p:cNvCxnSpPr/>
          <p:nvPr/>
        </p:nvCxnSpPr>
        <p:spPr>
          <a:xfrm>
            <a:off x="5196211" y="2612567"/>
            <a:ext cx="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" name="Google Shape;113;p17"/>
          <p:cNvCxnSpPr/>
          <p:nvPr/>
        </p:nvCxnSpPr>
        <p:spPr>
          <a:xfrm>
            <a:off x="5196211" y="3017142"/>
            <a:ext cx="0" cy="1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4" name="Google Shape;114;p17"/>
          <p:cNvSpPr txBox="1"/>
          <p:nvPr/>
        </p:nvSpPr>
        <p:spPr>
          <a:xfrm>
            <a:off x="279150" y="4315900"/>
            <a:ext cx="858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nivel maneja los mismos </a:t>
            </a: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protocolos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(hablan el mismo idioma) que su contraparte remota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Modelo TCP/IP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365750" y="1071850"/>
            <a:ext cx="808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modelo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(Transmission Control Protocol/Internet Protocol) es un modelo de capas que define un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conjunto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protocolos para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transmitir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entre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distintas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computadoras a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través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una red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365750" y="207495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Remitente → </a:t>
            </a:r>
            <a:r>
              <a:rPr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servidor</a:t>
            </a:r>
            <a:endParaRPr sz="1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Carta → </a:t>
            </a:r>
            <a:r>
              <a:rPr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request</a:t>
            </a:r>
            <a:endParaRPr sz="1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Respuesta → </a:t>
            </a:r>
            <a:r>
              <a:rPr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1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Capas → </a:t>
            </a:r>
            <a:r>
              <a:rPr lang="es" sz="1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modelo TCP/IP</a:t>
            </a:r>
            <a:endParaRPr sz="1800"/>
          </a:p>
        </p:txBody>
      </p:sp>
      <p:sp>
        <p:nvSpPr>
          <p:cNvPr id="127" name="Google Shape;127;p18"/>
          <p:cNvSpPr txBox="1"/>
          <p:nvPr/>
        </p:nvSpPr>
        <p:spPr>
          <a:xfrm>
            <a:off x="3433025" y="2198100"/>
            <a:ext cx="5241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Capa de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 ↔ Capa de aplicación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Capa de transporte ↔ Capa de transporte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Capa de red ↔ Capa de red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Capa de interfaz de red ↔ Capa de interfaz de red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365750" y="3504663"/>
            <a:ext cx="4981800" cy="1262100"/>
          </a:xfrm>
          <a:prstGeom prst="rect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Protocolos: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Aplicación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: HTTP, SMTP, Telnet, FTP, etc.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Transporte: TCP, UDP, etc.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Red: IP, ARP, IGMP, ICMP, etc.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Interfaz de red: ETHERNET, L2TP, etc.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/>
        </p:nvSpPr>
        <p:spPr>
          <a:xfrm>
            <a:off x="2240672" y="236513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PROTOCOLO HTTP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34" name="Google Shape;134;p19"/>
          <p:cNvGrpSpPr/>
          <p:nvPr/>
        </p:nvGrpSpPr>
        <p:grpSpPr>
          <a:xfrm>
            <a:off x="2260855" y="2700077"/>
            <a:ext cx="4642600" cy="37752"/>
            <a:chOff x="1133919" y="1518500"/>
            <a:chExt cx="2340610" cy="25400"/>
          </a:xfrm>
        </p:grpSpPr>
        <p:sp>
          <p:nvSpPr>
            <p:cNvPr id="135" name="Google Shape;135;p19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48" name="Google Shape;1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365750" y="1110650"/>
            <a:ext cx="808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(Hypertext Transfer Protocol) es un protocolo de comunicación que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las transferencias de información a través de archivos en Internet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30475" y="2571750"/>
            <a:ext cx="2628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URL</a:t>
            </a:r>
            <a:r>
              <a:rPr i="1" lang="es" sz="16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 (Uniform Resource Locator) es una referencia a un recurso que especifica su ubicación en una red informática y un protocolo para recuperarlo</a:t>
            </a:r>
            <a:endParaRPr i="1" sz="1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4652550" y="3113788"/>
            <a:ext cx="68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protocolo://host/carpeta1/carpeta2/.../carpetan/recurso </a:t>
            </a:r>
            <a:endParaRPr b="1" i="1" sz="12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406300" y="1919550"/>
            <a:ext cx="600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¿Qué es lo que escribimos en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Calibri"/>
                <a:ea typeface="Calibri"/>
                <a:cs typeface="Calibri"/>
                <a:sym typeface="Calibri"/>
              </a:rPr>
              <a:t>la barra de direcciones de 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</a:t>
            </a:r>
            <a:r>
              <a:rPr b="1" lang="es">
                <a:latin typeface="Calibri"/>
                <a:ea typeface="Calibri"/>
                <a:cs typeface="Calibri"/>
                <a:sym typeface="Calibri"/>
              </a:rPr>
              <a:t> browser?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20"/>
          <p:cNvCxnSpPr/>
          <p:nvPr/>
        </p:nvCxnSpPr>
        <p:spPr>
          <a:xfrm flipH="1" rot="10800000">
            <a:off x="3129743" y="3323493"/>
            <a:ext cx="13680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63" name="Google Shape;16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 txBox="1"/>
          <p:nvPr/>
        </p:nvSpPr>
        <p:spPr>
          <a:xfrm>
            <a:off x="365750" y="1839686"/>
            <a:ext cx="808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https://www.ole.com.ar/tema/lionel-messi.html</a:t>
            </a:r>
            <a:endParaRPr i="1" sz="16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365750" y="1339700"/>
            <a:ext cx="74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protocolo://host/carpeta</a:t>
            </a:r>
            <a:r>
              <a:rPr b="1" baseline="-25000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/carpeta</a:t>
            </a:r>
            <a:r>
              <a:rPr b="1" baseline="-25000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/.../carpeta</a:t>
            </a:r>
            <a:r>
              <a:rPr b="1" baseline="-25000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1" lang="es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/recurso </a:t>
            </a:r>
            <a:endParaRPr b="1" i="1" sz="1200">
              <a:solidFill>
                <a:srgbClr val="F1C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365750" y="2763075"/>
            <a:ext cx="8745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Protocolo: </a:t>
            </a: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https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Host: </a:t>
            </a: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www.ole.com.ar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Ubicación</a:t>
            </a: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 en el host: </a:t>
            </a: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tema/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Recurso: </a:t>
            </a:r>
            <a:r>
              <a:rPr lang="es" sz="1600">
                <a:latin typeface="Calibri"/>
                <a:ea typeface="Calibri"/>
                <a:cs typeface="Calibri"/>
                <a:sym typeface="Calibri"/>
              </a:rPr>
              <a:t>archivo lionel-messi.html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i="1" lang="es" sz="1600">
                <a:latin typeface="Calibri"/>
                <a:ea typeface="Calibri"/>
                <a:cs typeface="Calibri"/>
                <a:sym typeface="Calibri"/>
              </a:rPr>
              <a:t>El protocolo https se diferencia de http en que encripta los datos antes de enviarlos por la red.</a:t>
            </a:r>
            <a:endParaRPr i="1"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Protocolo HTTP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176" name="Google Shape;17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365750" y="1020223"/>
            <a:ext cx="808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información podemos pedir usando HTTP?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1495050" y="1839938"/>
            <a:ext cx="2706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Archivos (estático)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4846325" y="1839938"/>
            <a:ext cx="30000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dinámica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Clima actual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Últimos posts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Saldo bancario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634350" y="3994850"/>
            <a:ext cx="787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➔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Un archivo ya existe en el servidor.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➔"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Si yo pido el clima actual el servidor tiene que generar esa información en el momento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/>
        </p:nvSpPr>
        <p:spPr>
          <a:xfrm>
            <a:off x="2240672" y="2365137"/>
            <a:ext cx="3676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65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cap="small">
                <a:solidFill>
                  <a:srgbClr val="F4F2ED"/>
                </a:solidFill>
                <a:latin typeface="Tahoma"/>
                <a:ea typeface="Tahoma"/>
                <a:cs typeface="Tahoma"/>
                <a:sym typeface="Tahoma"/>
              </a:rPr>
              <a:t>BIBLIOTECA REQUESTS</a:t>
            </a:r>
            <a:endParaRPr b="0" i="0" sz="2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6" name="Google Shape;186;p23"/>
          <p:cNvGrpSpPr/>
          <p:nvPr/>
        </p:nvGrpSpPr>
        <p:grpSpPr>
          <a:xfrm>
            <a:off x="2260855" y="2700077"/>
            <a:ext cx="4642600" cy="37752"/>
            <a:chOff x="1133919" y="1518500"/>
            <a:chExt cx="2340610" cy="25400"/>
          </a:xfrm>
        </p:grpSpPr>
        <p:sp>
          <p:nvSpPr>
            <p:cNvPr id="187" name="Google Shape;187;p23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1133919" y="1518500"/>
              <a:ext cx="2340610" cy="25400"/>
            </a:xfrm>
            <a:custGeom>
              <a:rect b="b" l="l" r="r" t="t"/>
              <a:pathLst>
                <a:path extrusionOk="0" h="25400" w="234061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cap="flat" cmpd="sng" w="18875">
              <a:solidFill>
                <a:srgbClr val="F4F2E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1133919" y="1518500"/>
              <a:ext cx="1221105" cy="25400"/>
            </a:xfrm>
            <a:custGeom>
              <a:rect b="b" l="l" r="r" t="t"/>
              <a:pathLst>
                <a:path extrusionOk="0" h="25400" w="1221105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cap="flat" cmpd="sng" w="18875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Biblioteca Requests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00" name="Google Shape;20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4"/>
          <p:cNvSpPr txBox="1"/>
          <p:nvPr/>
        </p:nvSpPr>
        <p:spPr>
          <a:xfrm>
            <a:off x="365750" y="1013063"/>
            <a:ext cx="808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➔"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comunicarnos con hosts remotos y pedirles recursos 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477075" y="1418450"/>
            <a:ext cx="5453400" cy="212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requests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obtener_texto () 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url = " https :// www .... "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response = requests . get ( url 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response . text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input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(" Presiona Enter para descargar el texto ")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texto = obtener_texto 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("\ nTexto recibido :")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 texto 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365750" y="3713213"/>
            <a:ext cx="8524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➔"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La función requests.get(url) envía una solicitud HTTP para obtener el recurso indicado por url y devuelve la respuesta del servidor.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➔"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El resultado es un objeto, instancia de la clase requests.</a:t>
            </a:r>
            <a:r>
              <a:rPr b="1" lang="es" sz="1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s" sz="1300">
                <a:latin typeface="Calibri"/>
                <a:ea typeface="Calibri"/>
                <a:cs typeface="Calibri"/>
                <a:sym typeface="Calibri"/>
              </a:rPr>
              <a:t>Response</a:t>
            </a:r>
            <a:r>
              <a:rPr b="1" lang="es" sz="1300"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1300"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Calibri"/>
              <a:buChar char="➔"/>
            </a:pP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Los objetos </a:t>
            </a:r>
            <a:r>
              <a:rPr i="1" lang="es" sz="1300">
                <a:latin typeface="Calibri"/>
                <a:ea typeface="Calibri"/>
                <a:cs typeface="Calibri"/>
                <a:sym typeface="Calibri"/>
              </a:rPr>
              <a:t>Response </a:t>
            </a:r>
            <a:r>
              <a:rPr lang="es" sz="1300">
                <a:latin typeface="Calibri"/>
                <a:ea typeface="Calibri"/>
                <a:cs typeface="Calibri"/>
                <a:sym typeface="Calibri"/>
              </a:rPr>
              <a:t>tienen un atributo text que contiene el texto devuelto por el servidor.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Biblioteca Requests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13" name="Google Shape;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365750" y="1208888"/>
            <a:ext cx="808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➔"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muchos casos, la respuesta del servidor remoto no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pensada para ser leída directamente por una persona. 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archivos con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extensión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.html (o .htm) son textos que los navegadores web (como Chrome o Firefox) interpretan para mostrar una 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página</a:t>
            </a:r>
            <a:r>
              <a:rPr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pantalla.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556350" y="2818500"/>
            <a:ext cx="6246900" cy="104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requests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x = requests . get ('https :// w3schools . com / python / demopage . htm ')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6DBF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 x.text 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6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Biblioteca Requests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25" name="Google Shape;22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6"/>
          <p:cNvSpPr txBox="1"/>
          <p:nvPr/>
        </p:nvSpPr>
        <p:spPr>
          <a:xfrm>
            <a:off x="365750" y="1071838"/>
            <a:ext cx="8088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➔"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muchos casos,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solicita un archivo específico, sino que se invoca una funcionalidad provista por una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(Application Programming Interface) que corre en el servidor remoto.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75402" y="1722683"/>
            <a:ext cx="838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rPr>
              <a:t>API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 biblioteca de funciones disponibles para su uso cuya respuesta depende de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haya sido programada, sin seguir una estructura fija. </a:t>
            </a:r>
            <a:endParaRPr b="1" baseline="3000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6"/>
          <p:cNvSpPr txBox="1"/>
          <p:nvPr/>
        </p:nvSpPr>
        <p:spPr>
          <a:xfrm>
            <a:off x="274325" y="2409200"/>
            <a:ext cx="5506200" cy="23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requests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obtener_chiste () 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url = " https :// official - joke - api . appspot . com / random_joke "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response = requests . get ( url 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response . text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input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(" Presiona Enter para obtener un chiste")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chiste = obtener_chiste 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("\ nChiste recibido :")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 chiste)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6"/>
          <p:cNvSpPr txBox="1"/>
          <p:nvPr/>
        </p:nvSpPr>
        <p:spPr>
          <a:xfrm>
            <a:off x="5937800" y="2409200"/>
            <a:ext cx="3006900" cy="14775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Chiste recibido : {" type ":" general ", " setup ":" Want to hear a joke about construction ?" 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punchline ":" Nah , I'm still working on it ." 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 id ":151}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Biblioteca Requests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39" name="Google Shape;2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7"/>
          <p:cNvSpPr txBox="1"/>
          <p:nvPr/>
        </p:nvSpPr>
        <p:spPr>
          <a:xfrm>
            <a:off x="365750" y="915700"/>
            <a:ext cx="8952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muy habitual que el resultado de una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una API tenga formato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clase Response tiene un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res.json()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en caso de que la respuesta de la API tenga este formato, transforma su contenido en objetos Python del mismo modo que lo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hacía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biblioteca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json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5879825" y="1899525"/>
            <a:ext cx="2715600" cy="12621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Chiste recibido 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don 't you find hippopotamuses hiding in trees ? They 're really good at it 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274325" y="1899525"/>
            <a:ext cx="5506200" cy="277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import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requests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def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obtener_chiste () 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url = " https :// official - joke - api . appspot . com / random_joke "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response = requests . get ( url 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= response . json ()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chiste = data [ " setup "] + " " + data [" punchline "]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return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chiste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input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("Presiona Enter para obtener un chiste")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alibri"/>
                <a:ea typeface="Calibri"/>
                <a:cs typeface="Calibri"/>
                <a:sym typeface="Calibri"/>
              </a:rPr>
              <a:t>chiste = obtener_chiste 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("\ nChiste recibido :")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print </a:t>
            </a:r>
            <a:r>
              <a:rPr lang="es">
                <a:latin typeface="Calibri"/>
                <a:ea typeface="Calibri"/>
                <a:cs typeface="Calibri"/>
                <a:sym typeface="Calibri"/>
              </a:rPr>
              <a:t>( chiste)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365760" y="54864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HTTP: </a:t>
            </a: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52" name="Google Shape;2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8"/>
          <p:cNvSpPr txBox="1"/>
          <p:nvPr/>
        </p:nvSpPr>
        <p:spPr>
          <a:xfrm>
            <a:off x="365750" y="998525"/>
            <a:ext cx="8952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hacemos un requerimiento HTTP se pueden incluir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al final de la URL se incluye el signo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seguido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pares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clave=valor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separados por el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símbolo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2570000" y="2439959"/>
            <a:ext cx="3821100" cy="233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"tamano": "grande",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"precio": 4300.00,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"adicionales": ["</a:t>
            </a: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jamón</a:t>
            </a: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", "morrones"],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"cliente":{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"nombre": "Nombre",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"telefono": "1132234532",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"correo": "</a:t>
            </a:r>
            <a:r>
              <a:rPr lang="es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nombre01</a:t>
            </a:r>
            <a:r>
              <a:rPr lang="es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@em.com</a:t>
            </a: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429650" y="1673325"/>
            <a:ext cx="8824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accediendo a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https://pizzaloca.com/pedido?nro pedido=2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solicitamos el segundo pedido almacenado en el servidor: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9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9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9"/>
          <p:cNvSpPr txBox="1"/>
          <p:nvPr/>
        </p:nvSpPr>
        <p:spPr>
          <a:xfrm>
            <a:off x="274335" y="55691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HTTP: parámetros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65" name="Google Shape;2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9"/>
          <p:cNvSpPr txBox="1"/>
          <p:nvPr/>
        </p:nvSpPr>
        <p:spPr>
          <a:xfrm>
            <a:off x="274325" y="998525"/>
            <a:ext cx="8952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son muchos los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 se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envían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 un HTTP, incluirlos todos en la URL resulta desprolijo.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9"/>
          <p:cNvSpPr txBox="1"/>
          <p:nvPr/>
        </p:nvSpPr>
        <p:spPr>
          <a:xfrm>
            <a:off x="274325" y="1424850"/>
            <a:ext cx="882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Ejemplo: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https://pizzaloca.com/pedido?nro pedido=2&amp;fecha=12-03-98&amp;cortada=True&amp;aceitunas=False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9"/>
          <p:cNvSpPr txBox="1"/>
          <p:nvPr/>
        </p:nvSpPr>
        <p:spPr>
          <a:xfrm>
            <a:off x="274325" y="1971900"/>
            <a:ext cx="906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función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get(...) 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admite un parámetro opcional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params</a:t>
            </a: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para indicar en un diccionario de Python los valores de los parámetros que son enviados al servidor. </a:t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las claves como los valores deben ser </a:t>
            </a:r>
            <a:r>
              <a:rPr b="1" i="1" lang="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strings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274325" y="3100100"/>
            <a:ext cx="7514700" cy="14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valores_params = </a:t>
            </a:r>
            <a:r>
              <a:rPr lang="e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dict </a:t>
            </a: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valores_params ['nro_pedido '] = '2'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valores_params ['fecha '] = '12 -03 -98 '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valores_params ['cortada '] = 'True '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valores_params ['aceitunas '] = 'False '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 = requests . get ('https :// pizzaloca . com / pedido ', params = valores_params )</a:t>
            </a:r>
            <a:endParaRPr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"/>
          <p:cNvSpPr/>
          <p:nvPr/>
        </p:nvSpPr>
        <p:spPr>
          <a:xfrm>
            <a:off x="0" y="0"/>
            <a:ext cx="9144000" cy="411600"/>
          </a:xfrm>
          <a:prstGeom prst="rect">
            <a:avLst/>
          </a:prstGeom>
          <a:solidFill>
            <a:srgbClr val="FFD96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274320" y="102870"/>
            <a:ext cx="457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Métodos Analíticos y 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0"/>
          <p:cNvSpPr/>
          <p:nvPr/>
        </p:nvSpPr>
        <p:spPr>
          <a:xfrm>
            <a:off x="0" y="4869180"/>
            <a:ext cx="9144000" cy="274200"/>
          </a:xfrm>
          <a:prstGeom prst="rect">
            <a:avLst/>
          </a:prstGeom>
          <a:solidFill>
            <a:srgbClr val="28282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274320" y="4903470"/>
            <a:ext cx="365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Pablo J Piccoli Bornia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274335" y="673478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s" sz="28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Repaso</a:t>
            </a:r>
            <a:endParaRPr b="1" sz="28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_tella2.png" id="279" name="Google Shape;27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5350" y="15239"/>
            <a:ext cx="818650" cy="38100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0"/>
          <p:cNvSpPr txBox="1"/>
          <p:nvPr/>
        </p:nvSpPr>
        <p:spPr>
          <a:xfrm>
            <a:off x="372700" y="1473925"/>
            <a:ext cx="70995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capas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 requests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Consultas HTTP con parámetros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