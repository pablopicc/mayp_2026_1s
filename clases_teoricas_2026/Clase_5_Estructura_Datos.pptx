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58" r:id="rId5"/>
    <p:sldId id="262" r:id="rId6"/>
    <p:sldId id="263" r:id="rId7"/>
    <p:sldId id="264" r:id="rId8"/>
    <p:sldId id="265" r:id="rId9"/>
    <p:sldId id="259" r:id="rId10"/>
    <p:sldId id="266" r:id="rId11"/>
    <p:sldId id="267" r:id="rId12"/>
    <p:sldId id="268" r:id="rId13"/>
    <p:sldId id="269" r:id="rId14"/>
    <p:sldId id="270" r:id="rId15"/>
    <p:sldId id="26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Métodos Analíticos y Programación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547" y="1984968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t>Estructuras de Datos, Strings e Iteración</a:t>
            </a:r>
          </a:p>
        </p:txBody>
      </p:sp>
      <p:sp>
        <p:nvSpPr>
          <p:cNvPr id="9" name="Google Shape;85;p13">
            <a:extLst>
              <a:ext uri="{FF2B5EF4-FFF2-40B4-BE49-F238E27FC236}">
                <a16:creationId xmlns:a16="http://schemas.microsoft.com/office/drawing/2014/main" id="{8ED38505-8255-4E01-37FF-537B94009AC3}"/>
              </a:ext>
            </a:extLst>
          </p:cNvPr>
          <p:cNvSpPr txBox="1"/>
          <p:nvPr/>
        </p:nvSpPr>
        <p:spPr>
          <a:xfrm>
            <a:off x="1574216" y="3620557"/>
            <a:ext cx="84963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Profesor</a:t>
            </a:r>
            <a:r>
              <a:rPr lang="en-US" sz="28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: Pablo J Piccoli </a:t>
            </a:r>
            <a:r>
              <a:rPr lang="en-US" sz="28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Bornia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86;p13">
            <a:extLst>
              <a:ext uri="{FF2B5EF4-FFF2-40B4-BE49-F238E27FC236}">
                <a16:creationId xmlns:a16="http://schemas.microsoft.com/office/drawing/2014/main" id="{C147A839-7280-22F0-BB52-CADC04996E81}"/>
              </a:ext>
            </a:extLst>
          </p:cNvPr>
          <p:cNvSpPr txBox="1"/>
          <p:nvPr/>
        </p:nvSpPr>
        <p:spPr>
          <a:xfrm>
            <a:off x="1574216" y="4219890"/>
            <a:ext cx="84963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Auxiliares</a:t>
            </a:r>
            <a:r>
              <a:rPr lang="en-US" sz="24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: Daniela Longas - M Victoria Tolosa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E48FD-756A-E821-AC74-0F6417501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E91A49-325B-A273-A3CB-315CB3385B01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5C0CAA-1AEB-6FA6-E245-AEDDD5702E9A}"/>
              </a:ext>
            </a:extLst>
          </p:cNvPr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Métodos Analíticos y Programación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56B161-F414-5EC0-91E3-24C2712C387D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2EC795-2216-96E6-EDD2-488B03CB6316}"/>
              </a:ext>
            </a:extLst>
          </p:cNvPr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Pablo J Piccoli Bornia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7CD892-CF98-D815-1256-6A4FB68D1826}"/>
              </a:ext>
            </a:extLst>
          </p:cNvPr>
          <p:cNvSpPr txBox="1"/>
          <p:nvPr/>
        </p:nvSpPr>
        <p:spPr>
          <a:xfrm>
            <a:off x="36576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t>Tuplas: Conceptos Básicos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051745-3A85-4E9D-74FE-9B45A3FF4103}"/>
              </a:ext>
            </a:extLst>
          </p:cNvPr>
          <p:cNvSpPr txBox="1"/>
          <p:nvPr/>
        </p:nvSpPr>
        <p:spPr>
          <a:xfrm>
            <a:off x="457200" y="1645920"/>
            <a:ext cx="7772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i="1" dirty="0"/>
              <a:t>Idea</a:t>
            </a:r>
            <a:r>
              <a:rPr dirty="0"/>
              <a:t>: </a:t>
            </a:r>
            <a:r>
              <a:rPr dirty="0" err="1"/>
              <a:t>Estructura</a:t>
            </a:r>
            <a:r>
              <a:rPr dirty="0"/>
              <a:t> para </a:t>
            </a:r>
            <a:r>
              <a:rPr dirty="0" err="1"/>
              <a:t>almacenar</a:t>
            </a:r>
            <a:r>
              <a:rPr dirty="0"/>
              <a:t> </a:t>
            </a:r>
            <a:r>
              <a:rPr dirty="0" err="1"/>
              <a:t>secuencias</a:t>
            </a:r>
            <a:r>
              <a:rPr dirty="0"/>
              <a:t> </a:t>
            </a:r>
            <a:r>
              <a:rPr dirty="0" err="1"/>
              <a:t>fijas</a:t>
            </a:r>
            <a:r>
              <a:rPr dirty="0"/>
              <a:t> de </a:t>
            </a:r>
            <a:r>
              <a:rPr dirty="0" err="1"/>
              <a:t>valores</a:t>
            </a:r>
            <a:r>
              <a:rPr dirty="0"/>
              <a:t>.</a:t>
            </a:r>
            <a:endParaRPr lang="es-AR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lang="es-AR" dirty="0"/>
              <a:t> Característica</a:t>
            </a:r>
            <a:r>
              <a:rPr dirty="0"/>
              <a:t> principal: Son </a:t>
            </a:r>
            <a:r>
              <a:rPr b="1" dirty="0"/>
              <a:t>INMUTABLES</a:t>
            </a:r>
            <a:r>
              <a:rPr dirty="0"/>
              <a:t> (no se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modificar</a:t>
            </a:r>
            <a:r>
              <a:rPr dirty="0"/>
              <a:t>).</a:t>
            </a:r>
            <a:endParaRPr lang="es-AR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 err="1"/>
              <a:t>Operaciones</a:t>
            </a:r>
            <a:r>
              <a:rPr dirty="0"/>
              <a:t>: Crear con </a:t>
            </a:r>
            <a:r>
              <a:rPr lang="es-AR" dirty="0"/>
              <a:t>una tupla</a:t>
            </a:r>
            <a:r>
              <a:rPr dirty="0"/>
              <a:t> (a, b), </a:t>
            </a:r>
            <a:r>
              <a:rPr lang="es-AR" dirty="0"/>
              <a:t>saber cuántos elementos tiene una tupla</a:t>
            </a:r>
            <a:r>
              <a:rPr dirty="0"/>
              <a:t> con </a:t>
            </a:r>
            <a:r>
              <a:rPr dirty="0" err="1"/>
              <a:t>len</a:t>
            </a:r>
            <a:r>
              <a:rPr dirty="0"/>
              <a:t>(), acceder</a:t>
            </a:r>
            <a:r>
              <a:rPr lang="es-AR" dirty="0"/>
              <a:t> a los elementos</a:t>
            </a:r>
            <a:r>
              <a:rPr dirty="0"/>
              <a:t> con [ ].</a:t>
            </a:r>
            <a:endParaRPr lang="es-AR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i="1" dirty="0" err="1"/>
              <a:t>Ejemplo</a:t>
            </a:r>
            <a:r>
              <a:rPr dirty="0"/>
              <a:t>: </a:t>
            </a:r>
            <a:endParaRPr lang="es-AR" dirty="0"/>
          </a:p>
          <a:p>
            <a:pPr>
              <a:defRPr sz="1800"/>
            </a:pPr>
            <a:r>
              <a:rPr dirty="0"/>
              <a:t>t = ('</a:t>
            </a:r>
            <a:r>
              <a:rPr dirty="0" err="1"/>
              <a:t>hola</a:t>
            </a:r>
            <a:r>
              <a:rPr dirty="0"/>
              <a:t>', 1, 2.5)</a:t>
            </a:r>
            <a:endParaRPr lang="es-AR" dirty="0"/>
          </a:p>
          <a:p>
            <a:pPr>
              <a:defRPr sz="1800"/>
            </a:pPr>
            <a:r>
              <a:rPr lang="en-US" dirty="0"/>
              <a:t>print(t)</a:t>
            </a:r>
            <a:endParaRPr lang="es-AR" dirty="0"/>
          </a:p>
          <a:p>
            <a:pPr>
              <a:defRPr sz="1800"/>
            </a:pPr>
            <a:r>
              <a:rPr lang="es-AR" dirty="0"/>
              <a:t>(‘hola’, 1, 25.5)</a:t>
            </a:r>
            <a:endParaRPr dirty="0"/>
          </a:p>
        </p:txBody>
      </p:sp>
      <p:pic>
        <p:nvPicPr>
          <p:cNvPr id="10" name="Google Shape;93;p14" descr="di_tella2.png">
            <a:extLst>
              <a:ext uri="{FF2B5EF4-FFF2-40B4-BE49-F238E27FC236}">
                <a16:creationId xmlns:a16="http://schemas.microsoft.com/office/drawing/2014/main" id="{6E0BFAEF-4E00-A039-9DE8-0327BE2F98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4551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Métodos Analíticos y Programación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Pablo J Piccoli Bornia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551" y="594360"/>
            <a:ext cx="432079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rPr dirty="0" err="1"/>
              <a:t>Tuplas</a:t>
            </a:r>
            <a:r>
              <a:rPr dirty="0"/>
              <a:t>: </a:t>
            </a:r>
            <a:r>
              <a:rPr lang="es-AR" dirty="0"/>
              <a:t>Aspectos </a:t>
            </a:r>
            <a:r>
              <a:rPr lang="es-AR" dirty="0" err="1"/>
              <a:t>Particulars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Puede un elemento de la tupla ser mutable?</a:t>
            </a:r>
            <a:r>
              <a:rPr lang="es-ES" dirty="0"/>
              <a:t>. </a:t>
            </a:r>
          </a:p>
          <a:p>
            <a:r>
              <a:rPr lang="es-ES" dirty="0"/>
              <a:t>Consideremos el siguiente caso, donde la tercera componente es una lista.</a:t>
            </a:r>
          </a:p>
          <a:p>
            <a:r>
              <a:rPr lang="en-US" sz="1600" dirty="0">
                <a:latin typeface="Courier New"/>
              </a:rPr>
              <a:t>&gt;&gt;&gt; l = [1 , 2 , 3]</a:t>
            </a:r>
          </a:p>
          <a:p>
            <a:r>
              <a:rPr lang="en-US" sz="1600" dirty="0">
                <a:latin typeface="Courier New"/>
              </a:rPr>
              <a:t>&gt;&gt;&gt; t = 'a' ,'b' ,l</a:t>
            </a:r>
          </a:p>
          <a:p>
            <a:r>
              <a:rPr lang="en-US" sz="1600" dirty="0">
                <a:latin typeface="Courier New"/>
              </a:rPr>
              <a:t>&gt;&gt;&gt; print(t)</a:t>
            </a:r>
          </a:p>
          <a:p>
            <a:r>
              <a:rPr lang="pt-BR" sz="1600" dirty="0">
                <a:latin typeface="Courier New"/>
              </a:rPr>
              <a:t>('a','b',[1,2,3])</a:t>
            </a:r>
          </a:p>
          <a:p>
            <a:r>
              <a:rPr lang="es-ES" sz="1600" dirty="0">
                <a:latin typeface="Courier New"/>
              </a:rPr>
              <a:t>&gt;&gt;&gt; l[1] = 200  # Que pasa con t ?</a:t>
            </a:r>
          </a:p>
          <a:p>
            <a:r>
              <a:rPr lang="en-US" sz="1600" dirty="0">
                <a:latin typeface="Courier New"/>
              </a:rPr>
              <a:t>&gt;&gt;&gt; print( t)</a:t>
            </a:r>
          </a:p>
          <a:p>
            <a:r>
              <a:rPr lang="es-ES" dirty="0"/>
              <a:t>En este caso, la tupla guarda una referencia a la lista.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Un caso de suma utilidad</a:t>
            </a:r>
            <a:r>
              <a:rPr lang="es-ES" dirty="0"/>
              <a:t>. En muchas situaciones, tenemos funciones que queremos que devuelvan </a:t>
            </a:r>
            <a:r>
              <a:rPr lang="es-ES" b="1" dirty="0"/>
              <a:t>más </a:t>
            </a:r>
            <a:r>
              <a:rPr lang="es-ES" dirty="0"/>
              <a:t>de un resultado. La función puede devolver una tupla con los resultados deseados.</a:t>
            </a:r>
          </a:p>
          <a:p>
            <a:r>
              <a:rPr lang="sv-SE" sz="1600" dirty="0">
                <a:latin typeface="Courier New"/>
              </a:rPr>
              <a:t>def min_max_lista(l) :</a:t>
            </a:r>
          </a:p>
          <a:p>
            <a:pPr marL="457200" lvl="2"/>
            <a:r>
              <a:rPr lang="en-US" sz="1600" dirty="0">
                <a:latin typeface="Courier New"/>
              </a:rPr>
              <a:t>return min(l) , max(l)</a:t>
            </a:r>
          </a:p>
          <a:p>
            <a:r>
              <a:rPr lang="en-US" sz="1600" dirty="0">
                <a:latin typeface="Courier New"/>
              </a:rPr>
              <a:t>def main( ):</a:t>
            </a:r>
          </a:p>
          <a:p>
            <a:pPr marL="457200" lvl="2"/>
            <a:r>
              <a:rPr lang="en-US" sz="1600" dirty="0">
                <a:latin typeface="Courier New"/>
              </a:rPr>
              <a:t>l = [1, 5, 3,  3, 2 , 1, 3, 4]</a:t>
            </a:r>
          </a:p>
          <a:p>
            <a:pPr marL="457200" lvl="2"/>
            <a:r>
              <a:rPr lang="en-US" sz="1600" dirty="0" err="1">
                <a:latin typeface="Courier New"/>
              </a:rPr>
              <a:t>minimo</a:t>
            </a:r>
            <a:r>
              <a:rPr lang="en-US" sz="1600" dirty="0">
                <a:latin typeface="Courier New"/>
              </a:rPr>
              <a:t> , </a:t>
            </a:r>
            <a:r>
              <a:rPr lang="en-US" sz="1600" dirty="0" err="1">
                <a:latin typeface="Courier New"/>
              </a:rPr>
              <a:t>maximo</a:t>
            </a:r>
            <a:r>
              <a:rPr lang="en-US" sz="1600" dirty="0">
                <a:latin typeface="Courier New"/>
              </a:rPr>
              <a:t> = </a:t>
            </a:r>
            <a:r>
              <a:rPr lang="en-US" sz="1600" dirty="0" err="1">
                <a:latin typeface="Courier New"/>
              </a:rPr>
              <a:t>min_max_lista</a:t>
            </a:r>
            <a:r>
              <a:rPr lang="en-US" sz="1600" dirty="0">
                <a:latin typeface="Courier New"/>
              </a:rPr>
              <a:t> l)</a:t>
            </a:r>
          </a:p>
          <a:p>
            <a:pPr marL="457200" lvl="2"/>
            <a:r>
              <a:rPr lang="sv-SE" sz="1600" dirty="0">
                <a:latin typeface="Courier New"/>
              </a:rPr>
              <a:t>t = min_max_lista (l)</a:t>
            </a:r>
            <a:endParaRPr sz="1600" dirty="0">
              <a:latin typeface="Courier New"/>
            </a:endParaRPr>
          </a:p>
        </p:txBody>
      </p:sp>
      <p:pic>
        <p:nvPicPr>
          <p:cNvPr id="10" name="Google Shape;93;p14" descr="di_tella2.png">
            <a:extLst>
              <a:ext uri="{FF2B5EF4-FFF2-40B4-BE49-F238E27FC236}">
                <a16:creationId xmlns:a16="http://schemas.microsoft.com/office/drawing/2014/main" id="{4C0E9490-5E20-A092-6BDC-AB41E5D7A4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Métodos Analíticos y Programación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Pablo J Piccoli Bornia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t>Ciclos: La función range()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9148" y="1691640"/>
            <a:ext cx="8824852" cy="40626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lang="es-AR" i="1" dirty="0"/>
              <a:t>Idea</a:t>
            </a:r>
            <a:r>
              <a:rPr lang="es-AR" dirty="0"/>
              <a:t>: </a:t>
            </a:r>
            <a:r>
              <a:rPr lang="es-ES" dirty="0"/>
              <a:t>Al momento de iterar, muchas veces es necesario hacerlo siguiendo</a:t>
            </a:r>
          </a:p>
          <a:p>
            <a:r>
              <a:rPr lang="es-ES" dirty="0"/>
              <a:t>progresiones aritméticas con determinados patrones. La función </a:t>
            </a:r>
            <a:r>
              <a:rPr lang="es-ES" dirty="0" err="1"/>
              <a:t>range</a:t>
            </a:r>
            <a:endParaRPr lang="es-ES" dirty="0"/>
          </a:p>
          <a:p>
            <a:r>
              <a:rPr lang="en-US" dirty="0" err="1"/>
              <a:t>cumple</a:t>
            </a:r>
            <a:r>
              <a:rPr lang="en-US" dirty="0"/>
              <a:t>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tarea</a:t>
            </a:r>
            <a:r>
              <a:rPr lang="en-US" dirty="0"/>
              <a:t>. </a:t>
            </a:r>
          </a:p>
          <a:p>
            <a:endParaRPr lang="es-AR" dirty="0"/>
          </a:p>
          <a:p>
            <a:pPr>
              <a:defRPr sz="1800"/>
            </a:pPr>
            <a:r>
              <a:rPr dirty="0"/>
              <a:t>range(start, stop, step): Genera </a:t>
            </a:r>
            <a:r>
              <a:rPr dirty="0" err="1"/>
              <a:t>una</a:t>
            </a:r>
            <a:r>
              <a:rPr dirty="0"/>
              <a:t> </a:t>
            </a:r>
            <a:r>
              <a:rPr lang="es-AR" dirty="0" err="1"/>
              <a:t>secuenta</a:t>
            </a:r>
            <a:r>
              <a:rPr lang="es-AR" dirty="0"/>
              <a:t> de número enteros en el rango [</a:t>
            </a:r>
            <a:r>
              <a:rPr lang="es-AR" dirty="0" err="1"/>
              <a:t>start,stop</a:t>
            </a:r>
            <a:r>
              <a:rPr lang="es-AR" dirty="0"/>
              <a:t>) de</a:t>
            </a:r>
          </a:p>
          <a:p>
            <a:pPr>
              <a:defRPr sz="1800"/>
            </a:pPr>
            <a:r>
              <a:rPr lang="es-AR" i="1" dirty="0"/>
              <a:t>paso</a:t>
            </a:r>
            <a:r>
              <a:rPr lang="es-AR" dirty="0"/>
              <a:t> step. Técnicamente no es una lista pero podemos usarlo como si generara una.</a:t>
            </a:r>
          </a:p>
          <a:p>
            <a:pPr>
              <a:defRPr sz="1800"/>
            </a:pPr>
            <a:r>
              <a:rPr lang="es-AR" u="sng" dirty="0" err="1"/>
              <a:t>start</a:t>
            </a:r>
            <a:r>
              <a:rPr lang="es-AR" dirty="0"/>
              <a:t> y </a:t>
            </a:r>
            <a:r>
              <a:rPr lang="es-AR" u="sng" dirty="0"/>
              <a:t>step</a:t>
            </a:r>
            <a:r>
              <a:rPr lang="es-AR" dirty="0"/>
              <a:t> son opcionales.</a:t>
            </a:r>
          </a:p>
          <a:p>
            <a:pPr>
              <a:defRPr sz="1800"/>
            </a:pPr>
            <a:endParaRPr lang="es-AR" dirty="0"/>
          </a:p>
          <a:p>
            <a:r>
              <a:rPr lang="en-US" sz="1600" dirty="0">
                <a:latin typeface="Courier New"/>
              </a:rPr>
              <a:t>&gt;&gt;&gt; range (10) # Toma start = 0 y end = 10. step = 1</a:t>
            </a:r>
          </a:p>
          <a:p>
            <a:r>
              <a:rPr lang="en-US" sz="1600" dirty="0">
                <a:latin typeface="Courier New"/>
              </a:rPr>
              <a:t>&gt;&gt;&gt; range (2,10) # step = 1</a:t>
            </a:r>
          </a:p>
          <a:p>
            <a:r>
              <a:rPr lang="en-US" sz="1600" dirty="0">
                <a:latin typeface="Courier New"/>
              </a:rPr>
              <a:t>&gt;&gt;&gt; range (2,10,3) # </a:t>
            </a:r>
            <a:r>
              <a:rPr lang="en-US" sz="1600" dirty="0" err="1">
                <a:latin typeface="Courier New"/>
              </a:rPr>
              <a:t>Que</a:t>
            </a:r>
            <a:r>
              <a:rPr lang="en-US" sz="1600" dirty="0">
                <a:latin typeface="Courier New"/>
              </a:rPr>
              <a:t> </a:t>
            </a:r>
            <a:r>
              <a:rPr lang="en-US" sz="1600" dirty="0" err="1">
                <a:latin typeface="Courier New"/>
              </a:rPr>
              <a:t>secuencia</a:t>
            </a:r>
            <a:r>
              <a:rPr lang="en-US" sz="1600" dirty="0">
                <a:latin typeface="Courier New"/>
              </a:rPr>
              <a:t> genera ?</a:t>
            </a:r>
          </a:p>
          <a:p>
            <a:r>
              <a:rPr lang="en-US" sz="1600" dirty="0">
                <a:latin typeface="Courier New"/>
              </a:rPr>
              <a:t>&gt;&gt;&gt; range (10,2,-1) # </a:t>
            </a:r>
            <a:r>
              <a:rPr lang="en-US" sz="1600" dirty="0" err="1">
                <a:latin typeface="Courier New"/>
              </a:rPr>
              <a:t>Que</a:t>
            </a:r>
            <a:r>
              <a:rPr lang="en-US" sz="1600" dirty="0">
                <a:latin typeface="Courier New"/>
              </a:rPr>
              <a:t> </a:t>
            </a:r>
            <a:r>
              <a:rPr lang="en-US" sz="1600" dirty="0" err="1">
                <a:latin typeface="Courier New"/>
              </a:rPr>
              <a:t>secuencia</a:t>
            </a:r>
            <a:r>
              <a:rPr lang="en-US" sz="1600" dirty="0">
                <a:latin typeface="Courier New"/>
              </a:rPr>
              <a:t> genera ?</a:t>
            </a:r>
          </a:p>
          <a:p>
            <a:r>
              <a:rPr lang="en-US" sz="1600" dirty="0">
                <a:latin typeface="Courier New"/>
              </a:rPr>
              <a:t>&gt;&gt;&gt; type (range(10)) # class range</a:t>
            </a:r>
          </a:p>
          <a:p>
            <a:r>
              <a:rPr lang="pt-BR" sz="1600" dirty="0">
                <a:latin typeface="Courier New"/>
              </a:rPr>
              <a:t>&gt;&gt;&gt; l = list(range(10)) # obtiene la lista de manera explicita</a:t>
            </a:r>
            <a:endParaRPr sz="1600" dirty="0">
              <a:latin typeface="Courier New"/>
            </a:endParaRPr>
          </a:p>
        </p:txBody>
      </p:sp>
      <p:pic>
        <p:nvPicPr>
          <p:cNvPr id="9" name="Google Shape;93;p14" descr="di_tella2.png">
            <a:extLst>
              <a:ext uri="{FF2B5EF4-FFF2-40B4-BE49-F238E27FC236}">
                <a16:creationId xmlns:a16="http://schemas.microsoft.com/office/drawing/2014/main" id="{E08CAE60-F25A-76E7-F7DC-096FDCCA3D3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694DC-2BA3-5E58-BF42-5BD0C0711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F7E460-0101-3B78-EC6D-81F27A60446B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A5A84D-A456-F01F-2D08-6F594AE62BA1}"/>
              </a:ext>
            </a:extLst>
          </p:cNvPr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Métodos Analíticos y Programación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34E504-85C0-EB62-7256-8EEF8A105872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96CD4A-A58E-3E78-B180-EC5D835E0637}"/>
              </a:ext>
            </a:extLst>
          </p:cNvPr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Pablo J Piccoli Bornia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4D1C15-220C-D5A0-73CD-81BA3E74D8FC}"/>
              </a:ext>
            </a:extLst>
          </p:cNvPr>
          <p:cNvSpPr txBox="1"/>
          <p:nvPr/>
        </p:nvSpPr>
        <p:spPr>
          <a:xfrm>
            <a:off x="365760" y="731520"/>
            <a:ext cx="154818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rPr dirty="0" err="1"/>
              <a:t>Ciclos</a:t>
            </a:r>
            <a:r>
              <a:rPr lang="es-AR" dirty="0"/>
              <a:t> </a:t>
            </a:r>
            <a:r>
              <a:rPr lang="es-AR" dirty="0" err="1"/>
              <a:t>for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2650D5-3B23-9237-1BB3-33C15B080E6C}"/>
              </a:ext>
            </a:extLst>
          </p:cNvPr>
          <p:cNvSpPr txBox="1"/>
          <p:nvPr/>
        </p:nvSpPr>
        <p:spPr>
          <a:xfrm>
            <a:off x="274320" y="1013817"/>
            <a:ext cx="8725842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lang="es-ES" dirty="0"/>
              <a:t>Si queremos iterar sobre los índices de una lista, podemos utilizar la </a:t>
            </a:r>
            <a:r>
              <a:rPr lang="en-US" dirty="0" err="1"/>
              <a:t>estructura</a:t>
            </a:r>
            <a:r>
              <a:rPr lang="en-US" dirty="0"/>
              <a:t> de control for:</a:t>
            </a:r>
          </a:p>
          <a:p>
            <a:endParaRPr lang="en-US" dirty="0"/>
          </a:p>
          <a:p>
            <a:r>
              <a:rPr lang="es-ES" b="1" dirty="0"/>
              <a:t>Ejemplo 1: </a:t>
            </a:r>
            <a:r>
              <a:rPr lang="es-ES" dirty="0"/>
              <a:t>recorrer una lista.</a:t>
            </a:r>
          </a:p>
          <a:p>
            <a:r>
              <a:rPr lang="pt-BR" sz="1600" dirty="0">
                <a:latin typeface="Courier New"/>
              </a:rPr>
              <a:t>l = ['a', 'b', 'c', 'd', 'e']</a:t>
            </a:r>
          </a:p>
          <a:p>
            <a:r>
              <a:rPr lang="en-US" sz="1600" dirty="0">
                <a:latin typeface="Courier New"/>
              </a:rPr>
              <a:t>for </a:t>
            </a:r>
            <a:r>
              <a:rPr lang="en-US" sz="1600" dirty="0" err="1">
                <a:latin typeface="Courier New"/>
              </a:rPr>
              <a:t>i</a:t>
            </a:r>
            <a:r>
              <a:rPr lang="en-US" sz="1600" dirty="0">
                <a:latin typeface="Courier New"/>
              </a:rPr>
              <a:t> in range(</a:t>
            </a:r>
            <a:r>
              <a:rPr lang="en-US" sz="1600" dirty="0" err="1">
                <a:latin typeface="Courier New"/>
              </a:rPr>
              <a:t>len</a:t>
            </a:r>
            <a:r>
              <a:rPr lang="en-US" sz="1600" dirty="0">
                <a:latin typeface="Courier New"/>
              </a:rPr>
              <a:t>(l)):</a:t>
            </a:r>
          </a:p>
          <a:p>
            <a:pPr lvl="1"/>
            <a:r>
              <a:rPr lang="en-US" sz="1600" dirty="0">
                <a:latin typeface="Courier New"/>
              </a:rPr>
              <a:t>print(</a:t>
            </a:r>
            <a:r>
              <a:rPr lang="en-US" sz="1600" dirty="0" err="1">
                <a:latin typeface="Courier New"/>
              </a:rPr>
              <a:t>i</a:t>
            </a:r>
            <a:r>
              <a:rPr lang="en-US" sz="1600" dirty="0">
                <a:latin typeface="Courier New"/>
              </a:rPr>
              <a:t>, l[</a:t>
            </a:r>
            <a:r>
              <a:rPr lang="en-US" sz="1600" dirty="0" err="1">
                <a:latin typeface="Courier New"/>
              </a:rPr>
              <a:t>i</a:t>
            </a:r>
            <a:r>
              <a:rPr lang="en-US" sz="1600" dirty="0">
                <a:latin typeface="Courier New"/>
              </a:rPr>
              <a:t>])</a:t>
            </a:r>
          </a:p>
          <a:p>
            <a:r>
              <a:rPr lang="pt-BR" sz="1600" dirty="0">
                <a:latin typeface="Courier New"/>
              </a:rPr>
              <a:t>l = ['a','b', 'c', 'd', 'e']</a:t>
            </a:r>
          </a:p>
          <a:p>
            <a:r>
              <a:rPr lang="en-US" sz="1600" dirty="0" err="1">
                <a:latin typeface="Courier New"/>
              </a:rPr>
              <a:t>i</a:t>
            </a:r>
            <a:r>
              <a:rPr lang="en-US" sz="1600" dirty="0">
                <a:latin typeface="Courier New"/>
              </a:rPr>
              <a:t> = 0</a:t>
            </a:r>
          </a:p>
          <a:p>
            <a:r>
              <a:rPr lang="en-US" sz="1600" dirty="0">
                <a:latin typeface="Courier New"/>
              </a:rPr>
              <a:t>while </a:t>
            </a:r>
            <a:r>
              <a:rPr lang="en-US" sz="1600" dirty="0" err="1">
                <a:latin typeface="Courier New"/>
              </a:rPr>
              <a:t>i</a:t>
            </a:r>
            <a:r>
              <a:rPr lang="en-US" sz="1600" dirty="0">
                <a:latin typeface="Courier New"/>
              </a:rPr>
              <a:t> &lt; </a:t>
            </a:r>
            <a:r>
              <a:rPr lang="en-US" sz="1600" dirty="0" err="1">
                <a:latin typeface="Courier New"/>
              </a:rPr>
              <a:t>len</a:t>
            </a:r>
            <a:r>
              <a:rPr lang="en-US" sz="1600" dirty="0">
                <a:latin typeface="Courier New"/>
              </a:rPr>
              <a:t> (l):</a:t>
            </a:r>
          </a:p>
          <a:p>
            <a:pPr lvl="1"/>
            <a:r>
              <a:rPr lang="en-US" sz="1600" dirty="0">
                <a:latin typeface="Courier New"/>
              </a:rPr>
              <a:t>print (</a:t>
            </a:r>
            <a:r>
              <a:rPr lang="en-US" sz="1600" dirty="0" err="1">
                <a:latin typeface="Courier New"/>
              </a:rPr>
              <a:t>i</a:t>
            </a:r>
            <a:r>
              <a:rPr lang="en-US" sz="1600" dirty="0">
                <a:latin typeface="Courier New"/>
              </a:rPr>
              <a:t>, l[</a:t>
            </a:r>
            <a:r>
              <a:rPr lang="en-US" sz="1600" dirty="0" err="1">
                <a:latin typeface="Courier New"/>
              </a:rPr>
              <a:t>i</a:t>
            </a:r>
            <a:r>
              <a:rPr lang="en-US" sz="1600" dirty="0">
                <a:latin typeface="Courier New"/>
              </a:rPr>
              <a:t>])</a:t>
            </a:r>
          </a:p>
          <a:p>
            <a:pPr lvl="1"/>
            <a:r>
              <a:rPr lang="en-US" sz="1600" dirty="0" err="1">
                <a:latin typeface="Courier New"/>
              </a:rPr>
              <a:t>i</a:t>
            </a:r>
            <a:r>
              <a:rPr lang="en-US" sz="1600" dirty="0">
                <a:latin typeface="Courier New"/>
              </a:rPr>
              <a:t> = </a:t>
            </a:r>
            <a:r>
              <a:rPr lang="en-US" sz="1600" dirty="0" err="1">
                <a:latin typeface="Courier New"/>
              </a:rPr>
              <a:t>i</a:t>
            </a:r>
            <a:r>
              <a:rPr lang="en-US" sz="1600" dirty="0">
                <a:latin typeface="Courier New"/>
              </a:rPr>
              <a:t> + 1</a:t>
            </a:r>
          </a:p>
          <a:p>
            <a:endParaRPr lang="en-US" sz="1600" dirty="0">
              <a:latin typeface="Courier New"/>
            </a:endParaRPr>
          </a:p>
          <a:p>
            <a:r>
              <a:rPr lang="es-ES" b="1" dirty="0"/>
              <a:t>Ejemplo 2: </a:t>
            </a:r>
            <a:r>
              <a:rPr lang="es-ES" dirty="0"/>
              <a:t>imprimir números pares entre 1 y 20.</a:t>
            </a:r>
          </a:p>
          <a:p>
            <a:r>
              <a:rPr lang="en-US" sz="1600" dirty="0">
                <a:latin typeface="Courier New"/>
              </a:rPr>
              <a:t>for </a:t>
            </a:r>
            <a:r>
              <a:rPr lang="en-US" sz="1600" dirty="0" err="1">
                <a:latin typeface="Courier New"/>
              </a:rPr>
              <a:t>i</a:t>
            </a:r>
            <a:r>
              <a:rPr lang="en-US" sz="1600" dirty="0">
                <a:latin typeface="Courier New"/>
              </a:rPr>
              <a:t> in range(2, 20, 2):</a:t>
            </a:r>
          </a:p>
          <a:p>
            <a:pPr lvl="1"/>
            <a:r>
              <a:rPr lang="en-US" sz="1600" dirty="0">
                <a:latin typeface="Courier New"/>
              </a:rPr>
              <a:t>print(</a:t>
            </a:r>
            <a:r>
              <a:rPr lang="en-US" sz="1600" dirty="0" err="1">
                <a:latin typeface="Courier New"/>
              </a:rPr>
              <a:t>i</a:t>
            </a:r>
            <a:r>
              <a:rPr lang="en-US" sz="1600" dirty="0">
                <a:latin typeface="Courier New"/>
              </a:rPr>
              <a:t>)</a:t>
            </a:r>
          </a:p>
          <a:p>
            <a:r>
              <a:rPr lang="en-US" sz="1600" dirty="0" err="1">
                <a:latin typeface="Courier New"/>
              </a:rPr>
              <a:t>i</a:t>
            </a:r>
            <a:r>
              <a:rPr lang="en-US" sz="1600" dirty="0">
                <a:latin typeface="Courier New"/>
              </a:rPr>
              <a:t> = 2</a:t>
            </a:r>
          </a:p>
          <a:p>
            <a:r>
              <a:rPr lang="en-US" sz="1600" dirty="0">
                <a:latin typeface="Courier New"/>
              </a:rPr>
              <a:t>while </a:t>
            </a:r>
            <a:r>
              <a:rPr lang="en-US" sz="1600" dirty="0" err="1">
                <a:latin typeface="Courier New"/>
              </a:rPr>
              <a:t>i</a:t>
            </a:r>
            <a:r>
              <a:rPr lang="en-US" sz="1600" dirty="0">
                <a:latin typeface="Courier New"/>
              </a:rPr>
              <a:t> &lt; 20:</a:t>
            </a:r>
          </a:p>
          <a:p>
            <a:pPr lvl="1"/>
            <a:r>
              <a:rPr lang="en-US" sz="1600" dirty="0">
                <a:latin typeface="Courier New"/>
              </a:rPr>
              <a:t>print(</a:t>
            </a:r>
            <a:r>
              <a:rPr lang="en-US" sz="1600" dirty="0" err="1">
                <a:latin typeface="Courier New"/>
              </a:rPr>
              <a:t>i</a:t>
            </a:r>
            <a:r>
              <a:rPr lang="en-US" sz="1600" dirty="0">
                <a:latin typeface="Courier New"/>
              </a:rPr>
              <a:t>)</a:t>
            </a:r>
          </a:p>
          <a:p>
            <a:pPr lvl="1"/>
            <a:r>
              <a:rPr lang="en-US" sz="1600" dirty="0" err="1">
                <a:latin typeface="Courier New"/>
              </a:rPr>
              <a:t>i</a:t>
            </a:r>
            <a:r>
              <a:rPr lang="en-US" sz="1600" dirty="0">
                <a:latin typeface="Courier New"/>
              </a:rPr>
              <a:t> = </a:t>
            </a:r>
            <a:r>
              <a:rPr lang="en-US" sz="1600" dirty="0" err="1">
                <a:latin typeface="Courier New"/>
              </a:rPr>
              <a:t>i</a:t>
            </a:r>
            <a:r>
              <a:rPr lang="en-US" sz="1600" dirty="0">
                <a:latin typeface="Courier New"/>
              </a:rPr>
              <a:t> +2</a:t>
            </a:r>
            <a:endParaRPr sz="1600" dirty="0">
              <a:latin typeface="Courier New"/>
            </a:endParaRPr>
          </a:p>
        </p:txBody>
      </p:sp>
      <p:pic>
        <p:nvPicPr>
          <p:cNvPr id="9" name="Google Shape;93;p14" descr="di_tella2.png">
            <a:extLst>
              <a:ext uri="{FF2B5EF4-FFF2-40B4-BE49-F238E27FC236}">
                <a16:creationId xmlns:a16="http://schemas.microsoft.com/office/drawing/2014/main" id="{56BEBDB4-4284-D6E6-C8DD-96934F66299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8188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A433B-6588-4FE2-B918-AA7C8195D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A17DE-53C1-EED4-F34E-B1ADBB83B235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B3EA1C-6D84-77E5-07E5-1F1029F05B7A}"/>
              </a:ext>
            </a:extLst>
          </p:cNvPr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Métodos Analíticos y Programación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AAA75F-A39F-02A0-8065-6FB6D48E26C2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E066E-71B3-FA96-969F-DA2C62BA1544}"/>
              </a:ext>
            </a:extLst>
          </p:cNvPr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Pablo J Piccoli Bornia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C8E51C-0989-FFFF-7D6F-4F7CC16B030D}"/>
              </a:ext>
            </a:extLst>
          </p:cNvPr>
          <p:cNvSpPr txBox="1"/>
          <p:nvPr/>
        </p:nvSpPr>
        <p:spPr>
          <a:xfrm>
            <a:off x="365760" y="731520"/>
            <a:ext cx="172239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rPr lang="es-AR" dirty="0"/>
              <a:t>Más Listas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33CE3B-0402-8F1A-D0E0-5670B5F7A5BC}"/>
              </a:ext>
            </a:extLst>
          </p:cNvPr>
          <p:cNvSpPr txBox="1"/>
          <p:nvPr/>
        </p:nvSpPr>
        <p:spPr>
          <a:xfrm>
            <a:off x="274320" y="1013817"/>
            <a:ext cx="872584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Concatenación</a:t>
            </a:r>
            <a:r>
              <a:rPr lang="en-US" dirty="0"/>
              <a:t>. El </a:t>
            </a:r>
            <a:r>
              <a:rPr lang="en-US" dirty="0" err="1"/>
              <a:t>operador</a:t>
            </a:r>
            <a:r>
              <a:rPr lang="en-US" dirty="0"/>
              <a:t> +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i="1" dirty="0" err="1"/>
              <a:t>concatenar</a:t>
            </a:r>
            <a:r>
              <a:rPr lang="en-US" i="1" dirty="0"/>
              <a:t> </a:t>
            </a:r>
            <a:r>
              <a:rPr lang="en-US" dirty="0"/>
              <a:t>dos </a:t>
            </a:r>
            <a:r>
              <a:rPr lang="en-US" dirty="0" err="1"/>
              <a:t>listas</a:t>
            </a:r>
            <a:r>
              <a:rPr lang="en-US" dirty="0"/>
              <a:t>, </a:t>
            </a:r>
            <a:r>
              <a:rPr lang="en-US" dirty="0" err="1"/>
              <a:t>retornando</a:t>
            </a:r>
            <a:endParaRPr lang="en-US" dirty="0"/>
          </a:p>
          <a:p>
            <a:r>
              <a:rPr lang="es-ES" dirty="0"/>
              <a:t>una nueva (sin modificar las listas originales).</a:t>
            </a:r>
          </a:p>
          <a:p>
            <a:r>
              <a:rPr lang="en-US" sz="1600" dirty="0">
                <a:latin typeface="Courier New"/>
              </a:rPr>
              <a:t>&gt;&gt;&gt; l 1 = [ 4 , 5 , 6 ]</a:t>
            </a:r>
          </a:p>
          <a:p>
            <a:r>
              <a:rPr lang="en-US" sz="1600" dirty="0">
                <a:latin typeface="Courier New"/>
              </a:rPr>
              <a:t>&gt;&gt;&gt; l 2 = [ 1 , 2 , 3 ]</a:t>
            </a:r>
          </a:p>
          <a:p>
            <a:r>
              <a:rPr lang="es-ES" sz="1600" dirty="0">
                <a:latin typeface="Courier New"/>
              </a:rPr>
              <a:t>&gt;&gt;&gt; l 3 = l 1 + l 2 # l 1 y l 2 no se modifican .</a:t>
            </a:r>
          </a:p>
          <a:p>
            <a:r>
              <a:rPr lang="en-US" sz="1600" dirty="0">
                <a:latin typeface="Courier New"/>
              </a:rPr>
              <a:t>[ 4 , 5 , 6 , 1 , 2 , 3 ]</a:t>
            </a:r>
          </a:p>
          <a:p>
            <a:r>
              <a:rPr lang="es-ES" dirty="0"/>
              <a:t>Así como la </a:t>
            </a:r>
            <a:r>
              <a:rPr lang="es-ES" i="1" dirty="0"/>
              <a:t>suma </a:t>
            </a:r>
            <a:r>
              <a:rPr lang="es-ES" dirty="0"/>
              <a:t>representa la concatenación, también podemos definir</a:t>
            </a:r>
          </a:p>
          <a:p>
            <a:r>
              <a:rPr lang="es-ES" dirty="0"/>
              <a:t>la multiplicación de una lista por un escalar.</a:t>
            </a:r>
          </a:p>
          <a:p>
            <a:r>
              <a:rPr lang="en-US" sz="1600" dirty="0">
                <a:latin typeface="Courier New"/>
              </a:rPr>
              <a:t>&gt;&gt;&gt; l 1 = [ 4 , 5 , 6 ]</a:t>
            </a:r>
          </a:p>
          <a:p>
            <a:r>
              <a:rPr lang="pt-BR" sz="1600" dirty="0">
                <a:latin typeface="Courier New"/>
              </a:rPr>
              <a:t>&gt;&gt;&gt; l 4 = l 1 *3 # Que l i s t a es l 4 ?</a:t>
            </a:r>
          </a:p>
          <a:p>
            <a:r>
              <a:rPr lang="es-ES" dirty="0"/>
              <a:t>Si queremos generar una lista con n posiciones con un valor por default,</a:t>
            </a:r>
          </a:p>
          <a:p>
            <a:r>
              <a:rPr lang="en-US" b="1" dirty="0" err="1"/>
              <a:t>cómo</a:t>
            </a:r>
            <a:r>
              <a:rPr lang="en-US" b="1" dirty="0"/>
              <a:t> </a:t>
            </a:r>
            <a:r>
              <a:rPr lang="en-US" b="1" dirty="0" err="1"/>
              <a:t>podemos</a:t>
            </a:r>
            <a:r>
              <a:rPr lang="en-US" b="1" dirty="0"/>
              <a:t> </a:t>
            </a:r>
            <a:r>
              <a:rPr lang="en-US" b="1" dirty="0" err="1"/>
              <a:t>hacer</a:t>
            </a:r>
            <a:r>
              <a:rPr lang="en-US" b="1" dirty="0"/>
              <a:t>?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Extender una lista</a:t>
            </a:r>
            <a:r>
              <a:rPr lang="es-ES" dirty="0"/>
              <a:t>. Sirve para agregar una lista al final de otra.</a:t>
            </a:r>
          </a:p>
          <a:p>
            <a:r>
              <a:rPr lang="en-US" sz="1600" dirty="0">
                <a:latin typeface="Courier New"/>
              </a:rPr>
              <a:t>&gt;&gt;&gt; l 1 = [ 4 , 5 , 6 ]</a:t>
            </a:r>
          </a:p>
          <a:p>
            <a:r>
              <a:rPr lang="en-US" sz="1600" dirty="0">
                <a:latin typeface="Courier New"/>
              </a:rPr>
              <a:t>&gt;&gt;&gt; l 2 = [ 1 , 2 , 3 ]</a:t>
            </a:r>
          </a:p>
          <a:p>
            <a:r>
              <a:rPr lang="es-ES" sz="1600" dirty="0">
                <a:latin typeface="Courier New"/>
              </a:rPr>
              <a:t>&gt;&gt;&gt; l 2 . </a:t>
            </a:r>
            <a:r>
              <a:rPr lang="es-ES" sz="1600" dirty="0" err="1">
                <a:latin typeface="Courier New"/>
              </a:rPr>
              <a:t>extend</a:t>
            </a:r>
            <a:r>
              <a:rPr lang="es-ES" sz="1600" dirty="0">
                <a:latin typeface="Courier New"/>
              </a:rPr>
              <a:t> ( l 1 ) # Como quedan l 2 y l 1 ?</a:t>
            </a:r>
          </a:p>
          <a:p>
            <a:r>
              <a:rPr lang="es-ES" b="1" dirty="0"/>
              <a:t>Cuál es la principal diferencia entre + y </a:t>
            </a:r>
            <a:r>
              <a:rPr lang="es-ES" b="1" dirty="0" err="1"/>
              <a:t>extend</a:t>
            </a:r>
            <a:r>
              <a:rPr lang="es-ES" b="1" dirty="0"/>
              <a:t>?</a:t>
            </a:r>
            <a:endParaRPr lang="en-US" dirty="0"/>
          </a:p>
        </p:txBody>
      </p:sp>
      <p:pic>
        <p:nvPicPr>
          <p:cNvPr id="9" name="Google Shape;93;p14" descr="di_tella2.png">
            <a:extLst>
              <a:ext uri="{FF2B5EF4-FFF2-40B4-BE49-F238E27FC236}">
                <a16:creationId xmlns:a16="http://schemas.microsoft.com/office/drawing/2014/main" id="{762530F8-6EC2-FC35-75A7-B00745FDCB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7594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7BC19-7652-B647-B57E-480FF121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1CC850-C843-C605-EF22-A2193C0C1D29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97598E-EF36-4AED-6DCF-8879415795EF}"/>
              </a:ext>
            </a:extLst>
          </p:cNvPr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Métodos Analíticos y Programación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AF2925-F451-0CF0-2500-0B060DE5AA95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332331-2F5D-92DD-34C7-705DA9760796}"/>
              </a:ext>
            </a:extLst>
          </p:cNvPr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Pablo J Piccoli Bornia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94FD29-3F2E-2E40-AC0D-F26B1ABE6D7F}"/>
              </a:ext>
            </a:extLst>
          </p:cNvPr>
          <p:cNvSpPr txBox="1"/>
          <p:nvPr/>
        </p:nvSpPr>
        <p:spPr>
          <a:xfrm>
            <a:off x="365760" y="731520"/>
            <a:ext cx="142513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rPr lang="es-AR" dirty="0"/>
              <a:t>Ejercicio</a:t>
            </a:r>
            <a:endParaRPr dirty="0"/>
          </a:p>
        </p:txBody>
      </p:sp>
      <p:pic>
        <p:nvPicPr>
          <p:cNvPr id="9" name="Google Shape;93;p14" descr="di_tella2.png">
            <a:extLst>
              <a:ext uri="{FF2B5EF4-FFF2-40B4-BE49-F238E27FC236}">
                <a16:creationId xmlns:a16="http://schemas.microsoft.com/office/drawing/2014/main" id="{9452777B-C17F-D812-71F4-DA7C1243666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7284FB0-CEE3-3DFF-C23C-701E6CF72D8D}"/>
              </a:ext>
            </a:extLst>
          </p:cNvPr>
          <p:cNvSpPr txBox="1"/>
          <p:nvPr/>
        </p:nvSpPr>
        <p:spPr>
          <a:xfrm>
            <a:off x="898987" y="3105834"/>
            <a:ext cx="76902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800" b="0" i="0" u="none" strike="noStrike" baseline="0" dirty="0">
                <a:solidFill>
                  <a:srgbClr val="333333"/>
                </a:solidFill>
                <a:latin typeface="TeXGyrePagellaX-Regular"/>
              </a:rPr>
              <a:t>Tenemos una lista con valores numéricos. </a:t>
            </a:r>
            <a:r>
              <a:rPr lang="es-ES" sz="1800" b="0" i="0" u="none" strike="noStrike" baseline="0" dirty="0" err="1">
                <a:solidFill>
                  <a:srgbClr val="333333"/>
                </a:solidFill>
                <a:latin typeface="TeXGyrePagellaX-Regular"/>
              </a:rPr>
              <a:t>Implmentar</a:t>
            </a:r>
            <a:r>
              <a:rPr lang="es-ES" sz="1800" b="0" i="0" u="none" strike="noStrike" baseline="0" dirty="0">
                <a:solidFill>
                  <a:srgbClr val="333333"/>
                </a:solidFill>
                <a:latin typeface="TeXGyrePagellaX-Regular"/>
              </a:rPr>
              <a:t> una función que</a:t>
            </a:r>
          </a:p>
          <a:p>
            <a:pPr algn="l"/>
            <a:r>
              <a:rPr lang="en-US" sz="1800" b="0" i="0" u="none" strike="noStrike" baseline="0" dirty="0" err="1">
                <a:solidFill>
                  <a:srgbClr val="333333"/>
                </a:solidFill>
                <a:latin typeface="TeXGyrePagellaX-Regular"/>
              </a:rPr>
              <a:t>calcule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TeXGyrePagellaX-Regular"/>
              </a:rPr>
              <a:t> la </a:t>
            </a:r>
            <a:r>
              <a:rPr lang="en-US" sz="1800" b="0" i="1" u="none" strike="noStrike" baseline="0" dirty="0" err="1">
                <a:solidFill>
                  <a:srgbClr val="333333"/>
                </a:solidFill>
                <a:latin typeface="TeXGyrePagellaX-Italic"/>
              </a:rPr>
              <a:t>mediana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TeXGyrePagellaX-Regular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802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03E55-EE2C-2870-DABB-4CAE32845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D32201-53A8-19B9-2F9C-C74069DE4610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45292C-08DE-0503-C619-51C4189F51E2}"/>
              </a:ext>
            </a:extLst>
          </p:cNvPr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Métodos Analíticos y Programación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845630-2F44-0C7C-0679-18259D753310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9EAF8D-F84B-0684-EB16-43710E985833}"/>
              </a:ext>
            </a:extLst>
          </p:cNvPr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Pablo J Piccoli Bornia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24A582-4E56-0690-5128-F94344032FC1}"/>
              </a:ext>
            </a:extLst>
          </p:cNvPr>
          <p:cNvSpPr txBox="1"/>
          <p:nvPr/>
        </p:nvSpPr>
        <p:spPr>
          <a:xfrm>
            <a:off x="365760" y="731520"/>
            <a:ext cx="71288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rPr lang="es-AR" dirty="0"/>
              <a:t>Algunas funciones/procedimientos adicionales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DFC45-BB86-C97A-0303-CD76B8F4475D}"/>
              </a:ext>
            </a:extLst>
          </p:cNvPr>
          <p:cNvSpPr txBox="1"/>
          <p:nvPr/>
        </p:nvSpPr>
        <p:spPr>
          <a:xfrm>
            <a:off x="274320" y="1013817"/>
            <a:ext cx="8725842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/>
              <a:t>Sorting</a:t>
            </a:r>
            <a:r>
              <a:rPr lang="es-ES" dirty="0"/>
              <a:t> (ordenar). Procedimiento que ordena los elementos de la lista (por ahora, de menor a mayor).</a:t>
            </a:r>
          </a:p>
          <a:p>
            <a:r>
              <a:rPr lang="en-US" sz="1600" dirty="0">
                <a:latin typeface="Courier New"/>
              </a:rPr>
              <a:t>&gt;&gt;&gt; l = [ 1 , 4 , 6 , 3 , 2 , 1 8 , 2 5 , 2 3 , 1 ]</a:t>
            </a:r>
          </a:p>
          <a:p>
            <a:r>
              <a:rPr lang="pt-BR" sz="1600" dirty="0">
                <a:latin typeface="Courier New"/>
              </a:rPr>
              <a:t>&gt;&gt;&gt; l.sort()</a:t>
            </a:r>
          </a:p>
          <a:p>
            <a:r>
              <a:rPr lang="en-US" sz="1600" dirty="0">
                <a:latin typeface="Courier New"/>
              </a:rPr>
              <a:t>&gt;&gt;&gt; print(l)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Operaciones varias</a:t>
            </a:r>
            <a:r>
              <a:rPr lang="es-ES" dirty="0"/>
              <a:t>. Python tiene disponibles funciones básicas para </a:t>
            </a:r>
            <a:r>
              <a:rPr lang="en-US" dirty="0" err="1"/>
              <a:t>aplicar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listas</a:t>
            </a:r>
            <a:r>
              <a:rPr lang="en-US" dirty="0"/>
              <a:t>.</a:t>
            </a:r>
          </a:p>
          <a:p>
            <a:r>
              <a:rPr lang="en-US" sz="1600" dirty="0">
                <a:latin typeface="Courier New"/>
              </a:rPr>
              <a:t>&gt;&gt;&gt; l = [1,4,6,3,2,18,25,23,1]</a:t>
            </a:r>
          </a:p>
          <a:p>
            <a:r>
              <a:rPr lang="en-US" sz="1600" dirty="0">
                <a:latin typeface="Courier New"/>
              </a:rPr>
              <a:t>&gt;&gt;&gt; sum(l)</a:t>
            </a:r>
          </a:p>
          <a:p>
            <a:r>
              <a:rPr lang="en-US" sz="1600" dirty="0">
                <a:latin typeface="Courier New"/>
              </a:rPr>
              <a:t>83</a:t>
            </a:r>
          </a:p>
          <a:p>
            <a:r>
              <a:rPr lang="en-US" sz="1600" dirty="0">
                <a:latin typeface="Courier New"/>
              </a:rPr>
              <a:t>&gt;&gt;&gt; min(l)</a:t>
            </a:r>
          </a:p>
          <a:p>
            <a:r>
              <a:rPr lang="en-US" sz="1600" dirty="0">
                <a:latin typeface="Courier New"/>
              </a:rPr>
              <a:t>1 </a:t>
            </a:r>
          </a:p>
          <a:p>
            <a:r>
              <a:rPr lang="en-US" sz="1600" dirty="0">
                <a:latin typeface="Courier New"/>
              </a:rPr>
              <a:t>&gt;&gt;&gt; max(l)</a:t>
            </a:r>
          </a:p>
          <a:p>
            <a:r>
              <a:rPr lang="en-US" sz="1600" dirty="0">
                <a:latin typeface="Courier New"/>
              </a:rPr>
              <a:t>25</a:t>
            </a:r>
          </a:p>
          <a:p>
            <a:r>
              <a:rPr lang="en-US" sz="1600" dirty="0">
                <a:latin typeface="Courier New"/>
              </a:rPr>
              <a:t>&gt;&gt;&gt; l2 = sorted(l)</a:t>
            </a:r>
          </a:p>
          <a:p>
            <a:endParaRPr lang="en-US" sz="1600" dirty="0">
              <a:latin typeface="Courier New"/>
            </a:endParaRPr>
          </a:p>
          <a:p>
            <a:r>
              <a:rPr lang="es-ES" b="1" dirty="0" err="1"/>
              <a:t>sorted</a:t>
            </a:r>
            <a:r>
              <a:rPr lang="es-ES" dirty="0"/>
              <a:t> toma la lista y devuelve una nueva con los mismos elementos,</a:t>
            </a:r>
          </a:p>
          <a:p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ordenados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s-ES" dirty="0"/>
              <a:t>Con estas funciones, implementar la función </a:t>
            </a:r>
            <a:r>
              <a:rPr lang="es-ES" i="1" dirty="0"/>
              <a:t>mediana</a:t>
            </a:r>
            <a:r>
              <a:rPr lang="es-ES" dirty="0"/>
              <a:t> pedida en el ejercicio.</a:t>
            </a:r>
            <a:endParaRPr lang="en-US" dirty="0"/>
          </a:p>
        </p:txBody>
      </p:sp>
      <p:pic>
        <p:nvPicPr>
          <p:cNvPr id="9" name="Google Shape;93;p14" descr="di_tella2.png">
            <a:extLst>
              <a:ext uri="{FF2B5EF4-FFF2-40B4-BE49-F238E27FC236}">
                <a16:creationId xmlns:a16="http://schemas.microsoft.com/office/drawing/2014/main" id="{56C03136-1C3A-0604-96AF-ADE393D7BC9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0813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Métodos Analíticos y Programación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Pablo J Piccoli Bornia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t>Strings: Nociones Básicas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" y="1134754"/>
            <a:ext cx="89154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lang="es-ES" dirty="0"/>
              <a:t>Un </a:t>
            </a:r>
            <a:r>
              <a:rPr lang="es-ES" b="1" dirty="0" err="1"/>
              <a:t>string</a:t>
            </a:r>
            <a:r>
              <a:rPr lang="es-ES" dirty="0"/>
              <a:t> es una secuencia, ordenada, de </a:t>
            </a:r>
            <a:r>
              <a:rPr lang="es-ES" i="1" dirty="0"/>
              <a:t>caracteres</a:t>
            </a:r>
            <a:r>
              <a:rPr lang="es-ES" dirty="0"/>
              <a:t>. Es similar a tener una lista donde cada posición es un </a:t>
            </a:r>
            <a:r>
              <a:rPr lang="es-ES" dirty="0" err="1"/>
              <a:t>caracter</a:t>
            </a:r>
            <a:r>
              <a:rPr lang="es-ES" dirty="0"/>
              <a:t>, y que no puede tener elementos de otro tipo. Posee, sin embargo, algunas diferencias con las listas.</a:t>
            </a:r>
          </a:p>
          <a:p>
            <a:endParaRPr lang="es-AR" dirty="0"/>
          </a:p>
          <a:p>
            <a:r>
              <a:rPr lang="en-US" sz="1600" dirty="0">
                <a:latin typeface="Courier New"/>
              </a:rPr>
              <a:t>&gt;&gt;&gt; fruit = 'banana'</a:t>
            </a:r>
          </a:p>
          <a:p>
            <a:r>
              <a:rPr lang="en-US" sz="1600" dirty="0">
                <a:latin typeface="Courier New"/>
              </a:rPr>
              <a:t>&gt;&gt;&gt; name = 'John‘</a:t>
            </a:r>
          </a:p>
          <a:p>
            <a:endParaRPr lang="en-US" sz="1600" dirty="0">
              <a:latin typeface="Courier New"/>
            </a:endParaRPr>
          </a:p>
          <a:p>
            <a:r>
              <a:rPr lang="es-ES" dirty="0"/>
              <a:t>Los </a:t>
            </a:r>
            <a:r>
              <a:rPr lang="es-ES" dirty="0" err="1"/>
              <a:t>strings</a:t>
            </a:r>
            <a:r>
              <a:rPr lang="es-ES" dirty="0"/>
              <a:t>, de forma análoga a las listas, soportan la utilización del operador [] para acceder a los elementos. Éstos también están ordenados de </a:t>
            </a:r>
            <a:r>
              <a:rPr lang="pt-BR" dirty="0"/>
              <a:t>0 a len(s) - 1.</a:t>
            </a:r>
          </a:p>
          <a:p>
            <a:endParaRPr lang="pt-BR" sz="1600" dirty="0">
              <a:latin typeface="Courier New"/>
            </a:endParaRPr>
          </a:p>
          <a:p>
            <a:r>
              <a:rPr lang="en-US" sz="1600" dirty="0">
                <a:latin typeface="Courier New"/>
              </a:rPr>
              <a:t>&gt;&gt;&gt; fruit = 'banana'</a:t>
            </a:r>
          </a:p>
          <a:p>
            <a:r>
              <a:rPr lang="en-US" sz="1600" dirty="0">
                <a:latin typeface="Courier New"/>
              </a:rPr>
              <a:t>&gt;&gt;&gt; print(</a:t>
            </a:r>
            <a:r>
              <a:rPr lang="en-US" sz="1600" dirty="0" err="1">
                <a:latin typeface="Courier New"/>
              </a:rPr>
              <a:t>len</a:t>
            </a:r>
            <a:r>
              <a:rPr lang="en-US" sz="1600" dirty="0">
                <a:latin typeface="Courier New"/>
              </a:rPr>
              <a:t>(fruit))</a:t>
            </a:r>
          </a:p>
          <a:p>
            <a:r>
              <a:rPr lang="en-US" sz="1600" dirty="0">
                <a:latin typeface="Courier New"/>
              </a:rPr>
              <a:t>6</a:t>
            </a:r>
          </a:p>
          <a:p>
            <a:r>
              <a:rPr lang="en-US" sz="1600" dirty="0">
                <a:latin typeface="Courier New"/>
              </a:rPr>
              <a:t>&gt;&gt;&gt; letter = fruit[1] # </a:t>
            </a:r>
            <a:r>
              <a:rPr lang="en-US" sz="1600" dirty="0" err="1">
                <a:latin typeface="Courier New"/>
              </a:rPr>
              <a:t>Obtenermos</a:t>
            </a:r>
            <a:r>
              <a:rPr lang="en-US" sz="1600" dirty="0">
                <a:latin typeface="Courier New"/>
              </a:rPr>
              <a:t> 2do </a:t>
            </a:r>
            <a:r>
              <a:rPr lang="en-US" sz="1600" dirty="0" err="1">
                <a:latin typeface="Courier New"/>
              </a:rPr>
              <a:t>caracter</a:t>
            </a:r>
            <a:endParaRPr lang="en-US" sz="1600" dirty="0">
              <a:latin typeface="Courier New"/>
            </a:endParaRPr>
          </a:p>
          <a:p>
            <a:r>
              <a:rPr lang="en-US" sz="1600" dirty="0">
                <a:latin typeface="Courier New"/>
              </a:rPr>
              <a:t>&gt;&gt;&gt; fruit[1] = ‘o’ # </a:t>
            </a:r>
            <a:r>
              <a:rPr lang="en-US" sz="1600" dirty="0" err="1">
                <a:latin typeface="Courier New"/>
              </a:rPr>
              <a:t>queremos</a:t>
            </a:r>
            <a:r>
              <a:rPr lang="en-US" sz="1600" dirty="0">
                <a:latin typeface="Courier New"/>
              </a:rPr>
              <a:t> </a:t>
            </a:r>
            <a:r>
              <a:rPr lang="en-US" sz="1600" dirty="0" err="1">
                <a:latin typeface="Courier New"/>
              </a:rPr>
              <a:t>escribir</a:t>
            </a:r>
            <a:r>
              <a:rPr lang="en-US" sz="1600" dirty="0">
                <a:latin typeface="Courier New"/>
              </a:rPr>
              <a:t> </a:t>
            </a:r>
            <a:r>
              <a:rPr lang="en-US" sz="1600" dirty="0" err="1">
                <a:latin typeface="Courier New"/>
              </a:rPr>
              <a:t>bonano</a:t>
            </a:r>
            <a:r>
              <a:rPr lang="en-US" sz="1600" dirty="0">
                <a:latin typeface="Courier New"/>
              </a:rPr>
              <a:t>. Se </a:t>
            </a:r>
            <a:r>
              <a:rPr lang="en-US" sz="1600" dirty="0" err="1">
                <a:latin typeface="Courier New"/>
              </a:rPr>
              <a:t>puede</a:t>
            </a:r>
            <a:r>
              <a:rPr lang="en-US" sz="1600" dirty="0">
                <a:latin typeface="Courier New"/>
              </a:rPr>
              <a:t>? </a:t>
            </a:r>
          </a:p>
          <a:p>
            <a:endParaRPr lang="en-US" sz="1600" dirty="0">
              <a:latin typeface="Courier New"/>
            </a:endParaRPr>
          </a:p>
          <a:p>
            <a:r>
              <a:rPr lang="es-ES" dirty="0"/>
              <a:t>Los índices deben ser enteros y pueden ser expresiones que evalúen a enteros. Los </a:t>
            </a:r>
            <a:r>
              <a:rPr lang="es-ES" dirty="0" err="1"/>
              <a:t>strings</a:t>
            </a:r>
            <a:r>
              <a:rPr lang="es-ES" dirty="0"/>
              <a:t> son </a:t>
            </a:r>
            <a:r>
              <a:rPr lang="es-ES" dirty="0" err="1"/>
              <a:t>immutables</a:t>
            </a:r>
            <a:r>
              <a:rPr lang="es-ES" dirty="0"/>
              <a:t> </a:t>
            </a:r>
            <a:r>
              <a:rPr dirty="0"/>
              <a:t>(al </a:t>
            </a:r>
            <a:r>
              <a:rPr dirty="0" err="1"/>
              <a:t>igual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las </a:t>
            </a:r>
            <a:r>
              <a:rPr dirty="0" err="1"/>
              <a:t>tuplas</a:t>
            </a:r>
            <a:r>
              <a:rPr dirty="0"/>
              <a:t>).</a:t>
            </a:r>
            <a:r>
              <a:rPr lang="es-AR" dirty="0"/>
              <a:t> </a:t>
            </a:r>
            <a:endParaRPr dirty="0"/>
          </a:p>
          <a:p>
            <a:pPr>
              <a:defRPr sz="1800"/>
            </a:pPr>
            <a:r>
              <a:rPr dirty="0" err="1"/>
              <a:t>Soportan</a:t>
            </a:r>
            <a:r>
              <a:rPr dirty="0"/>
              <a:t> slicing y </a:t>
            </a:r>
            <a:r>
              <a:rPr dirty="0" err="1"/>
              <a:t>operadores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'+' (</a:t>
            </a:r>
            <a:r>
              <a:rPr dirty="0" err="1"/>
              <a:t>concatenar</a:t>
            </a:r>
            <a:r>
              <a:rPr dirty="0"/>
              <a:t>) e 'in' (</a:t>
            </a:r>
            <a:r>
              <a:rPr dirty="0" err="1"/>
              <a:t>pertenencia</a:t>
            </a:r>
            <a:r>
              <a:rPr dirty="0"/>
              <a:t>)</a:t>
            </a:r>
            <a:r>
              <a:rPr lang="es-AR" dirty="0"/>
              <a:t>.</a:t>
            </a:r>
            <a:endParaRPr dirty="0"/>
          </a:p>
        </p:txBody>
      </p:sp>
      <p:pic>
        <p:nvPicPr>
          <p:cNvPr id="9" name="Google Shape;93;p14" descr="di_tella2.png">
            <a:extLst>
              <a:ext uri="{FF2B5EF4-FFF2-40B4-BE49-F238E27FC236}">
                <a16:creationId xmlns:a16="http://schemas.microsoft.com/office/drawing/2014/main" id="{0A05338D-D5A5-BC0A-DDFF-F18F4DB86F3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3AC2C-1E03-D147-8952-5BA250D6D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848813-3F2F-3E4C-3594-A66E55B6F6FF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0B3AED-8695-81B9-5AEA-8F99D2684285}"/>
              </a:ext>
            </a:extLst>
          </p:cNvPr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Métodos Analíticos y Programación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9BE53C-15A1-4C07-0CBB-43551FBD5EB3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B2E5A2-4250-CC31-26A4-9E4B52488311}"/>
              </a:ext>
            </a:extLst>
          </p:cNvPr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Pablo J Piccoli Bornia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B1FE6A-2C5B-213A-A481-6BD55CBEEFD0}"/>
              </a:ext>
            </a:extLst>
          </p:cNvPr>
          <p:cNvSpPr txBox="1"/>
          <p:nvPr/>
        </p:nvSpPr>
        <p:spPr>
          <a:xfrm>
            <a:off x="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t>Strings: Nociones Básicas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5E20F4-1AA5-E24C-482A-88FA63FD18D1}"/>
              </a:ext>
            </a:extLst>
          </p:cNvPr>
          <p:cNvSpPr txBox="1"/>
          <p:nvPr/>
        </p:nvSpPr>
        <p:spPr>
          <a:xfrm>
            <a:off x="0" y="695901"/>
            <a:ext cx="8915400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Concatenar</a:t>
            </a:r>
            <a:r>
              <a:rPr lang="es-ES" dirty="0"/>
              <a:t>. Dados dos </a:t>
            </a:r>
            <a:r>
              <a:rPr lang="es-ES" dirty="0" err="1"/>
              <a:t>string</a:t>
            </a:r>
            <a:r>
              <a:rPr lang="es-ES" dirty="0"/>
              <a:t>, el operador + genera uno nuevo con la </a:t>
            </a:r>
            <a:r>
              <a:rPr lang="en-US" dirty="0" err="1"/>
              <a:t>concatenación</a:t>
            </a:r>
            <a:r>
              <a:rPr lang="en-US" dirty="0"/>
              <a:t> de ambos.</a:t>
            </a:r>
          </a:p>
          <a:p>
            <a:r>
              <a:rPr lang="en-US" sz="1600" dirty="0">
                <a:latin typeface="Courier New"/>
              </a:rPr>
              <a:t>&gt;&gt;&gt; fruit1 = 'banana'</a:t>
            </a:r>
          </a:p>
          <a:p>
            <a:r>
              <a:rPr lang="fr-FR" sz="1600" dirty="0">
                <a:latin typeface="Courier New"/>
              </a:rPr>
              <a:t>&gt;&gt;&gt; fruit2 = '</a:t>
            </a:r>
            <a:r>
              <a:rPr lang="fr-FR" sz="1600" dirty="0" err="1">
                <a:latin typeface="Courier New"/>
              </a:rPr>
              <a:t>apple</a:t>
            </a:r>
            <a:r>
              <a:rPr lang="fr-FR" sz="1600" dirty="0">
                <a:latin typeface="Courier New"/>
              </a:rPr>
              <a:t>'</a:t>
            </a:r>
          </a:p>
          <a:p>
            <a:r>
              <a:rPr lang="pt-BR" sz="1600" dirty="0">
                <a:latin typeface="Courier New"/>
              </a:rPr>
              <a:t>&gt;&gt;&gt; concat_wospace = fruit1 + fruit2 # Que deberia devolver ?</a:t>
            </a:r>
          </a:p>
          <a:p>
            <a:r>
              <a:rPr lang="pt-BR" sz="1600" dirty="0">
                <a:latin typeface="Courier New"/>
              </a:rPr>
              <a:t>&gt;&gt;&gt; concat_wspace = fruit1 + ' ' + fruit2 # Que deberia devolver ?</a:t>
            </a:r>
          </a:p>
          <a:p>
            <a:endParaRPr lang="pt-BR" sz="1600" dirty="0">
              <a:latin typeface="Courier New"/>
            </a:endParaRPr>
          </a:p>
          <a:p>
            <a:r>
              <a:rPr lang="es-ES" dirty="0"/>
              <a:t>Como se implementaría algo </a:t>
            </a:r>
            <a:r>
              <a:rPr lang="es-ES" i="1" dirty="0"/>
              <a:t>análogo </a:t>
            </a:r>
            <a:r>
              <a:rPr lang="es-ES" dirty="0"/>
              <a:t>al </a:t>
            </a:r>
            <a:r>
              <a:rPr lang="es-ES" dirty="0" err="1"/>
              <a:t>append</a:t>
            </a:r>
            <a:r>
              <a:rPr lang="es-ES" dirty="0"/>
              <a:t> de las listas?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Comparación</a:t>
            </a:r>
            <a:r>
              <a:rPr lang="es-ES" dirty="0"/>
              <a:t>. Al igual que otros tipos de datos, se pueden definir operaciones de comparación sobre las listas.</a:t>
            </a:r>
          </a:p>
          <a:p>
            <a:r>
              <a:rPr lang="en-US" sz="1600" dirty="0">
                <a:latin typeface="Courier New"/>
              </a:rPr>
              <a:t>&gt;&gt;&gt; fruit1 = ' banana '</a:t>
            </a:r>
          </a:p>
          <a:p>
            <a:r>
              <a:rPr lang="fr-FR" sz="1600" dirty="0">
                <a:latin typeface="Courier New"/>
              </a:rPr>
              <a:t>&gt;&gt;&gt; fruit2 = ' </a:t>
            </a:r>
            <a:r>
              <a:rPr lang="fr-FR" sz="1600" dirty="0" err="1">
                <a:latin typeface="Courier New"/>
              </a:rPr>
              <a:t>apple</a:t>
            </a:r>
            <a:r>
              <a:rPr lang="fr-FR" sz="1600" dirty="0">
                <a:latin typeface="Courier New"/>
              </a:rPr>
              <a:t> '</a:t>
            </a:r>
          </a:p>
          <a:p>
            <a:r>
              <a:rPr lang="pl-PL" sz="1600" dirty="0">
                <a:latin typeface="Courier New"/>
              </a:rPr>
              <a:t>&gt;&gt;&gt; fruit1 == ' apple ' # V o F?</a:t>
            </a:r>
          </a:p>
          <a:p>
            <a:r>
              <a:rPr lang="sv-SE" sz="1600" dirty="0">
                <a:latin typeface="Courier New"/>
              </a:rPr>
              <a:t>&gt;&gt;&gt; fruit_upper = ' Banana '</a:t>
            </a:r>
          </a:p>
          <a:p>
            <a:r>
              <a:rPr lang="pt-BR" sz="1600" dirty="0">
                <a:latin typeface="Courier New"/>
              </a:rPr>
              <a:t>&gt;&gt;&gt; fruit_upper &lt; fruit1 # V o F?</a:t>
            </a:r>
          </a:p>
          <a:p>
            <a:endParaRPr lang="pt-BR" sz="1600" dirty="0">
              <a:latin typeface="Courier New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Pertenencia</a:t>
            </a:r>
            <a:r>
              <a:rPr lang="es-ES" dirty="0"/>
              <a:t>. El operador in permite verificar si un </a:t>
            </a:r>
            <a:r>
              <a:rPr lang="es-ES" dirty="0" err="1"/>
              <a:t>string</a:t>
            </a:r>
            <a:r>
              <a:rPr lang="es-ES" dirty="0"/>
              <a:t> está contenido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i="1" dirty="0" err="1"/>
              <a:t>subcadena</a:t>
            </a:r>
            <a:r>
              <a:rPr lang="en-US" i="1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otro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/>
              <a:t>Slicing</a:t>
            </a:r>
            <a:r>
              <a:rPr lang="es-ES" dirty="0"/>
              <a:t>. Funciona de la misma forma que para las listas.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Existen muchas otros métodos: </a:t>
            </a:r>
            <a:r>
              <a:rPr lang="es-ES" dirty="0" err="1"/>
              <a:t>upper</a:t>
            </a:r>
            <a:r>
              <a:rPr lang="es-ES" dirty="0"/>
              <a:t>(), </a:t>
            </a:r>
            <a:r>
              <a:rPr lang="es-ES" dirty="0" err="1"/>
              <a:t>lower</a:t>
            </a:r>
            <a:r>
              <a:rPr lang="es-ES" dirty="0"/>
              <a:t>(), </a:t>
            </a:r>
            <a:r>
              <a:rPr lang="es-ES" dirty="0" err="1"/>
              <a:t>find</a:t>
            </a:r>
            <a:r>
              <a:rPr lang="es-ES" dirty="0"/>
              <a:t>(), etc. (ver la </a:t>
            </a:r>
            <a:r>
              <a:rPr lang="en-US" dirty="0" err="1"/>
              <a:t>documentación</a:t>
            </a:r>
            <a:r>
              <a:rPr lang="en-US" dirty="0"/>
              <a:t>)</a:t>
            </a:r>
            <a:endParaRPr lang="pt-BR" sz="1600" dirty="0">
              <a:latin typeface="Courier New"/>
            </a:endParaRPr>
          </a:p>
        </p:txBody>
      </p:sp>
      <p:pic>
        <p:nvPicPr>
          <p:cNvPr id="9" name="Google Shape;93;p14" descr="di_tella2.png">
            <a:extLst>
              <a:ext uri="{FF2B5EF4-FFF2-40B4-BE49-F238E27FC236}">
                <a16:creationId xmlns:a16="http://schemas.microsoft.com/office/drawing/2014/main" id="{994AFEC1-F59C-C3DE-18DD-5EB071F710C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6441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25EFB-B1F1-0BAD-8CD8-8C2D6714C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015D69-B12D-6BCE-7D5B-602FC67433A0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71D91A-F9FC-FDA9-DABD-85561FE24883}"/>
              </a:ext>
            </a:extLst>
          </p:cNvPr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Métodos Analíticos y Programación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947F85-ABE0-895E-BA2D-22F4B216CBBC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9E3C48-1121-F1EC-E1BF-46D4F85A2CFB}"/>
              </a:ext>
            </a:extLst>
          </p:cNvPr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Pablo J Piccoli Bornia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A5CC2E-C44F-6C2E-9E40-753760B72977}"/>
              </a:ext>
            </a:extLst>
          </p:cNvPr>
          <p:cNvSpPr txBox="1"/>
          <p:nvPr/>
        </p:nvSpPr>
        <p:spPr>
          <a:xfrm>
            <a:off x="0" y="548640"/>
            <a:ext cx="252479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rPr lang="es-AR" dirty="0"/>
              <a:t>Iterando </a:t>
            </a:r>
            <a:r>
              <a:rPr lang="es-AR" dirty="0" err="1"/>
              <a:t>strings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123009-1AA7-1F62-DD90-6A956A98996E}"/>
              </a:ext>
            </a:extLst>
          </p:cNvPr>
          <p:cNvSpPr txBox="1"/>
          <p:nvPr/>
        </p:nvSpPr>
        <p:spPr>
          <a:xfrm>
            <a:off x="108154" y="1097280"/>
            <a:ext cx="8807245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lang="es-ES" dirty="0"/>
              <a:t>Por su estructura, los </a:t>
            </a:r>
            <a:r>
              <a:rPr lang="es-ES" dirty="0" err="1"/>
              <a:t>strings</a:t>
            </a:r>
            <a:r>
              <a:rPr lang="es-ES" dirty="0"/>
              <a:t> pueden ser </a:t>
            </a:r>
            <a:r>
              <a:rPr lang="es-ES" i="1" dirty="0"/>
              <a:t>recorridos </a:t>
            </a:r>
            <a:r>
              <a:rPr lang="es-ES" dirty="0"/>
              <a:t>de forma análoga a las</a:t>
            </a:r>
          </a:p>
          <a:p>
            <a:r>
              <a:rPr lang="en-US" dirty="0" err="1"/>
              <a:t>listas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while y for.</a:t>
            </a:r>
          </a:p>
          <a:p>
            <a:endParaRPr lang="en-US" sz="1600" dirty="0">
              <a:latin typeface="Courier New"/>
            </a:endParaRPr>
          </a:p>
          <a:p>
            <a:r>
              <a:rPr lang="es-ES" dirty="0"/>
              <a:t>Qué hace el siguiente código?</a:t>
            </a:r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r>
              <a:rPr lang="pt-BR" sz="1600" dirty="0">
                <a:latin typeface="Courier New"/>
              </a:rPr>
              <a:t>def ej _string(s):</a:t>
            </a:r>
          </a:p>
          <a:p>
            <a:pPr lvl="1"/>
            <a:r>
              <a:rPr lang="en-US" sz="1600" dirty="0">
                <a:latin typeface="Courier New"/>
              </a:rPr>
              <a:t>ret = ' '</a:t>
            </a:r>
          </a:p>
          <a:p>
            <a:pPr lvl="1"/>
            <a:r>
              <a:rPr lang="en-US" sz="1600" dirty="0">
                <a:latin typeface="Courier New"/>
              </a:rPr>
              <a:t>for letter in s:</a:t>
            </a:r>
          </a:p>
          <a:p>
            <a:pPr lvl="1"/>
            <a:r>
              <a:rPr lang="pt-BR" sz="1600" dirty="0">
                <a:latin typeface="Courier New"/>
              </a:rPr>
              <a:t>	ret = letter + ret</a:t>
            </a:r>
          </a:p>
          <a:p>
            <a:pPr lvl="1"/>
            <a:r>
              <a:rPr lang="en-US" sz="1600" dirty="0">
                <a:latin typeface="Courier New"/>
              </a:rPr>
              <a:t>return ret</a:t>
            </a:r>
          </a:p>
          <a:p>
            <a:pPr lvl="1"/>
            <a:endParaRPr lang="en-US" sz="1600" dirty="0">
              <a:latin typeface="Courier New"/>
            </a:endParaRPr>
          </a:p>
          <a:p>
            <a:r>
              <a:rPr lang="en-US" sz="1600" dirty="0">
                <a:latin typeface="Courier New"/>
              </a:rPr>
              <a:t>def main() :</a:t>
            </a:r>
          </a:p>
          <a:p>
            <a:pPr lvl="1"/>
            <a:r>
              <a:rPr lang="en-US" sz="1600" dirty="0">
                <a:latin typeface="Courier New"/>
              </a:rPr>
              <a:t>quote = 'YVAN EHT NIOJ'</a:t>
            </a:r>
          </a:p>
          <a:p>
            <a:pPr lvl="1"/>
            <a:r>
              <a:rPr lang="pt-BR" sz="1600" dirty="0">
                <a:latin typeface="Courier New"/>
              </a:rPr>
              <a:t>s = ej_string(quote) # Que string tiene s?</a:t>
            </a:r>
            <a:endParaRPr lang="en-US" sz="1600" dirty="0">
              <a:latin typeface="Courier New"/>
            </a:endParaRPr>
          </a:p>
        </p:txBody>
      </p:sp>
      <p:pic>
        <p:nvPicPr>
          <p:cNvPr id="9" name="Google Shape;93;p14" descr="di_tella2.png">
            <a:extLst>
              <a:ext uri="{FF2B5EF4-FFF2-40B4-BE49-F238E27FC236}">
                <a16:creationId xmlns:a16="http://schemas.microsoft.com/office/drawing/2014/main" id="{97B3DF32-9A71-B66B-13E2-A0E068A097B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5716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29840-42A4-9E6A-AA6B-9D68E88BA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21779B-6836-9C3E-D4A4-50455BB519FD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71BE8F-724A-F073-0C2F-E46193E6D263}"/>
              </a:ext>
            </a:extLst>
          </p:cNvPr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Métodos Analíticos y Programación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DBC4B4-255D-6C89-85D2-8DFAC4B476F3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350FBD-29AC-7EE8-6353-E69C04D13CDF}"/>
              </a:ext>
            </a:extLst>
          </p:cNvPr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Pablo J Piccoli Bornia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D3F2A1-7C81-3005-92DC-1FC2A7C0FE54}"/>
              </a:ext>
            </a:extLst>
          </p:cNvPr>
          <p:cNvSpPr txBox="1"/>
          <p:nvPr/>
        </p:nvSpPr>
        <p:spPr>
          <a:xfrm>
            <a:off x="0" y="548640"/>
            <a:ext cx="142513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rPr lang="es-AR" dirty="0"/>
              <a:t>Ejercicio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8DBE4D-E206-9E30-570F-9F5E133B7810}"/>
              </a:ext>
            </a:extLst>
          </p:cNvPr>
          <p:cNvSpPr txBox="1"/>
          <p:nvPr/>
        </p:nvSpPr>
        <p:spPr>
          <a:xfrm>
            <a:off x="108154" y="1097280"/>
            <a:ext cx="8807245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lang="es-ES" dirty="0"/>
              <a:t>Implementar la función </a:t>
            </a:r>
            <a:r>
              <a:rPr lang="es-ES" dirty="0" err="1"/>
              <a:t>find_char</a:t>
            </a:r>
            <a:r>
              <a:rPr lang="es-ES" dirty="0"/>
              <a:t> con el siguiente comportamiento: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Toma dos parámetros: un </a:t>
            </a:r>
            <a:r>
              <a:rPr lang="es-ES" dirty="0" err="1"/>
              <a:t>string</a:t>
            </a:r>
            <a:r>
              <a:rPr lang="es-ES" dirty="0"/>
              <a:t> s y un </a:t>
            </a:r>
            <a:r>
              <a:rPr lang="es-ES" dirty="0" err="1"/>
              <a:t>caracter</a:t>
            </a:r>
            <a:r>
              <a:rPr lang="es-ES" dirty="0"/>
              <a:t> (</a:t>
            </a:r>
            <a:r>
              <a:rPr lang="es-ES" dirty="0" err="1"/>
              <a:t>string</a:t>
            </a:r>
            <a:r>
              <a:rPr lang="es-ES" dirty="0"/>
              <a:t> de longitud 1) c.</a:t>
            </a:r>
          </a:p>
          <a:p>
            <a:pPr lvl="1"/>
            <a:r>
              <a:rPr lang="en-US" sz="1600" dirty="0">
                <a:latin typeface="Courier New"/>
              </a:rPr>
              <a:t>def </a:t>
            </a:r>
            <a:r>
              <a:rPr lang="en-US" sz="1600" dirty="0" err="1">
                <a:latin typeface="Courier New"/>
              </a:rPr>
              <a:t>find_char</a:t>
            </a:r>
            <a:r>
              <a:rPr lang="en-US" sz="1600" dirty="0">
                <a:latin typeface="Courier New"/>
              </a:rPr>
              <a:t>(</a:t>
            </a:r>
            <a:r>
              <a:rPr lang="en-US" sz="1600" dirty="0" err="1">
                <a:latin typeface="Courier New"/>
              </a:rPr>
              <a:t>s,c</a:t>
            </a:r>
            <a:r>
              <a:rPr lang="en-US" sz="1600" dirty="0">
                <a:latin typeface="Courier New"/>
              </a:rPr>
              <a:t>):</a:t>
            </a:r>
          </a:p>
          <a:p>
            <a:pPr lvl="1"/>
            <a:r>
              <a:rPr lang="en-US" sz="1600" dirty="0">
                <a:latin typeface="Courier New"/>
              </a:rPr>
              <a:t>	pass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Devuelve un </a:t>
            </a:r>
            <a:r>
              <a:rPr lang="es-ES" dirty="0" err="1"/>
              <a:t>int</a:t>
            </a:r>
            <a:r>
              <a:rPr lang="es-ES" dirty="0"/>
              <a:t> correspondiente al menor índice de una aparición de c</a:t>
            </a:r>
          </a:p>
          <a:p>
            <a:r>
              <a:rPr lang="es-ES" dirty="0"/>
              <a:t>en s, si c está en s, y -1 en caso que c no esté en s. </a:t>
            </a:r>
            <a:r>
              <a:rPr lang="es-ES" dirty="0" err="1"/>
              <a:t>Ejemlos</a:t>
            </a:r>
            <a:r>
              <a:rPr lang="es-ES" dirty="0"/>
              <a:t>:</a:t>
            </a:r>
          </a:p>
          <a:p>
            <a:pPr lvl="1"/>
            <a:r>
              <a:rPr lang="en-US" sz="1600" dirty="0">
                <a:latin typeface="Courier New"/>
              </a:rPr>
              <a:t>def main():</a:t>
            </a:r>
          </a:p>
          <a:p>
            <a:pPr lvl="2"/>
            <a:r>
              <a:rPr lang="en-US" sz="1600" dirty="0">
                <a:latin typeface="Courier New"/>
              </a:rPr>
              <a:t>s = 'banana'</a:t>
            </a:r>
          </a:p>
          <a:p>
            <a:pPr lvl="2"/>
            <a:r>
              <a:rPr lang="pt-BR" sz="1600" dirty="0">
                <a:latin typeface="Courier New"/>
              </a:rPr>
              <a:t>pos_n = f ind_char ( s , 'n ' ) # pos_a = 2 .</a:t>
            </a:r>
          </a:p>
          <a:p>
            <a:pPr lvl="2"/>
            <a:r>
              <a:rPr lang="en-US" sz="1600" dirty="0" err="1">
                <a:latin typeface="Courier New"/>
              </a:rPr>
              <a:t>pos_c</a:t>
            </a:r>
            <a:r>
              <a:rPr lang="en-US" sz="1600" dirty="0">
                <a:latin typeface="Courier New"/>
              </a:rPr>
              <a:t> = f </a:t>
            </a:r>
            <a:r>
              <a:rPr lang="en-US" sz="1600" dirty="0" err="1">
                <a:latin typeface="Courier New"/>
              </a:rPr>
              <a:t>ind_char</a:t>
            </a:r>
            <a:r>
              <a:rPr lang="en-US" sz="1600" dirty="0">
                <a:latin typeface="Courier New"/>
              </a:rPr>
              <a:t> ( s , ' c ' ) # </a:t>
            </a:r>
            <a:r>
              <a:rPr lang="en-US" sz="1600" dirty="0" err="1">
                <a:latin typeface="Courier New"/>
              </a:rPr>
              <a:t>pos_c</a:t>
            </a:r>
            <a:r>
              <a:rPr lang="en-US" sz="1600" dirty="0">
                <a:latin typeface="Courier New"/>
              </a:rPr>
              <a:t> = -1</a:t>
            </a:r>
          </a:p>
        </p:txBody>
      </p:sp>
      <p:pic>
        <p:nvPicPr>
          <p:cNvPr id="9" name="Google Shape;93;p14" descr="di_tella2.png">
            <a:extLst>
              <a:ext uri="{FF2B5EF4-FFF2-40B4-BE49-F238E27FC236}">
                <a16:creationId xmlns:a16="http://schemas.microsoft.com/office/drawing/2014/main" id="{60FADDDA-D7D0-CE6F-2F76-03CFA455061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3521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B7CA4-CD02-B5C5-95E3-651BDB517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9E6A8B-5D26-311E-3F59-E9B6881F7D7A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13F3C9-E180-CB96-76E5-375A99F2EA56}"/>
              </a:ext>
            </a:extLst>
          </p:cNvPr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Métodos Analíticos y Programación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123611-77ED-7DCB-8B82-D68400C4A226}"/>
              </a:ext>
            </a:extLst>
          </p:cNvPr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Pablo J Piccoli Bornia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C32804-62D1-180C-66EF-7B67EC4B3B7E}"/>
              </a:ext>
            </a:extLst>
          </p:cNvPr>
          <p:cNvSpPr txBox="1"/>
          <p:nvPr/>
        </p:nvSpPr>
        <p:spPr>
          <a:xfrm>
            <a:off x="0" y="548640"/>
            <a:ext cx="669721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rPr lang="es-AR" dirty="0"/>
              <a:t>Más </a:t>
            </a:r>
            <a:r>
              <a:rPr lang="es-AR" dirty="0" err="1"/>
              <a:t>diccinarios</a:t>
            </a:r>
            <a:r>
              <a:rPr lang="es-AR" dirty="0"/>
              <a:t>: Claves, significados e </a:t>
            </a:r>
            <a:r>
              <a:rPr lang="es-AR" dirty="0" err="1"/>
              <a:t>items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B3F8C7-4817-D24E-22CD-67180B79BC78}"/>
              </a:ext>
            </a:extLst>
          </p:cNvPr>
          <p:cNvSpPr txBox="1"/>
          <p:nvPr/>
        </p:nvSpPr>
        <p:spPr>
          <a:xfrm>
            <a:off x="336755" y="1428869"/>
            <a:ext cx="8807245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Algunas operaciones más sobre diccionarios: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/>
              <a:t>Longiud</a:t>
            </a:r>
            <a:r>
              <a:rPr lang="es-ES" dirty="0"/>
              <a:t>. Llamar a la función </a:t>
            </a:r>
            <a:r>
              <a:rPr lang="es-ES" i="1" dirty="0" err="1"/>
              <a:t>len</a:t>
            </a:r>
            <a:r>
              <a:rPr lang="es-ES" dirty="0"/>
              <a:t> con un diccionario como parámetro devuelve la cantidad de </a:t>
            </a:r>
            <a:r>
              <a:rPr lang="es-ES" dirty="0" err="1"/>
              <a:t>items</a:t>
            </a:r>
            <a:r>
              <a:rPr lang="es-ES" dirty="0"/>
              <a:t> que posee.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Obtener las claves</a:t>
            </a:r>
            <a:r>
              <a:rPr lang="es-ES" dirty="0"/>
              <a:t>. El método </a:t>
            </a:r>
            <a:r>
              <a:rPr lang="es-ES" i="1" dirty="0" err="1"/>
              <a:t>keys</a:t>
            </a:r>
            <a:r>
              <a:rPr lang="es-ES" dirty="0"/>
              <a:t> devuelve una </a:t>
            </a:r>
            <a:r>
              <a:rPr lang="es-ES" dirty="0">
                <a:solidFill>
                  <a:srgbClr val="FF0000"/>
                </a:solidFill>
              </a:rPr>
              <a:t>lista(?) </a:t>
            </a:r>
            <a:r>
              <a:rPr lang="es-ES" dirty="0"/>
              <a:t>con las claves.</a:t>
            </a:r>
          </a:p>
          <a:p>
            <a:r>
              <a:rPr lang="es-ES" dirty="0">
                <a:solidFill>
                  <a:srgbClr val="FF0000"/>
                </a:solidFill>
              </a:rPr>
              <a:t>No se puede asumir que vienen en un orden determinado.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Obtener los significados</a:t>
            </a:r>
            <a:r>
              <a:rPr lang="es-ES" dirty="0"/>
              <a:t>. El método </a:t>
            </a:r>
            <a:r>
              <a:rPr lang="es-ES" dirty="0" err="1"/>
              <a:t>values</a:t>
            </a:r>
            <a:r>
              <a:rPr lang="es-ES" dirty="0"/>
              <a:t> devuelve una lista (?) con todos los significados. Cada elemento es una tupla donde la primera</a:t>
            </a:r>
          </a:p>
          <a:p>
            <a:r>
              <a:rPr lang="es-ES" dirty="0"/>
              <a:t>componente es la clave y la segunda el significado.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Obtener los </a:t>
            </a:r>
            <a:r>
              <a:rPr lang="es-ES" b="1" dirty="0" err="1"/>
              <a:t>items</a:t>
            </a:r>
            <a:r>
              <a:rPr lang="es-ES" dirty="0"/>
              <a:t>. El método </a:t>
            </a:r>
            <a:r>
              <a:rPr lang="es-ES" dirty="0" err="1"/>
              <a:t>items</a:t>
            </a:r>
            <a:r>
              <a:rPr lang="es-ES" dirty="0"/>
              <a:t> devuelve una lista (?) con todos los </a:t>
            </a:r>
            <a:r>
              <a:rPr lang="en-US" dirty="0" err="1"/>
              <a:t>ítems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1600" dirty="0">
                <a:latin typeface="Courier New"/>
              </a:rPr>
              <a:t>&gt;&gt;&gt; eng2sp = { 'one': 'uno' , 'two' : 'dos' , 'three' : 'one'}</a:t>
            </a:r>
          </a:p>
          <a:p>
            <a:r>
              <a:rPr lang="en-US" sz="1600" dirty="0">
                <a:latin typeface="Courier New"/>
              </a:rPr>
              <a:t>&gt;&gt;&gt; list(eng2sp.keys())</a:t>
            </a:r>
          </a:p>
          <a:p>
            <a:r>
              <a:rPr lang="en-US" sz="1600" dirty="0">
                <a:latin typeface="Courier New"/>
              </a:rPr>
              <a:t>['one', 'two', 'three']</a:t>
            </a:r>
          </a:p>
          <a:p>
            <a:r>
              <a:rPr lang="pt-BR" sz="1600" dirty="0">
                <a:latin typeface="Courier New"/>
              </a:rPr>
              <a:t>&gt;&gt;&gt; list(eng2sp.values()) # Notar que incluye repeticiones .</a:t>
            </a:r>
          </a:p>
          <a:p>
            <a:r>
              <a:rPr lang="en-US" sz="1600" dirty="0">
                <a:latin typeface="Courier New"/>
              </a:rPr>
              <a:t>[ 'uno', 'dos', 'uno']</a:t>
            </a:r>
          </a:p>
          <a:p>
            <a:r>
              <a:rPr lang="en-US" sz="1600" dirty="0">
                <a:latin typeface="Courier New"/>
              </a:rPr>
              <a:t>&gt;&gt;&gt; list(eng2sp.items())</a:t>
            </a:r>
          </a:p>
          <a:p>
            <a:r>
              <a:rPr lang="it-IT" sz="1600" dirty="0">
                <a:latin typeface="Courier New"/>
              </a:rPr>
              <a:t>[('one', 'uno'), ('two', 'dos'), ('three', 'uno')]</a:t>
            </a:r>
          </a:p>
        </p:txBody>
      </p:sp>
      <p:pic>
        <p:nvPicPr>
          <p:cNvPr id="9" name="Google Shape;93;p14" descr="di_tella2.png">
            <a:extLst>
              <a:ext uri="{FF2B5EF4-FFF2-40B4-BE49-F238E27FC236}">
                <a16:creationId xmlns:a16="http://schemas.microsoft.com/office/drawing/2014/main" id="{1D98D430-F64D-EC1C-C68C-EE720561378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7372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6B15A-42B9-BB22-E832-0522A737B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820087-9569-2E43-6254-110A9EBE398B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089327-6089-62E8-1503-C241FC963380}"/>
              </a:ext>
            </a:extLst>
          </p:cNvPr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Métodos Analíticos y Programación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267BC8-FA91-9C7A-2BBD-0E27CCB391C1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5C737E-87D2-0519-29CD-7BF6BC47219A}"/>
              </a:ext>
            </a:extLst>
          </p:cNvPr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Pablo J Piccoli Bornia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7CFFAF-6666-1169-CD71-50519269D81E}"/>
              </a:ext>
            </a:extLst>
          </p:cNvPr>
          <p:cNvSpPr txBox="1"/>
          <p:nvPr/>
        </p:nvSpPr>
        <p:spPr>
          <a:xfrm>
            <a:off x="0" y="548640"/>
            <a:ext cx="452951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rPr lang="es-AR" dirty="0"/>
              <a:t>Restricciones sobre las claves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4AD6DE-1F96-4B7A-669F-AE2EF8029EE6}"/>
              </a:ext>
            </a:extLst>
          </p:cNvPr>
          <p:cNvSpPr txBox="1"/>
          <p:nvPr/>
        </p:nvSpPr>
        <p:spPr>
          <a:xfrm>
            <a:off x="108154" y="1097280"/>
            <a:ext cx="880724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Por su estructura, los </a:t>
            </a:r>
            <a:r>
              <a:rPr lang="es-ES" dirty="0" err="1"/>
              <a:t>strings</a:t>
            </a:r>
            <a:r>
              <a:rPr lang="es-ES" dirty="0"/>
              <a:t> pueden ser </a:t>
            </a:r>
            <a:r>
              <a:rPr lang="es-ES" i="1" dirty="0"/>
              <a:t>recorridos </a:t>
            </a:r>
            <a:r>
              <a:rPr lang="es-ES" dirty="0"/>
              <a:t>de forma análoga a las </a:t>
            </a:r>
            <a:r>
              <a:rPr lang="en-US" dirty="0" err="1"/>
              <a:t>listas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while y for.</a:t>
            </a:r>
            <a:r>
              <a:rPr lang="es-ES" dirty="0"/>
              <a:t> Los diccionarios admiten distintos tipos de datos como claves. Sin embargo,</a:t>
            </a:r>
          </a:p>
          <a:p>
            <a:r>
              <a:rPr lang="es-ES" dirty="0"/>
              <a:t>imponen algunas condiciones al respecto. Un extracto de la documentación.</a:t>
            </a:r>
          </a:p>
          <a:p>
            <a:endParaRPr lang="es-ES" dirty="0"/>
          </a:p>
          <a:p>
            <a:r>
              <a:rPr lang="es-ES" dirty="0"/>
              <a:t>Un objeto es </a:t>
            </a:r>
            <a:r>
              <a:rPr lang="es-ES" dirty="0" err="1">
                <a:solidFill>
                  <a:srgbClr val="FF0000"/>
                </a:solidFill>
              </a:rPr>
              <a:t>hashable</a:t>
            </a:r>
            <a:r>
              <a:rPr lang="es-ES" dirty="0"/>
              <a:t> (entre otras cosas) si se puede garantizar que su valor no se modifica a lo largo de toda su vida en la ejecución. Las listas, conjuntos (set), diccionarios no cumplen esta propiedad. Un ejemplo concreto.</a:t>
            </a:r>
          </a:p>
          <a:p>
            <a:r>
              <a:rPr lang="en-US" sz="1600" dirty="0">
                <a:latin typeface="Courier New"/>
              </a:rPr>
              <a:t>&gt;&gt;&gt; l = [1, 2]</a:t>
            </a:r>
          </a:p>
          <a:p>
            <a:r>
              <a:rPr lang="en-US" sz="1600" dirty="0">
                <a:latin typeface="Courier New"/>
              </a:rPr>
              <a:t>&gt;&gt;&gt; t1 = ('aa',1)</a:t>
            </a:r>
          </a:p>
          <a:p>
            <a:r>
              <a:rPr lang="en-US" sz="1600" dirty="0">
                <a:latin typeface="Courier New"/>
              </a:rPr>
              <a:t>&gt;&gt;&gt; t2 = (l,1)</a:t>
            </a:r>
          </a:p>
          <a:p>
            <a:r>
              <a:rPr lang="en-US" sz="1600" dirty="0">
                <a:latin typeface="Courier New"/>
              </a:rPr>
              <a:t>&gt;&gt;&gt; d = {}</a:t>
            </a:r>
          </a:p>
          <a:p>
            <a:r>
              <a:rPr lang="pt-BR" sz="1600" dirty="0">
                <a:latin typeface="Courier New"/>
              </a:rPr>
              <a:t>&gt;&gt;&gt; d[t1] = 1.0 # Este caso esta OK.</a:t>
            </a:r>
          </a:p>
          <a:p>
            <a:r>
              <a:rPr lang="pt-BR" sz="1600" dirty="0">
                <a:latin typeface="Courier New"/>
              </a:rPr>
              <a:t>&gt;&gt;&gt; d[t2] = 1.0 # La lista puede ser modificada.</a:t>
            </a:r>
          </a:p>
          <a:p>
            <a:endParaRPr lang="pt-BR" sz="1600" dirty="0">
              <a:latin typeface="Courier New"/>
            </a:endParaRPr>
          </a:p>
          <a:p>
            <a:r>
              <a:rPr lang="en-US" dirty="0"/>
              <a:t>Traceback (most recent call last):</a:t>
            </a:r>
          </a:p>
          <a:p>
            <a:pPr lvl="1"/>
            <a:r>
              <a:rPr lang="it-IT" dirty="0"/>
              <a:t>File "&lt;stdin&gt;" , line1, in &lt;module&gt;</a:t>
            </a:r>
          </a:p>
          <a:p>
            <a:r>
              <a:rPr lang="en-US" dirty="0" err="1"/>
              <a:t>TypeError</a:t>
            </a:r>
            <a:r>
              <a:rPr lang="en-US" dirty="0"/>
              <a:t> : </a:t>
            </a:r>
            <a:r>
              <a:rPr lang="en-US" dirty="0" err="1"/>
              <a:t>unhashable</a:t>
            </a:r>
            <a:r>
              <a:rPr lang="en-US" dirty="0"/>
              <a:t> type : 'list'</a:t>
            </a:r>
          </a:p>
          <a:p>
            <a:endParaRPr lang="en-US" sz="1600" dirty="0">
              <a:latin typeface="Courier New"/>
            </a:endParaRPr>
          </a:p>
        </p:txBody>
      </p:sp>
      <p:pic>
        <p:nvPicPr>
          <p:cNvPr id="9" name="Google Shape;93;p14" descr="di_tella2.png">
            <a:extLst>
              <a:ext uri="{FF2B5EF4-FFF2-40B4-BE49-F238E27FC236}">
                <a16:creationId xmlns:a16="http://schemas.microsoft.com/office/drawing/2014/main" id="{150C0CA1-C355-C565-8747-52C81B60C87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0141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Métodos Analíticos y Programación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Pablo J Piccoli Bornia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31520"/>
            <a:ext cx="142513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rPr lang="es-AR" dirty="0"/>
              <a:t>Ejercicio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831317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Consideren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siguiente</a:t>
            </a:r>
            <a:r>
              <a:rPr lang="en-US" dirty="0"/>
              <a:t> </a:t>
            </a:r>
            <a:r>
              <a:rPr lang="en-US" dirty="0" err="1"/>
              <a:t>diccionario</a:t>
            </a:r>
            <a:endParaRPr lang="en-US" dirty="0"/>
          </a:p>
          <a:p>
            <a:endParaRPr lang="en-US" dirty="0"/>
          </a:p>
          <a:p>
            <a:r>
              <a:rPr lang="pt-BR" sz="1600" dirty="0">
                <a:latin typeface="Courier New"/>
              </a:rPr>
              <a:t>diccionario = { 'primero' : 1 , 'segundo' : 2 , 'tercero' : 3}</a:t>
            </a:r>
          </a:p>
          <a:p>
            <a:endParaRPr lang="pt-BR" sz="1600" dirty="0">
              <a:latin typeface="Courier New"/>
            </a:endParaRPr>
          </a:p>
          <a:p>
            <a:r>
              <a:rPr lang="es-ES" dirty="0"/>
              <a:t>Usando las funciones que vimos hasta el momento, escribir un código que imprima la clave y el significado, separados por “ “ y uno por línea.</a:t>
            </a:r>
          </a:p>
          <a:p>
            <a:endParaRPr lang="es-ES" dirty="0"/>
          </a:p>
          <a:p>
            <a:r>
              <a:rPr lang="es-ES" b="1" dirty="0"/>
              <a:t>Aclaración: </a:t>
            </a:r>
            <a:r>
              <a:rPr lang="es-ES" dirty="0"/>
              <a:t>el código debe ser genérico. No se puede asumir que tiene 3</a:t>
            </a:r>
          </a:p>
          <a:p>
            <a:r>
              <a:rPr lang="en-US" dirty="0" err="1"/>
              <a:t>ítems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10" name="Google Shape;93;p14" descr="di_tella2.png">
            <a:extLst>
              <a:ext uri="{FF2B5EF4-FFF2-40B4-BE49-F238E27FC236}">
                <a16:creationId xmlns:a16="http://schemas.microsoft.com/office/drawing/2014/main" id="{D6F31AE1-61FC-732C-DE24-4FD0B70949A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F9A21-2DF6-EC8A-625B-3F5D9312F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B3B522-FE18-F2FD-ADE1-E8F92B0D4072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879F08-F592-265E-89F6-FFFE5DE0B6F6}"/>
              </a:ext>
            </a:extLst>
          </p:cNvPr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Métodos Analíticos y Programación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6AFD92-8CC9-699E-16D4-7E142899C7BF}"/>
              </a:ext>
            </a:extLst>
          </p:cNvPr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B37BF-5EAD-D353-D816-69EA54D9D8F8}"/>
              </a:ext>
            </a:extLst>
          </p:cNvPr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Pablo J Piccoli Bornia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7D521B-0FB6-0E4F-5B99-3B9FF83E63BD}"/>
              </a:ext>
            </a:extLst>
          </p:cNvPr>
          <p:cNvSpPr txBox="1"/>
          <p:nvPr/>
        </p:nvSpPr>
        <p:spPr>
          <a:xfrm>
            <a:off x="0" y="485602"/>
            <a:ext cx="33239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rPr lang="es-AR" dirty="0"/>
              <a:t>Iterando diccionarios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9FCE25-D736-9660-2615-405FF6497F89}"/>
              </a:ext>
            </a:extLst>
          </p:cNvPr>
          <p:cNvSpPr txBox="1"/>
          <p:nvPr/>
        </p:nvSpPr>
        <p:spPr>
          <a:xfrm>
            <a:off x="0" y="884372"/>
            <a:ext cx="9099498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Existen </a:t>
            </a:r>
            <a:r>
              <a:rPr lang="es-ES" dirty="0" err="1"/>
              <a:t>disintas</a:t>
            </a:r>
            <a:r>
              <a:rPr lang="es-ES" dirty="0"/>
              <a:t> formas de iterar un diccionario. </a:t>
            </a:r>
            <a:r>
              <a:rPr lang="es-ES" dirty="0" err="1"/>
              <a:t>Escencialmente</a:t>
            </a:r>
            <a:r>
              <a:rPr lang="es-ES" dirty="0"/>
              <a:t>, con poder acceder a las claves alcanza. Sin embargo, Python provee algo de </a:t>
            </a:r>
            <a:r>
              <a:rPr lang="es-ES" i="1" dirty="0" err="1"/>
              <a:t>syntactic</a:t>
            </a:r>
            <a:r>
              <a:rPr lang="es-ES" i="1" dirty="0"/>
              <a:t> </a:t>
            </a:r>
            <a:r>
              <a:rPr lang="es-ES" i="1" dirty="0" err="1"/>
              <a:t>sugar</a:t>
            </a:r>
            <a:r>
              <a:rPr lang="es-ES" i="1" dirty="0"/>
              <a:t> </a:t>
            </a:r>
            <a:r>
              <a:rPr lang="es-ES" dirty="0"/>
              <a:t>para que sea mas simple.</a:t>
            </a:r>
          </a:p>
          <a:p>
            <a:r>
              <a:rPr lang="en-US" sz="1600" dirty="0">
                <a:latin typeface="Courier New"/>
              </a:rPr>
              <a:t>def main ():</a:t>
            </a:r>
          </a:p>
          <a:p>
            <a:pPr lvl="1"/>
            <a:r>
              <a:rPr lang="en-US" sz="1600" dirty="0">
                <a:latin typeface="Courier New"/>
              </a:rPr>
              <a:t>d = {'primero': 1 , '</a:t>
            </a:r>
            <a:r>
              <a:rPr lang="en-US" sz="1600" dirty="0" err="1">
                <a:latin typeface="Courier New"/>
              </a:rPr>
              <a:t>segundo</a:t>
            </a:r>
            <a:r>
              <a:rPr lang="en-US" sz="1600" dirty="0">
                <a:latin typeface="Courier New"/>
              </a:rPr>
              <a:t>’:</a:t>
            </a:r>
          </a:p>
          <a:p>
            <a:pPr lvl="2"/>
            <a:r>
              <a:rPr lang="pt-BR" sz="1600" dirty="0">
                <a:latin typeface="Courier New"/>
              </a:rPr>
              <a:t> 2 , ' tercero' : 3}</a:t>
            </a:r>
          </a:p>
          <a:p>
            <a:pPr lvl="1"/>
            <a:r>
              <a:rPr lang="en-US" sz="1600" dirty="0">
                <a:latin typeface="Courier New"/>
              </a:rPr>
              <a:t>for key in </a:t>
            </a:r>
            <a:r>
              <a:rPr lang="en-US" sz="1600" dirty="0" err="1">
                <a:latin typeface="Courier New"/>
              </a:rPr>
              <a:t>d.keys</a:t>
            </a:r>
            <a:r>
              <a:rPr lang="en-US" sz="1600" dirty="0">
                <a:latin typeface="Courier New"/>
              </a:rPr>
              <a:t>():</a:t>
            </a:r>
          </a:p>
          <a:p>
            <a:pPr lvl="2"/>
            <a:r>
              <a:rPr lang="en-US" sz="1600" dirty="0">
                <a:latin typeface="Courier New"/>
              </a:rPr>
              <a:t>print(</a:t>
            </a:r>
            <a:r>
              <a:rPr lang="en-US" sz="1600" dirty="0" err="1">
                <a:latin typeface="Courier New"/>
              </a:rPr>
              <a:t>key,d</a:t>
            </a:r>
            <a:r>
              <a:rPr lang="en-US" sz="1600" dirty="0">
                <a:latin typeface="Courier New"/>
              </a:rPr>
              <a:t>[key])</a:t>
            </a:r>
          </a:p>
          <a:p>
            <a:r>
              <a:rPr lang="en-US" sz="1600" dirty="0">
                <a:latin typeface="Courier New"/>
              </a:rPr>
              <a:t>def main():</a:t>
            </a:r>
          </a:p>
          <a:p>
            <a:pPr lvl="1"/>
            <a:r>
              <a:rPr lang="en-US" sz="1600" dirty="0">
                <a:latin typeface="Courier New"/>
              </a:rPr>
              <a:t>d = {'primero':1 , '</a:t>
            </a:r>
            <a:r>
              <a:rPr lang="en-US" sz="1600" dirty="0" err="1">
                <a:latin typeface="Courier New"/>
              </a:rPr>
              <a:t>segundo</a:t>
            </a:r>
            <a:r>
              <a:rPr lang="en-US" sz="1600" dirty="0">
                <a:latin typeface="Courier New"/>
              </a:rPr>
              <a:t>':</a:t>
            </a:r>
          </a:p>
          <a:p>
            <a:pPr lvl="2"/>
            <a:r>
              <a:rPr lang="pt-BR" sz="1600" dirty="0">
                <a:latin typeface="Courier New"/>
              </a:rPr>
              <a:t>2 , 'tercero': 3}</a:t>
            </a:r>
          </a:p>
          <a:p>
            <a:pPr lvl="1"/>
            <a:r>
              <a:rPr lang="en-US" sz="1600" dirty="0">
                <a:latin typeface="Courier New"/>
              </a:rPr>
              <a:t>for key in d:</a:t>
            </a:r>
          </a:p>
          <a:p>
            <a:pPr lvl="2"/>
            <a:r>
              <a:rPr lang="en-US" sz="1600" dirty="0">
                <a:latin typeface="Courier New"/>
              </a:rPr>
              <a:t>print (key, d[key])</a:t>
            </a:r>
          </a:p>
          <a:p>
            <a:r>
              <a:rPr lang="es-ES" dirty="0"/>
              <a:t>Otra alternativa podría ser iterar las </a:t>
            </a:r>
            <a:r>
              <a:rPr lang="es-ES" i="1" dirty="0"/>
              <a:t>tuplas </a:t>
            </a:r>
            <a:r>
              <a:rPr lang="es-ES" dirty="0"/>
              <a:t>de </a:t>
            </a:r>
            <a:r>
              <a:rPr lang="es-ES" dirty="0" err="1"/>
              <a:t>items</a:t>
            </a:r>
            <a:r>
              <a:rPr lang="es-ES" dirty="0"/>
              <a:t> del </a:t>
            </a:r>
            <a:r>
              <a:rPr lang="es-ES" dirty="0" err="1"/>
              <a:t>diccinario</a:t>
            </a:r>
            <a:r>
              <a:rPr lang="es-ES" dirty="0"/>
              <a:t>.</a:t>
            </a:r>
          </a:p>
          <a:p>
            <a:r>
              <a:rPr lang="en-US" sz="1600" dirty="0">
                <a:latin typeface="Courier New"/>
              </a:rPr>
              <a:t>def main():</a:t>
            </a:r>
          </a:p>
          <a:p>
            <a:pPr lvl="1"/>
            <a:r>
              <a:rPr lang="en-US" sz="1600" dirty="0">
                <a:latin typeface="Courier New"/>
              </a:rPr>
              <a:t>d = {'primero':1, '</a:t>
            </a:r>
            <a:r>
              <a:rPr lang="en-US" sz="1600" dirty="0" err="1">
                <a:latin typeface="Courier New"/>
              </a:rPr>
              <a:t>segundo</a:t>
            </a:r>
            <a:r>
              <a:rPr lang="en-US" sz="1600" dirty="0">
                <a:latin typeface="Courier New"/>
              </a:rPr>
              <a:t>':</a:t>
            </a:r>
          </a:p>
          <a:p>
            <a:pPr lvl="2"/>
            <a:r>
              <a:rPr lang="pt-BR" sz="1600" dirty="0">
                <a:latin typeface="Courier New"/>
              </a:rPr>
              <a:t>2, 'tercero': 3}</a:t>
            </a:r>
          </a:p>
          <a:p>
            <a:pPr lvl="1"/>
            <a:r>
              <a:rPr lang="en-US" sz="1600" dirty="0">
                <a:latin typeface="Courier New"/>
              </a:rPr>
              <a:t>for t in </a:t>
            </a:r>
            <a:r>
              <a:rPr lang="en-US" sz="1600" dirty="0" err="1">
                <a:latin typeface="Courier New"/>
              </a:rPr>
              <a:t>d.items</a:t>
            </a:r>
            <a:r>
              <a:rPr lang="en-US" sz="1600" dirty="0">
                <a:latin typeface="Courier New"/>
              </a:rPr>
              <a:t>():</a:t>
            </a:r>
          </a:p>
          <a:p>
            <a:pPr lvl="2"/>
            <a:r>
              <a:rPr lang="fr-FR" sz="1600" dirty="0" err="1">
                <a:latin typeface="Courier New"/>
              </a:rPr>
              <a:t>print</a:t>
            </a:r>
            <a:r>
              <a:rPr lang="fr-FR" sz="1600" dirty="0">
                <a:latin typeface="Courier New"/>
              </a:rPr>
              <a:t>(t[0], t[1])</a:t>
            </a:r>
          </a:p>
          <a:p>
            <a:r>
              <a:rPr lang="en-US" sz="1600" dirty="0">
                <a:latin typeface="Courier New"/>
              </a:rPr>
              <a:t>def main() :</a:t>
            </a:r>
          </a:p>
          <a:p>
            <a:pPr lvl="1"/>
            <a:r>
              <a:rPr lang="en-US" sz="1600" dirty="0">
                <a:latin typeface="Courier New"/>
              </a:rPr>
              <a:t>d = { 'primero': 1 , '</a:t>
            </a:r>
            <a:r>
              <a:rPr lang="en-US" sz="1600" dirty="0" err="1">
                <a:latin typeface="Courier New"/>
              </a:rPr>
              <a:t>segundo</a:t>
            </a:r>
            <a:r>
              <a:rPr lang="en-US" sz="1600" dirty="0">
                <a:latin typeface="Courier New"/>
              </a:rPr>
              <a:t>’:</a:t>
            </a:r>
          </a:p>
          <a:p>
            <a:pPr lvl="1"/>
            <a:r>
              <a:rPr lang="pt-BR" sz="1600" dirty="0">
                <a:latin typeface="Courier New"/>
              </a:rPr>
              <a:t>	2, 'tercero': 3}</a:t>
            </a:r>
          </a:p>
          <a:p>
            <a:pPr lvl="1"/>
            <a:r>
              <a:rPr lang="en-US" sz="1600" dirty="0">
                <a:latin typeface="Courier New"/>
              </a:rPr>
              <a:t>for key , </a:t>
            </a:r>
            <a:r>
              <a:rPr lang="en-US" sz="1600" dirty="0" err="1">
                <a:latin typeface="Courier New"/>
              </a:rPr>
              <a:t>val</a:t>
            </a:r>
            <a:r>
              <a:rPr lang="en-US" sz="1600" dirty="0">
                <a:latin typeface="Courier New"/>
              </a:rPr>
              <a:t> in d :</a:t>
            </a:r>
          </a:p>
          <a:p>
            <a:pPr lvl="2"/>
            <a:r>
              <a:rPr lang="en-US" sz="1600" dirty="0">
                <a:latin typeface="Courier New"/>
              </a:rPr>
              <a:t>print key, </a:t>
            </a:r>
            <a:r>
              <a:rPr lang="en-US" sz="1600" dirty="0" err="1">
                <a:latin typeface="Courier New"/>
              </a:rPr>
              <a:t>val</a:t>
            </a:r>
            <a:r>
              <a:rPr lang="en-US" sz="1600" dirty="0">
                <a:latin typeface="Courier New"/>
              </a:rPr>
              <a:t>)</a:t>
            </a:r>
          </a:p>
        </p:txBody>
      </p:sp>
      <p:pic>
        <p:nvPicPr>
          <p:cNvPr id="10" name="Google Shape;93;p14" descr="di_tella2.png">
            <a:extLst>
              <a:ext uri="{FF2B5EF4-FFF2-40B4-BE49-F238E27FC236}">
                <a16:creationId xmlns:a16="http://schemas.microsoft.com/office/drawing/2014/main" id="{02C10BD0-B738-C18E-EC74-C023089F08D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3677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7D6A1-0481-EFAC-5902-566F44DAD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0B1997-8E14-CEE0-3DA3-E225C1FD18FB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34E1D2-74ED-ED8B-3B59-198E2AB6093A}"/>
              </a:ext>
            </a:extLst>
          </p:cNvPr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Métodos Analíticos y Programación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EE4418-7B33-C467-933F-D646F9CE3427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1F7338-AF05-F1AA-90AD-46D5095995F1}"/>
              </a:ext>
            </a:extLst>
          </p:cNvPr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Pablo J Piccoli Bornia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C95017-B828-844A-1509-58CC0F67CFDA}"/>
              </a:ext>
            </a:extLst>
          </p:cNvPr>
          <p:cNvSpPr txBox="1"/>
          <p:nvPr/>
        </p:nvSpPr>
        <p:spPr>
          <a:xfrm>
            <a:off x="365760" y="731520"/>
            <a:ext cx="156780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rPr lang="es-AR" dirty="0"/>
              <a:t>Ejercicios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15ADFD-DF24-F9D9-8ED1-DEFD97867764}"/>
              </a:ext>
            </a:extLst>
          </p:cNvPr>
          <p:cNvSpPr txBox="1"/>
          <p:nvPr/>
        </p:nvSpPr>
        <p:spPr>
          <a:xfrm>
            <a:off x="345112" y="1985102"/>
            <a:ext cx="84537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1. Resolver el ejercicio en el archivo ejercicio_1.py.</a:t>
            </a:r>
          </a:p>
          <a:p>
            <a:r>
              <a:rPr lang="es-ES" dirty="0"/>
              <a:t>2. Ejercicios 8.1, 8.4, 8.5. </a:t>
            </a:r>
            <a:r>
              <a:rPr lang="es-ES" i="1" dirty="0"/>
              <a:t>Sugerencia: considerar la función módulo ( %) para el </a:t>
            </a:r>
            <a:r>
              <a:rPr lang="en-US" i="1" dirty="0" err="1"/>
              <a:t>ejercicio</a:t>
            </a:r>
            <a:r>
              <a:rPr lang="en-US" i="1" dirty="0"/>
              <a:t> 8.5)</a:t>
            </a:r>
            <a:r>
              <a:rPr lang="en-US" dirty="0"/>
              <a:t>.</a:t>
            </a:r>
          </a:p>
          <a:p>
            <a:r>
              <a:rPr lang="es-ES" dirty="0"/>
              <a:t>3. Ejercicios 10.6, 10.7, 10.11.</a:t>
            </a:r>
          </a:p>
          <a:p>
            <a:r>
              <a:rPr lang="es-ES" dirty="0"/>
              <a:t>4. Ejercicios 12.1. </a:t>
            </a:r>
            <a:r>
              <a:rPr lang="es-ES" i="1" dirty="0"/>
              <a:t>Sugerencia: revisar la documentación de la función </a:t>
            </a:r>
            <a:r>
              <a:rPr lang="es-ES" dirty="0" err="1"/>
              <a:t>get</a:t>
            </a:r>
            <a:r>
              <a:rPr lang="es-ES" dirty="0"/>
              <a:t> </a:t>
            </a:r>
            <a:r>
              <a:rPr lang="es-ES" i="1" dirty="0"/>
              <a:t>de </a:t>
            </a:r>
            <a:r>
              <a:rPr lang="es-ES" dirty="0" err="1"/>
              <a:t>dict</a:t>
            </a:r>
            <a:r>
              <a:rPr lang="es-ES" dirty="0"/>
              <a:t>.</a:t>
            </a:r>
            <a:endParaRPr dirty="0"/>
          </a:p>
        </p:txBody>
      </p:sp>
      <p:pic>
        <p:nvPicPr>
          <p:cNvPr id="10" name="Google Shape;93;p14" descr="di_tella2.png">
            <a:extLst>
              <a:ext uri="{FF2B5EF4-FFF2-40B4-BE49-F238E27FC236}">
                <a16:creationId xmlns:a16="http://schemas.microsoft.com/office/drawing/2014/main" id="{8A5C64C8-C08A-3CC8-FADA-CF4F1F45059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6547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2294</Words>
  <Application>Microsoft Office PowerPoint</Application>
  <PresentationFormat>On-screen Show (4:3)</PresentationFormat>
  <Paragraphs>280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Courier New</vt:lpstr>
      <vt:lpstr>TeXGyrePagellaX-Italic</vt:lpstr>
      <vt:lpstr>TeXGyrePagellaX-Regular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Longas, Daniela</cp:lastModifiedBy>
  <cp:revision>17</cp:revision>
  <dcterms:created xsi:type="dcterms:W3CDTF">2013-01-27T09:14:16Z</dcterms:created>
  <dcterms:modified xsi:type="dcterms:W3CDTF">2026-02-10T01:23:11Z</dcterms:modified>
  <cp:category/>
</cp:coreProperties>
</file>