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331516-12F9-49D8-A841-4DD3164452F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95A9BE-695D-4A2A-8B3F-EA31EC76FD7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2706BB2-A1A7-4C82-866E-6943406A737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B1D2E30-5E7B-4127-94FE-CB49EA9B841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58F6712A-26B8-469F-8857-8301E222832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3A32F91F-5A5C-4DEC-A1ED-74811FFCF90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1CDBA165-BC3B-44D9-9C16-97C5710BBA4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F6F1FCB-5242-44E6-A3EF-713E3D5F9FA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11855CBF-A74E-4C08-A8B1-27E5C996FA9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52C3DB2E-C262-46C8-8490-87FD0298A11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070F6405-09FF-4DFE-BE41-4AD61F90FC2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7799D83-A9A6-488C-B4A5-9A092228E6A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F738110-F984-42BA-B1A8-659608066FE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DF33F11-4D10-4A46-9F21-C1D502BEFF8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AAC58C6-BF52-4F0E-A0C1-58724EDE08C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514E192-9EFF-48AA-9CD3-91C2F09456E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B4CD7A0-E9B4-4130-AB3A-13CA909EA2B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7053452-EBA8-48F1-8DCE-CA2BD3A9511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792B7AB-8C49-4A28-940A-E71535F214B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899FAD5-E41C-4E45-9442-065FE03CF95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51D7404-3739-416D-B9AF-3455E92562E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6F5EBCE-D03C-4ABD-BE20-72A8E255F00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91;p14"/>
          <p:cNvSpPr/>
          <p:nvPr/>
        </p:nvSpPr>
        <p:spPr>
          <a:xfrm>
            <a:off x="274320" y="1371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Google Shape;92;p14"/>
          <p:cNvSpPr/>
          <p:nvPr/>
        </p:nvSpPr>
        <p:spPr>
          <a:xfrm>
            <a:off x="274320" y="2004480"/>
            <a:ext cx="82292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323232"/>
                </a:solidFill>
                <a:latin typeface="Calibri"/>
              </a:rPr>
              <a:t>MATRICES Y CICLOS ANIDADOS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Google Shape;93;p14"/>
          <p:cNvSpPr/>
          <p:nvPr/>
        </p:nvSpPr>
        <p:spPr>
          <a:xfrm>
            <a:off x="1574280" y="3620520"/>
            <a:ext cx="849600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2d2d2d"/>
                </a:solidFill>
                <a:latin typeface="Calibri"/>
                <a:ea typeface="Calibri"/>
              </a:rPr>
              <a:t>Profesor: Pablo J Piccoli Bornia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Google Shape;94;p14"/>
          <p:cNvSpPr/>
          <p:nvPr/>
        </p:nvSpPr>
        <p:spPr>
          <a:xfrm>
            <a:off x="1574280" y="4219920"/>
            <a:ext cx="84960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2d2d2d"/>
                </a:solidFill>
                <a:latin typeface="Calibri"/>
                <a:ea typeface="Calibri"/>
              </a:rPr>
              <a:t>Auxiliares: Daniela Longas - M Victoria Tolosa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>
            <a:lumMod val="75000"/>
            <a:lumOff val="2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99;p15"/>
          <p:cNvSpPr/>
          <p:nvPr/>
        </p:nvSpPr>
        <p:spPr>
          <a:xfrm>
            <a:off x="2240640" y="2916000"/>
            <a:ext cx="4901760" cy="69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680" bIns="0" anchor="t">
            <a:spAutoFit/>
          </a:bodyPr>
          <a:p>
            <a:pPr marL="25560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 cap="small">
                <a:solidFill>
                  <a:srgbClr val="f4f2ed"/>
                </a:solidFill>
                <a:latin typeface="Tahoma"/>
                <a:ea typeface="Tahoma"/>
              </a:rPr>
              <a:t>MATRICES Y ESTRUCTURAS BI-DIMENCIONALES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72" name="Google Shape;100;p15"/>
          <p:cNvGrpSpPr/>
          <p:nvPr/>
        </p:nvGrpSpPr>
        <p:grpSpPr>
          <a:xfrm>
            <a:off x="2260800" y="3600000"/>
            <a:ext cx="4642200" cy="50040"/>
            <a:chOff x="2260800" y="3600000"/>
            <a:chExt cx="4642200" cy="50040"/>
          </a:xfrm>
        </p:grpSpPr>
        <p:sp>
          <p:nvSpPr>
            <p:cNvPr id="73" name="Google Shape;101;p15"/>
            <p:cNvSpPr/>
            <p:nvPr/>
          </p:nvSpPr>
          <p:spPr>
            <a:xfrm>
              <a:off x="2260800" y="3600000"/>
              <a:ext cx="4642200" cy="50040"/>
            </a:xfrm>
            <a:custGeom>
              <a:avLst/>
              <a:gdLst>
                <a:gd name="textAreaLeft" fmla="*/ 0 w 4642200"/>
                <a:gd name="textAreaRight" fmla="*/ 4642560 w 4642200"/>
                <a:gd name="textAreaTop" fmla="*/ 0 h 50040"/>
                <a:gd name="textAreaBottom" fmla="*/ 50400 h 50040"/>
              </a:gdLst>
              <a:ahLst/>
              <a:rect l="textAreaLeft" t="textAreaTop" r="textAreaRight" b="textAreaBottom"/>
              <a:pathLst>
                <a:path w="2340610" h="2540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4f2e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28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4" name="Google Shape;102;p15"/>
            <p:cNvSpPr/>
            <p:nvPr/>
          </p:nvSpPr>
          <p:spPr>
            <a:xfrm>
              <a:off x="2260800" y="3600000"/>
              <a:ext cx="4642200" cy="50040"/>
            </a:xfrm>
            <a:custGeom>
              <a:avLst/>
              <a:gdLst>
                <a:gd name="textAreaLeft" fmla="*/ 0 w 4642200"/>
                <a:gd name="textAreaRight" fmla="*/ 4642560 w 4642200"/>
                <a:gd name="textAreaTop" fmla="*/ 0 h 50040"/>
                <a:gd name="textAreaBottom" fmla="*/ 50400 h 50040"/>
              </a:gdLst>
              <a:ahLst/>
              <a:rect l="textAreaLeft" t="textAreaTop" r="textAreaRight" b="textAreaBottom"/>
              <a:pathLst>
                <a:path w="2340610" h="2540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noFill/>
            <a:ln w="18875">
              <a:solidFill>
                <a:srgbClr val="f4f2e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28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5" name="Google Shape;103;p15"/>
            <p:cNvSpPr/>
            <p:nvPr/>
          </p:nvSpPr>
          <p:spPr>
            <a:xfrm>
              <a:off x="2260800" y="3600000"/>
              <a:ext cx="2421720" cy="50040"/>
            </a:xfrm>
            <a:custGeom>
              <a:avLst/>
              <a:gdLst>
                <a:gd name="textAreaLeft" fmla="*/ 0 w 2421720"/>
                <a:gd name="textAreaRight" fmla="*/ 2422080 w 2421720"/>
                <a:gd name="textAreaTop" fmla="*/ 0 h 50040"/>
                <a:gd name="textAreaBottom" fmla="*/ 50400 h 50040"/>
              </a:gdLst>
              <a:ahLst/>
              <a:rect l="textAreaLeft" t="textAreaTop" r="textAreaRight" b="textAreaBottom"/>
              <a:pathLst>
                <a:path w="1221105" h="25400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006db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28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6" name="Google Shape;104;p15"/>
            <p:cNvSpPr/>
            <p:nvPr/>
          </p:nvSpPr>
          <p:spPr>
            <a:xfrm>
              <a:off x="2260800" y="3600000"/>
              <a:ext cx="2421720" cy="50040"/>
            </a:xfrm>
            <a:custGeom>
              <a:avLst/>
              <a:gdLst>
                <a:gd name="textAreaLeft" fmla="*/ 0 w 2421720"/>
                <a:gd name="textAreaRight" fmla="*/ 2422080 w 2421720"/>
                <a:gd name="textAreaTop" fmla="*/ 0 h 50040"/>
                <a:gd name="textAreaBottom" fmla="*/ 50400 h 50040"/>
              </a:gdLst>
              <a:ahLst/>
              <a:rect l="textAreaLeft" t="textAreaTop" r="textAreaRight" b="textAreaBottom"/>
              <a:pathLst>
                <a:path w="1221105" h="25400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fd966"/>
            </a:solidFill>
            <a:ln w="18875">
              <a:solidFill>
                <a:srgbClr val="f1c23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28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</p:grpSp>
    </p:spTree>
  </p:cSld>
  <p:transition>
    <p:fade thruBlk="true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1"/>
          <p:cNvSpPr/>
          <p:nvPr/>
        </p:nvSpPr>
        <p:spPr>
          <a:xfrm>
            <a:off x="0" y="0"/>
            <a:ext cx="9143640" cy="54828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Rectangle 4"/>
          <p:cNvSpPr/>
          <p:nvPr/>
        </p:nvSpPr>
        <p:spPr>
          <a:xfrm>
            <a:off x="0" y="6492240"/>
            <a:ext cx="9143640" cy="365400"/>
          </a:xfrm>
          <a:prstGeom prst="rect">
            <a:avLst/>
          </a:prstGeom>
          <a:solidFill>
            <a:srgbClr val="2828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TextBox 6"/>
          <p:cNvSpPr/>
          <p:nvPr/>
        </p:nvSpPr>
        <p:spPr>
          <a:xfrm>
            <a:off x="1985040" y="731520"/>
            <a:ext cx="499068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323232"/>
                </a:solidFill>
                <a:latin typeface="Calibri"/>
              </a:rPr>
              <a:t>Estructuras Bi-dimensionales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7"/>
          <p:cNvSpPr/>
          <p:nvPr/>
        </p:nvSpPr>
        <p:spPr>
          <a:xfrm>
            <a:off x="457200" y="1645920"/>
            <a:ext cx="7772040" cy="415944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1" name="Google Shape;114;p16" descr="di_tella2.png"/>
          <p:cNvPicPr/>
          <p:nvPr/>
        </p:nvPicPr>
        <p:blipFill>
          <a:blip r:embed="rId2"/>
          <a:stretch/>
        </p:blipFill>
        <p:spPr>
          <a:xfrm>
            <a:off x="8325360" y="20160"/>
            <a:ext cx="818280" cy="507600"/>
          </a:xfrm>
          <a:prstGeom prst="rect">
            <a:avLst/>
          </a:prstGeom>
          <a:ln w="0">
            <a:noFill/>
          </a:ln>
        </p:spPr>
      </p:pic>
      <p:sp>
        <p:nvSpPr>
          <p:cNvPr id="82" name="Google Shape;123;p17"/>
          <p:cNvSpPr/>
          <p:nvPr/>
        </p:nvSpPr>
        <p:spPr>
          <a:xfrm>
            <a:off x="0" y="65379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Google Shape;179;p22"/>
          <p:cNvSpPr/>
          <p:nvPr/>
        </p:nvSpPr>
        <p:spPr>
          <a:xfrm>
            <a:off x="274320" y="1371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1"/>
          <p:cNvSpPr/>
          <p:nvPr/>
        </p:nvSpPr>
        <p:spPr>
          <a:xfrm>
            <a:off x="0" y="0"/>
            <a:ext cx="9143640" cy="54828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Rectangle 4"/>
          <p:cNvSpPr/>
          <p:nvPr/>
        </p:nvSpPr>
        <p:spPr>
          <a:xfrm>
            <a:off x="0" y="6492240"/>
            <a:ext cx="9143640" cy="365400"/>
          </a:xfrm>
          <a:prstGeom prst="rect">
            <a:avLst/>
          </a:prstGeom>
          <a:solidFill>
            <a:srgbClr val="2828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" name="TextBox 6"/>
          <p:cNvSpPr/>
          <p:nvPr/>
        </p:nvSpPr>
        <p:spPr>
          <a:xfrm>
            <a:off x="0" y="608400"/>
            <a:ext cx="41346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s-AR" sz="2600" spc="-1" strike="noStrike">
                <a:solidFill>
                  <a:srgbClr val="323232"/>
                </a:solidFill>
                <a:latin typeface="Calibri"/>
              </a:rPr>
              <a:t>Matrices y lista de listas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7"/>
          <p:cNvSpPr/>
          <p:nvPr/>
        </p:nvSpPr>
        <p:spPr>
          <a:xfrm>
            <a:off x="401040" y="1094040"/>
            <a:ext cx="8496720" cy="47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Una posible representación para una </a:t>
            </a:r>
            <a:r>
              <a:rPr b="1" lang="es-ES" sz="1800" spc="-1" strike="noStrike">
                <a:solidFill>
                  <a:schemeClr val="dk1"/>
                </a:solidFill>
                <a:latin typeface="Calibri"/>
              </a:rPr>
              <a:t>matriz</a:t>
            </a: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 es mediante lista de listas. Es la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forma natural de manejar una </a:t>
            </a:r>
            <a:r>
              <a:rPr b="1" lang="es-ES" sz="1800" spc="-1" strike="noStrike">
                <a:solidFill>
                  <a:schemeClr val="dk1"/>
                </a:solidFill>
                <a:latin typeface="Calibri"/>
              </a:rPr>
              <a:t>estructura bi-dimensiona</a:t>
            </a: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l en gran parte 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los contextos de aplicación.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Hay múltiples formas de representar una matriz mediante listas de listas. Dos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casos clásicos: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1800" spc="-1" strike="noStrike" u="sng">
                <a:solidFill>
                  <a:schemeClr val="dk1"/>
                </a:solidFill>
                <a:uFillTx/>
                <a:latin typeface="Calibri"/>
              </a:rPr>
              <a:t>Representación por filas</a:t>
            </a: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. La lista principal representa una colección de </a:t>
            </a:r>
            <a:r>
              <a:rPr b="0" i="1" lang="es-ES" sz="1800" spc="-1" strike="noStrike">
                <a:solidFill>
                  <a:schemeClr val="dk1"/>
                </a:solidFill>
                <a:latin typeface="Calibri"/>
              </a:rPr>
              <a:t>filas</a:t>
            </a: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, y el i-ésimo elemento de esta lista es </a:t>
            </a:r>
            <a:r>
              <a:rPr b="1" lang="es-ES" sz="1800" spc="-1" strike="noStrike">
                <a:solidFill>
                  <a:schemeClr val="dk1"/>
                </a:solidFill>
                <a:latin typeface="Calibri"/>
              </a:rPr>
              <a:t>otra </a:t>
            </a: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lista con los </a:t>
            </a:r>
            <a:r>
              <a:rPr b="0" i="1" lang="es-ES" sz="1800" spc="-1" strike="noStrike">
                <a:solidFill>
                  <a:schemeClr val="dk1"/>
                </a:solidFill>
                <a:latin typeface="Calibri"/>
              </a:rPr>
              <a:t>elementos de la </a:t>
            </a:r>
            <a:r>
              <a:rPr b="0" i="1" lang="en-US" sz="1800" spc="-1" strike="noStrike">
                <a:solidFill>
                  <a:schemeClr val="dk1"/>
                </a:solidFill>
                <a:latin typeface="Calibri"/>
              </a:rPr>
              <a:t>fila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i.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1800" spc="-1" strike="noStrike" u="sng">
                <a:solidFill>
                  <a:schemeClr val="dk1"/>
                </a:solidFill>
                <a:uFillTx/>
                <a:latin typeface="Calibri"/>
              </a:rPr>
              <a:t>Representación por columnas</a:t>
            </a: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. La lista principal representa una colección de </a:t>
            </a:r>
            <a:r>
              <a:rPr b="0" i="1" lang="es-ES" sz="1800" spc="-1" strike="noStrike">
                <a:solidFill>
                  <a:schemeClr val="dk1"/>
                </a:solidFill>
                <a:latin typeface="Calibri"/>
              </a:rPr>
              <a:t>columnas</a:t>
            </a: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, y el j-ésimo elemento de esta lista es </a:t>
            </a:r>
            <a:r>
              <a:rPr b="1" lang="es-ES" sz="1800" spc="-1" strike="noStrike">
                <a:solidFill>
                  <a:schemeClr val="dk1"/>
                </a:solidFill>
                <a:latin typeface="Calibri"/>
              </a:rPr>
              <a:t>otra </a:t>
            </a: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lista con los </a:t>
            </a:r>
            <a:r>
              <a:rPr b="0" i="1" lang="es-ES" sz="1800" spc="-1" strike="noStrike">
                <a:solidFill>
                  <a:schemeClr val="dk1"/>
                </a:solidFill>
                <a:latin typeface="Calibri"/>
              </a:rPr>
              <a:t>elementos de la columna </a:t>
            </a: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j.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Matriz Ejemplo                           Matriz por filas                         Matriz por columnas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Google Shape;114;p16" descr="di_tella2.png"/>
          <p:cNvPicPr/>
          <p:nvPr/>
        </p:nvPicPr>
        <p:blipFill>
          <a:blip r:embed="rId1"/>
          <a:stretch/>
        </p:blipFill>
        <p:spPr>
          <a:xfrm>
            <a:off x="8325360" y="20160"/>
            <a:ext cx="818280" cy="507600"/>
          </a:xfrm>
          <a:prstGeom prst="rect">
            <a:avLst/>
          </a:prstGeom>
          <a:ln w="0">
            <a:noFill/>
          </a:ln>
        </p:spPr>
      </p:pic>
      <p:sp>
        <p:nvSpPr>
          <p:cNvPr id="89" name="Google Shape;123;p17"/>
          <p:cNvSpPr/>
          <p:nvPr/>
        </p:nvSpPr>
        <p:spPr>
          <a:xfrm>
            <a:off x="0" y="65379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Google Shape;179;p22"/>
          <p:cNvSpPr/>
          <p:nvPr/>
        </p:nvSpPr>
        <p:spPr>
          <a:xfrm>
            <a:off x="274320" y="1371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Picture 12" descr=""/>
          <p:cNvPicPr/>
          <p:nvPr/>
        </p:nvPicPr>
        <p:blipFill>
          <a:blip r:embed="rId2"/>
          <a:stretch/>
        </p:blipFill>
        <p:spPr>
          <a:xfrm>
            <a:off x="401040" y="4800600"/>
            <a:ext cx="1771560" cy="1142640"/>
          </a:xfrm>
          <a:prstGeom prst="rect">
            <a:avLst/>
          </a:prstGeom>
          <a:ln w="0">
            <a:noFill/>
          </a:ln>
        </p:spPr>
      </p:pic>
      <p:pic>
        <p:nvPicPr>
          <p:cNvPr id="92" name="Picture 14" descr=""/>
          <p:cNvPicPr/>
          <p:nvPr/>
        </p:nvPicPr>
        <p:blipFill>
          <a:blip r:embed="rId3"/>
          <a:stretch/>
        </p:blipFill>
        <p:spPr>
          <a:xfrm>
            <a:off x="3455280" y="4800600"/>
            <a:ext cx="4713840" cy="119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1"/>
          <p:cNvSpPr/>
          <p:nvPr/>
        </p:nvSpPr>
        <p:spPr>
          <a:xfrm>
            <a:off x="0" y="0"/>
            <a:ext cx="9143640" cy="54828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Rectangle 4"/>
          <p:cNvSpPr/>
          <p:nvPr/>
        </p:nvSpPr>
        <p:spPr>
          <a:xfrm>
            <a:off x="0" y="6492240"/>
            <a:ext cx="9143640" cy="365400"/>
          </a:xfrm>
          <a:prstGeom prst="rect">
            <a:avLst/>
          </a:prstGeom>
          <a:solidFill>
            <a:srgbClr val="2828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TextBox 6"/>
          <p:cNvSpPr/>
          <p:nvPr/>
        </p:nvSpPr>
        <p:spPr>
          <a:xfrm>
            <a:off x="228600" y="685800"/>
            <a:ext cx="67845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s-AR" sz="2600" spc="-1" strike="noStrike">
                <a:solidFill>
                  <a:srgbClr val="323232"/>
                </a:solidFill>
                <a:latin typeface="Calibri"/>
              </a:rPr>
              <a:t>Matrices y </a:t>
            </a:r>
            <a:r>
              <a:rPr b="1" lang="en-US" sz="2600" spc="-1" strike="noStrike">
                <a:solidFill>
                  <a:srgbClr val="323232"/>
                </a:solidFill>
                <a:latin typeface="Calibri"/>
              </a:rPr>
              <a:t>Estructuras Bi-dimensionales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Box 7"/>
          <p:cNvSpPr/>
          <p:nvPr/>
        </p:nvSpPr>
        <p:spPr>
          <a:xfrm>
            <a:off x="274320" y="1443960"/>
            <a:ext cx="8686440" cy="42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s-ES" sz="1800" spc="-1" strike="noStrike">
                <a:solidFill>
                  <a:schemeClr val="dk1"/>
                </a:solidFill>
                <a:latin typeface="Calibri"/>
              </a:rPr>
              <a:t>Ejercicio: </a:t>
            </a: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Queremos acceder al elemento a32. Cuál es índice de la fila y cuál el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índice de la columna?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s-ES" sz="1800" spc="-1" strike="noStrike">
                <a:solidFill>
                  <a:schemeClr val="dk1"/>
                </a:solidFill>
                <a:latin typeface="Calibri"/>
              </a:rPr>
              <a:t>Ejercicio: </a:t>
            </a: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Queremos acceder al elemento a32. Cuál es índice de la fila y cuál el índice de la columna? Recordar que las listas indexan de 0 a n 􀀀 1. El elemento a32 corresponde a la fila 2 y columna 1 de la matriz en Python.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Representación por filas.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Simplified Arabic Fixed"/>
              </a:rPr>
              <a:t>&gt;&gt;&gt; A = [[1,2,3],[4,5,6],[7,8,9],[10,11,12]]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s-ES" sz="1800" spc="-1" strike="noStrike">
                <a:solidFill>
                  <a:schemeClr val="dk1"/>
                </a:solidFill>
                <a:latin typeface="Simplified Arabic Fixed"/>
              </a:rPr>
              <a:t>&gt;&gt;&gt; A[2] # Que nos devuelve 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Simplified Arabic Fixed"/>
              </a:rPr>
              <a:t>[7,8,9]  # Es la lista de la posicion 2 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s-ES" sz="1800" spc="-1" strike="noStrike">
                <a:solidFill>
                  <a:schemeClr val="dk1"/>
                </a:solidFill>
                <a:latin typeface="Simplified Arabic Fixed"/>
              </a:rPr>
              <a:t>&gt;&gt;&gt; A[2][1] # Que nos devuelve 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7" name="Google Shape;114;p16" descr="di_tella2.png"/>
          <p:cNvPicPr/>
          <p:nvPr/>
        </p:nvPicPr>
        <p:blipFill>
          <a:blip r:embed="rId1"/>
          <a:stretch/>
        </p:blipFill>
        <p:spPr>
          <a:xfrm>
            <a:off x="8325360" y="20160"/>
            <a:ext cx="818280" cy="507600"/>
          </a:xfrm>
          <a:prstGeom prst="rect">
            <a:avLst/>
          </a:prstGeom>
          <a:ln w="0">
            <a:noFill/>
          </a:ln>
        </p:spPr>
      </p:pic>
      <p:sp>
        <p:nvSpPr>
          <p:cNvPr id="98" name="Google Shape;123;p17"/>
          <p:cNvSpPr/>
          <p:nvPr/>
        </p:nvSpPr>
        <p:spPr>
          <a:xfrm>
            <a:off x="0" y="65379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Google Shape;179;p22"/>
          <p:cNvSpPr/>
          <p:nvPr/>
        </p:nvSpPr>
        <p:spPr>
          <a:xfrm>
            <a:off x="274320" y="1371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1"/>
          <p:cNvSpPr/>
          <p:nvPr/>
        </p:nvSpPr>
        <p:spPr>
          <a:xfrm>
            <a:off x="0" y="0"/>
            <a:ext cx="9143640" cy="54828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" name="Rectangle 4"/>
          <p:cNvSpPr/>
          <p:nvPr/>
        </p:nvSpPr>
        <p:spPr>
          <a:xfrm>
            <a:off x="0" y="6492240"/>
            <a:ext cx="9143640" cy="365400"/>
          </a:xfrm>
          <a:prstGeom prst="rect">
            <a:avLst/>
          </a:prstGeom>
          <a:solidFill>
            <a:srgbClr val="2828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TextBox 6"/>
          <p:cNvSpPr/>
          <p:nvPr/>
        </p:nvSpPr>
        <p:spPr>
          <a:xfrm>
            <a:off x="0" y="731520"/>
            <a:ext cx="67845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s-AR" sz="2600" spc="-1" strike="noStrike">
                <a:solidFill>
                  <a:srgbClr val="323232"/>
                </a:solidFill>
                <a:latin typeface="Calibri"/>
              </a:rPr>
              <a:t>Matrices y </a:t>
            </a:r>
            <a:r>
              <a:rPr b="1" lang="en-US" sz="2600" spc="-1" strike="noStrike">
                <a:solidFill>
                  <a:srgbClr val="323232"/>
                </a:solidFill>
                <a:latin typeface="Calibri"/>
              </a:rPr>
              <a:t>Estructuras Bi-dimensionales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7"/>
          <p:cNvSpPr/>
          <p:nvPr/>
        </p:nvSpPr>
        <p:spPr>
          <a:xfrm>
            <a:off x="365760" y="1582200"/>
            <a:ext cx="8686440" cy="365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Representación por columnas.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Simplified Arabic Fixed"/>
              </a:rPr>
              <a:t>&gt;&gt;&gt; A = [[1,4,7,10],[2,5,8,11],[3,6,9,12]]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s-ES" sz="1800" spc="-1" strike="noStrike">
                <a:solidFill>
                  <a:schemeClr val="dk1"/>
                </a:solidFill>
                <a:latin typeface="Simplified Arabic Fixed"/>
              </a:rPr>
              <a:t>&gt;&gt;&gt; A[1] # Que nos devuelve 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Simplified Arabic Fixed"/>
              </a:rPr>
              <a:t>[2,5,8,11] # Es la lista de la posicion 2 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s-ES" sz="1800" spc="-1" strike="noStrike">
                <a:solidFill>
                  <a:schemeClr val="dk1"/>
                </a:solidFill>
                <a:latin typeface="Simplified Arabic Fixed"/>
              </a:rPr>
              <a:t>&gt;&gt;&gt; A[1][2] # Que nos devuelve 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Al tener una lista de lista, podemos acceder a los elementos mediante la aplicación secuencial del operador []. Es fundamental tener presente la representación adoptada para almacenar la información.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" name="Google Shape;114;p16" descr="di_tella2.png"/>
          <p:cNvPicPr/>
          <p:nvPr/>
        </p:nvPicPr>
        <p:blipFill>
          <a:blip r:embed="rId1"/>
          <a:stretch/>
        </p:blipFill>
        <p:spPr>
          <a:xfrm>
            <a:off x="8325360" y="20160"/>
            <a:ext cx="818280" cy="507600"/>
          </a:xfrm>
          <a:prstGeom prst="rect">
            <a:avLst/>
          </a:prstGeom>
          <a:ln w="0">
            <a:noFill/>
          </a:ln>
        </p:spPr>
      </p:pic>
      <p:sp>
        <p:nvSpPr>
          <p:cNvPr id="105" name="Google Shape;123;p17"/>
          <p:cNvSpPr/>
          <p:nvPr/>
        </p:nvSpPr>
        <p:spPr>
          <a:xfrm>
            <a:off x="0" y="65379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Google Shape;179;p22"/>
          <p:cNvSpPr/>
          <p:nvPr/>
        </p:nvSpPr>
        <p:spPr>
          <a:xfrm>
            <a:off x="274320" y="1371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"/>
          <p:cNvSpPr/>
          <p:nvPr/>
        </p:nvSpPr>
        <p:spPr>
          <a:xfrm>
            <a:off x="0" y="0"/>
            <a:ext cx="9143640" cy="54828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Rectangle 4"/>
          <p:cNvSpPr/>
          <p:nvPr/>
        </p:nvSpPr>
        <p:spPr>
          <a:xfrm>
            <a:off x="0" y="6492240"/>
            <a:ext cx="9143640" cy="365400"/>
          </a:xfrm>
          <a:prstGeom prst="rect">
            <a:avLst/>
          </a:prstGeom>
          <a:solidFill>
            <a:srgbClr val="2828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" name="TextBox 6"/>
          <p:cNvSpPr/>
          <p:nvPr/>
        </p:nvSpPr>
        <p:spPr>
          <a:xfrm>
            <a:off x="2243880" y="731520"/>
            <a:ext cx="44726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323232"/>
                </a:solidFill>
                <a:latin typeface="Calibri"/>
              </a:rPr>
              <a:t>Matrices y Listas de Listas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7"/>
          <p:cNvSpPr/>
          <p:nvPr/>
        </p:nvSpPr>
        <p:spPr>
          <a:xfrm>
            <a:off x="457200" y="1645920"/>
            <a:ext cx="8375760" cy="30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Supongamos que tenemos una matriz de float A 2 Rmn </a:t>
            </a: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representada por </a:t>
            </a:r>
            <a:r>
              <a:rPr b="1" lang="es-ES" sz="1800" spc="-1" strike="noStrike">
                <a:solidFill>
                  <a:schemeClr val="dk1"/>
                </a:solidFill>
                <a:latin typeface="Calibri"/>
              </a:rPr>
              <a:t>filas </a:t>
            </a: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mediante </a:t>
            </a:r>
            <a:r>
              <a:rPr b="1" lang="es-ES" sz="1800" spc="-1" strike="noStrike">
                <a:solidFill>
                  <a:schemeClr val="dk1"/>
                </a:solidFill>
                <a:latin typeface="Calibri"/>
              </a:rPr>
              <a:t>listas de listas</a:t>
            </a: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. Buscamos implementar una función </a:t>
            </a:r>
            <a:r>
              <a:rPr b="0" i="1" lang="es-ES" sz="1800" spc="-1" strike="noStrike">
                <a:solidFill>
                  <a:schemeClr val="dk1"/>
                </a:solidFill>
                <a:latin typeface="Calibri"/>
              </a:rPr>
              <a:t>suma_elementos</a:t>
            </a: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 que retorne la suma de todos los elementos de la matriz.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A modo de ejemplo, para la matriz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dk1"/>
                </a:solidFill>
                <a:latin typeface="Courier New"/>
              </a:rPr>
              <a:t>A = [ [1, 2, 3],</a:t>
            </a:r>
            <a:br>
              <a:rPr sz="1600"/>
            </a:br>
            <a:r>
              <a:rPr b="0" lang="en-US" sz="1600" spc="-1" strike="noStrike">
                <a:solidFill>
                  <a:schemeClr val="dk1"/>
                </a:solidFill>
                <a:latin typeface="Courier New"/>
              </a:rPr>
              <a:t>      [4, 5, 6],</a:t>
            </a:r>
            <a:br>
              <a:rPr sz="1600"/>
            </a:br>
            <a:r>
              <a:rPr b="0" lang="en-US" sz="1600" spc="-1" strike="noStrike">
                <a:solidFill>
                  <a:schemeClr val="dk1"/>
                </a:solidFill>
                <a:latin typeface="Courier New"/>
              </a:rPr>
              <a:t>      [7, 8, 9] ]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800"/>
            </a:br>
            <a:r>
              <a:rPr b="0" lang="es-AR" sz="1800" spc="-1" strike="noStrike">
                <a:solidFill>
                  <a:schemeClr val="dk1"/>
                </a:solidFill>
                <a:latin typeface="Calibri"/>
              </a:rPr>
              <a:t>el resultado es 78.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1" name="Google Shape;114;p16" descr="di_tella2.png"/>
          <p:cNvPicPr/>
          <p:nvPr/>
        </p:nvPicPr>
        <p:blipFill>
          <a:blip r:embed="rId1"/>
          <a:stretch/>
        </p:blipFill>
        <p:spPr>
          <a:xfrm>
            <a:off x="8325360" y="20160"/>
            <a:ext cx="818280" cy="507600"/>
          </a:xfrm>
          <a:prstGeom prst="rect">
            <a:avLst/>
          </a:prstGeom>
          <a:ln w="0">
            <a:noFill/>
          </a:ln>
        </p:spPr>
      </p:pic>
      <p:sp>
        <p:nvSpPr>
          <p:cNvPr id="112" name="Google Shape;123;p17"/>
          <p:cNvSpPr/>
          <p:nvPr/>
        </p:nvSpPr>
        <p:spPr>
          <a:xfrm>
            <a:off x="274320" y="65379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Google Shape;179;p22"/>
          <p:cNvSpPr/>
          <p:nvPr/>
        </p:nvSpPr>
        <p:spPr>
          <a:xfrm>
            <a:off x="274320" y="1371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"/>
          <p:cNvSpPr/>
          <p:nvPr/>
        </p:nvSpPr>
        <p:spPr>
          <a:xfrm>
            <a:off x="0" y="0"/>
            <a:ext cx="9143640" cy="54828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" name="Rectangle 4"/>
          <p:cNvSpPr/>
          <p:nvPr/>
        </p:nvSpPr>
        <p:spPr>
          <a:xfrm>
            <a:off x="0" y="6492240"/>
            <a:ext cx="9143640" cy="365400"/>
          </a:xfrm>
          <a:prstGeom prst="rect">
            <a:avLst/>
          </a:prstGeom>
          <a:solidFill>
            <a:srgbClr val="2828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" name="TextBox 6"/>
          <p:cNvSpPr/>
          <p:nvPr/>
        </p:nvSpPr>
        <p:spPr>
          <a:xfrm>
            <a:off x="-8280" y="731520"/>
            <a:ext cx="56037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323232"/>
                </a:solidFill>
                <a:latin typeface="Calibri"/>
              </a:rPr>
              <a:t>Recorriendo</a:t>
            </a:r>
            <a:r>
              <a:rPr b="1" lang="es-AR" sz="2600" spc="-1" strike="noStrike">
                <a:solidFill>
                  <a:srgbClr val="323232"/>
                </a:solidFill>
                <a:latin typeface="Calibri"/>
              </a:rPr>
              <a:t> una matriz</a:t>
            </a:r>
            <a:r>
              <a:rPr b="1" lang="en-US" sz="2600" spc="-1" strike="noStrike">
                <a:solidFill>
                  <a:srgbClr val="323232"/>
                </a:solidFill>
                <a:latin typeface="Calibri"/>
              </a:rPr>
              <a:t>:</a:t>
            </a:r>
            <a:r>
              <a:rPr b="1" lang="es-AR" sz="2600" spc="-1" strike="noStrike">
                <a:solidFill>
                  <a:srgbClr val="323232"/>
                </a:solidFill>
                <a:latin typeface="Calibri"/>
              </a:rPr>
              <a:t> por filas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Box 7"/>
          <p:cNvSpPr/>
          <p:nvPr/>
        </p:nvSpPr>
        <p:spPr>
          <a:xfrm>
            <a:off x="274320" y="1206360"/>
            <a:ext cx="8731440" cy="524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Idea general del algoritmo: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Vamos a tener que recorrer eventualmente todos los elementos de la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matriz.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El resultado va a ser un número.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Cuando recorrimos todos los elementos, retornamos el valor.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La función suma lista recibe la cantidad de filas (m) y columnas (n).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Asumimos que está bien construída.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Simplified Arabic Fixed"/>
              </a:rPr>
              <a:t>def suma_elementos(A, m, n) 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Simplified Arabic Fixed"/>
              </a:rPr>
              <a:t>	</a:t>
            </a:r>
            <a:r>
              <a:rPr b="0" lang="pt-BR" sz="1800" spc="-1" strike="noStrike">
                <a:solidFill>
                  <a:schemeClr val="dk1"/>
                </a:solidFill>
                <a:latin typeface="Simplified Arabic Fixed"/>
              </a:rPr>
              <a:t>ret = 0.0 </a:t>
            </a:r>
            <a:r>
              <a:rPr b="0" lang="pt-BR" sz="1800" spc="-1" strike="noStrike">
                <a:solidFill>
                  <a:schemeClr val="accent3">
                    <a:lumMod val="75000"/>
                  </a:schemeClr>
                </a:solidFill>
                <a:latin typeface="Simplified Arabic Fixed"/>
              </a:rPr>
              <a:t># acumulador inicializado en 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Simplified Arabic Fixed"/>
              </a:rPr>
              <a:t>	</a:t>
            </a:r>
            <a:r>
              <a:rPr b="0" lang="pt-BR" sz="1800" spc="-1" strike="noStrike">
                <a:solidFill>
                  <a:schemeClr val="dk1"/>
                </a:solidFill>
                <a:latin typeface="Simplified Arabic Fixed"/>
              </a:rPr>
              <a:t>i = 0 </a:t>
            </a:r>
            <a:r>
              <a:rPr b="0" lang="pt-BR" sz="1800" spc="-1" strike="noStrike">
                <a:solidFill>
                  <a:schemeClr val="accent3">
                    <a:lumMod val="75000"/>
                  </a:schemeClr>
                </a:solidFill>
                <a:latin typeface="Simplified Arabic Fixed"/>
              </a:rPr>
              <a:t># variable que indica en que fila estamos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pc="-1" strike="noStrike">
                <a:solidFill>
                  <a:schemeClr val="accent3">
                    <a:lumMod val="75000"/>
                  </a:schemeClr>
                </a:solidFill>
                <a:latin typeface="Simplified Arabic Fixed"/>
              </a:rPr>
              <a:t># Recorremos las filas. Terminamos cuando i = 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Simplified Arabic Fixed"/>
              </a:rPr>
              <a:t>while i &lt; m: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Simplified Arabic Fixed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Simplified Arabic Fixed"/>
              </a:rPr>
              <a:t>j = 0 </a:t>
            </a:r>
            <a:r>
              <a:rPr b="0" lang="en-US" sz="1800" spc="-1" strike="noStrike">
                <a:solidFill>
                  <a:schemeClr val="accent3">
                    <a:lumMod val="75000"/>
                  </a:schemeClr>
                </a:solidFill>
                <a:latin typeface="Simplified Arabic Fixed"/>
              </a:rPr>
              <a:t># variable que indica en que columna estamos.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pc="-1" strike="noStrike">
                <a:solidFill>
                  <a:schemeClr val="accent3">
                    <a:lumMod val="75000"/>
                  </a:schemeClr>
                </a:solidFill>
                <a:latin typeface="Simplified Arabic Fixed"/>
              </a:rPr>
              <a:t># Recorremos las columnas de la fila i. Terminamos con j = 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Simplified Arabic Fixed"/>
              </a:rPr>
              <a:t>while j &lt; n 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Simplified Arabic Fixed"/>
              </a:rPr>
              <a:t>	</a:t>
            </a:r>
            <a:r>
              <a:rPr b="0" lang="pt-BR" sz="1800" spc="-1" strike="noStrike">
                <a:solidFill>
                  <a:schemeClr val="dk1"/>
                </a:solidFill>
                <a:latin typeface="Simplified Arabic Fixed"/>
              </a:rPr>
              <a:t>	</a:t>
            </a:r>
            <a:r>
              <a:rPr b="0" lang="pt-BR" sz="1800" spc="-1" strike="noStrike">
                <a:solidFill>
                  <a:schemeClr val="dk1"/>
                </a:solidFill>
                <a:latin typeface="Simplified Arabic Fixed"/>
              </a:rPr>
              <a:t>ret = ret + A[i][j] </a:t>
            </a:r>
            <a:r>
              <a:rPr b="0" lang="pt-BR" sz="1800" spc="-1" strike="noStrike">
                <a:solidFill>
                  <a:schemeClr val="accent3">
                    <a:lumMod val="75000"/>
                  </a:schemeClr>
                </a:solidFill>
                <a:latin typeface="Simplified Arabic Fixed"/>
              </a:rPr>
              <a:t># Actualizamos el valor de la suma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914400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Simplified Arabic Fixed"/>
              </a:rPr>
              <a:t>j = j + 1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Simplified Arabic Fixed"/>
              </a:rPr>
              <a:t>	</a:t>
            </a:r>
            <a:r>
              <a:rPr b="0" lang="pt-BR" sz="1800" spc="-1" strike="noStrike">
                <a:solidFill>
                  <a:schemeClr val="dk1"/>
                </a:solidFill>
                <a:latin typeface="Simplified Arabic Fixed"/>
              </a:rPr>
              <a:t>i = i + 1 </a:t>
            </a:r>
            <a:r>
              <a:rPr b="0" lang="pt-BR" sz="1800" spc="-1" strike="noStrike">
                <a:solidFill>
                  <a:schemeClr val="accent3">
                    <a:lumMod val="75000"/>
                  </a:schemeClr>
                </a:solidFill>
                <a:latin typeface="Simplified Arabic Fixed"/>
              </a:rPr>
              <a:t># pasamos a la siguiente fila.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Simplified Arabic Fixed"/>
              </a:rPr>
              <a:t>return ret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8" name="Google Shape;114;p16" descr="di_tella2.png"/>
          <p:cNvPicPr/>
          <p:nvPr/>
        </p:nvPicPr>
        <p:blipFill>
          <a:blip r:embed="rId1"/>
          <a:stretch/>
        </p:blipFill>
        <p:spPr>
          <a:xfrm>
            <a:off x="8325360" y="20160"/>
            <a:ext cx="818280" cy="507600"/>
          </a:xfrm>
          <a:prstGeom prst="rect">
            <a:avLst/>
          </a:prstGeom>
          <a:ln w="0">
            <a:noFill/>
          </a:ln>
        </p:spPr>
      </p:pic>
      <p:sp>
        <p:nvSpPr>
          <p:cNvPr id="119" name="Google Shape;123;p17"/>
          <p:cNvSpPr/>
          <p:nvPr/>
        </p:nvSpPr>
        <p:spPr>
          <a:xfrm>
            <a:off x="274320" y="65379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Google Shape;179;p22"/>
          <p:cNvSpPr/>
          <p:nvPr/>
        </p:nvSpPr>
        <p:spPr>
          <a:xfrm>
            <a:off x="274320" y="1371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"/>
          <p:cNvSpPr/>
          <p:nvPr/>
        </p:nvSpPr>
        <p:spPr>
          <a:xfrm>
            <a:off x="0" y="0"/>
            <a:ext cx="9143640" cy="54828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Rectangle 4"/>
          <p:cNvSpPr/>
          <p:nvPr/>
        </p:nvSpPr>
        <p:spPr>
          <a:xfrm>
            <a:off x="0" y="6492240"/>
            <a:ext cx="9143640" cy="365400"/>
          </a:xfrm>
          <a:prstGeom prst="rect">
            <a:avLst/>
          </a:prstGeom>
          <a:solidFill>
            <a:srgbClr val="2828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TextBox 6"/>
          <p:cNvSpPr/>
          <p:nvPr/>
        </p:nvSpPr>
        <p:spPr>
          <a:xfrm>
            <a:off x="-8280" y="731520"/>
            <a:ext cx="56037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323232"/>
                </a:solidFill>
                <a:latin typeface="Calibri"/>
              </a:rPr>
              <a:t>Recorriendo</a:t>
            </a:r>
            <a:r>
              <a:rPr b="1" lang="es-AR" sz="2600" spc="-1" strike="noStrike">
                <a:solidFill>
                  <a:srgbClr val="323232"/>
                </a:solidFill>
                <a:latin typeface="Calibri"/>
              </a:rPr>
              <a:t> una matriz</a:t>
            </a:r>
            <a:r>
              <a:rPr b="1" lang="en-US" sz="2600" spc="-1" strike="noStrike">
                <a:solidFill>
                  <a:srgbClr val="323232"/>
                </a:solidFill>
                <a:latin typeface="Calibri"/>
              </a:rPr>
              <a:t>:</a:t>
            </a:r>
            <a:r>
              <a:rPr b="1" lang="es-AR" sz="2600" spc="-1" strike="noStrike">
                <a:solidFill>
                  <a:srgbClr val="323232"/>
                </a:solidFill>
                <a:latin typeface="Calibri"/>
              </a:rPr>
              <a:t> por filas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7"/>
          <p:cNvSpPr/>
          <p:nvPr/>
        </p:nvSpPr>
        <p:spPr>
          <a:xfrm>
            <a:off x="-80640" y="1260000"/>
            <a:ext cx="9304920" cy="496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Simplified Arabic Fixed"/>
              </a:rPr>
              <a:t>def suma_elementos(A, m, n) 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Simplified Arabic Fixed"/>
              </a:rPr>
              <a:t>	</a:t>
            </a:r>
            <a:r>
              <a:rPr b="0" lang="pt-BR" sz="1800" spc="-1" strike="noStrike">
                <a:solidFill>
                  <a:schemeClr val="dk1"/>
                </a:solidFill>
                <a:latin typeface="Simplified Arabic Fixed"/>
              </a:rPr>
              <a:t>ret = 0.0 </a:t>
            </a:r>
            <a:r>
              <a:rPr b="0" lang="pt-BR" sz="1800" spc="-1" strike="noStrike">
                <a:solidFill>
                  <a:schemeClr val="accent3">
                    <a:lumMod val="75000"/>
                  </a:schemeClr>
                </a:solidFill>
                <a:latin typeface="Simplified Arabic Fixed"/>
              </a:rPr>
              <a:t># acumulador inicializado en 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Simplified Arabic Fixed"/>
              </a:rPr>
              <a:t>	</a:t>
            </a:r>
            <a:r>
              <a:rPr b="0" lang="pt-BR" sz="1800" spc="-1" strike="noStrike">
                <a:solidFill>
                  <a:schemeClr val="dk1"/>
                </a:solidFill>
                <a:latin typeface="Simplified Arabic Fixed"/>
              </a:rPr>
              <a:t>i = 0 </a:t>
            </a:r>
            <a:r>
              <a:rPr b="0" lang="pt-BR" sz="1800" spc="-1" strike="noStrike">
                <a:solidFill>
                  <a:schemeClr val="accent3">
                    <a:lumMod val="75000"/>
                  </a:schemeClr>
                </a:solidFill>
                <a:latin typeface="Simplified Arabic Fixed"/>
              </a:rPr>
              <a:t># variable que indica en que fila estamos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pt-BR" sz="1800" spc="-1" strike="noStrike">
                <a:solidFill>
                  <a:schemeClr val="accent3">
                    <a:lumMod val="75000"/>
                  </a:schemeClr>
                </a:solidFill>
                <a:latin typeface="Simplified Arabic Fixed"/>
              </a:rPr>
              <a:t># Recorremos las filas. Terminamos cuando i = 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Simplified Arabic Fixed"/>
              </a:rPr>
              <a:t>while i &lt; m: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Simplified Arabic Fixed"/>
              </a:rPr>
              <a:t>	</a:t>
            </a:r>
            <a:r>
              <a:rPr b="0" lang="en-US" sz="1800" spc="-1" strike="noStrike">
                <a:solidFill>
                  <a:schemeClr val="dk1"/>
                </a:solidFill>
                <a:latin typeface="Simplified Arabic Fixed"/>
              </a:rPr>
              <a:t>j = 0 </a:t>
            </a:r>
            <a:r>
              <a:rPr b="0" lang="en-US" sz="1800" spc="-1" strike="noStrike">
                <a:solidFill>
                  <a:schemeClr val="accent3">
                    <a:lumMod val="75000"/>
                  </a:schemeClr>
                </a:solidFill>
                <a:latin typeface="Simplified Arabic Fixed"/>
              </a:rPr>
              <a:t># variable que indica en que columna estamos.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pt-BR" sz="1800" spc="-1" strike="noStrike">
                <a:solidFill>
                  <a:schemeClr val="accent3">
                    <a:lumMod val="75000"/>
                  </a:schemeClr>
                </a:solidFill>
                <a:latin typeface="Simplified Arabic Fixed"/>
              </a:rPr>
              <a:t># Recorremos las columnas de la fila i. Terminamos con j = 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914400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Simplified Arabic Fixed"/>
              </a:rPr>
              <a:t>while j &lt; n 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Simplified Arabic Fixed"/>
              </a:rPr>
              <a:t>	</a:t>
            </a:r>
            <a:r>
              <a:rPr b="0" lang="pt-BR" sz="1800" spc="-1" strike="noStrike">
                <a:solidFill>
                  <a:schemeClr val="dk1"/>
                </a:solidFill>
                <a:latin typeface="Simplified Arabic Fixed"/>
              </a:rPr>
              <a:t>	</a:t>
            </a:r>
            <a:r>
              <a:rPr b="0" lang="pt-BR" sz="1800" spc="-1" strike="noStrike">
                <a:solidFill>
                  <a:schemeClr val="dk1"/>
                </a:solidFill>
                <a:latin typeface="Simplified Arabic Fixed"/>
              </a:rPr>
              <a:t>ret = ret + A[i][j] </a:t>
            </a:r>
            <a:r>
              <a:rPr b="0" lang="pt-BR" sz="1800" spc="-1" strike="noStrike">
                <a:solidFill>
                  <a:schemeClr val="accent3">
                    <a:lumMod val="75000"/>
                  </a:schemeClr>
                </a:solidFill>
                <a:latin typeface="Simplified Arabic Fixed"/>
              </a:rPr>
              <a:t># Actualizamos el valor de la suma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371600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Simplified Arabic Fixed"/>
              </a:rPr>
              <a:t>j = j + 1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371600"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Simplified Arabic Fixed"/>
              </a:rPr>
              <a:t>	</a:t>
            </a:r>
            <a:r>
              <a:rPr b="0" lang="pt-BR" sz="1800" spc="-1" strike="noStrike">
                <a:solidFill>
                  <a:schemeClr val="dk1"/>
                </a:solidFill>
                <a:latin typeface="Simplified Arabic Fixed"/>
              </a:rPr>
              <a:t>i = i + 1 </a:t>
            </a:r>
            <a:r>
              <a:rPr b="0" lang="pt-BR" sz="1800" spc="-1" strike="noStrike">
                <a:solidFill>
                  <a:schemeClr val="accent3">
                    <a:lumMod val="75000"/>
                  </a:schemeClr>
                </a:solidFill>
                <a:latin typeface="Simplified Arabic Fixed"/>
              </a:rPr>
              <a:t># pasamos a la siguiente fila.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Simplified Arabic Fixed"/>
              </a:rPr>
              <a:t>return ret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s-ES" sz="1800" spc="-1" strike="noStrike">
                <a:solidFill>
                  <a:schemeClr val="dk1"/>
                </a:solidFill>
                <a:latin typeface="Calibri"/>
              </a:rPr>
              <a:t>Cómo podríamos hacer el código más modularizado usando una función </a:t>
            </a: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auxiliar?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5" name="Google Shape;114;p16" descr="di_tella2.png"/>
          <p:cNvPicPr/>
          <p:nvPr/>
        </p:nvPicPr>
        <p:blipFill>
          <a:blip r:embed="rId1"/>
          <a:stretch/>
        </p:blipFill>
        <p:spPr>
          <a:xfrm>
            <a:off x="8325360" y="20160"/>
            <a:ext cx="818280" cy="507600"/>
          </a:xfrm>
          <a:prstGeom prst="rect">
            <a:avLst/>
          </a:prstGeom>
          <a:ln w="0">
            <a:noFill/>
          </a:ln>
        </p:spPr>
      </p:pic>
      <p:sp>
        <p:nvSpPr>
          <p:cNvPr id="126" name="Google Shape;123;p17"/>
          <p:cNvSpPr/>
          <p:nvPr/>
        </p:nvSpPr>
        <p:spPr>
          <a:xfrm>
            <a:off x="274320" y="65379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Google Shape;179;p22"/>
          <p:cNvSpPr/>
          <p:nvPr/>
        </p:nvSpPr>
        <p:spPr>
          <a:xfrm>
            <a:off x="274320" y="1371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"/>
          <p:cNvSpPr/>
          <p:nvPr/>
        </p:nvSpPr>
        <p:spPr>
          <a:xfrm>
            <a:off x="0" y="0"/>
            <a:ext cx="9143640" cy="54828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Rectangle 4"/>
          <p:cNvSpPr/>
          <p:nvPr/>
        </p:nvSpPr>
        <p:spPr>
          <a:xfrm>
            <a:off x="0" y="6492240"/>
            <a:ext cx="9143640" cy="365400"/>
          </a:xfrm>
          <a:prstGeom prst="rect">
            <a:avLst/>
          </a:prstGeom>
          <a:solidFill>
            <a:srgbClr val="2828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" name="TextBox 6"/>
          <p:cNvSpPr/>
          <p:nvPr/>
        </p:nvSpPr>
        <p:spPr>
          <a:xfrm>
            <a:off x="-8280" y="457200"/>
            <a:ext cx="56037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323232"/>
                </a:solidFill>
                <a:latin typeface="Calibri"/>
              </a:rPr>
              <a:t>Recorriendo</a:t>
            </a:r>
            <a:r>
              <a:rPr b="1" lang="es-AR" sz="2600" spc="-1" strike="noStrike">
                <a:solidFill>
                  <a:srgbClr val="323232"/>
                </a:solidFill>
                <a:latin typeface="Calibri"/>
              </a:rPr>
              <a:t> una matriz</a:t>
            </a:r>
            <a:r>
              <a:rPr b="1" lang="en-US" sz="2600" spc="-1" strike="noStrike">
                <a:solidFill>
                  <a:srgbClr val="323232"/>
                </a:solidFill>
                <a:latin typeface="Calibri"/>
              </a:rPr>
              <a:t>:</a:t>
            </a:r>
            <a:r>
              <a:rPr b="1" lang="es-AR" sz="2600" spc="-1" strike="noStrike">
                <a:solidFill>
                  <a:srgbClr val="323232"/>
                </a:solidFill>
                <a:latin typeface="Calibri"/>
              </a:rPr>
              <a:t> por filas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7"/>
          <p:cNvSpPr/>
          <p:nvPr/>
        </p:nvSpPr>
        <p:spPr>
          <a:xfrm>
            <a:off x="46080" y="914400"/>
            <a:ext cx="8869320" cy="55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El siguiente extracto del código está sumando los elementos de una fila.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Simplified Arabic Fixed"/>
              </a:rPr>
              <a:t>j = 0 </a:t>
            </a:r>
            <a:r>
              <a:rPr b="0" lang="en-US" sz="1800" spc="-1" strike="noStrike">
                <a:solidFill>
                  <a:schemeClr val="accent3">
                    <a:lumMod val="75000"/>
                  </a:schemeClr>
                </a:solidFill>
                <a:latin typeface="Simplified Arabic Fixed"/>
              </a:rPr>
              <a:t># variable que indica en que columna estamos</a:t>
            </a:r>
            <a:r>
              <a:rPr b="0" lang="en-US" sz="1800" spc="-1" strike="noStrike">
                <a:solidFill>
                  <a:schemeClr val="dk1"/>
                </a:solidFill>
                <a:latin typeface="Simplified Arabic Fixed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pc="-1" strike="noStrike">
                <a:solidFill>
                  <a:schemeClr val="accent3">
                    <a:lumMod val="75000"/>
                  </a:schemeClr>
                </a:solidFill>
                <a:latin typeface="Simplified Arabic Fixed"/>
              </a:rPr>
              <a:t># Recorremos las columnas de la fila i. Terminamos con j = 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Simplified Arabic Fixed"/>
              </a:rPr>
              <a:t>while j &lt; n 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Simplified Arabic Fixed"/>
              </a:rPr>
              <a:t>ret = ret + A[i][j] </a:t>
            </a:r>
            <a:r>
              <a:rPr b="0" lang="pt-BR" sz="1800" spc="-1" strike="noStrike">
                <a:solidFill>
                  <a:schemeClr val="accent3">
                    <a:lumMod val="75000"/>
                  </a:schemeClr>
                </a:solidFill>
                <a:latin typeface="Simplified Arabic Fixed"/>
              </a:rPr>
              <a:t># Actualizamos el valor de la suma.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Simplified Arabic Fixed"/>
              </a:rPr>
              <a:t>j = j + 1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Entonces, podemos usar una función auxiliar que dada A, la cantidad de columnas n, el índice de una fila i (con i  m) retorne un float sumando los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elementos de la fila.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Simplified Arabic Fixed"/>
              </a:rPr>
              <a:t>def sumar_elementos_fila_i(A,n,i):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Simplified Arabic Fixed"/>
              </a:rPr>
              <a:t>ret = 0 </a:t>
            </a:r>
            <a:r>
              <a:rPr b="0" lang="pt-BR" sz="1800" spc="-1" strike="noStrike">
                <a:solidFill>
                  <a:schemeClr val="accent3">
                    <a:lumMod val="75000"/>
                  </a:schemeClr>
                </a:solidFill>
                <a:latin typeface="Simplified Arabic Fixed"/>
              </a:rPr>
              <a:t># acumulador para suma de la fila.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Simplified Arabic Fixed"/>
              </a:rPr>
              <a:t>j = 0 </a:t>
            </a:r>
            <a:r>
              <a:rPr b="0" lang="en-US" sz="1800" spc="-1" strike="noStrike">
                <a:solidFill>
                  <a:schemeClr val="accent3">
                    <a:lumMod val="75000"/>
                  </a:schemeClr>
                </a:solidFill>
                <a:latin typeface="Simplified Arabic Fixed"/>
              </a:rPr>
              <a:t># variable que indica en que columna estamos </a:t>
            </a:r>
            <a:r>
              <a:rPr b="0" lang="en-US" sz="1800" spc="-1" strike="noStrike">
                <a:solidFill>
                  <a:schemeClr val="dk1"/>
                </a:solidFill>
                <a:latin typeface="Simplified Arabic Fixed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pt-BR" sz="1800" spc="-1" strike="noStrike">
                <a:solidFill>
                  <a:schemeClr val="accent3">
                    <a:lumMod val="75000"/>
                  </a:schemeClr>
                </a:solidFill>
                <a:latin typeface="Simplified Arabic Fixed"/>
              </a:rPr>
              <a:t># Recorremos las columnas de la fila i. Terminamos con j = 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Simplified Arabic Fixed"/>
              </a:rPr>
              <a:t>while j &lt; n 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914400" defTabSz="4572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Simplified Arabic Fixed"/>
              </a:rPr>
              <a:t>ret = ret + A[i][j] </a:t>
            </a:r>
            <a:r>
              <a:rPr b="0" lang="pt-BR" sz="1800" spc="-1" strike="noStrike">
                <a:solidFill>
                  <a:schemeClr val="accent3">
                    <a:lumMod val="75000"/>
                  </a:schemeClr>
                </a:solidFill>
                <a:latin typeface="Simplified Arabic Fixed"/>
              </a:rPr>
              <a:t># Actualizamos el valor de la suma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914400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Simplified Arabic Fixed"/>
              </a:rPr>
              <a:t>j = j + 1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Simplified Arabic Fixed"/>
              </a:rPr>
              <a:t>return ret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2" name="Google Shape;114;p16" descr="di_tella2.png"/>
          <p:cNvPicPr/>
          <p:nvPr/>
        </p:nvPicPr>
        <p:blipFill>
          <a:blip r:embed="rId1"/>
          <a:stretch/>
        </p:blipFill>
        <p:spPr>
          <a:xfrm>
            <a:off x="8325360" y="20160"/>
            <a:ext cx="818280" cy="507600"/>
          </a:xfrm>
          <a:prstGeom prst="rect">
            <a:avLst/>
          </a:prstGeom>
          <a:ln w="0">
            <a:noFill/>
          </a:ln>
        </p:spPr>
      </p:pic>
      <p:sp>
        <p:nvSpPr>
          <p:cNvPr id="133" name="Google Shape;123;p17"/>
          <p:cNvSpPr/>
          <p:nvPr/>
        </p:nvSpPr>
        <p:spPr>
          <a:xfrm>
            <a:off x="274320" y="65379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Google Shape;179;p22"/>
          <p:cNvSpPr/>
          <p:nvPr/>
        </p:nvSpPr>
        <p:spPr>
          <a:xfrm>
            <a:off x="274320" y="1371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"/>
          <p:cNvSpPr/>
          <p:nvPr/>
        </p:nvSpPr>
        <p:spPr>
          <a:xfrm>
            <a:off x="0" y="0"/>
            <a:ext cx="9143640" cy="54828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" name="Rectangle 4"/>
          <p:cNvSpPr/>
          <p:nvPr/>
        </p:nvSpPr>
        <p:spPr>
          <a:xfrm>
            <a:off x="0" y="6492240"/>
            <a:ext cx="9143640" cy="365400"/>
          </a:xfrm>
          <a:prstGeom prst="rect">
            <a:avLst/>
          </a:prstGeom>
          <a:solidFill>
            <a:srgbClr val="2828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" name="TextBox 6"/>
          <p:cNvSpPr/>
          <p:nvPr/>
        </p:nvSpPr>
        <p:spPr>
          <a:xfrm>
            <a:off x="0" y="657360"/>
            <a:ext cx="65426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323232"/>
                </a:solidFill>
                <a:latin typeface="Calibri"/>
              </a:rPr>
              <a:t>Recorriendo</a:t>
            </a:r>
            <a:r>
              <a:rPr b="1" lang="es-AR" sz="2600" spc="-1" strike="noStrike">
                <a:solidFill>
                  <a:srgbClr val="323232"/>
                </a:solidFill>
                <a:latin typeface="Calibri"/>
              </a:rPr>
              <a:t> una matriz</a:t>
            </a:r>
            <a:r>
              <a:rPr b="1" lang="en-US" sz="2600" spc="-1" strike="noStrike">
                <a:solidFill>
                  <a:srgbClr val="323232"/>
                </a:solidFill>
                <a:latin typeface="Calibri"/>
              </a:rPr>
              <a:t>:</a:t>
            </a:r>
            <a:r>
              <a:rPr b="1" lang="es-AR" sz="2600" spc="-1" strike="noStrike">
                <a:solidFill>
                  <a:srgbClr val="323232"/>
                </a:solidFill>
                <a:latin typeface="Calibri"/>
              </a:rPr>
              <a:t> modularizado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7"/>
          <p:cNvSpPr/>
          <p:nvPr/>
        </p:nvSpPr>
        <p:spPr>
          <a:xfrm>
            <a:off x="274320" y="1325160"/>
            <a:ext cx="886932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Simplified Arabic Fixed"/>
              </a:rPr>
              <a:t>def sumar_elementos_fila_i(A,n,i):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Simplified Arabic Fixed"/>
              </a:rPr>
              <a:t>ret = 0 </a:t>
            </a:r>
            <a:r>
              <a:rPr b="0" lang="pt-BR" sz="1800" spc="-1" strike="noStrike">
                <a:solidFill>
                  <a:schemeClr val="accent3">
                    <a:lumMod val="75000"/>
                  </a:schemeClr>
                </a:solidFill>
                <a:latin typeface="Simplified Arabic Fixed"/>
              </a:rPr>
              <a:t># acumulador para suma de la fila.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Simplified Arabic Fixed"/>
              </a:rPr>
              <a:t>j = 0 </a:t>
            </a:r>
            <a:r>
              <a:rPr b="0" lang="en-US" sz="1800" spc="-1" strike="noStrike">
                <a:solidFill>
                  <a:schemeClr val="accent3">
                    <a:lumMod val="75000"/>
                  </a:schemeClr>
                </a:solidFill>
                <a:latin typeface="Simplified Arabic Fixed"/>
              </a:rPr>
              <a:t># variable que indica en que columna estamos</a:t>
            </a:r>
            <a:r>
              <a:rPr b="0" lang="en-US" sz="1800" spc="-1" strike="noStrike">
                <a:solidFill>
                  <a:schemeClr val="dk1"/>
                </a:solidFill>
                <a:latin typeface="Simplified Arabic Fixed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pt-BR" sz="1800" spc="-1" strike="noStrike">
                <a:solidFill>
                  <a:schemeClr val="accent3">
                    <a:lumMod val="75000"/>
                  </a:schemeClr>
                </a:solidFill>
                <a:latin typeface="Simplified Arabic Fixed"/>
              </a:rPr>
              <a:t># Recorremos las columnas de la fila i. Terminamos con j = 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Simplified Arabic Fixed"/>
              </a:rPr>
              <a:t>while j &lt; n 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914400" defTabSz="4572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Simplified Arabic Fixed"/>
              </a:rPr>
              <a:t>ret = ret + A[i][j] </a:t>
            </a:r>
            <a:r>
              <a:rPr b="0" lang="pt-BR" sz="1800" spc="-1" strike="noStrike">
                <a:solidFill>
                  <a:schemeClr val="accent3">
                    <a:lumMod val="75000"/>
                  </a:schemeClr>
                </a:solidFill>
                <a:latin typeface="Simplified Arabic Fixed"/>
              </a:rPr>
              <a:t># Actualizamos el valor de la suma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914400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Simplified Arabic Fixed"/>
              </a:rPr>
              <a:t>j = j + 1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Simplified Arabic Fixed"/>
              </a:rPr>
              <a:t>return ret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9" name="Google Shape;114;p16" descr="di_tella2.png"/>
          <p:cNvPicPr/>
          <p:nvPr/>
        </p:nvPicPr>
        <p:blipFill>
          <a:blip r:embed="rId1"/>
          <a:stretch/>
        </p:blipFill>
        <p:spPr>
          <a:xfrm>
            <a:off x="8325360" y="20160"/>
            <a:ext cx="818280" cy="507600"/>
          </a:xfrm>
          <a:prstGeom prst="rect">
            <a:avLst/>
          </a:prstGeom>
          <a:ln w="0">
            <a:noFill/>
          </a:ln>
        </p:spPr>
      </p:pic>
      <p:sp>
        <p:nvSpPr>
          <p:cNvPr id="140" name="Google Shape;123;p17"/>
          <p:cNvSpPr/>
          <p:nvPr/>
        </p:nvSpPr>
        <p:spPr>
          <a:xfrm>
            <a:off x="274320" y="65379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Google Shape;179;p22"/>
          <p:cNvSpPr/>
          <p:nvPr/>
        </p:nvSpPr>
        <p:spPr>
          <a:xfrm>
            <a:off x="274320" y="1371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Box 3"/>
          <p:cNvSpPr/>
          <p:nvPr/>
        </p:nvSpPr>
        <p:spPr>
          <a:xfrm>
            <a:off x="338760" y="3739680"/>
            <a:ext cx="846648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Simplified Arabic Fixed"/>
              </a:rPr>
              <a:t>def suma_elementos(A,m,n):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Simplified Arabic Fixed"/>
              </a:rPr>
              <a:t>ret = 0.0 </a:t>
            </a:r>
            <a:r>
              <a:rPr b="0" lang="pt-BR" sz="1800" spc="-1" strike="noStrike">
                <a:solidFill>
                  <a:schemeClr val="accent3">
                    <a:lumMod val="75000"/>
                  </a:schemeClr>
                </a:solidFill>
                <a:latin typeface="Simplified Arabic Fixed"/>
              </a:rPr>
              <a:t># acumulador inicializado en 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Simplified Arabic Fixed"/>
              </a:rPr>
              <a:t>i = 0 </a:t>
            </a:r>
            <a:r>
              <a:rPr b="0" lang="pt-BR" sz="1800" spc="-1" strike="noStrike">
                <a:solidFill>
                  <a:schemeClr val="accent3">
                    <a:lumMod val="75000"/>
                  </a:schemeClr>
                </a:solidFill>
                <a:latin typeface="Simplified Arabic Fixed"/>
              </a:rPr>
              <a:t># variable que indica en que fila estamos.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pt-BR" sz="1800" spc="-1" strike="noStrike">
                <a:solidFill>
                  <a:schemeClr val="accent3">
                    <a:lumMod val="75000"/>
                  </a:schemeClr>
                </a:solidFill>
                <a:latin typeface="Simplified Arabic Fixed"/>
              </a:rPr>
              <a:t># Recorremos las filas. Terminamos cuando i = 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Simplified Arabic Fixed"/>
              </a:rPr>
              <a:t>while i &lt; m: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914400" defTabSz="4572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Simplified Arabic Fixed"/>
              </a:rPr>
              <a:t>ret = ret + sumar_elementos_fila_i (A,n,i)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914400" defTabSz="4572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Simplified Arabic Fixed"/>
              </a:rPr>
              <a:t>i = i + </a:t>
            </a:r>
            <a:r>
              <a:rPr b="0" lang="pt-BR" sz="1800" spc="-1" strike="noStrike">
                <a:solidFill>
                  <a:schemeClr val="accent3">
                    <a:lumMod val="75000"/>
                  </a:schemeClr>
                </a:solidFill>
                <a:latin typeface="Simplified Arabic Fixed"/>
              </a:rPr>
              <a:t>1 # pasamos a la siguiente fila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Simplified Arabic Fixed"/>
              </a:rPr>
              <a:t>return ret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1"/>
          <p:cNvSpPr/>
          <p:nvPr/>
        </p:nvSpPr>
        <p:spPr>
          <a:xfrm>
            <a:off x="0" y="0"/>
            <a:ext cx="9143640" cy="54828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" name="Rectangle 4"/>
          <p:cNvSpPr/>
          <p:nvPr/>
        </p:nvSpPr>
        <p:spPr>
          <a:xfrm>
            <a:off x="0" y="6492240"/>
            <a:ext cx="9143640" cy="365400"/>
          </a:xfrm>
          <a:prstGeom prst="rect">
            <a:avLst/>
          </a:prstGeom>
          <a:solidFill>
            <a:srgbClr val="2828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TextBox 6"/>
          <p:cNvSpPr/>
          <p:nvPr/>
        </p:nvSpPr>
        <p:spPr>
          <a:xfrm>
            <a:off x="258480" y="731520"/>
            <a:ext cx="15498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s-AR" sz="2600" spc="-1" strike="noStrike">
                <a:solidFill>
                  <a:srgbClr val="323232"/>
                </a:solidFill>
                <a:latin typeface="Calibri"/>
              </a:rPr>
              <a:t>Ejercicio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Box 7"/>
          <p:cNvSpPr/>
          <p:nvPr/>
        </p:nvSpPr>
        <p:spPr>
          <a:xfrm>
            <a:off x="457200" y="1645920"/>
            <a:ext cx="8496720" cy="341604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7" name="Google Shape;114;p16" descr="di_tella2.png"/>
          <p:cNvPicPr/>
          <p:nvPr/>
        </p:nvPicPr>
        <p:blipFill>
          <a:blip r:embed="rId2"/>
          <a:stretch/>
        </p:blipFill>
        <p:spPr>
          <a:xfrm>
            <a:off x="8325360" y="20160"/>
            <a:ext cx="818280" cy="507600"/>
          </a:xfrm>
          <a:prstGeom prst="rect">
            <a:avLst/>
          </a:prstGeom>
          <a:ln w="0">
            <a:noFill/>
          </a:ln>
        </p:spPr>
      </p:pic>
      <p:sp>
        <p:nvSpPr>
          <p:cNvPr id="148" name="Google Shape;123;p17"/>
          <p:cNvSpPr/>
          <p:nvPr/>
        </p:nvSpPr>
        <p:spPr>
          <a:xfrm>
            <a:off x="274320" y="65379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Google Shape;179;p22"/>
          <p:cNvSpPr/>
          <p:nvPr/>
        </p:nvSpPr>
        <p:spPr>
          <a:xfrm>
            <a:off x="274320" y="1371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1"/>
          <p:cNvSpPr/>
          <p:nvPr/>
        </p:nvSpPr>
        <p:spPr>
          <a:xfrm>
            <a:off x="0" y="0"/>
            <a:ext cx="9143640" cy="54828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" name="Rectangle 4"/>
          <p:cNvSpPr/>
          <p:nvPr/>
        </p:nvSpPr>
        <p:spPr>
          <a:xfrm>
            <a:off x="0" y="6492240"/>
            <a:ext cx="9143640" cy="365400"/>
          </a:xfrm>
          <a:prstGeom prst="rect">
            <a:avLst/>
          </a:prstGeom>
          <a:solidFill>
            <a:srgbClr val="2828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" name="TextBox 6"/>
          <p:cNvSpPr/>
          <p:nvPr/>
        </p:nvSpPr>
        <p:spPr>
          <a:xfrm>
            <a:off x="258480" y="731520"/>
            <a:ext cx="15498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s-AR" sz="2600" spc="-1" strike="noStrike">
                <a:solidFill>
                  <a:srgbClr val="323232"/>
                </a:solidFill>
                <a:latin typeface="Calibri"/>
              </a:rPr>
              <a:t>Ejercicio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Box 7"/>
          <p:cNvSpPr/>
          <p:nvPr/>
        </p:nvSpPr>
        <p:spPr>
          <a:xfrm>
            <a:off x="457200" y="1406880"/>
            <a:ext cx="8496720" cy="258480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4" name="Google Shape;114;p16" descr="di_tella2.png"/>
          <p:cNvPicPr/>
          <p:nvPr/>
        </p:nvPicPr>
        <p:blipFill>
          <a:blip r:embed="rId2"/>
          <a:stretch/>
        </p:blipFill>
        <p:spPr>
          <a:xfrm>
            <a:off x="8325360" y="20160"/>
            <a:ext cx="818280" cy="507600"/>
          </a:xfrm>
          <a:prstGeom prst="rect">
            <a:avLst/>
          </a:prstGeom>
          <a:ln w="0">
            <a:noFill/>
          </a:ln>
        </p:spPr>
      </p:pic>
      <p:sp>
        <p:nvSpPr>
          <p:cNvPr id="155" name="Google Shape;123;p17"/>
          <p:cNvSpPr/>
          <p:nvPr/>
        </p:nvSpPr>
        <p:spPr>
          <a:xfrm>
            <a:off x="274320" y="65379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Google Shape;179;p22"/>
          <p:cNvSpPr/>
          <p:nvPr/>
        </p:nvSpPr>
        <p:spPr>
          <a:xfrm>
            <a:off x="274320" y="1371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Box 3"/>
          <p:cNvSpPr/>
          <p:nvPr/>
        </p:nvSpPr>
        <p:spPr>
          <a:xfrm>
            <a:off x="50040" y="4292640"/>
            <a:ext cx="959220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Simplified Arabic Fixed"/>
              </a:rPr>
              <a:t>def suma_por_filas (A, m, n):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Simplified Arabic Fixed"/>
              </a:rPr>
              <a:t>ret = [0]x m </a:t>
            </a:r>
            <a:r>
              <a:rPr b="0" lang="pt-BR" sz="1800" spc="-1" strike="noStrike">
                <a:solidFill>
                  <a:schemeClr val="accent3">
                    <a:lumMod val="75000"/>
                  </a:schemeClr>
                </a:solidFill>
                <a:latin typeface="Simplified Arabic Fixed"/>
              </a:rPr>
              <a:t># lista de m posicines inicializada en 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Simplified Arabic Fixed"/>
              </a:rPr>
              <a:t>for i in range (m): </a:t>
            </a:r>
            <a:r>
              <a:rPr b="0" lang="en-US" sz="1800" spc="-1" strike="noStrike">
                <a:solidFill>
                  <a:schemeClr val="accent3">
                    <a:lumMod val="75000"/>
                  </a:schemeClr>
                </a:solidFill>
                <a:latin typeface="Simplified Arabic Fixed"/>
              </a:rPr>
              <a:t># Recorremos las filas.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914400" defTabSz="4572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Simplified Arabic Fixed"/>
              </a:rPr>
              <a:t>for j in range (n): </a:t>
            </a:r>
            <a:r>
              <a:rPr b="0" lang="pt-BR" sz="1800" spc="-1" strike="noStrike">
                <a:solidFill>
                  <a:schemeClr val="accent3">
                    <a:lumMod val="75000"/>
                  </a:schemeClr>
                </a:solidFill>
                <a:latin typeface="Simplified Arabic Fixed"/>
              </a:rPr>
              <a:t># Recorremos las columnas de la fila 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914400" defTabSz="4572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Simplified Arabic Fixed"/>
              </a:rPr>
              <a:t>	</a:t>
            </a:r>
            <a:r>
              <a:rPr b="0" lang="pt-BR" sz="1800" spc="-1" strike="noStrike">
                <a:solidFill>
                  <a:schemeClr val="dk1"/>
                </a:solidFill>
                <a:latin typeface="Simplified Arabic Fixed"/>
              </a:rPr>
              <a:t>ret[i] = ret[i]+A[i][j] </a:t>
            </a:r>
            <a:r>
              <a:rPr b="0" lang="pt-BR" sz="1800" spc="-1" strike="noStrike">
                <a:solidFill>
                  <a:schemeClr val="accent3">
                    <a:lumMod val="75000"/>
                  </a:schemeClr>
                </a:solidFill>
                <a:latin typeface="Simplified Arabic Fixed"/>
              </a:rPr>
              <a:t># Actualizamos valor de la suma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Simplified Arabic Fixed"/>
              </a:rPr>
              <a:t>return ret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>
            <a:lumMod val="75000"/>
            <a:lumOff val="2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99;p15"/>
          <p:cNvSpPr/>
          <p:nvPr/>
        </p:nvSpPr>
        <p:spPr>
          <a:xfrm>
            <a:off x="2240640" y="2916000"/>
            <a:ext cx="4901760" cy="69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680" bIns="0" anchor="t">
            <a:spAutoFit/>
          </a:bodyPr>
          <a:p>
            <a:pPr marL="25560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 cap="small">
                <a:solidFill>
                  <a:srgbClr val="f4f2ed"/>
                </a:solidFill>
                <a:latin typeface="Tahoma"/>
                <a:ea typeface="Tahoma"/>
              </a:rPr>
              <a:t>CICLOS ANIDADOS MÁS ALLÁ DE MATRICES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59" name="Google Shape;100;p15"/>
          <p:cNvGrpSpPr/>
          <p:nvPr/>
        </p:nvGrpSpPr>
        <p:grpSpPr>
          <a:xfrm>
            <a:off x="2260800" y="3600000"/>
            <a:ext cx="4642200" cy="50040"/>
            <a:chOff x="2260800" y="3600000"/>
            <a:chExt cx="4642200" cy="50040"/>
          </a:xfrm>
        </p:grpSpPr>
        <p:sp>
          <p:nvSpPr>
            <p:cNvPr id="160" name="Google Shape;101;p15"/>
            <p:cNvSpPr/>
            <p:nvPr/>
          </p:nvSpPr>
          <p:spPr>
            <a:xfrm>
              <a:off x="2260800" y="3600000"/>
              <a:ext cx="4642200" cy="50040"/>
            </a:xfrm>
            <a:custGeom>
              <a:avLst/>
              <a:gdLst>
                <a:gd name="textAreaLeft" fmla="*/ 0 w 4642200"/>
                <a:gd name="textAreaRight" fmla="*/ 4642560 w 4642200"/>
                <a:gd name="textAreaTop" fmla="*/ 0 h 50040"/>
                <a:gd name="textAreaBottom" fmla="*/ 50400 h 50040"/>
              </a:gdLst>
              <a:ahLst/>
              <a:rect l="textAreaLeft" t="textAreaTop" r="textAreaRight" b="textAreaBottom"/>
              <a:pathLst>
                <a:path w="2340610" h="2540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4f2e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28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61" name="Google Shape;102;p15"/>
            <p:cNvSpPr/>
            <p:nvPr/>
          </p:nvSpPr>
          <p:spPr>
            <a:xfrm>
              <a:off x="2260800" y="3600000"/>
              <a:ext cx="4642200" cy="50040"/>
            </a:xfrm>
            <a:custGeom>
              <a:avLst/>
              <a:gdLst>
                <a:gd name="textAreaLeft" fmla="*/ 0 w 4642200"/>
                <a:gd name="textAreaRight" fmla="*/ 4642560 w 4642200"/>
                <a:gd name="textAreaTop" fmla="*/ 0 h 50040"/>
                <a:gd name="textAreaBottom" fmla="*/ 50400 h 50040"/>
              </a:gdLst>
              <a:ahLst/>
              <a:rect l="textAreaLeft" t="textAreaTop" r="textAreaRight" b="textAreaBottom"/>
              <a:pathLst>
                <a:path w="2340610" h="2540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noFill/>
            <a:ln w="18875">
              <a:solidFill>
                <a:srgbClr val="f4f2e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28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62" name="Google Shape;103;p15"/>
            <p:cNvSpPr/>
            <p:nvPr/>
          </p:nvSpPr>
          <p:spPr>
            <a:xfrm>
              <a:off x="2260800" y="3600000"/>
              <a:ext cx="2421720" cy="50040"/>
            </a:xfrm>
            <a:custGeom>
              <a:avLst/>
              <a:gdLst>
                <a:gd name="textAreaLeft" fmla="*/ 0 w 2421720"/>
                <a:gd name="textAreaRight" fmla="*/ 2422080 w 2421720"/>
                <a:gd name="textAreaTop" fmla="*/ 0 h 50040"/>
                <a:gd name="textAreaBottom" fmla="*/ 50400 h 50040"/>
              </a:gdLst>
              <a:ahLst/>
              <a:rect l="textAreaLeft" t="textAreaTop" r="textAreaRight" b="textAreaBottom"/>
              <a:pathLst>
                <a:path w="1221105" h="25400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006db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28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63" name="Google Shape;104;p15"/>
            <p:cNvSpPr/>
            <p:nvPr/>
          </p:nvSpPr>
          <p:spPr>
            <a:xfrm>
              <a:off x="2260800" y="3600000"/>
              <a:ext cx="2421720" cy="50040"/>
            </a:xfrm>
            <a:custGeom>
              <a:avLst/>
              <a:gdLst>
                <a:gd name="textAreaLeft" fmla="*/ 0 w 2421720"/>
                <a:gd name="textAreaRight" fmla="*/ 2422080 w 2421720"/>
                <a:gd name="textAreaTop" fmla="*/ 0 h 50040"/>
                <a:gd name="textAreaBottom" fmla="*/ 50400 h 50040"/>
              </a:gdLst>
              <a:ahLst/>
              <a:rect l="textAreaLeft" t="textAreaTop" r="textAreaRight" b="textAreaBottom"/>
              <a:pathLst>
                <a:path w="1221105" h="25400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fd966"/>
            </a:solidFill>
            <a:ln w="18875">
              <a:solidFill>
                <a:srgbClr val="f1c23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28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</p:grpSp>
    </p:spTree>
  </p:cSld>
  <p:transition>
    <p:fade thruBlk="true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ctangle 1"/>
          <p:cNvSpPr/>
          <p:nvPr/>
        </p:nvSpPr>
        <p:spPr>
          <a:xfrm>
            <a:off x="0" y="0"/>
            <a:ext cx="9143640" cy="54828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5" name="Rectangle 4"/>
          <p:cNvSpPr/>
          <p:nvPr/>
        </p:nvSpPr>
        <p:spPr>
          <a:xfrm>
            <a:off x="0" y="6492240"/>
            <a:ext cx="9143640" cy="365400"/>
          </a:xfrm>
          <a:prstGeom prst="rect">
            <a:avLst/>
          </a:prstGeom>
          <a:solidFill>
            <a:srgbClr val="2828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" name="TextBox 5"/>
          <p:cNvSpPr/>
          <p:nvPr/>
        </p:nvSpPr>
        <p:spPr>
          <a:xfrm>
            <a:off x="621000" y="6537960"/>
            <a:ext cx="2963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Juan José Miranda-Bront / 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Box 6"/>
          <p:cNvSpPr/>
          <p:nvPr/>
        </p:nvSpPr>
        <p:spPr>
          <a:xfrm>
            <a:off x="3600" y="731520"/>
            <a:ext cx="4815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s-AR" sz="2600" spc="-1" strike="noStrike">
                <a:solidFill>
                  <a:srgbClr val="323232"/>
                </a:solidFill>
                <a:latin typeface="Calibri"/>
              </a:rPr>
              <a:t>Detectando errores de tipeo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Box 7"/>
          <p:cNvSpPr/>
          <p:nvPr/>
        </p:nvSpPr>
        <p:spPr>
          <a:xfrm>
            <a:off x="365760" y="1248840"/>
            <a:ext cx="8531280" cy="530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Es muy común que al tipear un texto en la computadora o el teléfono muchas veces nos equivoquemos al presionar las teclas. Muchos de estos errores pueden ser identificados fácilmente y corregidos mediante algún programa que analice lo que escribimos y proponga una sugerencia. Vamos a considerar solamente un tipo simple y común de </a:t>
            </a:r>
            <a:r>
              <a:rPr b="0" i="1" lang="es-ES" sz="1800" spc="-1" strike="noStrike">
                <a:solidFill>
                  <a:schemeClr val="dk1"/>
                </a:solidFill>
                <a:latin typeface="Calibri"/>
              </a:rPr>
              <a:t>typos</a:t>
            </a: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, y pensar cómo resolverlo con las herramientas que tenemos.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Un error muy común es escribir una palabra y equivocarnos en alguna de las letras, presionando alguna cercana alrededor. A modo de ejemplo, en un teclado </a:t>
            </a:r>
            <a:r>
              <a:rPr b="0" i="1" lang="es-ES" sz="1800" spc="-1" strike="noStrike">
                <a:solidFill>
                  <a:schemeClr val="dk1"/>
                </a:solidFill>
                <a:latin typeface="Calibri"/>
              </a:rPr>
              <a:t>qwerty</a:t>
            </a: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, al querer tipear la palabra </a:t>
            </a:r>
            <a:r>
              <a:rPr b="0" i="1" lang="es-ES" sz="1800" spc="-1" strike="noStrike">
                <a:solidFill>
                  <a:schemeClr val="dk1"/>
                </a:solidFill>
                <a:latin typeface="Calibri"/>
              </a:rPr>
              <a:t>casa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podemos confundir la </a:t>
            </a:r>
            <a:r>
              <a:rPr b="0" i="1" lang="es-ES" sz="1800" spc="-1" strike="noStrike">
                <a:solidFill>
                  <a:schemeClr val="dk1"/>
                </a:solidFill>
                <a:latin typeface="Calibri"/>
              </a:rPr>
              <a:t>s </a:t>
            </a: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con la </a:t>
            </a:r>
            <a:r>
              <a:rPr b="0" i="1" lang="es-ES" sz="1800" spc="-1" strike="noStrike">
                <a:solidFill>
                  <a:schemeClr val="dk1"/>
                </a:solidFill>
                <a:latin typeface="Calibri"/>
              </a:rPr>
              <a:t>d </a:t>
            </a: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y tipear </a:t>
            </a:r>
            <a:r>
              <a:rPr b="0" i="1" lang="es-ES" sz="1800" spc="-1" strike="noStrike">
                <a:solidFill>
                  <a:schemeClr val="dk1"/>
                </a:solidFill>
                <a:latin typeface="Calibri"/>
              </a:rPr>
              <a:t>cada</a:t>
            </a: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;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o confundir la </a:t>
            </a:r>
            <a:r>
              <a:rPr b="0" i="1" lang="es-ES" sz="1800" spc="-1" strike="noStrike">
                <a:solidFill>
                  <a:schemeClr val="dk1"/>
                </a:solidFill>
                <a:latin typeface="Calibri"/>
              </a:rPr>
              <a:t>a </a:t>
            </a: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con la </a:t>
            </a:r>
            <a:r>
              <a:rPr b="0" i="1" lang="es-ES" sz="1800" spc="-1" strike="noStrike">
                <a:solidFill>
                  <a:schemeClr val="dk1"/>
                </a:solidFill>
                <a:latin typeface="Calibri"/>
              </a:rPr>
              <a:t>s </a:t>
            </a: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y escribir </a:t>
            </a:r>
            <a:r>
              <a:rPr b="0" i="1" lang="es-ES" sz="1800" spc="-1" strike="noStrike">
                <a:solidFill>
                  <a:schemeClr val="dk1"/>
                </a:solidFill>
                <a:latin typeface="Calibri"/>
              </a:rPr>
              <a:t>csss</a:t>
            </a: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;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también podría suceder que por la velocidad de escritura se invierta el orden en el que se presionan las letras, en lugar de escribir </a:t>
            </a:r>
            <a:r>
              <a:rPr b="0" i="1" lang="es-ES" sz="1800" spc="-1" strike="noStrike">
                <a:solidFill>
                  <a:schemeClr val="dk1"/>
                </a:solidFill>
                <a:latin typeface="Calibri"/>
              </a:rPr>
              <a:t>casa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obtenemos </a:t>
            </a:r>
            <a:r>
              <a:rPr b="0" i="1" lang="en-US" sz="1800" spc="-1" strike="noStrike">
                <a:solidFill>
                  <a:schemeClr val="dk1"/>
                </a:solidFill>
                <a:latin typeface="Calibri"/>
              </a:rPr>
              <a:t>caas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Una manera muy elemental de identificar estos casos consiste en definir una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medida de distancia entre dos palabras. A fines prácticos, vamos a usar una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definición ad-hoc para ejercitar.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9" name="Google Shape;114;p16" descr="di_tella2.png"/>
          <p:cNvPicPr/>
          <p:nvPr/>
        </p:nvPicPr>
        <p:blipFill>
          <a:blip r:embed="rId1"/>
          <a:stretch/>
        </p:blipFill>
        <p:spPr>
          <a:xfrm>
            <a:off x="8325360" y="20160"/>
            <a:ext cx="818280" cy="507600"/>
          </a:xfrm>
          <a:prstGeom prst="rect">
            <a:avLst/>
          </a:prstGeom>
          <a:ln w="0">
            <a:noFill/>
          </a:ln>
        </p:spPr>
      </p:pic>
      <p:sp>
        <p:nvSpPr>
          <p:cNvPr id="170" name="Google Shape;179;p22"/>
          <p:cNvSpPr/>
          <p:nvPr/>
        </p:nvSpPr>
        <p:spPr>
          <a:xfrm>
            <a:off x="274320" y="1371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1"/>
          <p:cNvSpPr/>
          <p:nvPr/>
        </p:nvSpPr>
        <p:spPr>
          <a:xfrm>
            <a:off x="0" y="0"/>
            <a:ext cx="9143640" cy="54828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" name="Rectangle 4"/>
          <p:cNvSpPr/>
          <p:nvPr/>
        </p:nvSpPr>
        <p:spPr>
          <a:xfrm>
            <a:off x="0" y="6492240"/>
            <a:ext cx="9143640" cy="365400"/>
          </a:xfrm>
          <a:prstGeom prst="rect">
            <a:avLst/>
          </a:prstGeom>
          <a:solidFill>
            <a:srgbClr val="2828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3" name="TextBox 6"/>
          <p:cNvSpPr/>
          <p:nvPr/>
        </p:nvSpPr>
        <p:spPr>
          <a:xfrm>
            <a:off x="1980360" y="582120"/>
            <a:ext cx="48171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323232"/>
                </a:solidFill>
                <a:latin typeface="Calibri"/>
              </a:rPr>
              <a:t>Detectando errores de tipeo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Box 7"/>
          <p:cNvSpPr/>
          <p:nvPr/>
        </p:nvSpPr>
        <p:spPr>
          <a:xfrm>
            <a:off x="182880" y="1088640"/>
            <a:ext cx="8960760" cy="530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Una manera muy elemental de identificar estos casos consiste en definir una medida de distancia entre dos palabras. A fines prácticos, vamos a usar una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definición ad-hoc para ejercitar.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Decimos que dos palabras son </a:t>
            </a:r>
            <a:r>
              <a:rPr b="1" lang="es-ES" sz="1800" spc="-1" strike="noStrike">
                <a:solidFill>
                  <a:schemeClr val="dk1"/>
                </a:solidFill>
                <a:latin typeface="Calibri"/>
              </a:rPr>
              <a:t>similares </a:t>
            </a: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si: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1. tienen la misma cantidad de caracteres, 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2. la cantidad de posiciones con caracteres distintos menor o igual que 2.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 pide: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1. Completar la función son_similares.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2. Completar la función pares_similares, que dada una lista de palabras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retorna todos los pares de palabras distintas similares. A modo de ejemplo, para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l = [ </a:t>
            </a:r>
            <a:r>
              <a:rPr b="0" lang="en-US" sz="1800" spc="-1" strike="noStrike">
                <a:solidFill>
                  <a:srgbClr val="7030a0"/>
                </a:solidFill>
                <a:latin typeface="Calibri"/>
              </a:rPr>
              <a:t>' casa ' , ' caas ' , ' cada ' , ' csad '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]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debería retornar (independientemente del orden)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[ ( </a:t>
            </a:r>
            <a:r>
              <a:rPr b="0" lang="en-US" sz="1800" spc="-1" strike="noStrike">
                <a:solidFill>
                  <a:srgbClr val="7030a0"/>
                </a:solidFill>
                <a:latin typeface="Calibri"/>
              </a:rPr>
              <a:t>' casa ' , ' caas '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) , ( </a:t>
            </a:r>
            <a:r>
              <a:rPr b="0" lang="en-US" sz="1800" spc="-1" strike="noStrike">
                <a:solidFill>
                  <a:srgbClr val="7030a0"/>
                </a:solidFill>
                <a:latin typeface="Calibri"/>
              </a:rPr>
              <a:t>' casa ' , ' cada '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) , ( </a:t>
            </a:r>
            <a:r>
              <a:rPr b="0" lang="en-US" sz="1800" spc="-1" strike="noStrike">
                <a:solidFill>
                  <a:srgbClr val="7030a0"/>
                </a:solidFill>
                <a:latin typeface="Calibri"/>
              </a:rPr>
              <a:t>' caas ' , ' cada '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) , ( </a:t>
            </a:r>
            <a:r>
              <a:rPr b="0" lang="en-US" sz="1800" spc="-1" strike="noStrike">
                <a:solidFill>
                  <a:srgbClr val="7030a0"/>
                </a:solidFill>
                <a:latin typeface="Calibri"/>
              </a:rPr>
              <a:t>' caas ' , 'csad '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) ]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5" name="Google Shape;114;p16" descr="di_tella2.png"/>
          <p:cNvPicPr/>
          <p:nvPr/>
        </p:nvPicPr>
        <p:blipFill>
          <a:blip r:embed="rId1"/>
          <a:stretch/>
        </p:blipFill>
        <p:spPr>
          <a:xfrm>
            <a:off x="8325360" y="20160"/>
            <a:ext cx="818280" cy="507600"/>
          </a:xfrm>
          <a:prstGeom prst="rect">
            <a:avLst/>
          </a:prstGeom>
          <a:ln w="0">
            <a:noFill/>
          </a:ln>
        </p:spPr>
      </p:pic>
      <p:sp>
        <p:nvSpPr>
          <p:cNvPr id="176" name="Google Shape;123;p17"/>
          <p:cNvSpPr/>
          <p:nvPr/>
        </p:nvSpPr>
        <p:spPr>
          <a:xfrm>
            <a:off x="274320" y="65379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Google Shape;179;p22"/>
          <p:cNvSpPr/>
          <p:nvPr/>
        </p:nvSpPr>
        <p:spPr>
          <a:xfrm>
            <a:off x="274320" y="1371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</TotalTime>
  <Application>LibreOffice/24.2.7.2$Linux_X86_64 LibreOffice_project/420$Build-2</Application>
  <AppVersion>15.0000</AppVersion>
  <Words>2014</Words>
  <Paragraphs>207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2026-03-15T15:50:40Z</dcterms:modified>
  <cp:revision>14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On-screen Show (4:3)</vt:lpwstr>
  </property>
  <property fmtid="{D5CDD505-2E9C-101B-9397-08002B2CF9AE}" pid="4" name="Slides">
    <vt:i4>16</vt:i4>
  </property>
</Properties>
</file>