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64" r:id="rId2"/>
    <p:sldId id="265" r:id="rId3"/>
    <p:sldId id="266" r:id="rId4"/>
    <p:sldId id="257" r:id="rId5"/>
    <p:sldId id="267" r:id="rId6"/>
    <p:sldId id="268" r:id="rId7"/>
    <p:sldId id="258" r:id="rId8"/>
    <p:sldId id="259" r:id="rId9"/>
    <p:sldId id="269" r:id="rId10"/>
    <p:sldId id="270" r:id="rId11"/>
    <p:sldId id="271" r:id="rId12"/>
    <p:sldId id="260" r:id="rId13"/>
    <p:sldId id="272" r:id="rId14"/>
    <p:sldId id="273" r:id="rId15"/>
    <p:sldId id="261" r:id="rId16"/>
    <p:sldId id="262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1788" y="2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8256A1-0F15-49F9-B42B-2BB9AD458821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1B600E-53C5-4843-B118-204E5FF9A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4415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9" name="Google Shape;8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c825225681_0_0:notes"/>
          <p:cNvSpPr txBox="1">
            <a:spLocks noGrp="1"/>
          </p:cNvSpPr>
          <p:nvPr>
            <p:ph type="body" idx="1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200" tIns="171200" rIns="171200" bIns="1712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endParaRPr/>
          </a:p>
        </p:txBody>
      </p:sp>
      <p:sp>
        <p:nvSpPr>
          <p:cNvPr id="97" name="Google Shape;97;g3c82522568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78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>
          <a:extLst>
            <a:ext uri="{FF2B5EF4-FFF2-40B4-BE49-F238E27FC236}">
              <a16:creationId xmlns:a16="http://schemas.microsoft.com/office/drawing/2014/main" id="{E8D7D16C-EF59-2013-9A6E-BC1EE9D86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c825225681_0_0:notes">
            <a:extLst>
              <a:ext uri="{FF2B5EF4-FFF2-40B4-BE49-F238E27FC236}">
                <a16:creationId xmlns:a16="http://schemas.microsoft.com/office/drawing/2014/main" id="{644C7284-C481-DAC9-65E3-9B00E45F18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785" y="4343383"/>
            <a:ext cx="54867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1200" tIns="171200" rIns="171200" bIns="1712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endParaRPr/>
          </a:p>
        </p:txBody>
      </p:sp>
      <p:sp>
        <p:nvSpPr>
          <p:cNvPr id="97" name="Google Shape;97;g3c825225681_0_0:notes">
            <a:extLst>
              <a:ext uri="{FF2B5EF4-FFF2-40B4-BE49-F238E27FC236}">
                <a16:creationId xmlns:a16="http://schemas.microsoft.com/office/drawing/2014/main" id="{30F37AAA-D8EC-86E4-5972-F39551EF5A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78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164793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4"/>
          <p:cNvSpPr txBox="1"/>
          <p:nvPr/>
        </p:nvSpPr>
        <p:spPr>
          <a:xfrm>
            <a:off x="274320" y="13716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 Analíticos y Programación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4"/>
          <p:cNvSpPr txBox="1"/>
          <p:nvPr/>
        </p:nvSpPr>
        <p:spPr>
          <a:xfrm>
            <a:off x="274322" y="2004443"/>
            <a:ext cx="822960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lang="en-US" sz="2800" dirty="0"/>
              <a:t>MATRICES Y CICLOS ANIDADOS</a:t>
            </a:r>
          </a:p>
        </p:txBody>
      </p:sp>
      <p:sp>
        <p:nvSpPr>
          <p:cNvPr id="93" name="Google Shape;93;p14"/>
          <p:cNvSpPr txBox="1"/>
          <p:nvPr/>
        </p:nvSpPr>
        <p:spPr>
          <a:xfrm>
            <a:off x="1574216" y="3620557"/>
            <a:ext cx="8496300" cy="52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Profesor: 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4" name="Google Shape;94;p14"/>
          <p:cNvSpPr txBox="1"/>
          <p:nvPr/>
        </p:nvSpPr>
        <p:spPr>
          <a:xfrm>
            <a:off x="1574216" y="4219890"/>
            <a:ext cx="8496300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rgbClr val="2D2D2D"/>
                </a:solidFill>
                <a:latin typeface="Calibri"/>
                <a:ea typeface="Calibri"/>
                <a:cs typeface="Calibri"/>
                <a:sym typeface="Calibri"/>
              </a:rPr>
              <a:t>Auxiliares: Daniela Longas - M Victoria Tolosa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/>
          <p:nvPr/>
        </p:nvSpPr>
        <p:spPr>
          <a:xfrm>
            <a:off x="2240672" y="2915974"/>
            <a:ext cx="4902000" cy="69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2650" rIns="0" bIns="0" anchor="t" anchorCtr="0">
            <a:spAutoFit/>
          </a:bodyPr>
          <a:lstStyle/>
          <a:p>
            <a:pPr marL="25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 dirty="0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MATRICES Y ESTRUCTURAS BI-DIMENCIONALES</a:t>
            </a:r>
            <a:endParaRPr sz="2200" b="0" i="0" u="none" strike="noStrike" cap="none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00" name="Google Shape;100;p15"/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101" name="Google Shape;101;p15"/>
            <p:cNvSpPr/>
            <p:nvPr/>
          </p:nvSpPr>
          <p:spPr>
            <a:xfrm>
              <a:off x="1133919" y="1518500"/>
              <a:ext cx="2340610" cy="25400"/>
            </a:xfrm>
            <a:custGeom>
              <a:avLst/>
              <a:gdLst/>
              <a:ahLst/>
              <a:cxnLst/>
              <a:rect l="l" t="t" r="r" b="b"/>
              <a:pathLst>
                <a:path w="2340610" h="25400" extrusionOk="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endPara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133919" y="1518500"/>
              <a:ext cx="2340610" cy="25400"/>
            </a:xfrm>
            <a:custGeom>
              <a:avLst/>
              <a:gdLst/>
              <a:ahLst/>
              <a:cxnLst/>
              <a:rect l="l" t="t" r="r" b="b"/>
              <a:pathLst>
                <a:path w="2340610" h="25400" extrusionOk="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w="18875" cap="flat" cmpd="sng">
              <a:solidFill>
                <a:srgbClr val="F4F2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endPara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15"/>
            <p:cNvSpPr/>
            <p:nvPr/>
          </p:nvSpPr>
          <p:spPr>
            <a:xfrm>
              <a:off x="1133919" y="1518500"/>
              <a:ext cx="1221105" cy="25400"/>
            </a:xfrm>
            <a:custGeom>
              <a:avLst/>
              <a:gdLst/>
              <a:ahLst/>
              <a:cxnLst/>
              <a:rect l="l" t="t" r="r" b="b"/>
              <a:pathLst>
                <a:path w="1221105" h="25400" extrusionOk="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endPara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15"/>
            <p:cNvSpPr/>
            <p:nvPr/>
          </p:nvSpPr>
          <p:spPr>
            <a:xfrm>
              <a:off x="1133919" y="1518500"/>
              <a:ext cx="1221105" cy="25400"/>
            </a:xfrm>
            <a:custGeom>
              <a:avLst/>
              <a:gdLst/>
              <a:ahLst/>
              <a:cxnLst/>
              <a:rect l="l" t="t" r="r" b="b"/>
              <a:pathLst>
                <a:path w="1221105" h="25400" extrusionOk="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w="18875" cap="flat" cmpd="sng">
              <a:solidFill>
                <a:srgbClr val="F1C23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endPara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transition>
    <p:fade thruBlk="1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F2884-8A16-8FF1-2B72-A05F935172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E4EBEAE-C9DC-1EA1-835E-F43A16C50AD5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214931-F171-B925-6B12-30F9A6BC58BC}"/>
              </a:ext>
            </a:extLst>
          </p:cNvPr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C23EAAE-D642-4A08-283E-31D9527DE320}"/>
              </a:ext>
            </a:extLst>
          </p:cNvPr>
          <p:cNvSpPr txBox="1"/>
          <p:nvPr/>
        </p:nvSpPr>
        <p:spPr>
          <a:xfrm>
            <a:off x="36576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dirty="0" err="1"/>
              <a:t>Estructuras</a:t>
            </a:r>
            <a:r>
              <a:rPr dirty="0"/>
              <a:t> Bi-</a:t>
            </a:r>
            <a:r>
              <a:rPr dirty="0" err="1"/>
              <a:t>dimensionales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2014FE-7761-D14A-400E-B2CEB2FCA519}"/>
                  </a:ext>
                </a:extLst>
              </p:cNvPr>
              <p:cNvSpPr txBox="1"/>
              <p:nvPr/>
            </p:nvSpPr>
            <p:spPr>
              <a:xfrm>
                <a:off x="457200" y="1645920"/>
                <a:ext cx="7772400" cy="4159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A </a:t>
                </a:r>
                <a:r>
                  <a:rPr lang="en-US" dirty="0" err="1"/>
                  <a:t>medida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:r>
                  <a:rPr lang="en-US" dirty="0" err="1"/>
                  <a:t>los</a:t>
                </a:r>
                <a:r>
                  <a:rPr lang="en-US" dirty="0"/>
                  <a:t> </a:t>
                </a:r>
                <a:r>
                  <a:rPr lang="en-US" dirty="0" err="1"/>
                  <a:t>problemas</a:t>
                </a:r>
                <a:r>
                  <a:rPr lang="en-US" dirty="0"/>
                  <a:t> se </a:t>
                </a:r>
                <a:r>
                  <a:rPr lang="en-US" dirty="0" err="1"/>
                  <a:t>vuelven</a:t>
                </a:r>
                <a:r>
                  <a:rPr lang="en-US" dirty="0"/>
                  <a:t> </a:t>
                </a:r>
                <a:r>
                  <a:rPr lang="en-US" dirty="0" err="1"/>
                  <a:t>complejos</a:t>
                </a:r>
                <a:r>
                  <a:rPr lang="en-US" dirty="0"/>
                  <a:t>, </a:t>
                </a:r>
                <a:r>
                  <a:rPr lang="en-US" dirty="0" err="1"/>
                  <a:t>incorporamos</a:t>
                </a:r>
                <a:r>
                  <a:rPr lang="en-US" dirty="0"/>
                  <a:t> </a:t>
                </a:r>
                <a:r>
                  <a:rPr lang="en-US" dirty="0" err="1"/>
                  <a:t>estructuras</a:t>
                </a:r>
                <a:r>
                  <a:rPr lang="en-US" dirty="0"/>
                  <a:t> </a:t>
                </a:r>
                <a:r>
                  <a:rPr lang="en-US" dirty="0" err="1"/>
                  <a:t>avanzada</a:t>
                </a:r>
                <a:r>
                  <a:rPr lang="en-US" dirty="0"/>
                  <a:t>s para manejar la información, datos u otros elementos. Las </a:t>
                </a:r>
                <a:r>
                  <a:rPr lang="en-US" b="1" dirty="0"/>
                  <a:t>listas </a:t>
                </a:r>
                <a:r>
                  <a:rPr lang="en-US" dirty="0"/>
                  <a:t>y los</a:t>
                </a:r>
              </a:p>
              <a:p>
                <a:r>
                  <a:rPr lang="en-US" b="1" dirty="0"/>
                  <a:t>diccionarios </a:t>
                </a:r>
                <a:r>
                  <a:rPr lang="en-US" dirty="0"/>
                  <a:t>son algunos ejemplos, pero no los únicos.</a:t>
                </a:r>
              </a:p>
              <a:p>
                <a:endParaRPr lang="en-US" dirty="0"/>
              </a:p>
              <a:p>
                <a:r>
                  <a:rPr lang="en-US" dirty="0"/>
                  <a:t>Una estructura muy frecuente, en particular en algoritmos que construyen</a:t>
                </a:r>
              </a:p>
              <a:p>
                <a:r>
                  <a:rPr lang="en-US" dirty="0"/>
                  <a:t>sobre herramientas matemáticas, son las </a:t>
                </a:r>
                <a:r>
                  <a:rPr lang="en-US" b="1" dirty="0"/>
                  <a:t>matrices</a:t>
                </a:r>
                <a:r>
                  <a:rPr lang="en-US" dirty="0"/>
                  <a:t>. Una matriz A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s-AR" b="0" i="1" smtClean="0">
                            <a:latin typeface="Cambria Math" panose="02040503050406030204" pitchFamily="18" charset="0"/>
                          </a:rPr>
                          <m:t>𝑥𝑛</m:t>
                        </m:r>
                      </m:sup>
                    </m:sSup>
                  </m:oMath>
                </a14:m>
                <a:endParaRPr lang="en-US" dirty="0"/>
              </a:p>
              <a:p>
                <a:r>
                  <a:rPr lang="en-US" dirty="0"/>
                  <a:t>tiene m filas y n columnas, donde </a:t>
                </a:r>
                <a:r>
                  <a:rPr lang="en-US" dirty="0" err="1"/>
                  <a:t>ai</a:t>
                </a:r>
                <a:r>
                  <a:rPr lang="en-US" dirty="0"/>
                  <a:t> j representa el elemento de la i-</a:t>
                </a:r>
                <a:r>
                  <a:rPr lang="en-US" dirty="0" err="1"/>
                  <a:t>ésima</a:t>
                </a:r>
                <a:r>
                  <a:rPr lang="en-US" dirty="0"/>
                  <a:t> fila</a:t>
                </a:r>
              </a:p>
              <a:p>
                <a:r>
                  <a:rPr lang="en-US" dirty="0"/>
                  <a:t>y j-</a:t>
                </a:r>
                <a:r>
                  <a:rPr lang="en-US" dirty="0" err="1"/>
                  <a:t>ésima</a:t>
                </a:r>
                <a:r>
                  <a:rPr lang="en-US" dirty="0"/>
                  <a:t> columna. Un ejemplo de una matriz A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s-AR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es-A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s-A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s-A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algn="ctr"/>
                <a:r>
                  <a:rPr lang="en-US" dirty="0"/>
                  <a:t>A =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eqArr>
                                <m:eqArrPr>
                                  <m:ctrlP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  <m:e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7</m:t>
                                  </m:r>
                                </m:e>
                              </m:eqArr>
                            </m:e>
                            <m:e>
                              <m:eqArr>
                                <m:eqArrPr>
                                  <m:ctrlP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</m:e>
                                <m:e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5</m:t>
                                  </m:r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</m:e>
                                <m:e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8</m:t>
                                  </m:r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   </m:t>
                                  </m:r>
                                </m:e>
                              </m:eqArr>
                            </m:e>
                          </m:mr>
                          <m:mr>
                            <m:e>
                              <m:r>
                                <a:rPr lang="es-AR" b="0" i="1" smtClean="0">
                                  <a:latin typeface="Cambria Math" panose="02040503050406030204" pitchFamily="18" charset="0"/>
                                </a:rPr>
                                <m:t>10</m:t>
                              </m:r>
                            </m:e>
                            <m:e>
                              <m:r>
                                <a:rPr lang="es-AR" b="0" i="1" smtClean="0">
                                  <a:latin typeface="Cambria Math" panose="02040503050406030204" pitchFamily="18" charset="0"/>
                                </a:rPr>
                                <m:t>11</m:t>
                              </m:r>
                              <m:r>
                                <a:rPr lang="es-AR" b="0" i="1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</m:e>
                          </m:mr>
                        </m:m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eqArr>
                                <m:eqArrPr>
                                  <m:ctrlP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e>
                                <m:e>
                                  <m:r>
                                    <a:rPr lang="es-AR" b="0" i="1" smtClean="0">
                                      <a:latin typeface="Cambria Math" panose="02040503050406030204" pitchFamily="18" charset="0"/>
                                    </a:rPr>
                                    <m:t>9</m:t>
                                  </m:r>
                                </m:e>
                              </m:eqArr>
                            </m:e>
                            <m:e/>
                          </m:mr>
                          <m:mr>
                            <m:e>
                              <m:r>
                                <a:rPr lang="es-AR" b="0" i="1" smtClean="0">
                                  <a:latin typeface="Cambria Math" panose="02040503050406030204" pitchFamily="18" charset="0"/>
                                </a:rPr>
                                <m:t>12</m:t>
                              </m:r>
                            </m:e>
                            <m:e/>
                          </m:mr>
                        </m:m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
</a:t>
                </a:r>
                <a:r>
                  <a:rPr lang="en-US" b="1" dirty="0"/>
                  <a:t>Podemos </a:t>
                </a:r>
                <a:r>
                  <a:rPr lang="en-US" b="1" dirty="0" err="1"/>
                  <a:t>representar</a:t>
                </a:r>
                <a:r>
                  <a:rPr lang="en-US" b="1" dirty="0"/>
                  <a:t> </a:t>
                </a:r>
                <a:r>
                  <a:rPr lang="en-US" b="1" dirty="0" err="1"/>
                  <a:t>una</a:t>
                </a:r>
                <a:r>
                  <a:rPr lang="en-US" b="1" dirty="0"/>
                  <a:t> </a:t>
                </a:r>
                <a:r>
                  <a:rPr lang="en-US" b="1" dirty="0" err="1"/>
                  <a:t>matriz</a:t>
                </a:r>
                <a:r>
                  <a:rPr lang="en-US" b="1" dirty="0"/>
                  <a:t> con las </a:t>
                </a:r>
                <a:r>
                  <a:rPr lang="en-US" b="1" dirty="0" err="1"/>
                  <a:t>estructuras</a:t>
                </a:r>
                <a:r>
                  <a:rPr lang="en-US" b="1" dirty="0"/>
                  <a:t>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conocemos</a:t>
                </a:r>
                <a:r>
                  <a:rPr lang="en-US" b="1" dirty="0"/>
                  <a:t>?</a:t>
                </a:r>
                <a:endParaRPr b="1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2014FE-7761-D14A-400E-B2CEB2FCA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45920"/>
                <a:ext cx="7772400" cy="4159793"/>
              </a:xfrm>
              <a:prstGeom prst="rect">
                <a:avLst/>
              </a:prstGeom>
              <a:blipFill>
                <a:blip r:embed="rId2"/>
                <a:stretch>
                  <a:fillRect l="-627" t="-733" b="-14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75FDE8FE-A591-27B7-5193-A06153BF6CE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457BE8E0-A763-2271-096C-D8CCA5880D2C}"/>
              </a:ext>
            </a:extLst>
          </p:cNvPr>
          <p:cNvSpPr txBox="1"/>
          <p:nvPr/>
        </p:nvSpPr>
        <p:spPr>
          <a:xfrm>
            <a:off x="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D3CCF6B9-0776-BEEC-2966-B8A2BE9F8E8A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73051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12210" y="611407"/>
            <a:ext cx="3476208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lang="es-AR" dirty="0"/>
              <a:t>Matrices y lista de listas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401134" y="1093939"/>
            <a:ext cx="8497019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Una posible representación para una </a:t>
            </a:r>
            <a:r>
              <a:rPr lang="es-ES" b="1" dirty="0"/>
              <a:t>matriz</a:t>
            </a:r>
            <a:r>
              <a:rPr lang="es-ES" dirty="0"/>
              <a:t> es mediante lista de listas. Es la</a:t>
            </a:r>
          </a:p>
          <a:p>
            <a:r>
              <a:rPr lang="es-ES" dirty="0"/>
              <a:t>forma natural de manejar una </a:t>
            </a:r>
            <a:r>
              <a:rPr lang="es-ES" b="1" dirty="0"/>
              <a:t>estructura </a:t>
            </a:r>
            <a:r>
              <a:rPr lang="es-ES" b="1" dirty="0" err="1"/>
              <a:t>bi-dimensiona</a:t>
            </a:r>
            <a:r>
              <a:rPr lang="es-ES" dirty="0" err="1"/>
              <a:t>l</a:t>
            </a:r>
            <a:r>
              <a:rPr lang="es-ES" dirty="0"/>
              <a:t> en gran parte de</a:t>
            </a:r>
          </a:p>
          <a:p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contextos</a:t>
            </a:r>
            <a:r>
              <a:rPr lang="en-US" dirty="0"/>
              <a:t> de </a:t>
            </a:r>
            <a:r>
              <a:rPr lang="en-US" dirty="0" err="1"/>
              <a:t>aplicación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Hay </a:t>
            </a:r>
            <a:r>
              <a:rPr lang="en-US" dirty="0" err="1"/>
              <a:t>múltiples</a:t>
            </a:r>
            <a:r>
              <a:rPr lang="en-US" dirty="0"/>
              <a:t> formas de </a:t>
            </a:r>
            <a:r>
              <a:rPr lang="en-US" dirty="0" err="1"/>
              <a:t>representar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matriz</a:t>
            </a:r>
            <a:r>
              <a:rPr lang="en-US" dirty="0"/>
              <a:t> </a:t>
            </a:r>
            <a:r>
              <a:rPr lang="en-US" dirty="0" err="1"/>
              <a:t>mediante</a:t>
            </a:r>
            <a:r>
              <a:rPr lang="en-US" dirty="0"/>
              <a:t> </a:t>
            </a:r>
            <a:r>
              <a:rPr lang="en-US" dirty="0" err="1"/>
              <a:t>listas</a:t>
            </a:r>
            <a:r>
              <a:rPr lang="en-US" dirty="0"/>
              <a:t> de </a:t>
            </a:r>
            <a:r>
              <a:rPr lang="en-US" dirty="0" err="1"/>
              <a:t>listas</a:t>
            </a:r>
            <a:r>
              <a:rPr lang="en-US" dirty="0"/>
              <a:t>. Dos</a:t>
            </a:r>
          </a:p>
          <a:p>
            <a:r>
              <a:rPr lang="en-US" dirty="0" err="1"/>
              <a:t>casos</a:t>
            </a:r>
            <a:r>
              <a:rPr lang="en-US" dirty="0"/>
              <a:t> </a:t>
            </a:r>
            <a:r>
              <a:rPr lang="en-US" dirty="0" err="1"/>
              <a:t>clásicos</a:t>
            </a:r>
            <a:r>
              <a:rPr lang="en-US" dirty="0"/>
              <a:t>: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u="sng" dirty="0"/>
              <a:t>Representación por filas</a:t>
            </a:r>
            <a:r>
              <a:rPr lang="es-ES" dirty="0"/>
              <a:t>. La lista principal representa una colección de </a:t>
            </a:r>
            <a:r>
              <a:rPr lang="es-ES" i="1" dirty="0"/>
              <a:t>filas</a:t>
            </a:r>
            <a:r>
              <a:rPr lang="es-ES" dirty="0"/>
              <a:t>, y el i-</a:t>
            </a:r>
            <a:r>
              <a:rPr lang="es-ES" dirty="0" err="1"/>
              <a:t>ésimo</a:t>
            </a:r>
            <a:r>
              <a:rPr lang="es-ES" dirty="0"/>
              <a:t> elemento de esta lista es </a:t>
            </a:r>
            <a:r>
              <a:rPr lang="es-ES" b="1" dirty="0"/>
              <a:t>otra </a:t>
            </a:r>
            <a:r>
              <a:rPr lang="es-ES" dirty="0"/>
              <a:t>lista con los </a:t>
            </a:r>
            <a:r>
              <a:rPr lang="es-ES" i="1" dirty="0"/>
              <a:t>elementos de la </a:t>
            </a:r>
            <a:r>
              <a:rPr lang="en-US" i="1" dirty="0"/>
              <a:t>fila </a:t>
            </a:r>
            <a:r>
              <a:rPr lang="en-US" dirty="0" err="1"/>
              <a:t>i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u="sng" dirty="0"/>
              <a:t>Representación por columnas</a:t>
            </a:r>
            <a:r>
              <a:rPr lang="es-ES" dirty="0"/>
              <a:t>. La lista principal representa una colección de </a:t>
            </a:r>
            <a:r>
              <a:rPr lang="es-ES" i="1" dirty="0"/>
              <a:t>columnas</a:t>
            </a:r>
            <a:r>
              <a:rPr lang="es-ES" dirty="0"/>
              <a:t>, y el j-</a:t>
            </a:r>
            <a:r>
              <a:rPr lang="es-ES" dirty="0" err="1"/>
              <a:t>ésimo</a:t>
            </a:r>
            <a:r>
              <a:rPr lang="es-ES" dirty="0"/>
              <a:t> elemento de esta lista es </a:t>
            </a:r>
            <a:r>
              <a:rPr lang="es-ES" b="1" dirty="0"/>
              <a:t>otra </a:t>
            </a:r>
            <a:r>
              <a:rPr lang="es-ES" dirty="0"/>
              <a:t>lista con los </a:t>
            </a:r>
            <a:r>
              <a:rPr lang="es-ES" i="1" dirty="0"/>
              <a:t>elementos de la columna </a:t>
            </a:r>
            <a:r>
              <a:rPr lang="es-ES" dirty="0"/>
              <a:t>j.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dirty="0"/>
          </a:p>
          <a:p>
            <a:r>
              <a:rPr lang="es-ES" dirty="0"/>
              <a:t>Matriz Ejemplo                           Matriz por filas                         Matriz por columnas</a:t>
            </a:r>
          </a:p>
          <a:p>
            <a:endParaRPr lang="en-US" dirty="0"/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5C0E68BE-07DB-C882-EE5A-D659BBCF7AD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62962093-1C10-D08E-8E16-6D44CC2AC34B}"/>
              </a:ext>
            </a:extLst>
          </p:cNvPr>
          <p:cNvSpPr txBox="1"/>
          <p:nvPr/>
        </p:nvSpPr>
        <p:spPr>
          <a:xfrm>
            <a:off x="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BB7BC538-7413-D764-D35F-BFE982D8B163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2F750E9-D12B-4173-7173-B11D6F0BE9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134" y="4800512"/>
            <a:ext cx="1771741" cy="114305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67ED327-66F2-47B8-A986-7E47C8D9ED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5238" y="4800512"/>
            <a:ext cx="4714240" cy="119985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39818-52AD-1703-295B-904A626CD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449C83-BE34-5E5E-58BF-944EDDA45F48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77C5AAD-3CED-F4F2-B012-EF272DD41A88}"/>
              </a:ext>
            </a:extLst>
          </p:cNvPr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D7B3D7-4ADA-4F0A-8C1B-579B421375F3}"/>
              </a:ext>
            </a:extLst>
          </p:cNvPr>
          <p:cNvSpPr txBox="1"/>
          <p:nvPr/>
        </p:nvSpPr>
        <p:spPr>
          <a:xfrm>
            <a:off x="365760" y="731520"/>
            <a:ext cx="570252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lang="es-AR" dirty="0"/>
              <a:t>Matrices y </a:t>
            </a:r>
            <a:r>
              <a:rPr dirty="0" err="1"/>
              <a:t>Estructuras</a:t>
            </a:r>
            <a:r>
              <a:rPr dirty="0"/>
              <a:t> Bi-</a:t>
            </a:r>
            <a:r>
              <a:rPr dirty="0" err="1"/>
              <a:t>dimensionales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08005E-26AA-1C7E-5A72-39BB717EF9E5}"/>
              </a:ext>
            </a:extLst>
          </p:cNvPr>
          <p:cNvSpPr txBox="1"/>
          <p:nvPr/>
        </p:nvSpPr>
        <p:spPr>
          <a:xfrm>
            <a:off x="274320" y="1443841"/>
            <a:ext cx="8686800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b="1" dirty="0"/>
              <a:t>Ejercicio: </a:t>
            </a:r>
            <a:r>
              <a:rPr lang="es-ES" dirty="0"/>
              <a:t>Queremos acceder al elemento a32. Cuál es índice de la fila y cuál el </a:t>
            </a:r>
            <a:r>
              <a:rPr lang="en-US" dirty="0" err="1"/>
              <a:t>índice</a:t>
            </a:r>
            <a:r>
              <a:rPr lang="en-US" dirty="0"/>
              <a:t> de la columna?</a:t>
            </a:r>
          </a:p>
          <a:p>
            <a:endParaRPr lang="en-US" b="1" dirty="0"/>
          </a:p>
          <a:p>
            <a:r>
              <a:rPr lang="es-ES" b="1" dirty="0"/>
              <a:t>Ejercicio: </a:t>
            </a:r>
            <a:r>
              <a:rPr lang="es-ES" dirty="0"/>
              <a:t>Queremos acceder al elemento a32. Cuál es índice de la fila y cuál el índice de la columna? Recordar que las listas indexan de 0 a n 􀀀 1. El elemento a32 corresponde a la fila 2 y columna 1 de la matriz en Python.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Representación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en-US" dirty="0" err="1"/>
              <a:t>filas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&gt;&gt;&gt; A = [[1,2,3],[4,5,6],[7,8,9],[10,11,12]]</a:t>
            </a:r>
          </a:p>
          <a:p>
            <a:r>
              <a:rPr lang="es-E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&gt;&gt;&gt; A[2] # Que nos devuelve ?</a:t>
            </a:r>
          </a:p>
          <a:p>
            <a:endParaRPr lang="es-ES" b="1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[7,8,9]  # Es la lista de la posicion 2 .</a:t>
            </a:r>
          </a:p>
          <a:p>
            <a:r>
              <a:rPr lang="es-E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&gt;&gt;&gt; A[2][1] # Que nos devuelve ?</a:t>
            </a:r>
          </a:p>
          <a:p>
            <a:endParaRPr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79C4EF59-E28A-FE04-60AA-1A68F0D7EDC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CFC856A0-A363-00A4-02CF-DECEFC5151D3}"/>
              </a:ext>
            </a:extLst>
          </p:cNvPr>
          <p:cNvSpPr txBox="1"/>
          <p:nvPr/>
        </p:nvSpPr>
        <p:spPr>
          <a:xfrm>
            <a:off x="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40339B6B-C992-EFAE-5985-F305ED221C9F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0568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67654-5EB2-0B91-51C5-97053A795B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7D62C88-0A11-820C-7113-16C730494113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2D2C79-D19E-2F17-1252-8FAC87BC0877}"/>
              </a:ext>
            </a:extLst>
          </p:cNvPr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B6E7EB-E992-DC1A-5E2D-65A43D408930}"/>
              </a:ext>
            </a:extLst>
          </p:cNvPr>
          <p:cNvSpPr txBox="1"/>
          <p:nvPr/>
        </p:nvSpPr>
        <p:spPr>
          <a:xfrm>
            <a:off x="365760" y="731520"/>
            <a:ext cx="5702523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lang="es-AR" dirty="0"/>
              <a:t>Matrices y </a:t>
            </a:r>
            <a:r>
              <a:rPr dirty="0" err="1"/>
              <a:t>Estructuras</a:t>
            </a:r>
            <a:r>
              <a:rPr dirty="0"/>
              <a:t> Bi-</a:t>
            </a:r>
            <a:r>
              <a:rPr dirty="0" err="1"/>
              <a:t>dimensionales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2FD2F2-6858-5AB5-00CB-CC85E1E32C1C}"/>
              </a:ext>
            </a:extLst>
          </p:cNvPr>
          <p:cNvSpPr txBox="1"/>
          <p:nvPr/>
        </p:nvSpPr>
        <p:spPr>
          <a:xfrm>
            <a:off x="365760" y="1582340"/>
            <a:ext cx="86868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s-ES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Representación</a:t>
            </a:r>
            <a:r>
              <a:rPr lang="en-US" dirty="0"/>
              <a:t> </a:t>
            </a:r>
            <a:r>
              <a:rPr lang="en-US" dirty="0" err="1"/>
              <a:t>por</a:t>
            </a:r>
            <a:r>
              <a:rPr lang="en-US" dirty="0"/>
              <a:t> columnas.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&gt;&gt;&gt; A = [[1,4,7,10],[2,5,8,11],[3,6,9,12]]</a:t>
            </a:r>
          </a:p>
          <a:p>
            <a:r>
              <a:rPr lang="es-E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&gt;&gt;&gt; A[1] # Que nos devuelve ?</a:t>
            </a:r>
          </a:p>
          <a:p>
            <a:endParaRPr lang="es-ES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[2,5,8,11] # Es la lista de la posicion 2 .</a:t>
            </a:r>
          </a:p>
          <a:p>
            <a:r>
              <a:rPr lang="es-E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&gt;&gt;&gt; A[1][2] # Que nos devuelve ?</a:t>
            </a:r>
          </a:p>
          <a:p>
            <a:endParaRPr lang="es-ES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r>
              <a:rPr lang="es-ES" dirty="0"/>
              <a:t>Al tener una lista de lista, podemos acceder a los elementos mediante la aplicación secuencial del operador []. Es fundamental tener presente la representación adoptada para almacenar la información.</a:t>
            </a:r>
            <a:endParaRPr lang="en-US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endParaRPr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DC8C0689-EE14-EBB3-7D9F-6555ECE5FF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181BA41C-6F6C-7762-2258-0F4D4C0BEC08}"/>
              </a:ext>
            </a:extLst>
          </p:cNvPr>
          <p:cNvSpPr txBox="1"/>
          <p:nvPr/>
        </p:nvSpPr>
        <p:spPr>
          <a:xfrm>
            <a:off x="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727A16F1-1023-A262-A997-D0F04CCD9BF8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09044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7315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t>Matrices y Listas de Listas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45919"/>
            <a:ext cx="8376249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Supongamos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tenemos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matriz</a:t>
            </a:r>
            <a:r>
              <a:rPr lang="en-US" dirty="0"/>
              <a:t> de float A 2 </a:t>
            </a:r>
            <a:r>
              <a:rPr lang="en-US" dirty="0" err="1"/>
              <a:t>Rmn</a:t>
            </a:r>
            <a:r>
              <a:rPr lang="en-US" dirty="0"/>
              <a:t> </a:t>
            </a:r>
            <a:r>
              <a:rPr lang="en-US" b="1" dirty="0" err="1"/>
              <a:t>representada</a:t>
            </a:r>
            <a:r>
              <a:rPr lang="en-US" b="1" dirty="0"/>
              <a:t> </a:t>
            </a:r>
            <a:r>
              <a:rPr lang="en-US" b="1" dirty="0" err="1"/>
              <a:t>por</a:t>
            </a:r>
            <a:r>
              <a:rPr lang="en-US" b="1" dirty="0"/>
              <a:t> </a:t>
            </a:r>
            <a:r>
              <a:rPr lang="es-ES" b="1" dirty="0"/>
              <a:t>filas </a:t>
            </a:r>
            <a:r>
              <a:rPr lang="es-ES" dirty="0"/>
              <a:t>mediante </a:t>
            </a:r>
            <a:r>
              <a:rPr lang="es-ES" b="1" dirty="0"/>
              <a:t>listas de listas</a:t>
            </a:r>
            <a:r>
              <a:rPr lang="es-ES" dirty="0"/>
              <a:t>. Buscamos implementar una función </a:t>
            </a:r>
            <a:r>
              <a:rPr lang="es-ES" i="1" dirty="0" err="1"/>
              <a:t>suma_elementos</a:t>
            </a:r>
            <a:r>
              <a:rPr lang="es-ES" dirty="0"/>
              <a:t> que retorne la suma de todos los elementos de la matriz.</a:t>
            </a:r>
          </a:p>
          <a:p>
            <a:endParaRPr lang="es-ES" dirty="0"/>
          </a:p>
          <a:p>
            <a:r>
              <a:rPr lang="es-ES" dirty="0"/>
              <a:t>A modo de ejemplo, para la matriz</a:t>
            </a:r>
            <a:endParaRPr dirty="0"/>
          </a:p>
          <a:p>
            <a:pPr>
              <a:defRPr b="1"/>
            </a:pPr>
            <a:endParaRPr lang="es-AR" dirty="0"/>
          </a:p>
          <a:p>
            <a:pPr>
              <a:defRPr sz="1600">
                <a:latin typeface="Courier New"/>
              </a:defRPr>
            </a:pPr>
            <a:r>
              <a:rPr dirty="0"/>
              <a:t>A = [ [1, 2, 3],</a:t>
            </a:r>
            <a:br>
              <a:rPr dirty="0"/>
            </a:br>
            <a:r>
              <a:rPr dirty="0"/>
              <a:t>      [4, 5, 6],</a:t>
            </a:r>
            <a:br>
              <a:rPr dirty="0"/>
            </a:br>
            <a:r>
              <a:rPr dirty="0"/>
              <a:t>      [7, 8, 9] ]</a:t>
            </a:r>
          </a:p>
          <a:p>
            <a:br>
              <a:rPr dirty="0"/>
            </a:br>
            <a:r>
              <a:rPr lang="es-AR" dirty="0"/>
              <a:t>el resultado es 78.</a:t>
            </a:r>
            <a:endParaRPr dirty="0"/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5E398AE2-2A4F-6519-E45C-24110F94F5D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A3DB1831-4B90-B33E-0261-23AAC34AF979}"/>
              </a:ext>
            </a:extLst>
          </p:cNvPr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A30B45D9-2A98-C8C2-F44D-516DD7BFA78B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731520"/>
            <a:ext cx="485588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dirty="0" err="1"/>
              <a:t>Recorriendo</a:t>
            </a:r>
            <a:r>
              <a:rPr lang="es-AR" dirty="0"/>
              <a:t> una matriz</a:t>
            </a:r>
            <a:r>
              <a:rPr dirty="0"/>
              <a:t>:</a:t>
            </a:r>
            <a:r>
              <a:rPr lang="es-AR" dirty="0"/>
              <a:t> por filas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74321" y="1206247"/>
            <a:ext cx="8731656" cy="5293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Idea general del </a:t>
            </a:r>
            <a:r>
              <a:rPr lang="en-US" dirty="0" err="1"/>
              <a:t>algoritmo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Vamos a tener que recorrer eventualmente todos los elementos de la </a:t>
            </a:r>
            <a:r>
              <a:rPr lang="en-US" dirty="0" err="1"/>
              <a:t>matriz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El resultado va a ser un número.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Cuando recorrimos todos los elementos, retornamos el valor.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La función suma lista recibe la cantidad de filas (m) y columnas (n).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Asumimos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bien </a:t>
            </a:r>
            <a:r>
              <a:rPr lang="en-US" dirty="0" err="1"/>
              <a:t>construída</a:t>
            </a:r>
            <a:r>
              <a:rPr lang="en-US" dirty="0"/>
              <a:t>.</a:t>
            </a:r>
            <a:endParaRPr lang="es-AR" dirty="0"/>
          </a:p>
          <a:p>
            <a:pPr>
              <a:defRPr sz="1400">
                <a:latin typeface="Courier New"/>
              </a:defRPr>
            </a:pPr>
            <a:endParaRPr lang="en-US" dirty="0"/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def suma_elementos(A, m, n) :</a:t>
            </a:r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ret = 0.0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acumulador inicializado en 0</a:t>
            </a:r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i = 0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variable que indica en que fila estamos</a:t>
            </a:r>
          </a:p>
          <a:p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filas. Terminamos cuando i = m</a:t>
            </a:r>
          </a:p>
          <a:p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while </a:t>
            </a:r>
            <a:r>
              <a:rPr lang="en-US" dirty="0" err="1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i</a:t>
            </a:r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&lt; m:</a:t>
            </a:r>
          </a:p>
          <a:p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j = 0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variable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indica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en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columna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estamos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.</a:t>
            </a:r>
          </a:p>
          <a:p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columnas de la fila i. Terminamos con j = n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while j &lt; n :</a:t>
            </a:r>
          </a:p>
          <a:p>
            <a:pPr marL="0" lvl="2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	ret = ret + A[i][j]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Actualizamos el valor de la suma</a:t>
            </a:r>
          </a:p>
          <a:p>
            <a:pPr lvl="2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j = j + 1</a:t>
            </a:r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i = i + 1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pasamos a la siguiente fila.</a:t>
            </a:r>
          </a:p>
          <a:p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return ret</a:t>
            </a:r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087ADC8A-3D7E-58A5-D7F3-739C4F34F45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AE316C03-38F8-9B0B-0D9A-A5FA9A430941}"/>
              </a:ext>
            </a:extLst>
          </p:cNvPr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8545D34F-9496-BE12-0638-D351B1E8A0B0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62526-63B6-F332-67B6-35A01AC5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654CBC-6C55-27E5-0572-F40172818E7C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48CFA78-DB69-5F52-5247-70E647508425}"/>
              </a:ext>
            </a:extLst>
          </p:cNvPr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8DB61E-1368-1961-094F-3689E042C191}"/>
              </a:ext>
            </a:extLst>
          </p:cNvPr>
          <p:cNvSpPr txBox="1"/>
          <p:nvPr/>
        </p:nvSpPr>
        <p:spPr>
          <a:xfrm>
            <a:off x="365760" y="731520"/>
            <a:ext cx="485588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dirty="0" err="1"/>
              <a:t>Recorriendo</a:t>
            </a:r>
            <a:r>
              <a:rPr lang="es-AR" dirty="0"/>
              <a:t> una matriz</a:t>
            </a:r>
            <a:r>
              <a:rPr dirty="0"/>
              <a:t>:</a:t>
            </a:r>
            <a:r>
              <a:rPr lang="es-AR" dirty="0"/>
              <a:t> por filas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43C311-A9E7-7056-088B-2E779239D011}"/>
              </a:ext>
            </a:extLst>
          </p:cNvPr>
          <p:cNvSpPr txBox="1"/>
          <p:nvPr/>
        </p:nvSpPr>
        <p:spPr>
          <a:xfrm>
            <a:off x="-80621" y="1260104"/>
            <a:ext cx="9305241" cy="4739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latin typeface="Courier New"/>
              </a:defRPr>
            </a:pPr>
            <a:endParaRPr lang="en-US" dirty="0"/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def suma_elementos(A, m, n) :</a:t>
            </a:r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ret = 0.0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acumulador inicializado en 0</a:t>
            </a:r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i = 0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variable que indica en que fila estamos</a:t>
            </a:r>
          </a:p>
          <a:p>
            <a:endParaRPr lang="pt-BR" dirty="0">
              <a:solidFill>
                <a:schemeClr val="accent3">
                  <a:lumMod val="75000"/>
                </a:schemeClr>
              </a:solidFill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pPr lvl="1"/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filas. Terminamos cuando i = m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while </a:t>
            </a:r>
            <a:r>
              <a:rPr lang="en-US" dirty="0" err="1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i</a:t>
            </a:r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&lt; m: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j = 0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variable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indica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en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columna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estamos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.</a:t>
            </a:r>
          </a:p>
          <a:p>
            <a:pPr lvl="1"/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columnas de la fila i. Terminamos con j = n</a:t>
            </a:r>
          </a:p>
          <a:p>
            <a:pPr lvl="2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while j &lt; n :</a:t>
            </a:r>
          </a:p>
          <a:p>
            <a:pPr marL="457200" lvl="3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	ret = ret + A[i][j]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Actualizamos el valor de la suma</a:t>
            </a:r>
          </a:p>
          <a:p>
            <a:pPr lvl="3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j = j + 1</a:t>
            </a:r>
          </a:p>
          <a:p>
            <a:pPr lvl="3"/>
            <a:endParaRPr lang="en-US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pPr lvl="1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i = i + 1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pasamos a la siguiente fila.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return ret</a:t>
            </a:r>
          </a:p>
          <a:p>
            <a:endParaRPr lang="en-US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pPr algn="ctr"/>
            <a:r>
              <a:rPr lang="es-ES" b="1" dirty="0"/>
              <a:t>Cómo podríamos hacer el código más modularizado usando una función </a:t>
            </a:r>
            <a:r>
              <a:rPr lang="en-US" b="1" dirty="0"/>
              <a:t>auxiliar?</a:t>
            </a:r>
            <a:endParaRPr lang="en-US" b="1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48C16867-F979-1115-D141-7ECDF9BE0F0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95C32B22-65FB-33A8-34A4-A1CE97AFD4CD}"/>
              </a:ext>
            </a:extLst>
          </p:cNvPr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E63B06C7-1B16-5517-35C4-E91CEC726602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06989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8CCFB-BBAC-6D89-D25E-959D21F9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7290D8-251C-1060-5E35-F7C207148EB5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2B6442-5B23-3254-90AF-113F4A48D100}"/>
              </a:ext>
            </a:extLst>
          </p:cNvPr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72E9887-7C9A-70B4-119E-D1B2139DC5FA}"/>
              </a:ext>
            </a:extLst>
          </p:cNvPr>
          <p:cNvSpPr txBox="1"/>
          <p:nvPr/>
        </p:nvSpPr>
        <p:spPr>
          <a:xfrm>
            <a:off x="365760" y="731520"/>
            <a:ext cx="485588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dirty="0" err="1"/>
              <a:t>Recorriendo</a:t>
            </a:r>
            <a:r>
              <a:rPr lang="es-AR" dirty="0"/>
              <a:t> una matriz</a:t>
            </a:r>
            <a:r>
              <a:rPr dirty="0"/>
              <a:t>:</a:t>
            </a:r>
            <a:r>
              <a:rPr lang="es-AR" dirty="0"/>
              <a:t> por filas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51CDE9-69D1-8AA0-021D-8B02C5B30A53}"/>
              </a:ext>
            </a:extLst>
          </p:cNvPr>
          <p:cNvSpPr txBox="1"/>
          <p:nvPr/>
        </p:nvSpPr>
        <p:spPr>
          <a:xfrm>
            <a:off x="274320" y="1325166"/>
            <a:ext cx="886968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El siguiente extracto del código está sumando los elementos de una fila.</a:t>
            </a:r>
          </a:p>
          <a:p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j = 0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variable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indica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en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columna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estamos</a:t>
            </a:r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.</a:t>
            </a:r>
          </a:p>
          <a:p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columnas de la fila i. Terminamos con j = n</a:t>
            </a:r>
          </a:p>
          <a:p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while j &lt; n :</a:t>
            </a:r>
          </a:p>
          <a:p>
            <a:pPr lvl="1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 = ret + A[i][j]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Actualizamos el valor de la suma.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j = j + 1</a:t>
            </a:r>
          </a:p>
          <a:p>
            <a:pPr lvl="1"/>
            <a:endParaRPr lang="en-US" dirty="0"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r>
              <a:rPr lang="es-ES" dirty="0"/>
              <a:t>Entonces, podemos usar una función auxiliar que dada A, la cantidad de columnas n, el índice de una fila i (con i  m) retorne un </a:t>
            </a:r>
            <a:r>
              <a:rPr lang="es-ES" dirty="0" err="1"/>
              <a:t>float</a:t>
            </a:r>
            <a:r>
              <a:rPr lang="es-ES" dirty="0"/>
              <a:t> sumando los </a:t>
            </a:r>
            <a:r>
              <a:rPr lang="en-US" dirty="0" err="1"/>
              <a:t>elementos</a:t>
            </a:r>
            <a:r>
              <a:rPr lang="en-US" dirty="0"/>
              <a:t> de la fila.</a:t>
            </a:r>
          </a:p>
          <a:p>
            <a:endParaRPr lang="en-US" dirty="0"/>
          </a:p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def sumar_elementos_fila_i(A,n,i):</a:t>
            </a:r>
          </a:p>
          <a:p>
            <a:pPr lvl="1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 = 0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acumulador para suma de la fila.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j = 0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variable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indica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en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columna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estamos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</a:t>
            </a:r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.</a:t>
            </a:r>
          </a:p>
          <a:p>
            <a:pPr lvl="1"/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columnas de la fila i. Terminamos con j = n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while j &lt; n :</a:t>
            </a:r>
          </a:p>
          <a:p>
            <a:pPr lvl="2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 = ret + A[i][j]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Actualizamos el valor de la suma</a:t>
            </a:r>
          </a:p>
          <a:p>
            <a:pPr lvl="2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j = j + 1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return ret</a:t>
            </a:r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C52B7703-7942-1EED-B834-50C36FD711E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36A93E09-F064-8610-D811-157F2D598311}"/>
              </a:ext>
            </a:extLst>
          </p:cNvPr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60219536-652B-10DD-0C5D-1B95330DC757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535840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E6B8-66EC-BBF8-F9E9-1D29C4C3F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71FB4F-0642-80C8-3E9A-43D3BF8161BC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20419F-B082-7F0B-22FB-DC69F5DB027B}"/>
              </a:ext>
            </a:extLst>
          </p:cNvPr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268FC-6F58-8D27-24A2-4ECA01CD9C19}"/>
              </a:ext>
            </a:extLst>
          </p:cNvPr>
          <p:cNvSpPr txBox="1"/>
          <p:nvPr/>
        </p:nvSpPr>
        <p:spPr>
          <a:xfrm>
            <a:off x="141473" y="692701"/>
            <a:ext cx="5512086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dirty="0" err="1"/>
              <a:t>Recorriendo</a:t>
            </a:r>
            <a:r>
              <a:rPr lang="es-AR" dirty="0"/>
              <a:t> una matriz</a:t>
            </a:r>
            <a:r>
              <a:rPr dirty="0"/>
              <a:t>:</a:t>
            </a:r>
            <a:r>
              <a:rPr lang="es-AR" dirty="0"/>
              <a:t> modularizado</a:t>
            </a:r>
            <a:endParaRPr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2852A5-FE42-A9A3-4160-46E7873ED2E8}"/>
              </a:ext>
            </a:extLst>
          </p:cNvPr>
          <p:cNvSpPr txBox="1"/>
          <p:nvPr/>
        </p:nvSpPr>
        <p:spPr>
          <a:xfrm>
            <a:off x="274320" y="1325166"/>
            <a:ext cx="88696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def sumar_elementos_fila_i(A,n,i):</a:t>
            </a:r>
          </a:p>
          <a:p>
            <a:pPr lvl="1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 = 0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acumulador para suma de la fila.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j = 0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variable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indica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en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que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columna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estamos</a:t>
            </a:r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.</a:t>
            </a:r>
          </a:p>
          <a:p>
            <a:pPr lvl="1"/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columnas de la fila i. Terminamos con j = n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while j &lt; n :</a:t>
            </a:r>
          </a:p>
          <a:p>
            <a:pPr lvl="2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 = ret + A[i][j]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Actualizamos el valor de la suma</a:t>
            </a:r>
          </a:p>
          <a:p>
            <a:pPr lvl="2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j = j + 1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return ret</a:t>
            </a:r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34CB0971-0E8A-00FE-2EFC-4231B5F1E15E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54FDA848-3527-A108-345A-F13FF883DE7E}"/>
              </a:ext>
            </a:extLst>
          </p:cNvPr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D7C8EB98-1295-B717-3C8A-B5111905077D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24CD8F0-69B8-EB5C-0E84-5CA8A97E2D02}"/>
              </a:ext>
            </a:extLst>
          </p:cNvPr>
          <p:cNvSpPr txBox="1"/>
          <p:nvPr/>
        </p:nvSpPr>
        <p:spPr>
          <a:xfrm>
            <a:off x="338587" y="3739548"/>
            <a:ext cx="8466826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def suma_elementos(A,m,n):</a:t>
            </a:r>
          </a:p>
          <a:p>
            <a:pPr lvl="1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 = 0.0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acumulador inicializado en 0</a:t>
            </a:r>
          </a:p>
          <a:p>
            <a:pPr lvl="1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i = 0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variable que indica en que fila estamos.</a:t>
            </a:r>
          </a:p>
          <a:p>
            <a:pPr lvl="1"/>
            <a:endParaRPr lang="pt-BR" dirty="0">
              <a:solidFill>
                <a:schemeClr val="accent3">
                  <a:lumMod val="75000"/>
                </a:schemeClr>
              </a:solidFill>
              <a:latin typeface="Simplified Arabic Fixed" panose="020F0502020204030204" pitchFamily="49" charset="-78"/>
              <a:cs typeface="Simplified Arabic Fixed" panose="020F0502020204030204" pitchFamily="49" charset="-78"/>
            </a:endParaRPr>
          </a:p>
          <a:p>
            <a:pPr lvl="1"/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filas. Terminamos cuando i = m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while </a:t>
            </a:r>
            <a:r>
              <a:rPr lang="en-US" dirty="0" err="1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i</a:t>
            </a:r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&lt; m:</a:t>
            </a:r>
          </a:p>
          <a:p>
            <a:pPr lvl="2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 = ret + sumar_elementos_fila_i (A,n,i)</a:t>
            </a:r>
          </a:p>
          <a:p>
            <a:pPr lvl="2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i = i +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1 # pasamos a la siguiente fila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return ret</a:t>
            </a:r>
          </a:p>
        </p:txBody>
      </p:sp>
    </p:spTree>
    <p:extLst>
      <p:ext uri="{BB962C8B-B14F-4D97-AF65-F5344CB8AC3E}">
        <p14:creationId xmlns:p14="http://schemas.microsoft.com/office/powerpoint/2010/main" val="49152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731520"/>
            <a:ext cx="133568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lang="es-AR" dirty="0"/>
              <a:t>Ejercicio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457200" y="1645920"/>
                <a:ext cx="8497019" cy="34163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endParaRPr lang="en-US" dirty="0"/>
              </a:p>
              <a:p>
                <a:r>
                  <a:rPr lang="en-US" dirty="0" err="1"/>
                  <a:t>Supongamos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</a:t>
                </a:r>
                <a:r>
                  <a:rPr lang="en-US" dirty="0" err="1"/>
                  <a:t>tenemos</a:t>
                </a:r>
                <a:r>
                  <a:rPr lang="en-US" dirty="0"/>
                  <a:t> </a:t>
                </a:r>
                <a:r>
                  <a:rPr lang="en-US" dirty="0" err="1"/>
                  <a:t>una</a:t>
                </a:r>
                <a:r>
                  <a:rPr lang="en-US" dirty="0"/>
                  <a:t> </a:t>
                </a:r>
                <a:r>
                  <a:rPr lang="en-US" dirty="0" err="1"/>
                  <a:t>matriz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s-AR" i="1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ar-AE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AR" i="1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s-AR" b="0" i="1" smtClean="0">
                            <a:latin typeface="Cambria Math" panose="02040503050406030204" pitchFamily="18" charset="0"/>
                          </a:rPr>
                          <m:t>𝑚𝑥𝑛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b="1" dirty="0" err="1"/>
                  <a:t>representada</a:t>
                </a:r>
                <a:r>
                  <a:rPr lang="en-US" b="1" dirty="0"/>
                  <a:t> </a:t>
                </a:r>
                <a:r>
                  <a:rPr lang="en-US" b="1" dirty="0" err="1"/>
                  <a:t>por</a:t>
                </a:r>
                <a:r>
                  <a:rPr lang="en-US" b="1" dirty="0"/>
                  <a:t> </a:t>
                </a:r>
                <a:r>
                  <a:rPr lang="en-US" b="1" dirty="0" err="1"/>
                  <a:t>filas</a:t>
                </a:r>
                <a:r>
                  <a:rPr lang="en-US" b="1" dirty="0"/>
                  <a:t> </a:t>
                </a:r>
                <a:r>
                  <a:rPr lang="en-US" dirty="0" err="1"/>
                  <a:t>mediante</a:t>
                </a:r>
                <a:r>
                  <a:rPr lang="en-US" dirty="0"/>
                  <a:t> </a:t>
                </a:r>
                <a:r>
                  <a:rPr lang="en-US" b="1" dirty="0" err="1"/>
                  <a:t>listas</a:t>
                </a:r>
                <a:r>
                  <a:rPr lang="en-US" b="1" dirty="0"/>
                  <a:t> de </a:t>
                </a:r>
                <a:r>
                  <a:rPr lang="en-US" b="1" dirty="0" err="1"/>
                  <a:t>listas</a:t>
                </a:r>
                <a:r>
                  <a:rPr lang="en-US" dirty="0"/>
                  <a:t>. </a:t>
                </a:r>
                <a:r>
                  <a:rPr lang="en-US" dirty="0" err="1"/>
                  <a:t>Buscamos</a:t>
                </a:r>
                <a:r>
                  <a:rPr lang="en-US" dirty="0"/>
                  <a:t> </a:t>
                </a:r>
                <a:r>
                  <a:rPr lang="en-US" dirty="0" err="1"/>
                  <a:t>implementar</a:t>
                </a:r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Una función </a:t>
                </a:r>
                <a:r>
                  <a:rPr lang="en-US" i="1" dirty="0" err="1"/>
                  <a:t>suma_por_filas</a:t>
                </a:r>
                <a:r>
                  <a:rPr lang="en-US" i="1" dirty="0"/>
                  <a:t> </a:t>
                </a:r>
                <a:r>
                  <a:rPr lang="en-US" dirty="0"/>
                  <a:t>que recibe la matriz A y retorna una lista de m posiciones, donde la i-</a:t>
                </a:r>
                <a:r>
                  <a:rPr lang="en-US" dirty="0" err="1"/>
                  <a:t>ésima</a:t>
                </a:r>
                <a:r>
                  <a:rPr lang="en-US" dirty="0"/>
                  <a:t> posición contiene la suma de los elementos de la fila i. A modo de ejemplo, para la matriz A usada como ejemplo debe retornar la lista [6,15,24,33].</a:t>
                </a:r>
              </a:p>
              <a:p>
                <a:pPr marL="342900" indent="-342900">
                  <a:buFont typeface="+mj-lt"/>
                  <a:buAutoNum type="arabicPeriod"/>
                </a:pPr>
                <a:r>
                  <a:rPr lang="en-US" dirty="0"/>
                  <a:t>Una función </a:t>
                </a:r>
                <a:r>
                  <a:rPr lang="en-US" i="1" dirty="0" err="1"/>
                  <a:t>suma_por_columnas</a:t>
                </a:r>
                <a:r>
                  <a:rPr lang="en-US" i="1" dirty="0"/>
                  <a:t> </a:t>
                </a:r>
                <a:r>
                  <a:rPr lang="en-US" dirty="0"/>
                  <a:t>que recibe la matriz A y retorna una lista de n posiciones, donde la j-</a:t>
                </a:r>
                <a:r>
                  <a:rPr lang="en-US" dirty="0" err="1"/>
                  <a:t>ésima</a:t>
                </a:r>
                <a:r>
                  <a:rPr lang="en-US" dirty="0"/>
                  <a:t> posición contiene la suma de los elementos de la fila j. A modo de ejemplo, para la matriz A usada como ejemplo debe retornar la lista [22,26,30].</a:t>
                </a:r>
                <a:endParaRPr dirty="0"/>
              </a:p>
            </p:txBody>
          </p:sp>
        </mc:Choice>
        <mc:Fallback>
          <p:sp>
            <p:nvSpPr>
              <p:cNvPr id="8" name="TextBox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645920"/>
                <a:ext cx="8497019" cy="3416320"/>
              </a:xfrm>
              <a:prstGeom prst="rect">
                <a:avLst/>
              </a:prstGeom>
              <a:blipFill>
                <a:blip r:embed="rId2"/>
                <a:stretch>
                  <a:fillRect l="-574" r="-287" b="-19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00E2F111-856F-6C61-1DDE-928701CB269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0A7ECCA5-6693-2908-3640-75DB2765CAD7}"/>
              </a:ext>
            </a:extLst>
          </p:cNvPr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E3219112-FA14-1ACB-FC02-B607D01269DB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87AEB-66A6-5DFD-24D0-16599CD7C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FDB8B0-6B6A-6804-8C7E-B3D108428923}"/>
              </a:ext>
            </a:extLst>
          </p:cNvPr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EB3B9A-8C1A-F649-CB33-00A3B0C205B9}"/>
              </a:ext>
            </a:extLst>
          </p:cNvPr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20A9302-3A4F-B20C-066C-92998E3D0BDF}"/>
              </a:ext>
            </a:extLst>
          </p:cNvPr>
          <p:cNvSpPr txBox="1"/>
          <p:nvPr/>
        </p:nvSpPr>
        <p:spPr>
          <a:xfrm>
            <a:off x="365760" y="731520"/>
            <a:ext cx="1335687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lang="es-AR" dirty="0"/>
              <a:t>Ejercicio</a:t>
            </a:r>
            <a:endParaRPr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889950-FE85-3CF9-3AA4-5F70D69984F6}"/>
                  </a:ext>
                </a:extLst>
              </p:cNvPr>
              <p:cNvSpPr txBox="1"/>
              <p:nvPr/>
            </p:nvSpPr>
            <p:spPr>
              <a:xfrm>
                <a:off x="457200" y="1406843"/>
                <a:ext cx="8497019" cy="2585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Idea general del </a:t>
                </a:r>
                <a:r>
                  <a:rPr lang="en-US" dirty="0" err="1"/>
                  <a:t>algoritmo</a:t>
                </a:r>
                <a:endParaRPr lang="en-US" dirty="0"/>
              </a:p>
              <a:p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dirty="0"/>
                  <a:t>Vamos a tener que recorrer eventualmente todos los elementos de la </a:t>
                </a:r>
                <a:r>
                  <a:rPr lang="en-US" dirty="0" err="1"/>
                  <a:t>matriz</a:t>
                </a:r>
                <a:r>
                  <a:rPr lang="en-US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dirty="0"/>
                  <a:t>El resultado va a ser una lista con m elementos. La posición i se </a:t>
                </a:r>
                <a:r>
                  <a:rPr lang="en-US" dirty="0" err="1"/>
                  <a:t>corresponde</a:t>
                </a:r>
                <a:r>
                  <a:rPr lang="en-US" dirty="0"/>
                  <a:t> con la </a:t>
                </a:r>
                <a:r>
                  <a:rPr lang="en-US" dirty="0" err="1"/>
                  <a:t>suma</a:t>
                </a:r>
                <a:r>
                  <a:rPr lang="en-US" dirty="0"/>
                  <a:t> de la fila </a:t>
                </a:r>
                <a:r>
                  <a:rPr lang="en-US" dirty="0" err="1"/>
                  <a:t>i</a:t>
                </a:r>
                <a:r>
                  <a:rPr lang="en-US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Podemos </a:t>
                </a:r>
                <a:r>
                  <a:rPr lang="en-US" dirty="0" err="1"/>
                  <a:t>calcular</a:t>
                </a:r>
                <a:r>
                  <a:rPr lang="en-US" dirty="0"/>
                  <a:t> de a </a:t>
                </a:r>
                <a:r>
                  <a:rPr lang="en-US" dirty="0" err="1"/>
                  <a:t>una</a:t>
                </a:r>
                <a:r>
                  <a:rPr lang="en-US" dirty="0"/>
                  <a:t> fila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vez</a:t>
                </a:r>
                <a:r>
                  <a:rPr lang="en-US" dirty="0"/>
                  <a:t>. </a:t>
                </a:r>
                <a:r>
                  <a:rPr lang="en-US" i="1" dirty="0" err="1"/>
                  <a:t>Iteramos</a:t>
                </a:r>
                <a:r>
                  <a:rPr lang="en-US" i="1" dirty="0"/>
                  <a:t> </a:t>
                </a:r>
                <a:r>
                  <a:rPr lang="en-US" i="1" dirty="0" err="1"/>
                  <a:t>todas</a:t>
                </a:r>
                <a:r>
                  <a:rPr lang="en-US" i="1" dirty="0"/>
                  <a:t> las </a:t>
                </a:r>
                <a:r>
                  <a:rPr lang="en-US" i="1" dirty="0" err="1"/>
                  <a:t>filas</a:t>
                </a:r>
                <a:r>
                  <a:rPr lang="en-US" i="1" dirty="0"/>
                  <a:t> </a:t>
                </a:r>
                <a:r>
                  <a:rPr lang="en-US" dirty="0"/>
                  <a:t>1 a m (0 a m - 1).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dirty="0"/>
                  <a:t>Cuando estamos analizando la fila</a:t>
                </a:r>
                <a14:m>
                  <m:oMath xmlns:m="http://schemas.openxmlformats.org/officeDocument/2006/math">
                    <a:fld id="{825F15A7-03F4-43D7-82C5-3E23DA2F108C}" type="mathplaceholder">
                      <a:rPr lang="es-ES" i="1" smtClean="0">
                        <a:latin typeface="Cambria Math" panose="02040503050406030204" pitchFamily="18" charset="0"/>
                      </a:rPr>
                      <a:t>Type equation here.</a:t>
                    </a:fld>
                  </m:oMath>
                </a14:m>
                <a:r>
                  <a:rPr lang="es-ES" dirty="0"/>
                  <a:t> i, entonces queremos sumar los </a:t>
                </a:r>
                <a:r>
                  <a:rPr lang="en-US" dirty="0" err="1"/>
                  <a:t>elementos</a:t>
                </a:r>
                <a:r>
                  <a:rPr lang="en-US" dirty="0"/>
                  <a:t> ai1; ai2; : : : ; </a:t>
                </a:r>
                <a:r>
                  <a:rPr lang="en-US" dirty="0" err="1"/>
                  <a:t>ain</a:t>
                </a:r>
                <a:r>
                  <a:rPr lang="en-US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s-ES" dirty="0"/>
                  <a:t>Cuando recorrimos todas las filas, retornamos la lista.</a:t>
                </a:r>
                <a:endParaRPr lang="en-US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B889950-FE85-3CF9-3AA4-5F70D69984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406843"/>
                <a:ext cx="8497019" cy="2585323"/>
              </a:xfrm>
              <a:prstGeom prst="rect">
                <a:avLst/>
              </a:prstGeom>
              <a:blipFill>
                <a:blip r:embed="rId2"/>
                <a:stretch>
                  <a:fillRect l="-574" t="-1415" b="-28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3C5E07C3-74A7-C043-A59C-94E9A1B220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403A671C-2EF0-736F-A455-831CB98976F7}"/>
              </a:ext>
            </a:extLst>
          </p:cNvPr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1F1D78BB-EE05-9402-EB8E-4743644DD347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E567664-5532-4C4B-0768-66617D7B64AF}"/>
              </a:ext>
            </a:extLst>
          </p:cNvPr>
          <p:cNvSpPr txBox="1"/>
          <p:nvPr/>
        </p:nvSpPr>
        <p:spPr>
          <a:xfrm>
            <a:off x="50033" y="4292477"/>
            <a:ext cx="9592574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def suma_por_filas (A, m, n):</a:t>
            </a:r>
          </a:p>
          <a:p>
            <a:pPr lvl="1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 = [0]x m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lista de m posicines inicializada en 0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for </a:t>
            </a:r>
            <a:r>
              <a:rPr lang="en-US" dirty="0" err="1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i</a:t>
            </a:r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in range (m): 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Recorremos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 las </a:t>
            </a:r>
            <a:r>
              <a:rPr lang="en-US" dirty="0" err="1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filas</a:t>
            </a:r>
            <a:r>
              <a:rPr lang="en-US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.</a:t>
            </a:r>
          </a:p>
          <a:p>
            <a:pPr lvl="2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for j in range (n):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Recorremos las columnas de la fila i</a:t>
            </a:r>
          </a:p>
          <a:p>
            <a:pPr lvl="2"/>
            <a:r>
              <a:rPr lang="pt-BR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	ret[i] = ret[i]+A[i][j] </a:t>
            </a:r>
            <a:r>
              <a:rPr lang="pt-BR" dirty="0">
                <a:solidFill>
                  <a:schemeClr val="accent3">
                    <a:lumMod val="75000"/>
                  </a:schemeClr>
                </a:solidFill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# Actualizamos valor de la suma</a:t>
            </a:r>
          </a:p>
          <a:p>
            <a:pPr lvl="1"/>
            <a:r>
              <a:rPr lang="en-US" dirty="0">
                <a:latin typeface="Simplified Arabic Fixed" panose="020F0502020204030204" pitchFamily="49" charset="-78"/>
                <a:cs typeface="Simplified Arabic Fixed" panose="020F0502020204030204" pitchFamily="49" charset="-78"/>
              </a:rPr>
              <a:t>return ret</a:t>
            </a:r>
          </a:p>
        </p:txBody>
      </p:sp>
    </p:spTree>
    <p:extLst>
      <p:ext uri="{BB962C8B-B14F-4D97-AF65-F5344CB8AC3E}">
        <p14:creationId xmlns:p14="http://schemas.microsoft.com/office/powerpoint/2010/main" val="2919341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75000"/>
            <a:lumOff val="25000"/>
          </a:schemeClr>
        </a:solidFill>
        <a:effectLst/>
      </p:bgPr>
    </p:bg>
    <p:spTree>
      <p:nvGrpSpPr>
        <p:cNvPr id="1" name="Shape 98">
          <a:extLst>
            <a:ext uri="{FF2B5EF4-FFF2-40B4-BE49-F238E27FC236}">
              <a16:creationId xmlns:a16="http://schemas.microsoft.com/office/drawing/2014/main" id="{A198053A-C274-B40C-49B0-DE1A60216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>
            <a:extLst>
              <a:ext uri="{FF2B5EF4-FFF2-40B4-BE49-F238E27FC236}">
                <a16:creationId xmlns:a16="http://schemas.microsoft.com/office/drawing/2014/main" id="{5B123A61-A7FD-2934-568A-098A2EDB0DA8}"/>
              </a:ext>
            </a:extLst>
          </p:cNvPr>
          <p:cNvSpPr txBox="1"/>
          <p:nvPr/>
        </p:nvSpPr>
        <p:spPr>
          <a:xfrm>
            <a:off x="2240672" y="2915974"/>
            <a:ext cx="4902000" cy="699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2650" rIns="0" bIns="0" anchor="t" anchorCtr="0">
            <a:spAutoFit/>
          </a:bodyPr>
          <a:lstStyle/>
          <a:p>
            <a:pPr marL="25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lang="en-US" sz="2200" cap="small" dirty="0">
                <a:solidFill>
                  <a:srgbClr val="F4F2ED"/>
                </a:solidFill>
                <a:latin typeface="Tahoma"/>
                <a:ea typeface="Tahoma"/>
                <a:cs typeface="Tahoma"/>
                <a:sym typeface="Tahoma"/>
              </a:rPr>
              <a:t>CICLOS ANIDADOS MÁS ALLÁ DE MATRICES</a:t>
            </a:r>
            <a:endParaRPr sz="2200" b="0" i="0" u="none" strike="noStrike" cap="none" dirty="0">
              <a:solidFill>
                <a:srgbClr val="000000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00" name="Google Shape;100;p15">
            <a:extLst>
              <a:ext uri="{FF2B5EF4-FFF2-40B4-BE49-F238E27FC236}">
                <a16:creationId xmlns:a16="http://schemas.microsoft.com/office/drawing/2014/main" id="{9AFE60CA-3D6B-CD75-C8D7-83871458CDC1}"/>
              </a:ext>
            </a:extLst>
          </p:cNvPr>
          <p:cNvGrpSpPr/>
          <p:nvPr/>
        </p:nvGrpSpPr>
        <p:grpSpPr>
          <a:xfrm>
            <a:off x="2260855" y="3600041"/>
            <a:ext cx="4642600" cy="50335"/>
            <a:chOff x="1133919" y="1518500"/>
            <a:chExt cx="2340610" cy="25400"/>
          </a:xfrm>
        </p:grpSpPr>
        <p:sp>
          <p:nvSpPr>
            <p:cNvPr id="101" name="Google Shape;101;p15">
              <a:extLst>
                <a:ext uri="{FF2B5EF4-FFF2-40B4-BE49-F238E27FC236}">
                  <a16:creationId xmlns:a16="http://schemas.microsoft.com/office/drawing/2014/main" id="{8213198B-9A7C-0E1E-8A9D-1EF4DCDD30FC}"/>
                </a:ext>
              </a:extLst>
            </p:cNvPr>
            <p:cNvSpPr/>
            <p:nvPr/>
          </p:nvSpPr>
          <p:spPr>
            <a:xfrm>
              <a:off x="1133919" y="1518500"/>
              <a:ext cx="2340610" cy="25400"/>
            </a:xfrm>
            <a:custGeom>
              <a:avLst/>
              <a:gdLst/>
              <a:ahLst/>
              <a:cxnLst/>
              <a:rect l="l" t="t" r="r" b="b"/>
              <a:pathLst>
                <a:path w="2340610" h="25400" extrusionOk="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4F2ED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endPara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2" name="Google Shape;102;p15">
              <a:extLst>
                <a:ext uri="{FF2B5EF4-FFF2-40B4-BE49-F238E27FC236}">
                  <a16:creationId xmlns:a16="http://schemas.microsoft.com/office/drawing/2014/main" id="{A4D9CB51-A7CB-CE26-9DD7-EE0716382961}"/>
                </a:ext>
              </a:extLst>
            </p:cNvPr>
            <p:cNvSpPr/>
            <p:nvPr/>
          </p:nvSpPr>
          <p:spPr>
            <a:xfrm>
              <a:off x="1133919" y="1518500"/>
              <a:ext cx="2340610" cy="25400"/>
            </a:xfrm>
            <a:custGeom>
              <a:avLst/>
              <a:gdLst/>
              <a:ahLst/>
              <a:cxnLst/>
              <a:rect l="l" t="t" r="r" b="b"/>
              <a:pathLst>
                <a:path w="2340610" h="25400" extrusionOk="0">
                  <a:moveTo>
                    <a:pt x="0" y="25305"/>
                  </a:moveTo>
                  <a:lnTo>
                    <a:pt x="0" y="0"/>
                  </a:lnTo>
                  <a:lnTo>
                    <a:pt x="2340180" y="0"/>
                  </a:lnTo>
                  <a:lnTo>
                    <a:pt x="2340180" y="25305"/>
                  </a:lnTo>
                  <a:lnTo>
                    <a:pt x="0" y="25305"/>
                  </a:lnTo>
                  <a:close/>
                </a:path>
              </a:pathLst>
            </a:custGeom>
            <a:noFill/>
            <a:ln w="18875" cap="flat" cmpd="sng">
              <a:solidFill>
                <a:srgbClr val="F4F2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endPara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3" name="Google Shape;103;p15">
              <a:extLst>
                <a:ext uri="{FF2B5EF4-FFF2-40B4-BE49-F238E27FC236}">
                  <a16:creationId xmlns:a16="http://schemas.microsoft.com/office/drawing/2014/main" id="{3188B446-A717-14CE-0B2F-5151BFB07416}"/>
                </a:ext>
              </a:extLst>
            </p:cNvPr>
            <p:cNvSpPr/>
            <p:nvPr/>
          </p:nvSpPr>
          <p:spPr>
            <a:xfrm>
              <a:off x="1133919" y="1518500"/>
              <a:ext cx="1221105" cy="25400"/>
            </a:xfrm>
            <a:custGeom>
              <a:avLst/>
              <a:gdLst/>
              <a:ahLst/>
              <a:cxnLst/>
              <a:rect l="l" t="t" r="r" b="b"/>
              <a:pathLst>
                <a:path w="1221105" h="25400" extrusionOk="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006DBF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endPara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4" name="Google Shape;104;p15">
              <a:extLst>
                <a:ext uri="{FF2B5EF4-FFF2-40B4-BE49-F238E27FC236}">
                  <a16:creationId xmlns:a16="http://schemas.microsoft.com/office/drawing/2014/main" id="{63DF2622-9317-A4CB-28AC-7E06D6DD3879}"/>
                </a:ext>
              </a:extLst>
            </p:cNvPr>
            <p:cNvSpPr/>
            <p:nvPr/>
          </p:nvSpPr>
          <p:spPr>
            <a:xfrm>
              <a:off x="1133919" y="1518500"/>
              <a:ext cx="1221105" cy="25400"/>
            </a:xfrm>
            <a:custGeom>
              <a:avLst/>
              <a:gdLst/>
              <a:ahLst/>
              <a:cxnLst/>
              <a:rect l="l" t="t" r="r" b="b"/>
              <a:pathLst>
                <a:path w="1221105" h="25400" extrusionOk="0">
                  <a:moveTo>
                    <a:pt x="0" y="25305"/>
                  </a:moveTo>
                  <a:lnTo>
                    <a:pt x="0" y="0"/>
                  </a:lnTo>
                  <a:lnTo>
                    <a:pt x="1220943" y="0"/>
                  </a:lnTo>
                  <a:lnTo>
                    <a:pt x="1220943" y="25305"/>
                  </a:lnTo>
                  <a:lnTo>
                    <a:pt x="0" y="25305"/>
                  </a:lnTo>
                  <a:close/>
                </a:path>
              </a:pathLst>
            </a:custGeom>
            <a:solidFill>
              <a:srgbClr val="FFD966"/>
            </a:solidFill>
            <a:ln w="18875" cap="flat" cmpd="sng">
              <a:solidFill>
                <a:srgbClr val="F1C23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endParaRPr sz="2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0933712"/>
      </p:ext>
    </p:extLst>
  </p:cSld>
  <p:clrMapOvr>
    <a:masterClrMapping/>
  </p:clrMapOvr>
  <p:transition>
    <p:fade thruBlk="1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379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FFFFF"/>
                </a:solidFill>
              </a:defRPr>
            </a:pPr>
            <a:r>
              <a:t>Juan José Miranda-Bront / Pablo J Piccoli Bornia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731520"/>
            <a:ext cx="4091441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lang="es-AR" dirty="0"/>
              <a:t>Detectando errores de tipeo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365760" y="1248980"/>
            <a:ext cx="8531525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Es muy común que al tipear un texto en la computadora o el teléfono muchas veces nos equivoquemos al presionar las teclas. Muchos de estos errores pueden ser identificados fácilmente y corregidos mediante algún programa que analice lo que escribimos y proponga una sugerencia. Vamos a considerar solamente un tipo simple y común de </a:t>
            </a:r>
            <a:r>
              <a:rPr lang="es-ES" i="1" dirty="0" err="1"/>
              <a:t>typos</a:t>
            </a:r>
            <a:r>
              <a:rPr lang="es-ES" dirty="0"/>
              <a:t>, y pensar cómo resolverlo con las herramientas que tenemos.</a:t>
            </a:r>
          </a:p>
          <a:p>
            <a:endParaRPr lang="es-ES" dirty="0"/>
          </a:p>
          <a:p>
            <a:r>
              <a:rPr lang="es-ES" dirty="0"/>
              <a:t>Un error muy común es escribir una palabra y equivocarnos en alguna de las letras, presionando alguna cercana alrededor. A modo de ejemplo, en un teclado </a:t>
            </a:r>
            <a:r>
              <a:rPr lang="es-ES" i="1" dirty="0" err="1"/>
              <a:t>qwerty</a:t>
            </a:r>
            <a:r>
              <a:rPr lang="es-ES" dirty="0"/>
              <a:t>, al querer tipear la palabra </a:t>
            </a:r>
            <a:r>
              <a:rPr lang="es-ES" i="1" dirty="0"/>
              <a:t>casa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podemos confundir la </a:t>
            </a:r>
            <a:r>
              <a:rPr lang="es-ES" i="1" dirty="0"/>
              <a:t>s </a:t>
            </a:r>
            <a:r>
              <a:rPr lang="es-ES" dirty="0"/>
              <a:t>con la </a:t>
            </a:r>
            <a:r>
              <a:rPr lang="es-ES" i="1" dirty="0"/>
              <a:t>d </a:t>
            </a:r>
            <a:r>
              <a:rPr lang="es-ES" dirty="0"/>
              <a:t>y tipear </a:t>
            </a:r>
            <a:r>
              <a:rPr lang="es-ES" i="1" dirty="0"/>
              <a:t>cada</a:t>
            </a:r>
            <a:r>
              <a:rPr lang="es-ES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o confundir la </a:t>
            </a:r>
            <a:r>
              <a:rPr lang="es-ES" i="1" dirty="0"/>
              <a:t>a </a:t>
            </a:r>
            <a:r>
              <a:rPr lang="es-ES" dirty="0"/>
              <a:t>con la </a:t>
            </a:r>
            <a:r>
              <a:rPr lang="es-ES" i="1" dirty="0"/>
              <a:t>s </a:t>
            </a:r>
            <a:r>
              <a:rPr lang="es-ES" dirty="0"/>
              <a:t>y escribir </a:t>
            </a:r>
            <a:r>
              <a:rPr lang="es-ES" i="1" dirty="0" err="1"/>
              <a:t>csss</a:t>
            </a:r>
            <a:r>
              <a:rPr lang="es-ES" dirty="0"/>
              <a:t>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también podría suceder que por la velocidad de escritura se invierta el orden en el que se presionan las letras, en lugar de escribir </a:t>
            </a:r>
            <a:r>
              <a:rPr lang="es-ES" i="1" dirty="0"/>
              <a:t>casa </a:t>
            </a:r>
            <a:r>
              <a:rPr lang="en-US" dirty="0" err="1"/>
              <a:t>obtenemos</a:t>
            </a:r>
            <a:r>
              <a:rPr lang="en-US" dirty="0"/>
              <a:t> </a:t>
            </a:r>
            <a:r>
              <a:rPr lang="en-US" i="1" dirty="0" err="1"/>
              <a:t>caas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s-ES" dirty="0"/>
              <a:t>Una manera muy elemental de identificar estos casos consiste en definir una</a:t>
            </a:r>
          </a:p>
          <a:p>
            <a:r>
              <a:rPr lang="es-ES" dirty="0"/>
              <a:t>medida de distancia entre dos palabras. A fines prácticos, vamos a usar una</a:t>
            </a:r>
          </a:p>
          <a:p>
            <a:r>
              <a:rPr lang="en-US" dirty="0" err="1"/>
              <a:t>definición</a:t>
            </a:r>
            <a:r>
              <a:rPr lang="en-US" dirty="0"/>
              <a:t> ad-hoc para </a:t>
            </a:r>
            <a:r>
              <a:rPr lang="en-US" dirty="0" err="1"/>
              <a:t>ejercitar</a:t>
            </a:r>
            <a:r>
              <a:rPr lang="en-US" dirty="0"/>
              <a:t>.</a:t>
            </a:r>
            <a:endParaRPr dirty="0"/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000DDF19-59EC-571B-0186-401494E2C1C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79;p22">
            <a:extLst>
              <a:ext uri="{FF2B5EF4-FFF2-40B4-BE49-F238E27FC236}">
                <a16:creationId xmlns:a16="http://schemas.microsoft.com/office/drawing/2014/main" id="{AADBCDEF-5E5D-1EE6-60B5-9E047971AC69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9144000" cy="365760"/>
          </a:xfrm>
          <a:prstGeom prst="rect">
            <a:avLst/>
          </a:prstGeom>
          <a:solidFill>
            <a:srgbClr val="28282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5821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323232"/>
                </a:solidFill>
              </a:defRPr>
            </a:pPr>
            <a:r>
              <a:rPr dirty="0" err="1"/>
              <a:t>Detectando</a:t>
            </a:r>
            <a:r>
              <a:rPr dirty="0"/>
              <a:t> </a:t>
            </a:r>
            <a:r>
              <a:rPr dirty="0" err="1"/>
              <a:t>errores</a:t>
            </a:r>
            <a:r>
              <a:rPr dirty="0"/>
              <a:t> de </a:t>
            </a:r>
            <a:r>
              <a:rPr dirty="0" err="1"/>
              <a:t>tipeo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182880" y="1088529"/>
            <a:ext cx="8961120" cy="5355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dirty="0"/>
              <a:t>Una manera muy elemental de identificar estos casos consiste en definir una medida de distancia entre dos palabras. A fines prácticos, vamos a usar una </a:t>
            </a:r>
            <a:r>
              <a:rPr lang="en-US" dirty="0" err="1"/>
              <a:t>definición</a:t>
            </a:r>
            <a:r>
              <a:rPr lang="en-US" dirty="0"/>
              <a:t> ad-hoc para </a:t>
            </a:r>
            <a:r>
              <a:rPr lang="en-US" dirty="0" err="1"/>
              <a:t>ejercitar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s-ES" dirty="0"/>
              <a:t>Decimos que dos palabras son </a:t>
            </a:r>
            <a:r>
              <a:rPr lang="es-ES" b="1" dirty="0"/>
              <a:t>similares </a:t>
            </a:r>
            <a:r>
              <a:rPr lang="es-ES" dirty="0"/>
              <a:t>si:</a:t>
            </a:r>
          </a:p>
          <a:p>
            <a:endParaRPr lang="es-ES" dirty="0"/>
          </a:p>
          <a:p>
            <a:r>
              <a:rPr lang="es-ES" dirty="0"/>
              <a:t>1. tienen la misma cantidad de caracteres, y</a:t>
            </a:r>
          </a:p>
          <a:p>
            <a:r>
              <a:rPr lang="es-ES" dirty="0"/>
              <a:t>2. la cantidad de posiciones con caracteres distintos menor o igual que 2.</a:t>
            </a:r>
          </a:p>
          <a:p>
            <a:endParaRPr lang="es-ES" dirty="0"/>
          </a:p>
          <a:p>
            <a:r>
              <a:rPr lang="en-US" dirty="0"/>
              <a:t>Se </a:t>
            </a:r>
            <a:r>
              <a:rPr lang="en-US" dirty="0" err="1"/>
              <a:t>pide</a:t>
            </a:r>
            <a:r>
              <a:rPr lang="en-US" dirty="0"/>
              <a:t>:</a:t>
            </a:r>
          </a:p>
          <a:p>
            <a:endParaRPr lang="en-US" dirty="0"/>
          </a:p>
          <a:p>
            <a:r>
              <a:rPr lang="es-ES" dirty="0"/>
              <a:t>1. Completar la función </a:t>
            </a:r>
            <a:r>
              <a:rPr lang="es-ES" dirty="0" err="1"/>
              <a:t>son_similares</a:t>
            </a:r>
            <a:r>
              <a:rPr lang="es-ES" dirty="0"/>
              <a:t>.</a:t>
            </a:r>
          </a:p>
          <a:p>
            <a:r>
              <a:rPr lang="es-ES" dirty="0"/>
              <a:t>2. Completar la función </a:t>
            </a:r>
            <a:r>
              <a:rPr lang="es-ES" dirty="0" err="1"/>
              <a:t>pares_similares</a:t>
            </a:r>
            <a:r>
              <a:rPr lang="es-ES" dirty="0"/>
              <a:t>, que dada una lista de palabras </a:t>
            </a:r>
            <a:r>
              <a:rPr lang="en-US" dirty="0" err="1"/>
              <a:t>retorna</a:t>
            </a:r>
            <a:r>
              <a:rPr lang="en-US" dirty="0"/>
              <a:t>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pares de palabras </a:t>
            </a:r>
            <a:r>
              <a:rPr lang="en-US" dirty="0" err="1"/>
              <a:t>distintas</a:t>
            </a:r>
            <a:r>
              <a:rPr lang="en-US" dirty="0"/>
              <a:t> </a:t>
            </a:r>
            <a:r>
              <a:rPr lang="en-US" dirty="0" err="1"/>
              <a:t>similares</a:t>
            </a:r>
            <a:r>
              <a:rPr lang="en-US" dirty="0"/>
              <a:t>. A modo de </a:t>
            </a:r>
            <a:r>
              <a:rPr lang="en-US" dirty="0" err="1"/>
              <a:t>ejemplo</a:t>
            </a:r>
            <a:r>
              <a:rPr lang="en-US" dirty="0"/>
              <a:t>, para</a:t>
            </a:r>
          </a:p>
          <a:p>
            <a:endParaRPr lang="en-US" dirty="0"/>
          </a:p>
          <a:p>
            <a:r>
              <a:rPr lang="en-US" dirty="0"/>
              <a:t>l = [ </a:t>
            </a:r>
            <a:r>
              <a:rPr lang="en-US" dirty="0">
                <a:solidFill>
                  <a:srgbClr val="7030A0"/>
                </a:solidFill>
              </a:rPr>
              <a:t>' casa ' , ' </a:t>
            </a:r>
            <a:r>
              <a:rPr lang="en-US" dirty="0" err="1">
                <a:solidFill>
                  <a:srgbClr val="7030A0"/>
                </a:solidFill>
              </a:rPr>
              <a:t>caas</a:t>
            </a:r>
            <a:r>
              <a:rPr lang="en-US" dirty="0">
                <a:solidFill>
                  <a:srgbClr val="7030A0"/>
                </a:solidFill>
              </a:rPr>
              <a:t> ' , ' </a:t>
            </a:r>
            <a:r>
              <a:rPr lang="en-US" dirty="0" err="1">
                <a:solidFill>
                  <a:srgbClr val="7030A0"/>
                </a:solidFill>
              </a:rPr>
              <a:t>cada</a:t>
            </a:r>
            <a:r>
              <a:rPr lang="en-US" dirty="0">
                <a:solidFill>
                  <a:srgbClr val="7030A0"/>
                </a:solidFill>
              </a:rPr>
              <a:t> ' , ' </a:t>
            </a:r>
            <a:r>
              <a:rPr lang="en-US" dirty="0" err="1">
                <a:solidFill>
                  <a:srgbClr val="7030A0"/>
                </a:solidFill>
              </a:rPr>
              <a:t>csad</a:t>
            </a:r>
            <a:r>
              <a:rPr lang="en-US" dirty="0">
                <a:solidFill>
                  <a:srgbClr val="7030A0"/>
                </a:solidFill>
              </a:rPr>
              <a:t> ' </a:t>
            </a:r>
            <a:r>
              <a:rPr lang="en-US" dirty="0"/>
              <a:t>]</a:t>
            </a:r>
          </a:p>
          <a:p>
            <a:r>
              <a:rPr lang="es-ES" dirty="0"/>
              <a:t>debería retornar (independientemente del orden)</a:t>
            </a:r>
          </a:p>
          <a:p>
            <a:endParaRPr lang="es-ES" dirty="0"/>
          </a:p>
          <a:p>
            <a:r>
              <a:rPr lang="en-US" dirty="0"/>
              <a:t>[ ( </a:t>
            </a:r>
            <a:r>
              <a:rPr lang="en-US" dirty="0">
                <a:solidFill>
                  <a:srgbClr val="7030A0"/>
                </a:solidFill>
              </a:rPr>
              <a:t>' casa ' , ' </a:t>
            </a:r>
            <a:r>
              <a:rPr lang="en-US" dirty="0" err="1">
                <a:solidFill>
                  <a:srgbClr val="7030A0"/>
                </a:solidFill>
              </a:rPr>
              <a:t>caas</a:t>
            </a:r>
            <a:r>
              <a:rPr lang="en-US" dirty="0">
                <a:solidFill>
                  <a:srgbClr val="7030A0"/>
                </a:solidFill>
              </a:rPr>
              <a:t> ' </a:t>
            </a:r>
            <a:r>
              <a:rPr lang="en-US" dirty="0"/>
              <a:t>) , ( </a:t>
            </a:r>
            <a:r>
              <a:rPr lang="en-US" dirty="0">
                <a:solidFill>
                  <a:srgbClr val="7030A0"/>
                </a:solidFill>
              </a:rPr>
              <a:t>' casa ' , ' </a:t>
            </a:r>
            <a:r>
              <a:rPr lang="en-US" dirty="0" err="1">
                <a:solidFill>
                  <a:srgbClr val="7030A0"/>
                </a:solidFill>
              </a:rPr>
              <a:t>cada</a:t>
            </a:r>
            <a:r>
              <a:rPr lang="en-US" dirty="0">
                <a:solidFill>
                  <a:srgbClr val="7030A0"/>
                </a:solidFill>
              </a:rPr>
              <a:t> ' </a:t>
            </a:r>
            <a:r>
              <a:rPr lang="en-US" dirty="0"/>
              <a:t>) , ( </a:t>
            </a:r>
            <a:r>
              <a:rPr lang="en-US" dirty="0">
                <a:solidFill>
                  <a:srgbClr val="7030A0"/>
                </a:solidFill>
              </a:rPr>
              <a:t>' </a:t>
            </a:r>
            <a:r>
              <a:rPr lang="en-US" dirty="0" err="1">
                <a:solidFill>
                  <a:srgbClr val="7030A0"/>
                </a:solidFill>
              </a:rPr>
              <a:t>caas</a:t>
            </a:r>
            <a:r>
              <a:rPr lang="en-US" dirty="0">
                <a:solidFill>
                  <a:srgbClr val="7030A0"/>
                </a:solidFill>
              </a:rPr>
              <a:t> ' , ' </a:t>
            </a:r>
            <a:r>
              <a:rPr lang="en-US" dirty="0" err="1">
                <a:solidFill>
                  <a:srgbClr val="7030A0"/>
                </a:solidFill>
              </a:rPr>
              <a:t>cada</a:t>
            </a:r>
            <a:r>
              <a:rPr lang="en-US" dirty="0">
                <a:solidFill>
                  <a:srgbClr val="7030A0"/>
                </a:solidFill>
              </a:rPr>
              <a:t> ' </a:t>
            </a:r>
            <a:r>
              <a:rPr lang="en-US" dirty="0"/>
              <a:t>) , ( </a:t>
            </a:r>
            <a:r>
              <a:rPr lang="en-US" dirty="0">
                <a:solidFill>
                  <a:srgbClr val="7030A0"/>
                </a:solidFill>
              </a:rPr>
              <a:t>' </a:t>
            </a:r>
            <a:r>
              <a:rPr lang="en-US" dirty="0" err="1">
                <a:solidFill>
                  <a:srgbClr val="7030A0"/>
                </a:solidFill>
              </a:rPr>
              <a:t>caas</a:t>
            </a:r>
            <a:r>
              <a:rPr lang="en-US" dirty="0">
                <a:solidFill>
                  <a:srgbClr val="7030A0"/>
                </a:solidFill>
              </a:rPr>
              <a:t> ' , '</a:t>
            </a:r>
            <a:r>
              <a:rPr lang="en-US" dirty="0" err="1">
                <a:solidFill>
                  <a:srgbClr val="7030A0"/>
                </a:solidFill>
              </a:rPr>
              <a:t>csad</a:t>
            </a:r>
            <a:r>
              <a:rPr lang="en-US" dirty="0">
                <a:solidFill>
                  <a:srgbClr val="7030A0"/>
                </a:solidFill>
              </a:rPr>
              <a:t> ' </a:t>
            </a:r>
            <a:r>
              <a:rPr lang="en-US" dirty="0"/>
              <a:t>) ]</a:t>
            </a:r>
            <a:endParaRPr dirty="0"/>
          </a:p>
        </p:txBody>
      </p:sp>
      <p:pic>
        <p:nvPicPr>
          <p:cNvPr id="9" name="Google Shape;114;p16" descr="di_tella2.png">
            <a:extLst>
              <a:ext uri="{FF2B5EF4-FFF2-40B4-BE49-F238E27FC236}">
                <a16:creationId xmlns:a16="http://schemas.microsoft.com/office/drawing/2014/main" id="{147BC3FE-90EE-D542-841A-C2B47AC8406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325350" y="20319"/>
            <a:ext cx="818650" cy="508001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23;p17">
            <a:extLst>
              <a:ext uri="{FF2B5EF4-FFF2-40B4-BE49-F238E27FC236}">
                <a16:creationId xmlns:a16="http://schemas.microsoft.com/office/drawing/2014/main" id="{5A1195A1-4B86-F776-C8A7-13709DBE094A}"/>
              </a:ext>
            </a:extLst>
          </p:cNvPr>
          <p:cNvSpPr txBox="1"/>
          <p:nvPr/>
        </p:nvSpPr>
        <p:spPr>
          <a:xfrm>
            <a:off x="274320" y="6537960"/>
            <a:ext cx="3657600" cy="2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en-US" sz="10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Pablo J Piccoli Bornia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79;p22">
            <a:extLst>
              <a:ext uri="{FF2B5EF4-FFF2-40B4-BE49-F238E27FC236}">
                <a16:creationId xmlns:a16="http://schemas.microsoft.com/office/drawing/2014/main" id="{15D5F02F-A8BB-1962-43F9-F409C024BB70}"/>
              </a:ext>
            </a:extLst>
          </p:cNvPr>
          <p:cNvSpPr txBox="1"/>
          <p:nvPr/>
        </p:nvSpPr>
        <p:spPr>
          <a:xfrm>
            <a:off x="274320" y="137160"/>
            <a:ext cx="45720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Métodos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Analíticos</a:t>
            </a:r>
            <a:r>
              <a:rPr lang="en-US" sz="1400" b="1" i="0" u="none" strike="noStrike" cap="none" dirty="0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400" b="1" i="0" u="none" strike="noStrike" cap="none" dirty="0" err="1">
                <a:solidFill>
                  <a:srgbClr val="323232"/>
                </a:solidFill>
                <a:latin typeface="Calibri"/>
                <a:ea typeface="Calibri"/>
                <a:cs typeface="Calibri"/>
                <a:sym typeface="Calibri"/>
              </a:rPr>
              <a:t>Programación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2014</Words>
  <Application>Microsoft Office PowerPoint</Application>
  <PresentationFormat>On-screen Show (4:3)</PresentationFormat>
  <Paragraphs>207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Simplified Arabic Fixed</vt:lpstr>
      <vt:lpstr>Tahoma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Longas, Daniela</cp:lastModifiedBy>
  <cp:revision>13</cp:revision>
  <dcterms:created xsi:type="dcterms:W3CDTF">2013-01-27T09:14:16Z</dcterms:created>
  <dcterms:modified xsi:type="dcterms:W3CDTF">2026-02-16T03:20:58Z</dcterms:modified>
  <cp:category/>
</cp:coreProperties>
</file>