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2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  <p:sldMasterId id="2147483670" r:id="rId13"/>
  </p:sld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  <p:sldId id="269" r:id="rId27"/>
    <p:sldId id="270" r:id="rId28"/>
    <p:sldId id="271" r:id="rId29"/>
    <p:sldId id="272" r:id="rId30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Master" Target="slideMasters/slideMaster12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slide" Target="slides/slide14.xml"/><Relationship Id="rId28" Type="http://schemas.openxmlformats.org/officeDocument/2006/relationships/slide" Target="slides/slide15.xml"/><Relationship Id="rId29" Type="http://schemas.openxmlformats.org/officeDocument/2006/relationships/slide" Target="slides/slide16.xml"/><Relationship Id="rId30" Type="http://schemas.openxmlformats.org/officeDocument/2006/relationships/slide" Target="slides/slide17.xml"/><Relationship Id="rId3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8B70FB8-0A02-49C2-BA78-8AA3BE04D5C5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IG_NU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D82C52F-97B3-446A-A6AB-98E9FD37D765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3253F2-7A03-4F2A-A498-A2E314FF0024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02CC73A-3503-43FE-9C0F-ED25DEF04F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7"/>
          </p:nvPr>
        </p:nvSpPr>
        <p:spPr/>
        <p:txBody>
          <a:bodyPr/>
          <a:p>
            <a:fld id="{E39B53F4-2044-4F88-8247-80670136A38A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_AND_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8"/>
          </p:nvPr>
        </p:nvSpPr>
        <p:spPr/>
        <p:txBody>
          <a:bodyPr/>
          <a:p>
            <a:fld id="{49BF22C9-9B96-4547-AC4C-3C73E03A7F9D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_AND_TWO_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3A2505ED-4755-4528-9B13-1D8F9DE25AF2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0"/>
          </p:nvPr>
        </p:nvSpPr>
        <p:spPr/>
        <p:txBody>
          <a:bodyPr/>
          <a:p>
            <a:fld id="{818D2943-14FB-4F2A-941B-C34885CBE57D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ONE_COLUMN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1"/>
          </p:nvPr>
        </p:nvSpPr>
        <p:spPr/>
        <p:txBody>
          <a:bodyPr/>
          <a:p>
            <a:fld id="{6EA245EB-757A-4B2F-8F55-F5F3B68B1955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IN_POI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2F47F4C8-2BE8-4674-8003-08CA663545E6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_TITLE_AND_DESCRI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3"/>
          </p:nvPr>
        </p:nvSpPr>
        <p:spPr/>
        <p:txBody>
          <a:bodyPr/>
          <a:p>
            <a:fld id="{CDC65836-E416-4B68-A438-569605B30391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APTION_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4"/>
          </p:nvPr>
        </p:nvSpPr>
        <p:spPr/>
        <p:txBody>
          <a:bodyPr/>
          <a:p>
            <a:fld id="{E782745D-5B77-423E-BB8C-45CE7C3A9FCF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_rels/slideMaster12.xml.rels><?xml version="1.0" encoding="UTF-8"?>
<Relationships xmlns="http://schemas.openxmlformats.org/package/2006/relationships"><Relationship Id="rId1" Type="http://schemas.openxmlformats.org/officeDocument/2006/relationships/theme" Target="../theme/theme12.xml"/><Relationship Id="rId2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</a:t>
            </a:r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F96551-9C72-49F2-8EAE-8680E8BE5A99}" type="slidenum">
              <a:rPr b="0" lang="es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311760" y="1106280"/>
            <a:ext cx="8520120" cy="1963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98341"/>
          </a:bodyPr>
          <a:p>
            <a:pPr indent="0" algn="ctr">
              <a:lnSpc>
                <a:spcPct val="100000"/>
              </a:lnSpc>
              <a:buNone/>
            </a:pPr>
            <a:r>
              <a:rPr b="0" lang="en-US" sz="12000" spc="-1" strike="noStrike">
                <a:solidFill>
                  <a:schemeClr val="dk1"/>
                </a:solidFill>
                <a:latin typeface="Arial"/>
                <a:ea typeface="Arial"/>
              </a:rPr>
              <a:t>xx%</a:t>
            </a:r>
            <a:endParaRPr b="0" lang="en-US" sz="1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311760" y="3152160"/>
            <a:ext cx="8520120" cy="130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50000" lnSpcReduction="2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9C723720-6368-4BC0-A5B0-A0677F899BC3}" type="slidenum">
              <a:rPr b="0" lang="es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sldNum" idx="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5D82003-7318-4F5B-BA0F-3431BECC46AA}" type="slidenum">
              <a:rPr b="0" lang="es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51;p13"/>
          <p:cNvSpPr/>
          <p:nvPr/>
        </p:nvSpPr>
        <p:spPr>
          <a:xfrm>
            <a:off x="0" y="0"/>
            <a:ext cx="9135360" cy="5140800"/>
          </a:xfrm>
          <a:custGeom>
            <a:avLst/>
            <a:gdLst>
              <a:gd name="textAreaLeft" fmla="*/ 0 w 9135360"/>
              <a:gd name="textAreaRight" fmla="*/ 9135720 w 9135360"/>
              <a:gd name="textAreaTop" fmla="*/ 0 h 5140800"/>
              <a:gd name="textAreaBottom" fmla="*/ 5141160 h 5140800"/>
            </a:gdLst>
            <a:ahLst/>
            <a:rect l="textAreaLeft" t="textAreaTop" r="textAreaRight" b="textAreaBottom"/>
            <a:pathLst>
              <a:path w="4608195" h="3456304">
                <a:moveTo>
                  <a:pt x="4608004" y="0"/>
                </a:moveTo>
                <a:lnTo>
                  <a:pt x="0" y="0"/>
                </a:lnTo>
                <a:lnTo>
                  <a:pt x="0" y="3456000"/>
                </a:lnTo>
                <a:lnTo>
                  <a:pt x="4608004" y="3456000"/>
                </a:lnTo>
                <a:lnTo>
                  <a:pt x="4608004" y="0"/>
                </a:lnTo>
                <a:close/>
              </a:path>
            </a:pathLst>
          </a:custGeom>
          <a:solidFill>
            <a:srgbClr val="33333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PlaceHolder 1"/>
          <p:cNvSpPr>
            <a:spLocks noGrp="1"/>
          </p:cNvSpPr>
          <p:nvPr>
            <p:ph type="ftr" idx="4"/>
          </p:nvPr>
        </p:nvSpPr>
        <p:spPr>
          <a:xfrm>
            <a:off x="3108960" y="4783320"/>
            <a:ext cx="2925720" cy="29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dt" idx="5"/>
          </p:nvPr>
        </p:nvSpPr>
        <p:spPr>
          <a:xfrm>
            <a:off x="457200" y="4783320"/>
            <a:ext cx="2102760" cy="29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sldNum" idx="6"/>
          </p:nvPr>
        </p:nvSpPr>
        <p:spPr>
          <a:xfrm>
            <a:off x="8724600" y="4966920"/>
            <a:ext cx="302040" cy="2983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marL="139680" indent="0" algn="r">
              <a:lnSpc>
                <a:spcPct val="100000"/>
              </a:lnSpc>
              <a:buNone/>
              <a:tabLst>
                <a:tab algn="l" pos="0"/>
              </a:tabLst>
              <a:defRPr b="0" lang="es" sz="1000" spc="-1" strike="noStrike">
                <a:solidFill>
                  <a:schemeClr val="dk2"/>
                </a:solidFill>
                <a:latin typeface="Times New Roman"/>
                <a:ea typeface="Times New Roman"/>
              </a:defRPr>
            </a:lvl1pPr>
          </a:lstStyle>
          <a:p>
            <a:pPr marL="139680" indent="0" algn="r">
              <a:lnSpc>
                <a:spcPct val="100000"/>
              </a:lnSpc>
              <a:buNone/>
              <a:tabLst>
                <a:tab algn="l" pos="0"/>
              </a:tabLst>
            </a:pPr>
            <a:fld id="{E86DC633-E9F4-462A-9EE2-8A41A31F6C8B}" type="slidenum">
              <a:rPr b="0" lang="es" sz="1000" spc="-1" strike="noStrike">
                <a:solidFill>
                  <a:schemeClr val="dk2"/>
                </a:solidFill>
                <a:latin typeface="Times New Roman"/>
                <a:ea typeface="Times New Roman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Google Shape;55;p13"/>
          <p:cNvSpPr/>
          <p:nvPr/>
        </p:nvSpPr>
        <p:spPr>
          <a:xfrm flipH="1" rot="10800000">
            <a:off x="-16200" y="4721400"/>
            <a:ext cx="9176400" cy="245520"/>
          </a:xfrm>
          <a:prstGeom prst="rect">
            <a:avLst/>
          </a:prstGeom>
          <a:solidFill>
            <a:srgbClr val="2d2d2d"/>
          </a:solidFill>
          <a:ln w="0">
            <a:noFill/>
          </a:ln>
          <a:effectLst>
            <a:outerShdw blurRad="79200" dir="5400000" dist="4572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lIns="181440" rIns="181440" tIns="90720" bIns="90720"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Google Shape;56;p13"/>
          <p:cNvSpPr/>
          <p:nvPr/>
        </p:nvSpPr>
        <p:spPr>
          <a:xfrm>
            <a:off x="151200" y="4757400"/>
            <a:ext cx="1588320" cy="21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3636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200" spc="-1" strike="noStrike">
                <a:solidFill>
                  <a:schemeClr val="lt1"/>
                </a:solidFill>
                <a:latin typeface="Calibri"/>
                <a:ea typeface="Calibri"/>
              </a:rPr>
              <a:t>Pablo J Piccoli Bornia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311760" y="2151000"/>
            <a:ext cx="8520120" cy="84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sldNum" idx="7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1F8C237-4C21-491C-B209-08EDFA7A8B06}" type="slidenum">
              <a:rPr b="0" lang="es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sldNum" idx="8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CD62A3F-D835-41BB-BC5D-032D6FC67C3F}" type="slidenum">
              <a:rPr b="0" lang="es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832280" y="1152360"/>
            <a:ext cx="3999600" cy="34160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sldNum" idx="9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5974F9D-0B4E-4784-9CF1-BFBAD6BB1A05}" type="slidenum">
              <a:rPr b="0" lang="es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93550"/>
          </a:bodyPr>
          <a:p>
            <a:pPr indent="0">
              <a:buNone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sldNum" idx="10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F95491-2252-4B55-BE73-D83AD0A5C7A8}" type="slidenum">
              <a:rPr b="0" lang="es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311760" y="555480"/>
            <a:ext cx="2807640" cy="755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 fontScale="81218"/>
          </a:bodyPr>
          <a:p>
            <a:pPr indent="0">
              <a:buNone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body"/>
          </p:nvPr>
        </p:nvSpPr>
        <p:spPr>
          <a:xfrm>
            <a:off x="311760" y="1389600"/>
            <a:ext cx="2807640" cy="3179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t">
            <a:normAutofit fontScale="3586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2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1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7319D52-8091-4E62-8B36-FA5980DCB11E}" type="slidenum">
              <a:rPr b="0" lang="es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490320" y="450000"/>
            <a:ext cx="6367320" cy="4090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sldNum" idx="1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DE313F6-FB3E-47AE-BCB7-0200E47DBE23}" type="slidenum">
              <a:rPr b="0" lang="es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36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265680" y="1233000"/>
            <a:ext cx="4044960" cy="1482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b">
            <a:normAutofit/>
          </a:bodyPr>
          <a:p>
            <a:pPr indent="0">
              <a:buNone/>
            </a:pPr>
            <a:r>
              <a:rPr b="0" lang="en-US" sz="4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939560" y="72396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87222" lnSpcReduction="10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13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41D95688-62AC-4EFA-847B-5AC03B6618A4}" type="slidenum">
              <a:rPr b="0" lang="es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Masters/slideMaster1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body"/>
          </p:nvPr>
        </p:nvSpPr>
        <p:spPr>
          <a:xfrm>
            <a:off x="311760" y="4230720"/>
            <a:ext cx="5998320" cy="604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 fontScale="1111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sldNum" idx="14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91440" bIns="91440" anchor="ctr">
            <a:norm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s" sz="1000" spc="-1" strike="noStrike">
                <a:solidFill>
                  <a:schemeClr val="dk2"/>
                </a:solidFill>
                <a:latin typeface="Arial"/>
                <a:ea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6C1689F-9390-4A83-88B5-E88AA4D4F7A9}" type="slidenum">
              <a:rPr b="0" lang="es" sz="1000" spc="-1" strike="noStrike">
                <a:solidFill>
                  <a:schemeClr val="dk2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1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hyperlink" Target="mailto:sofi04@em.com" TargetMode="External"/><Relationship Id="rId3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61;p14"/>
          <p:cNvSpPr/>
          <p:nvPr/>
        </p:nvSpPr>
        <p:spPr>
          <a:xfrm>
            <a:off x="274320" y="1029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Google Shape;62;p14"/>
          <p:cNvSpPr/>
          <p:nvPr/>
        </p:nvSpPr>
        <p:spPr>
          <a:xfrm>
            <a:off x="1444680" y="148860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2800" spc="-1" strike="noStrike">
                <a:solidFill>
                  <a:srgbClr val="323232"/>
                </a:solidFill>
                <a:latin typeface="Calibri"/>
                <a:ea typeface="Calibri"/>
              </a:rPr>
              <a:t>APIs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Google Shape;63;p14"/>
          <p:cNvSpPr/>
          <p:nvPr/>
        </p:nvSpPr>
        <p:spPr>
          <a:xfrm>
            <a:off x="1574280" y="2715480"/>
            <a:ext cx="849600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2800" spc="-1" strike="noStrike">
                <a:solidFill>
                  <a:srgbClr val="2d2d2d"/>
                </a:solidFill>
                <a:latin typeface="Calibri"/>
                <a:ea typeface="Calibri"/>
              </a:rPr>
              <a:t>Profesor: Pablo J Piccoli Bornia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Google Shape;64;p14"/>
          <p:cNvSpPr/>
          <p:nvPr/>
        </p:nvSpPr>
        <p:spPr>
          <a:xfrm>
            <a:off x="1574280" y="3164760"/>
            <a:ext cx="849600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2400" spc="-1" strike="noStrike">
                <a:solidFill>
                  <a:srgbClr val="2d2d2d"/>
                </a:solidFill>
                <a:latin typeface="Calibri"/>
                <a:ea typeface="Calibri"/>
              </a:rPr>
              <a:t>Auxiliares: Daniela Longas - M Victoria Tolosa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69;p15"/>
          <p:cNvSpPr/>
          <p:nvPr/>
        </p:nvSpPr>
        <p:spPr>
          <a:xfrm>
            <a:off x="2240640" y="2365200"/>
            <a:ext cx="367632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25560">
              <a:lnSpc>
                <a:spcPct val="100000"/>
              </a:lnSpc>
              <a:tabLst>
                <a:tab algn="l" pos="0"/>
              </a:tabLst>
            </a:pPr>
            <a:r>
              <a:rPr b="0" lang="es" sz="2200" spc="-1" strike="noStrike" cap="small">
                <a:solidFill>
                  <a:srgbClr val="f4f2ed"/>
                </a:solidFill>
                <a:latin typeface="Tahoma"/>
                <a:ea typeface="Tahoma"/>
              </a:rPr>
              <a:t>COMUNICACIÓN REMOTA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51" name="Google Shape;70;p15"/>
          <p:cNvGrpSpPr/>
          <p:nvPr/>
        </p:nvGrpSpPr>
        <p:grpSpPr>
          <a:xfrm>
            <a:off x="2260800" y="2700000"/>
            <a:ext cx="4642200" cy="37440"/>
            <a:chOff x="2260800" y="2700000"/>
            <a:chExt cx="4642200" cy="37440"/>
          </a:xfrm>
        </p:grpSpPr>
        <p:sp>
          <p:nvSpPr>
            <p:cNvPr id="52" name="Google Shape;71;p15"/>
            <p:cNvSpPr/>
            <p:nvPr/>
          </p:nvSpPr>
          <p:spPr>
            <a:xfrm>
              <a:off x="2260800" y="2700000"/>
              <a:ext cx="4642200" cy="374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37440"/>
                <a:gd name="textAreaBottom" fmla="*/ 37800 h 374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3" name="Google Shape;72;p15"/>
            <p:cNvSpPr/>
            <p:nvPr/>
          </p:nvSpPr>
          <p:spPr>
            <a:xfrm>
              <a:off x="2260800" y="2700000"/>
              <a:ext cx="4642200" cy="374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37440"/>
                <a:gd name="textAreaBottom" fmla="*/ 37800 h 374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w="18875">
              <a:solidFill>
                <a:srgbClr val="f4f2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54" name="Google Shape;73;p15"/>
            <p:cNvSpPr/>
            <p:nvPr/>
          </p:nvSpPr>
          <p:spPr>
            <a:xfrm>
              <a:off x="2260800" y="2700000"/>
              <a:ext cx="2421720" cy="374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37440"/>
                <a:gd name="textAreaBottom" fmla="*/ 37800 h 374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55" name="Google Shape;74;p15"/>
            <p:cNvSpPr/>
            <p:nvPr/>
          </p:nvSpPr>
          <p:spPr>
            <a:xfrm>
              <a:off x="2260800" y="2700000"/>
              <a:ext cx="2421720" cy="374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37440"/>
                <a:gd name="textAreaBottom" fmla="*/ 37800 h 374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w="18875">
              <a:solidFill>
                <a:srgbClr val="f1c2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transition>
    <p:fade thruBlk="true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79;p16"/>
          <p:cNvSpPr/>
          <p:nvPr/>
        </p:nvSpPr>
        <p:spPr>
          <a:xfrm>
            <a:off x="0" y="0"/>
            <a:ext cx="9143640" cy="41112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Google Shape;80;p16"/>
          <p:cNvSpPr/>
          <p:nvPr/>
        </p:nvSpPr>
        <p:spPr>
          <a:xfrm>
            <a:off x="274320" y="1029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Google Shape;81;p16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Google Shape;82;p16"/>
          <p:cNvSpPr/>
          <p:nvPr/>
        </p:nvSpPr>
        <p:spPr>
          <a:xfrm>
            <a:off x="274320" y="49035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Google Shape;83;p16"/>
          <p:cNvSpPr/>
          <p:nvPr/>
        </p:nvSpPr>
        <p:spPr>
          <a:xfrm>
            <a:off x="365760" y="548640"/>
            <a:ext cx="822924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2800" spc="-1" strike="noStrike">
                <a:solidFill>
                  <a:srgbClr val="323232"/>
                </a:solidFill>
                <a:latin typeface="Calibri"/>
                <a:ea typeface="Calibri"/>
              </a:rPr>
              <a:t>Comunicación remota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Google Shape;84;p16"/>
          <p:cNvSpPr/>
          <p:nvPr/>
        </p:nvSpPr>
        <p:spPr>
          <a:xfrm>
            <a:off x="3931920" y="1555920"/>
            <a:ext cx="4891320" cy="25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800" spc="-1" strike="noStrike">
                <a:solidFill>
                  <a:schemeClr val="dk1"/>
                </a:solidFill>
                <a:latin typeface="Calibri"/>
                <a:ea typeface="Calibri"/>
              </a:rPr>
              <a:t>En la actualidad, la mayoría de los programas que usamos se comunican con otros programas que corren en otros dispositivos: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s" sz="1800" spc="-1" strike="noStrike">
                <a:solidFill>
                  <a:schemeClr val="dk1"/>
                </a:solidFill>
                <a:latin typeface="Calibri"/>
                <a:ea typeface="Calibri"/>
              </a:rPr>
              <a:t>chat, páginas web, audio, e-commerce, geolocalización, redes sociales, juegos, videoconferencias, etc.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62" name="Google Shape;85;p16" descr="di_tella2.png"/>
          <p:cNvPicPr/>
          <p:nvPr/>
        </p:nvPicPr>
        <p:blipFill>
          <a:blip r:embed="rId1"/>
          <a:stretch/>
        </p:blipFill>
        <p:spPr>
          <a:xfrm>
            <a:off x="8325360" y="15120"/>
            <a:ext cx="818280" cy="380520"/>
          </a:xfrm>
          <a:prstGeom prst="rect">
            <a:avLst/>
          </a:prstGeom>
          <a:ln w="0">
            <a:noFill/>
          </a:ln>
        </p:spPr>
      </p:pic>
      <p:pic>
        <p:nvPicPr>
          <p:cNvPr id="63" name="Google Shape;86;p16" descr=""/>
          <p:cNvPicPr/>
          <p:nvPr/>
        </p:nvPicPr>
        <p:blipFill>
          <a:blip r:embed="rId2"/>
          <a:stretch/>
        </p:blipFill>
        <p:spPr>
          <a:xfrm>
            <a:off x="452160" y="1364400"/>
            <a:ext cx="3301560" cy="2585520"/>
          </a:xfrm>
          <a:prstGeom prst="rect">
            <a:avLst/>
          </a:prstGeom>
          <a:ln w="0">
            <a:noFill/>
          </a:ln>
        </p:spPr>
      </p:pic>
      <p:sp>
        <p:nvSpPr>
          <p:cNvPr id="64" name="Google Shape;87;p16"/>
          <p:cNvSpPr/>
          <p:nvPr/>
        </p:nvSpPr>
        <p:spPr>
          <a:xfrm>
            <a:off x="199440" y="4196160"/>
            <a:ext cx="87451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s" sz="1800" spc="-1" strike="noStrike">
                <a:solidFill>
                  <a:schemeClr val="dk1"/>
                </a:solidFill>
                <a:latin typeface="Calibri"/>
                <a:ea typeface="Calibri"/>
              </a:rPr>
              <a:t>¿Cómo sabe una app cuál es el clima actual? ¿Cómo obtiene Instagram los posts que ves?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92;p17"/>
          <p:cNvSpPr/>
          <p:nvPr/>
        </p:nvSpPr>
        <p:spPr>
          <a:xfrm>
            <a:off x="0" y="0"/>
            <a:ext cx="9143640" cy="41112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Google Shape;93;p17"/>
          <p:cNvSpPr/>
          <p:nvPr/>
        </p:nvSpPr>
        <p:spPr>
          <a:xfrm>
            <a:off x="274320" y="1029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Google Shape;94;p17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Google Shape;95;p17"/>
          <p:cNvSpPr/>
          <p:nvPr/>
        </p:nvSpPr>
        <p:spPr>
          <a:xfrm>
            <a:off x="274320" y="49035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Google Shape;96;p17"/>
          <p:cNvSpPr/>
          <p:nvPr/>
        </p:nvSpPr>
        <p:spPr>
          <a:xfrm>
            <a:off x="365760" y="548640"/>
            <a:ext cx="8229240" cy="945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2800" spc="-1" strike="noStrike">
                <a:solidFill>
                  <a:srgbClr val="323232"/>
                </a:solidFill>
                <a:latin typeface="Calibri"/>
                <a:ea typeface="Calibri"/>
              </a:rPr>
              <a:t>Comunicación remota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Google Shape;97;p17"/>
          <p:cNvSpPr/>
          <p:nvPr/>
        </p:nvSpPr>
        <p:spPr>
          <a:xfrm>
            <a:off x="387000" y="1144440"/>
            <a:ext cx="51786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800" spc="-1" strike="noStrike">
                <a:solidFill>
                  <a:schemeClr val="dk1"/>
                </a:solidFill>
                <a:latin typeface="Calibri"/>
                <a:ea typeface="Calibri"/>
              </a:rPr>
              <a:t>Ejemplo:</a:t>
            </a:r>
            <a:r>
              <a:rPr b="0" lang="es" sz="1800" spc="-1" strike="noStrike">
                <a:solidFill>
                  <a:schemeClr val="dk1"/>
                </a:solidFill>
                <a:latin typeface="Calibri"/>
                <a:ea typeface="Calibri"/>
              </a:rPr>
              <a:t> Correo Postal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71" name="Google Shape;98;p17" descr="di_tella2.png"/>
          <p:cNvPicPr/>
          <p:nvPr/>
        </p:nvPicPr>
        <p:blipFill>
          <a:blip r:embed="rId1"/>
          <a:stretch/>
        </p:blipFill>
        <p:spPr>
          <a:xfrm>
            <a:off x="8325360" y="15120"/>
            <a:ext cx="818280" cy="380520"/>
          </a:xfrm>
          <a:prstGeom prst="rect">
            <a:avLst/>
          </a:prstGeom>
          <a:ln w="0">
            <a:noFill/>
          </a:ln>
        </p:spPr>
      </p:pic>
      <p:sp>
        <p:nvSpPr>
          <p:cNvPr id="72" name="Google Shape;99;p17"/>
          <p:cNvSpPr/>
          <p:nvPr/>
        </p:nvSpPr>
        <p:spPr>
          <a:xfrm>
            <a:off x="241920" y="3653640"/>
            <a:ext cx="85852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30120">
              <a:lnSpc>
                <a:spcPct val="100000"/>
              </a:lnSpc>
              <a:buClr>
                <a:srgbClr val="000000"/>
              </a:buClr>
              <a:buFont typeface="Calibri"/>
              <a:buChar char="➔"/>
            </a:pPr>
            <a:r>
              <a:rPr b="0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En el origen, cada nivel delega la responsabilidad del envío en el nivel inferior.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00000"/>
              </a:lnSpc>
              <a:buClr>
                <a:srgbClr val="000000"/>
              </a:buClr>
              <a:buFont typeface="Calibri"/>
              <a:buChar char="➔"/>
            </a:pPr>
            <a:r>
              <a:rPr b="0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En el destino, cada nivel le avisa al nivel superior que “le llegó algo qué tiene que entregar”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100;p17"/>
          <p:cNvSpPr/>
          <p:nvPr/>
        </p:nvSpPr>
        <p:spPr>
          <a:xfrm>
            <a:off x="2501280" y="1888560"/>
            <a:ext cx="29995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Arial"/>
                <a:ea typeface="Arial"/>
              </a:rPr>
              <a:t>Remitente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Google Shape;101;p17"/>
          <p:cNvSpPr/>
          <p:nvPr/>
        </p:nvSpPr>
        <p:spPr>
          <a:xfrm>
            <a:off x="1397160" y="2282400"/>
            <a:ext cx="386820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Arial"/>
                <a:ea typeface="Arial"/>
              </a:rPr>
              <a:t>Oficina de correo de origen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Google Shape;102;p17"/>
          <p:cNvSpPr/>
          <p:nvPr/>
        </p:nvSpPr>
        <p:spPr>
          <a:xfrm>
            <a:off x="4751640" y="2282400"/>
            <a:ext cx="29995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Arial"/>
                <a:ea typeface="Arial"/>
              </a:rPr>
              <a:t>Oficina de correo de destino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Google Shape;103;p17"/>
          <p:cNvSpPr/>
          <p:nvPr/>
        </p:nvSpPr>
        <p:spPr>
          <a:xfrm>
            <a:off x="1667520" y="2714760"/>
            <a:ext cx="29995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Arial"/>
                <a:ea typeface="Arial"/>
              </a:rPr>
              <a:t>Empresa de logística de origen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Google Shape;104;p17"/>
          <p:cNvSpPr/>
          <p:nvPr/>
        </p:nvSpPr>
        <p:spPr>
          <a:xfrm>
            <a:off x="4917600" y="2714760"/>
            <a:ext cx="29995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Arial"/>
                <a:ea typeface="Arial"/>
              </a:rPr>
              <a:t>Empresa de logística de destino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Google Shape;105;p17"/>
          <p:cNvSpPr/>
          <p:nvPr/>
        </p:nvSpPr>
        <p:spPr>
          <a:xfrm>
            <a:off x="1984320" y="3130200"/>
            <a:ext cx="563976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Arial"/>
                <a:ea typeface="Arial"/>
              </a:rPr>
              <a:t>Terminal de origen               Terminal de destino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Google Shape;106;p17"/>
          <p:cNvSpPr/>
          <p:nvPr/>
        </p:nvSpPr>
        <p:spPr>
          <a:xfrm>
            <a:off x="4118760" y="1888560"/>
            <a:ext cx="299952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Arial"/>
                <a:ea typeface="Arial"/>
              </a:rPr>
              <a:t>Destinatario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80" name="Google Shape;107;p17"/>
          <p:cNvCxnSpPr/>
          <p:nvPr/>
        </p:nvCxnSpPr>
        <p:spPr>
          <a:xfrm>
            <a:off x="4503960" y="3342600"/>
            <a:ext cx="549000" cy="360"/>
          </a:xfrm>
          <a:prstGeom prst="straightConnector1">
            <a:avLst/>
          </a:prstGeom>
          <a:ln w="9525">
            <a:solidFill>
              <a:srgbClr val="595959"/>
            </a:solidFill>
            <a:round/>
            <a:headEnd len="med" type="triangle" w="med"/>
            <a:tailEnd len="med" type="triangle" w="med"/>
          </a:ln>
        </p:spPr>
      </p:cxnSp>
      <p:cxnSp>
        <p:nvCxnSpPr>
          <p:cNvPr id="81" name="Google Shape;108;p17"/>
          <p:cNvCxnSpPr/>
          <p:nvPr/>
        </p:nvCxnSpPr>
        <p:spPr>
          <a:xfrm>
            <a:off x="4375080" y="2193840"/>
            <a:ext cx="360" cy="19404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stealth" w="med"/>
          </a:ln>
        </p:spPr>
      </p:cxnSp>
      <p:cxnSp>
        <p:nvCxnSpPr>
          <p:cNvPr id="82" name="Google Shape;109;p17"/>
          <p:cNvCxnSpPr/>
          <p:nvPr/>
        </p:nvCxnSpPr>
        <p:spPr>
          <a:xfrm>
            <a:off x="4375080" y="2630880"/>
            <a:ext cx="360" cy="19368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stealth" w="med"/>
          </a:ln>
        </p:spPr>
      </p:cxnSp>
      <p:cxnSp>
        <p:nvCxnSpPr>
          <p:cNvPr id="83" name="Google Shape;110;p17"/>
          <p:cNvCxnSpPr/>
          <p:nvPr/>
        </p:nvCxnSpPr>
        <p:spPr>
          <a:xfrm>
            <a:off x="4372560" y="3041280"/>
            <a:ext cx="360" cy="19368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stealth" w="med"/>
          </a:ln>
        </p:spPr>
      </p:cxnSp>
      <p:cxnSp>
        <p:nvCxnSpPr>
          <p:cNvPr id="84" name="Google Shape;111;p17"/>
          <p:cNvCxnSpPr/>
          <p:nvPr/>
        </p:nvCxnSpPr>
        <p:spPr>
          <a:xfrm>
            <a:off x="5195880" y="2193840"/>
            <a:ext cx="360" cy="194040"/>
          </a:xfrm>
          <a:prstGeom prst="straightConnector1">
            <a:avLst/>
          </a:prstGeom>
          <a:ln w="9525">
            <a:solidFill>
              <a:srgbClr val="595959"/>
            </a:solidFill>
            <a:round/>
            <a:headEnd len="med" type="stealth" w="med"/>
          </a:ln>
        </p:spPr>
      </p:cxnSp>
      <p:cxnSp>
        <p:nvCxnSpPr>
          <p:cNvPr id="85" name="Google Shape;112;p17"/>
          <p:cNvCxnSpPr/>
          <p:nvPr/>
        </p:nvCxnSpPr>
        <p:spPr>
          <a:xfrm>
            <a:off x="5195880" y="2612520"/>
            <a:ext cx="360" cy="193680"/>
          </a:xfrm>
          <a:prstGeom prst="straightConnector1">
            <a:avLst/>
          </a:prstGeom>
          <a:ln w="9525">
            <a:solidFill>
              <a:srgbClr val="595959"/>
            </a:solidFill>
            <a:round/>
            <a:headEnd len="med" type="stealth" w="med"/>
          </a:ln>
        </p:spPr>
      </p:cxnSp>
      <p:cxnSp>
        <p:nvCxnSpPr>
          <p:cNvPr id="86" name="Google Shape;113;p17"/>
          <p:cNvCxnSpPr/>
          <p:nvPr/>
        </p:nvCxnSpPr>
        <p:spPr>
          <a:xfrm>
            <a:off x="5195880" y="3016800"/>
            <a:ext cx="360" cy="194040"/>
          </a:xfrm>
          <a:prstGeom prst="straightConnector1">
            <a:avLst/>
          </a:prstGeom>
          <a:ln w="9525">
            <a:solidFill>
              <a:srgbClr val="595959"/>
            </a:solidFill>
            <a:round/>
            <a:headEnd len="med" type="stealth" w="med"/>
          </a:ln>
        </p:spPr>
      </p:cxnSp>
      <p:sp>
        <p:nvSpPr>
          <p:cNvPr id="87" name="Google Shape;114;p17"/>
          <p:cNvSpPr/>
          <p:nvPr/>
        </p:nvSpPr>
        <p:spPr>
          <a:xfrm>
            <a:off x="279000" y="4316040"/>
            <a:ext cx="858528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Cada nivel maneja los mismos </a:t>
            </a:r>
            <a:r>
              <a:rPr b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protocolos </a:t>
            </a:r>
            <a:r>
              <a:rPr b="0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(hablan el mismo idioma) que su contraparte remota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119;p18"/>
          <p:cNvSpPr/>
          <p:nvPr/>
        </p:nvSpPr>
        <p:spPr>
          <a:xfrm>
            <a:off x="0" y="0"/>
            <a:ext cx="9143640" cy="41112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Google Shape;120;p18"/>
          <p:cNvSpPr/>
          <p:nvPr/>
        </p:nvSpPr>
        <p:spPr>
          <a:xfrm>
            <a:off x="274320" y="1029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121;p18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Google Shape;122;p18"/>
          <p:cNvSpPr/>
          <p:nvPr/>
        </p:nvSpPr>
        <p:spPr>
          <a:xfrm>
            <a:off x="274320" y="49035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Google Shape;123;p18"/>
          <p:cNvSpPr/>
          <p:nvPr/>
        </p:nvSpPr>
        <p:spPr>
          <a:xfrm>
            <a:off x="365760" y="54864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2800" spc="-1" strike="noStrike">
                <a:solidFill>
                  <a:srgbClr val="323232"/>
                </a:solidFill>
                <a:latin typeface="Calibri"/>
                <a:ea typeface="Calibri"/>
              </a:rPr>
              <a:t>Modelo TCP/IP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93" name="Google Shape;124;p18" descr="di_tella2.png"/>
          <p:cNvPicPr/>
          <p:nvPr/>
        </p:nvPicPr>
        <p:blipFill>
          <a:blip r:embed="rId1"/>
          <a:stretch/>
        </p:blipFill>
        <p:spPr>
          <a:xfrm>
            <a:off x="8325360" y="15120"/>
            <a:ext cx="818280" cy="380520"/>
          </a:xfrm>
          <a:prstGeom prst="rect">
            <a:avLst/>
          </a:prstGeom>
          <a:ln w="0">
            <a:noFill/>
          </a:ln>
        </p:spPr>
      </p:pic>
      <p:sp>
        <p:nvSpPr>
          <p:cNvPr id="94" name="Google Shape;125;p18"/>
          <p:cNvSpPr/>
          <p:nvPr/>
        </p:nvSpPr>
        <p:spPr>
          <a:xfrm>
            <a:off x="365760" y="1071720"/>
            <a:ext cx="80884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El modelo </a:t>
            </a: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TCP/IP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 (Transmission Control Protocol/Internet Protocol) es un modelo de capas que define un conjunto de protocolos para </a:t>
            </a: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transmitir 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datos entre distintas computadoras a través de una red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Google Shape;126;p18"/>
          <p:cNvSpPr/>
          <p:nvPr/>
        </p:nvSpPr>
        <p:spPr>
          <a:xfrm>
            <a:off x="365760" y="2075040"/>
            <a:ext cx="299952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800" spc="-1" strike="noStrike">
                <a:solidFill>
                  <a:srgbClr val="323232"/>
                </a:solidFill>
                <a:latin typeface="Calibri"/>
                <a:ea typeface="Calibri"/>
              </a:rPr>
              <a:t>Remitente → </a:t>
            </a:r>
            <a:r>
              <a:rPr b="0" lang="es" sz="1800" spc="-1" strike="noStrike">
                <a:solidFill>
                  <a:srgbClr val="323232"/>
                </a:solidFill>
                <a:latin typeface="Calibri"/>
                <a:ea typeface="Calibri"/>
              </a:rPr>
              <a:t>servidor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800" spc="-1" strike="noStrike">
                <a:solidFill>
                  <a:srgbClr val="323232"/>
                </a:solidFill>
                <a:latin typeface="Calibri"/>
                <a:ea typeface="Calibri"/>
              </a:rPr>
              <a:t>Carta → </a:t>
            </a:r>
            <a:r>
              <a:rPr b="0" lang="es" sz="1800" spc="-1" strike="noStrike">
                <a:solidFill>
                  <a:srgbClr val="323232"/>
                </a:solidFill>
                <a:latin typeface="Calibri"/>
                <a:ea typeface="Calibri"/>
              </a:rPr>
              <a:t>request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800" spc="-1" strike="noStrike">
                <a:solidFill>
                  <a:srgbClr val="323232"/>
                </a:solidFill>
                <a:latin typeface="Calibri"/>
                <a:ea typeface="Calibri"/>
              </a:rPr>
              <a:t>Respuesta → </a:t>
            </a:r>
            <a:r>
              <a:rPr b="0" lang="es" sz="1800" spc="-1" strike="noStrike">
                <a:solidFill>
                  <a:srgbClr val="323232"/>
                </a:solidFill>
                <a:latin typeface="Calibri"/>
                <a:ea typeface="Calibri"/>
              </a:rPr>
              <a:t>response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800" spc="-1" strike="noStrike">
                <a:solidFill>
                  <a:srgbClr val="323232"/>
                </a:solidFill>
                <a:latin typeface="Calibri"/>
                <a:ea typeface="Calibri"/>
              </a:rPr>
              <a:t>Capas → </a:t>
            </a:r>
            <a:r>
              <a:rPr b="0" lang="es" sz="1800" spc="-1" strike="noStrike">
                <a:solidFill>
                  <a:srgbClr val="323232"/>
                </a:solidFill>
                <a:latin typeface="Calibri"/>
                <a:ea typeface="Calibri"/>
              </a:rPr>
              <a:t>modelo TCP/IP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Google Shape;127;p18"/>
          <p:cNvSpPr/>
          <p:nvPr/>
        </p:nvSpPr>
        <p:spPr>
          <a:xfrm>
            <a:off x="3432960" y="2198160"/>
            <a:ext cx="5240520" cy="103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Capa de aplicación ↔ Capa de aplicación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Capa de transporte ↔ Capa de transporte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Capa de red ↔ Capa de red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Capa de interfaz de red ↔ Capa de interfaz de red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Google Shape;128;p18"/>
          <p:cNvSpPr/>
          <p:nvPr/>
        </p:nvSpPr>
        <p:spPr>
          <a:xfrm>
            <a:off x="365760" y="3504600"/>
            <a:ext cx="4981320" cy="1249920"/>
          </a:xfrm>
          <a:prstGeom prst="rect">
            <a:avLst/>
          </a:prstGeom>
          <a:noFill/>
          <a:ln w="19050">
            <a:solidFill>
              <a:srgbClr val="ffd966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Protocolos: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Aplicación: HTTP, SMTP, Telnet, FTP, etc.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Transporte: TCP, UDP, etc.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Red: IP, ARP, IGMP, ICMP, etc.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Interfaz de red: ETHERNET, L2TP, etc.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133;p19"/>
          <p:cNvSpPr/>
          <p:nvPr/>
        </p:nvSpPr>
        <p:spPr>
          <a:xfrm>
            <a:off x="2240640" y="2365200"/>
            <a:ext cx="367632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25560">
              <a:lnSpc>
                <a:spcPct val="100000"/>
              </a:lnSpc>
              <a:tabLst>
                <a:tab algn="l" pos="0"/>
              </a:tabLst>
            </a:pPr>
            <a:r>
              <a:rPr b="0" lang="es" sz="2200" spc="-1" strike="noStrike" cap="small">
                <a:solidFill>
                  <a:srgbClr val="f4f2ed"/>
                </a:solidFill>
                <a:latin typeface="Tahoma"/>
                <a:ea typeface="Tahoma"/>
              </a:rPr>
              <a:t>PROTOCOLO HTTP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99" name="Google Shape;134;p19"/>
          <p:cNvGrpSpPr/>
          <p:nvPr/>
        </p:nvGrpSpPr>
        <p:grpSpPr>
          <a:xfrm>
            <a:off x="2260800" y="2700000"/>
            <a:ext cx="4642200" cy="37440"/>
            <a:chOff x="2260800" y="2700000"/>
            <a:chExt cx="4642200" cy="37440"/>
          </a:xfrm>
        </p:grpSpPr>
        <p:sp>
          <p:nvSpPr>
            <p:cNvPr id="100" name="Google Shape;135;p19"/>
            <p:cNvSpPr/>
            <p:nvPr/>
          </p:nvSpPr>
          <p:spPr>
            <a:xfrm>
              <a:off x="2260800" y="2700000"/>
              <a:ext cx="4642200" cy="374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37440"/>
                <a:gd name="textAreaBottom" fmla="*/ 37800 h 374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1" name="Google Shape;136;p19"/>
            <p:cNvSpPr/>
            <p:nvPr/>
          </p:nvSpPr>
          <p:spPr>
            <a:xfrm>
              <a:off x="2260800" y="2700000"/>
              <a:ext cx="4642200" cy="374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37440"/>
                <a:gd name="textAreaBottom" fmla="*/ 37800 h 374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w="18875">
              <a:solidFill>
                <a:srgbClr val="f4f2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02" name="Google Shape;137;p19"/>
            <p:cNvSpPr/>
            <p:nvPr/>
          </p:nvSpPr>
          <p:spPr>
            <a:xfrm>
              <a:off x="2260800" y="2700000"/>
              <a:ext cx="2421720" cy="374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37440"/>
                <a:gd name="textAreaBottom" fmla="*/ 37800 h 374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03" name="Google Shape;138;p19"/>
            <p:cNvSpPr/>
            <p:nvPr/>
          </p:nvSpPr>
          <p:spPr>
            <a:xfrm>
              <a:off x="2260800" y="2700000"/>
              <a:ext cx="2421720" cy="374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37440"/>
                <a:gd name="textAreaBottom" fmla="*/ 37800 h 374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w="18875">
              <a:solidFill>
                <a:srgbClr val="f1c2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transition>
    <p:fade thruBlk="true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43;p20"/>
          <p:cNvSpPr/>
          <p:nvPr/>
        </p:nvSpPr>
        <p:spPr>
          <a:xfrm>
            <a:off x="0" y="0"/>
            <a:ext cx="9143640" cy="41112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Google Shape;144;p20"/>
          <p:cNvSpPr/>
          <p:nvPr/>
        </p:nvSpPr>
        <p:spPr>
          <a:xfrm>
            <a:off x="274320" y="1029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Google Shape;145;p20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146;p20"/>
          <p:cNvSpPr/>
          <p:nvPr/>
        </p:nvSpPr>
        <p:spPr>
          <a:xfrm>
            <a:off x="274320" y="49035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Google Shape;147;p20"/>
          <p:cNvSpPr/>
          <p:nvPr/>
        </p:nvSpPr>
        <p:spPr>
          <a:xfrm>
            <a:off x="365760" y="54864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2800" spc="-1" strike="noStrike">
                <a:solidFill>
                  <a:srgbClr val="323232"/>
                </a:solidFill>
                <a:latin typeface="Calibri"/>
                <a:ea typeface="Calibri"/>
              </a:rPr>
              <a:t>Protocolo HTTP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09" name="Google Shape;148;p20" descr="di_tella2.png"/>
          <p:cNvPicPr/>
          <p:nvPr/>
        </p:nvPicPr>
        <p:blipFill>
          <a:blip r:embed="rId1"/>
          <a:stretch/>
        </p:blipFill>
        <p:spPr>
          <a:xfrm>
            <a:off x="8325360" y="15120"/>
            <a:ext cx="818280" cy="380520"/>
          </a:xfrm>
          <a:prstGeom prst="rect">
            <a:avLst/>
          </a:prstGeom>
          <a:ln w="0">
            <a:noFill/>
          </a:ln>
        </p:spPr>
      </p:pic>
      <p:sp>
        <p:nvSpPr>
          <p:cNvPr id="110" name="Google Shape;149;p20"/>
          <p:cNvSpPr/>
          <p:nvPr/>
        </p:nvSpPr>
        <p:spPr>
          <a:xfrm>
            <a:off x="365760" y="1110600"/>
            <a:ext cx="808848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HTTP 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(Hypertext Transfer Protocol) es un protocolo de comunicación que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permite las transferencias de información a través de archivos en Internet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Google Shape;150;p20"/>
          <p:cNvSpPr/>
          <p:nvPr/>
        </p:nvSpPr>
        <p:spPr>
          <a:xfrm>
            <a:off x="430560" y="2571840"/>
            <a:ext cx="2628000" cy="1888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s" sz="1600" spc="-1" strike="noStrike">
                <a:solidFill>
                  <a:srgbClr val="323232"/>
                </a:solidFill>
                <a:latin typeface="Calibri"/>
                <a:ea typeface="Calibri"/>
              </a:rPr>
              <a:t>URL</a:t>
            </a:r>
            <a:r>
              <a:rPr b="0" i="1" lang="es" sz="1600" spc="-1" strike="noStrike">
                <a:solidFill>
                  <a:srgbClr val="323232"/>
                </a:solidFill>
                <a:latin typeface="Calibri"/>
                <a:ea typeface="Calibri"/>
              </a:rPr>
              <a:t> (Uniform Resource Locator) es una referencia a un recurso que especifica su ubicación en una red informática y un protocolo para recuperarlo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151;p20"/>
          <p:cNvSpPr/>
          <p:nvPr/>
        </p:nvSpPr>
        <p:spPr>
          <a:xfrm>
            <a:off x="4081320" y="3113640"/>
            <a:ext cx="5291280" cy="39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s" sz="1400" spc="-1" strike="noStrike">
                <a:solidFill>
                  <a:srgbClr val="f1c232"/>
                </a:solidFill>
                <a:latin typeface="Calibri"/>
                <a:ea typeface="Calibri"/>
              </a:rPr>
              <a:t>protocolo://host/carpeta1/carpeta2/.../carpetan/recurso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Google Shape;152;p20"/>
          <p:cNvSpPr/>
          <p:nvPr/>
        </p:nvSpPr>
        <p:spPr>
          <a:xfrm>
            <a:off x="1406160" y="1919520"/>
            <a:ext cx="600732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¿Qué es lo que escribimos en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la barra de direcciones de </a:t>
            </a:r>
            <a:r>
              <a:rPr b="1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un</a:t>
            </a:r>
            <a:r>
              <a:rPr b="1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 browser?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14" name="Google Shape;153;p20"/>
          <p:cNvCxnSpPr/>
          <p:nvPr/>
        </p:nvCxnSpPr>
        <p:spPr>
          <a:xfrm flipV="1">
            <a:off x="3129480" y="3328560"/>
            <a:ext cx="772920" cy="1440"/>
          </a:xfrm>
          <a:prstGeom prst="straightConnector1">
            <a:avLst/>
          </a:prstGeom>
          <a:ln w="9525">
            <a:solidFill>
              <a:srgbClr val="595959"/>
            </a:solidFill>
            <a:round/>
            <a:tailEnd len="med" type="stealth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58;p21"/>
          <p:cNvSpPr/>
          <p:nvPr/>
        </p:nvSpPr>
        <p:spPr>
          <a:xfrm>
            <a:off x="0" y="0"/>
            <a:ext cx="9143640" cy="41112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Google Shape;159;p21"/>
          <p:cNvSpPr/>
          <p:nvPr/>
        </p:nvSpPr>
        <p:spPr>
          <a:xfrm>
            <a:off x="274320" y="1029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Google Shape;160;p21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8" name="Google Shape;161;p21"/>
          <p:cNvSpPr/>
          <p:nvPr/>
        </p:nvSpPr>
        <p:spPr>
          <a:xfrm>
            <a:off x="274320" y="49035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9" name="Google Shape;162;p21"/>
          <p:cNvSpPr/>
          <p:nvPr/>
        </p:nvSpPr>
        <p:spPr>
          <a:xfrm>
            <a:off x="365760" y="54864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2800" spc="-1" strike="noStrike">
                <a:solidFill>
                  <a:srgbClr val="323232"/>
                </a:solidFill>
                <a:latin typeface="Calibri"/>
                <a:ea typeface="Calibri"/>
              </a:rPr>
              <a:t>Protocolo HTTP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0" name="Google Shape;163;p21" descr="di_tella2.png"/>
          <p:cNvPicPr/>
          <p:nvPr/>
        </p:nvPicPr>
        <p:blipFill>
          <a:blip r:embed="rId1"/>
          <a:stretch/>
        </p:blipFill>
        <p:spPr>
          <a:xfrm>
            <a:off x="8325360" y="15120"/>
            <a:ext cx="818280" cy="380520"/>
          </a:xfrm>
          <a:prstGeom prst="rect">
            <a:avLst/>
          </a:prstGeom>
          <a:ln w="0">
            <a:noFill/>
          </a:ln>
        </p:spPr>
      </p:pic>
      <p:sp>
        <p:nvSpPr>
          <p:cNvPr id="121" name="Google Shape;164;p21"/>
          <p:cNvSpPr/>
          <p:nvPr/>
        </p:nvSpPr>
        <p:spPr>
          <a:xfrm>
            <a:off x="365760" y="1839600"/>
            <a:ext cx="80884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Ejemplo: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s" sz="1600" spc="-1" strike="noStrike">
                <a:solidFill>
                  <a:srgbClr val="f1c232"/>
                </a:solidFill>
                <a:latin typeface="Calibri"/>
                <a:ea typeface="Calibri"/>
              </a:rPr>
              <a:t>https://www.ole.com.ar/tema/lionel-messi.html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Google Shape;165;p21"/>
          <p:cNvSpPr/>
          <p:nvPr/>
        </p:nvSpPr>
        <p:spPr>
          <a:xfrm>
            <a:off x="365760" y="1339560"/>
            <a:ext cx="74808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s" sz="1400" spc="-1" strike="noStrike">
                <a:solidFill>
                  <a:srgbClr val="f1c232"/>
                </a:solidFill>
                <a:latin typeface="Calibri"/>
                <a:ea typeface="Calibri"/>
              </a:rPr>
              <a:t>protocolo://host/carpeta</a:t>
            </a:r>
            <a:r>
              <a:rPr b="1" i="1" lang="es" sz="1400" spc="-1" strike="noStrike" baseline="-25000">
                <a:solidFill>
                  <a:srgbClr val="f1c232"/>
                </a:solidFill>
                <a:latin typeface="Calibri"/>
                <a:ea typeface="Calibri"/>
              </a:rPr>
              <a:t>1</a:t>
            </a:r>
            <a:r>
              <a:rPr b="1" i="1" lang="es" sz="1400" spc="-1" strike="noStrike">
                <a:solidFill>
                  <a:srgbClr val="f1c232"/>
                </a:solidFill>
                <a:latin typeface="Calibri"/>
                <a:ea typeface="Calibri"/>
              </a:rPr>
              <a:t>/carpeta</a:t>
            </a:r>
            <a:r>
              <a:rPr b="1" i="1" lang="es" sz="1400" spc="-1" strike="noStrike" baseline="-25000">
                <a:solidFill>
                  <a:srgbClr val="f1c232"/>
                </a:solidFill>
                <a:latin typeface="Calibri"/>
                <a:ea typeface="Calibri"/>
              </a:rPr>
              <a:t>2</a:t>
            </a:r>
            <a:r>
              <a:rPr b="1" i="1" lang="es" sz="1400" spc="-1" strike="noStrike">
                <a:solidFill>
                  <a:srgbClr val="f1c232"/>
                </a:solidFill>
                <a:latin typeface="Calibri"/>
                <a:ea typeface="Calibri"/>
              </a:rPr>
              <a:t>/.../carpeta</a:t>
            </a:r>
            <a:r>
              <a:rPr b="1" i="1" lang="es" sz="1400" spc="-1" strike="noStrike" baseline="-25000">
                <a:solidFill>
                  <a:srgbClr val="f1c232"/>
                </a:solidFill>
                <a:latin typeface="Calibri"/>
                <a:ea typeface="Calibri"/>
              </a:rPr>
              <a:t>N</a:t>
            </a:r>
            <a:r>
              <a:rPr b="1" i="1" lang="es" sz="1400" spc="-1" strike="noStrike">
                <a:solidFill>
                  <a:srgbClr val="f1c232"/>
                </a:solidFill>
                <a:latin typeface="Calibri"/>
                <a:ea typeface="Calibri"/>
              </a:rPr>
              <a:t>/recurso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Google Shape;166;p21"/>
          <p:cNvSpPr/>
          <p:nvPr/>
        </p:nvSpPr>
        <p:spPr>
          <a:xfrm>
            <a:off x="365760" y="2763000"/>
            <a:ext cx="8745480" cy="213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600" spc="-1" strike="noStrike">
                <a:solidFill>
                  <a:srgbClr val="000000"/>
                </a:solidFill>
                <a:latin typeface="Calibri"/>
                <a:ea typeface="Calibri"/>
              </a:rPr>
              <a:t>Protocolo: </a:t>
            </a:r>
            <a:r>
              <a:rPr b="0" lang="es" sz="1600" spc="-1" strike="noStrike">
                <a:solidFill>
                  <a:srgbClr val="000000"/>
                </a:solidFill>
                <a:latin typeface="Calibri"/>
                <a:ea typeface="Calibri"/>
              </a:rPr>
              <a:t>https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600" spc="-1" strike="noStrike">
                <a:solidFill>
                  <a:srgbClr val="000000"/>
                </a:solidFill>
                <a:latin typeface="Calibri"/>
                <a:ea typeface="Calibri"/>
              </a:rPr>
              <a:t>Host: </a:t>
            </a:r>
            <a:r>
              <a:rPr b="0" lang="es" sz="1600" spc="-1" strike="noStrike">
                <a:solidFill>
                  <a:srgbClr val="000000"/>
                </a:solidFill>
                <a:latin typeface="Calibri"/>
                <a:ea typeface="Calibri"/>
              </a:rPr>
              <a:t>www.ole.com.ar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600" spc="-1" strike="noStrike">
                <a:solidFill>
                  <a:srgbClr val="000000"/>
                </a:solidFill>
                <a:latin typeface="Calibri"/>
                <a:ea typeface="Calibri"/>
              </a:rPr>
              <a:t>Ubicación en el host: </a:t>
            </a:r>
            <a:r>
              <a:rPr b="0" lang="es" sz="1600" spc="-1" strike="noStrike">
                <a:solidFill>
                  <a:srgbClr val="000000"/>
                </a:solidFill>
                <a:latin typeface="Calibri"/>
                <a:ea typeface="Calibri"/>
              </a:rPr>
              <a:t>tema/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600" spc="-1" strike="noStrike">
                <a:solidFill>
                  <a:srgbClr val="000000"/>
                </a:solidFill>
                <a:latin typeface="Calibri"/>
                <a:ea typeface="Calibri"/>
              </a:rPr>
              <a:t>Recurso: </a:t>
            </a:r>
            <a:r>
              <a:rPr b="0" lang="es" sz="1600" spc="-1" strike="noStrike">
                <a:solidFill>
                  <a:srgbClr val="000000"/>
                </a:solidFill>
                <a:latin typeface="Calibri"/>
                <a:ea typeface="Calibri"/>
              </a:rPr>
              <a:t>archivo lionel-messi.html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600" spc="-1" strike="noStrike">
                <a:solidFill>
                  <a:srgbClr val="000000"/>
                </a:solidFill>
                <a:latin typeface="Calibri"/>
                <a:ea typeface="Calibri"/>
              </a:rPr>
              <a:t>Nota: </a:t>
            </a:r>
            <a:r>
              <a:rPr b="0" i="1" lang="es" sz="1600" spc="-1" strike="noStrike">
                <a:solidFill>
                  <a:srgbClr val="000000"/>
                </a:solidFill>
                <a:latin typeface="Calibri"/>
                <a:ea typeface="Calibri"/>
              </a:rPr>
              <a:t>El protocolo https se diferencia de http en que encripta los datos antes de enviarlos por la red.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71;p22"/>
          <p:cNvSpPr/>
          <p:nvPr/>
        </p:nvSpPr>
        <p:spPr>
          <a:xfrm>
            <a:off x="0" y="0"/>
            <a:ext cx="9143640" cy="41112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Google Shape;172;p22"/>
          <p:cNvSpPr/>
          <p:nvPr/>
        </p:nvSpPr>
        <p:spPr>
          <a:xfrm>
            <a:off x="274320" y="1029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Google Shape;173;p22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Google Shape;174;p22"/>
          <p:cNvSpPr/>
          <p:nvPr/>
        </p:nvSpPr>
        <p:spPr>
          <a:xfrm>
            <a:off x="274320" y="49035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8" name="Google Shape;175;p22"/>
          <p:cNvSpPr/>
          <p:nvPr/>
        </p:nvSpPr>
        <p:spPr>
          <a:xfrm>
            <a:off x="365760" y="54864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2800" spc="-1" strike="noStrike">
                <a:solidFill>
                  <a:srgbClr val="323232"/>
                </a:solidFill>
                <a:latin typeface="Calibri"/>
                <a:ea typeface="Calibri"/>
              </a:rPr>
              <a:t>Protocolo HTTP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9" name="Google Shape;176;p22" descr="di_tella2.png"/>
          <p:cNvPicPr/>
          <p:nvPr/>
        </p:nvPicPr>
        <p:blipFill>
          <a:blip r:embed="rId1"/>
          <a:stretch/>
        </p:blipFill>
        <p:spPr>
          <a:xfrm>
            <a:off x="8325360" y="15120"/>
            <a:ext cx="818280" cy="380520"/>
          </a:xfrm>
          <a:prstGeom prst="rect">
            <a:avLst/>
          </a:prstGeom>
          <a:ln w="0">
            <a:noFill/>
          </a:ln>
        </p:spPr>
      </p:pic>
      <p:sp>
        <p:nvSpPr>
          <p:cNvPr id="130" name="Google Shape;177;p22"/>
          <p:cNvSpPr/>
          <p:nvPr/>
        </p:nvSpPr>
        <p:spPr>
          <a:xfrm>
            <a:off x="365760" y="1020240"/>
            <a:ext cx="80884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¿Qué información podemos pedir usando HTTP?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Google Shape;178;p22"/>
          <p:cNvSpPr/>
          <p:nvPr/>
        </p:nvSpPr>
        <p:spPr>
          <a:xfrm>
            <a:off x="1495080" y="1839960"/>
            <a:ext cx="2705760" cy="21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15000"/>
              </a:lnSpc>
              <a:spcBef>
                <a:spcPts val="1800"/>
              </a:spcBef>
              <a:tabLst>
                <a:tab algn="l" pos="0"/>
              </a:tabLst>
            </a:pPr>
            <a:r>
              <a:rPr b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Archivos (estático)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HTML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Imagen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TXT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PDF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Google Shape;179;p22"/>
          <p:cNvSpPr/>
          <p:nvPr/>
        </p:nvSpPr>
        <p:spPr>
          <a:xfrm>
            <a:off x="4846320" y="1839960"/>
            <a:ext cx="2999520" cy="213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>
              <a:lnSpc>
                <a:spcPct val="115000"/>
              </a:lnSpc>
              <a:spcBef>
                <a:spcPts val="1199"/>
              </a:spcBef>
              <a:tabLst>
                <a:tab algn="l" pos="0"/>
              </a:tabLst>
            </a:pPr>
            <a:r>
              <a:rPr b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Información dinámica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spcBef>
                <a:spcPts val="1199"/>
              </a:spcBef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Clima actual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Últimos posts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Productos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 indent="-330120">
              <a:lnSpc>
                <a:spcPct val="115000"/>
              </a:lnSpc>
              <a:buClr>
                <a:srgbClr val="000000"/>
              </a:buClr>
              <a:buFont typeface="Calibri"/>
              <a:buChar char="●"/>
              <a:tabLst>
                <a:tab algn="l" pos="0"/>
              </a:tabLst>
            </a:pPr>
            <a:r>
              <a:rPr b="0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Saldo bancario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Google Shape;180;p22"/>
          <p:cNvSpPr/>
          <p:nvPr/>
        </p:nvSpPr>
        <p:spPr>
          <a:xfrm>
            <a:off x="634320" y="3994920"/>
            <a:ext cx="7875000" cy="609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Calibri"/>
              <a:buChar char="➔"/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Un archivo ya existe en el servidor.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 indent="-317520">
              <a:lnSpc>
                <a:spcPct val="100000"/>
              </a:lnSpc>
              <a:buClr>
                <a:srgbClr val="000000"/>
              </a:buClr>
              <a:buFont typeface="Calibri"/>
              <a:buChar char="➔"/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Si yo pido el clima actual el servidor tiene que generar esa información en el momento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85;p23"/>
          <p:cNvSpPr/>
          <p:nvPr/>
        </p:nvSpPr>
        <p:spPr>
          <a:xfrm>
            <a:off x="2240640" y="2365200"/>
            <a:ext cx="3676320" cy="357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22680" bIns="0" anchor="t">
            <a:spAutoFit/>
          </a:bodyPr>
          <a:p>
            <a:pPr marL="25560">
              <a:lnSpc>
                <a:spcPct val="100000"/>
              </a:lnSpc>
              <a:tabLst>
                <a:tab algn="l" pos="0"/>
              </a:tabLst>
            </a:pPr>
            <a:r>
              <a:rPr b="0" lang="es" sz="2200" spc="-1" strike="noStrike" cap="small">
                <a:solidFill>
                  <a:srgbClr val="f4f2ed"/>
                </a:solidFill>
                <a:latin typeface="Tahoma"/>
                <a:ea typeface="Tahoma"/>
              </a:rPr>
              <a:t>BIBLIOTECA REQUESTS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35" name="Google Shape;186;p23"/>
          <p:cNvGrpSpPr/>
          <p:nvPr/>
        </p:nvGrpSpPr>
        <p:grpSpPr>
          <a:xfrm>
            <a:off x="2260800" y="2700000"/>
            <a:ext cx="4642200" cy="37440"/>
            <a:chOff x="2260800" y="2700000"/>
            <a:chExt cx="4642200" cy="37440"/>
          </a:xfrm>
        </p:grpSpPr>
        <p:sp>
          <p:nvSpPr>
            <p:cNvPr id="136" name="Google Shape;187;p23"/>
            <p:cNvSpPr/>
            <p:nvPr/>
          </p:nvSpPr>
          <p:spPr>
            <a:xfrm>
              <a:off x="2260800" y="2700000"/>
              <a:ext cx="4642200" cy="374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37440"/>
                <a:gd name="textAreaBottom" fmla="*/ 37800 h 374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4f2ed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7" name="Google Shape;188;p23"/>
            <p:cNvSpPr/>
            <p:nvPr/>
          </p:nvSpPr>
          <p:spPr>
            <a:xfrm>
              <a:off x="2260800" y="2700000"/>
              <a:ext cx="4642200" cy="37440"/>
            </a:xfrm>
            <a:custGeom>
              <a:avLst/>
              <a:gdLst>
                <a:gd name="textAreaLeft" fmla="*/ 0 w 4642200"/>
                <a:gd name="textAreaRight" fmla="*/ 4642560 w 4642200"/>
                <a:gd name="textAreaTop" fmla="*/ 0 h 37440"/>
                <a:gd name="textAreaBottom" fmla="*/ 37800 h 37440"/>
              </a:gdLst>
              <a:ahLst/>
              <a:rect l="textAreaLeft" t="textAreaTop" r="textAreaRight" b="textAreaBottom"/>
              <a:pathLst>
                <a:path w="2340610" h="25400">
                  <a:moveTo>
                    <a:pt x="0" y="25305"/>
                  </a:moveTo>
                  <a:lnTo>
                    <a:pt x="0" y="0"/>
                  </a:lnTo>
                  <a:lnTo>
                    <a:pt x="2340180" y="0"/>
                  </a:lnTo>
                  <a:lnTo>
                    <a:pt x="2340180" y="25305"/>
                  </a:lnTo>
                  <a:lnTo>
                    <a:pt x="0" y="25305"/>
                  </a:lnTo>
                  <a:close/>
                </a:path>
              </a:pathLst>
            </a:custGeom>
            <a:noFill/>
            <a:ln w="18875">
              <a:solidFill>
                <a:srgbClr val="f4f2ed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  <p:sp>
          <p:nvSpPr>
            <p:cNvPr id="138" name="Google Shape;189;p23"/>
            <p:cNvSpPr/>
            <p:nvPr/>
          </p:nvSpPr>
          <p:spPr>
            <a:xfrm>
              <a:off x="2260800" y="2700000"/>
              <a:ext cx="2421720" cy="374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37440"/>
                <a:gd name="textAreaBottom" fmla="*/ 37800 h 374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006dbf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ffffff"/>
                </a:solidFill>
                <a:latin typeface="Arial"/>
              </a:endParaRPr>
            </a:p>
          </p:txBody>
        </p:sp>
        <p:sp>
          <p:nvSpPr>
            <p:cNvPr id="139" name="Google Shape;190;p23"/>
            <p:cNvSpPr/>
            <p:nvPr/>
          </p:nvSpPr>
          <p:spPr>
            <a:xfrm>
              <a:off x="2260800" y="2700000"/>
              <a:ext cx="2421720" cy="37440"/>
            </a:xfrm>
            <a:custGeom>
              <a:avLst/>
              <a:gdLst>
                <a:gd name="textAreaLeft" fmla="*/ 0 w 2421720"/>
                <a:gd name="textAreaRight" fmla="*/ 2422080 w 2421720"/>
                <a:gd name="textAreaTop" fmla="*/ 0 h 37440"/>
                <a:gd name="textAreaBottom" fmla="*/ 37800 h 37440"/>
              </a:gdLst>
              <a:ahLst/>
              <a:rect l="textAreaLeft" t="textAreaTop" r="textAreaRight" b="textAreaBottom"/>
              <a:pathLst>
                <a:path w="1221105" h="25400">
                  <a:moveTo>
                    <a:pt x="0" y="25305"/>
                  </a:moveTo>
                  <a:lnTo>
                    <a:pt x="0" y="0"/>
                  </a:lnTo>
                  <a:lnTo>
                    <a:pt x="1220943" y="0"/>
                  </a:lnTo>
                  <a:lnTo>
                    <a:pt x="1220943" y="25305"/>
                  </a:lnTo>
                  <a:lnTo>
                    <a:pt x="0" y="25305"/>
                  </a:lnTo>
                  <a:close/>
                </a:path>
              </a:pathLst>
            </a:custGeom>
            <a:solidFill>
              <a:srgbClr val="ffd966"/>
            </a:solidFill>
            <a:ln w="18875">
              <a:solidFill>
                <a:srgbClr val="f1c232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t">
              <a:noAutofit/>
            </a:bodyPr>
            <a:p>
              <a:pPr>
                <a:lnSpc>
                  <a:spcPct val="100000"/>
                </a:lnSpc>
                <a:tabLst>
                  <a:tab algn="l" pos="0"/>
                </a:tabLst>
              </a:pPr>
              <a:endParaRPr b="0" lang="en-US" sz="1400" spc="-1" strike="noStrike">
                <a:solidFill>
                  <a:srgbClr val="000000"/>
                </a:solidFill>
                <a:latin typeface="Arial"/>
              </a:endParaRPr>
            </a:p>
          </p:txBody>
        </p:sp>
      </p:grpSp>
    </p:spTree>
  </p:cSld>
  <p:transition>
    <p:fade thruBlk="true"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95;p24"/>
          <p:cNvSpPr/>
          <p:nvPr/>
        </p:nvSpPr>
        <p:spPr>
          <a:xfrm>
            <a:off x="0" y="0"/>
            <a:ext cx="9143640" cy="41112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Google Shape;196;p24"/>
          <p:cNvSpPr/>
          <p:nvPr/>
        </p:nvSpPr>
        <p:spPr>
          <a:xfrm>
            <a:off x="274320" y="1029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Google Shape;197;p24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Google Shape;198;p24"/>
          <p:cNvSpPr/>
          <p:nvPr/>
        </p:nvSpPr>
        <p:spPr>
          <a:xfrm>
            <a:off x="274320" y="49035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4" name="Google Shape;199;p24"/>
          <p:cNvSpPr/>
          <p:nvPr/>
        </p:nvSpPr>
        <p:spPr>
          <a:xfrm>
            <a:off x="365760" y="54864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2800" spc="-1" strike="noStrike">
                <a:solidFill>
                  <a:srgbClr val="323232"/>
                </a:solidFill>
                <a:latin typeface="Calibri"/>
                <a:ea typeface="Calibri"/>
              </a:rPr>
              <a:t>Biblioteca Requests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45" name="Google Shape;200;p24" descr="di_tella2.png"/>
          <p:cNvPicPr/>
          <p:nvPr/>
        </p:nvPicPr>
        <p:blipFill>
          <a:blip r:embed="rId1"/>
          <a:stretch/>
        </p:blipFill>
        <p:spPr>
          <a:xfrm>
            <a:off x="8325360" y="15120"/>
            <a:ext cx="818280" cy="380520"/>
          </a:xfrm>
          <a:prstGeom prst="rect">
            <a:avLst/>
          </a:prstGeom>
          <a:ln w="0">
            <a:noFill/>
          </a:ln>
        </p:spPr>
      </p:pic>
      <p:sp>
        <p:nvSpPr>
          <p:cNvPr id="146" name="Google Shape;201;p24"/>
          <p:cNvSpPr/>
          <p:nvPr/>
        </p:nvSpPr>
        <p:spPr>
          <a:xfrm>
            <a:off x="365760" y="1013040"/>
            <a:ext cx="8088480" cy="42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30120">
              <a:lnSpc>
                <a:spcPct val="100000"/>
              </a:lnSpc>
              <a:buClr>
                <a:srgbClr val="000000"/>
              </a:buClr>
              <a:buFont typeface="Calibri"/>
              <a:buChar char="➔"/>
            </a:pP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Para comunicarnos con hosts remotos y pedirles recursos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202;p24"/>
          <p:cNvSpPr/>
          <p:nvPr/>
        </p:nvSpPr>
        <p:spPr>
          <a:xfrm>
            <a:off x="477000" y="1418400"/>
            <a:ext cx="5452920" cy="210384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import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requests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6dbf"/>
                </a:solidFill>
                <a:latin typeface="Calibri"/>
                <a:ea typeface="Calibri"/>
              </a:rPr>
              <a:t>def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obtener_texto () 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url = " https :// www .... "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response = requests . get ( url 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6dbf"/>
                </a:solidFill>
                <a:latin typeface="Calibri"/>
                <a:ea typeface="Calibri"/>
              </a:rPr>
              <a:t>return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response . text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6dbf"/>
                </a:solidFill>
                <a:latin typeface="Calibri"/>
                <a:ea typeface="Calibri"/>
              </a:rPr>
              <a:t>input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(" Presiona Enter para descargar el texto ")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texto = obtener_texto ()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6dbf"/>
                </a:solidFill>
                <a:latin typeface="Calibri"/>
                <a:ea typeface="Calibri"/>
              </a:rPr>
              <a:t>print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("\ nTexto recibido :")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6dbf"/>
                </a:solidFill>
                <a:latin typeface="Calibri"/>
                <a:ea typeface="Calibri"/>
              </a:rPr>
              <a:t>print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( texto 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203;p24"/>
          <p:cNvSpPr/>
          <p:nvPr/>
        </p:nvSpPr>
        <p:spPr>
          <a:xfrm>
            <a:off x="365760" y="3713040"/>
            <a:ext cx="8524440" cy="975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11040">
              <a:lnSpc>
                <a:spcPct val="100000"/>
              </a:lnSpc>
              <a:buClr>
                <a:srgbClr val="000000"/>
              </a:buClr>
              <a:buFont typeface="Calibri"/>
              <a:buChar char="➔"/>
            </a:pPr>
            <a:r>
              <a:rPr b="0" lang="es" sz="1300" spc="-1" strike="noStrike">
                <a:solidFill>
                  <a:srgbClr val="000000"/>
                </a:solidFill>
                <a:latin typeface="Calibri"/>
                <a:ea typeface="Calibri"/>
              </a:rPr>
              <a:t>La función requests.get(url) envía una solicitud HTTP para obtener el recurso indicado por url y devuelve la respuesta del servidor.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000000"/>
              </a:buClr>
              <a:buFont typeface="Calibri"/>
              <a:buChar char="➔"/>
            </a:pPr>
            <a:r>
              <a:rPr b="0" lang="es" sz="1300" spc="-1" strike="noStrike">
                <a:solidFill>
                  <a:srgbClr val="000000"/>
                </a:solidFill>
                <a:latin typeface="Calibri"/>
                <a:ea typeface="Calibri"/>
              </a:rPr>
              <a:t>El resultado es un objeto, instancia de la clase requests.</a:t>
            </a:r>
            <a:r>
              <a:rPr b="1" lang="es" sz="1300" spc="-1" strike="noStrike">
                <a:solidFill>
                  <a:srgbClr val="000000"/>
                </a:solidFill>
                <a:latin typeface="Calibri"/>
                <a:ea typeface="Calibri"/>
              </a:rPr>
              <a:t> </a:t>
            </a:r>
            <a:r>
              <a:rPr b="1" i="1" lang="es" sz="1300" spc="-1" strike="noStrike">
                <a:solidFill>
                  <a:srgbClr val="000000"/>
                </a:solidFill>
                <a:latin typeface="Calibri"/>
                <a:ea typeface="Calibri"/>
              </a:rPr>
              <a:t>Response</a:t>
            </a:r>
            <a:r>
              <a:rPr b="1" lang="es" sz="1300" spc="-1" strike="noStrike">
                <a:solidFill>
                  <a:srgbClr val="000000"/>
                </a:solidFill>
                <a:latin typeface="Calibri"/>
                <a:ea typeface="Calibri"/>
              </a:rPr>
              <a:t>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  <a:p>
            <a:pPr marL="457200" indent="-311040">
              <a:lnSpc>
                <a:spcPct val="100000"/>
              </a:lnSpc>
              <a:buClr>
                <a:srgbClr val="000000"/>
              </a:buClr>
              <a:buFont typeface="Calibri"/>
              <a:buChar char="➔"/>
            </a:pPr>
            <a:r>
              <a:rPr b="0" lang="es" sz="1300" spc="-1" strike="noStrike">
                <a:solidFill>
                  <a:srgbClr val="000000"/>
                </a:solidFill>
                <a:latin typeface="Calibri"/>
                <a:ea typeface="Calibri"/>
              </a:rPr>
              <a:t>Los objetos </a:t>
            </a:r>
            <a:r>
              <a:rPr b="0" i="1" lang="es" sz="1300" spc="-1" strike="noStrike">
                <a:solidFill>
                  <a:srgbClr val="000000"/>
                </a:solidFill>
                <a:latin typeface="Calibri"/>
                <a:ea typeface="Calibri"/>
              </a:rPr>
              <a:t>Response </a:t>
            </a:r>
            <a:r>
              <a:rPr b="0" lang="es" sz="1300" spc="-1" strike="noStrike">
                <a:solidFill>
                  <a:srgbClr val="000000"/>
                </a:solidFill>
                <a:latin typeface="Calibri"/>
                <a:ea typeface="Calibri"/>
              </a:rPr>
              <a:t>tienen un atributo text que contiene el texto devuelto por el servidor.</a:t>
            </a:r>
            <a:endParaRPr b="0" lang="en-US" sz="13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208;p25"/>
          <p:cNvSpPr/>
          <p:nvPr/>
        </p:nvSpPr>
        <p:spPr>
          <a:xfrm>
            <a:off x="0" y="0"/>
            <a:ext cx="9143640" cy="41112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Google Shape;209;p25"/>
          <p:cNvSpPr/>
          <p:nvPr/>
        </p:nvSpPr>
        <p:spPr>
          <a:xfrm>
            <a:off x="274320" y="1029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Google Shape;210;p25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Google Shape;211;p25"/>
          <p:cNvSpPr/>
          <p:nvPr/>
        </p:nvSpPr>
        <p:spPr>
          <a:xfrm>
            <a:off x="274320" y="49035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Google Shape;212;p25"/>
          <p:cNvSpPr/>
          <p:nvPr/>
        </p:nvSpPr>
        <p:spPr>
          <a:xfrm>
            <a:off x="365760" y="54864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2800" spc="-1" strike="noStrike">
                <a:solidFill>
                  <a:srgbClr val="323232"/>
                </a:solidFill>
                <a:latin typeface="Calibri"/>
                <a:ea typeface="Calibri"/>
              </a:rPr>
              <a:t>Biblioteca Requests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54" name="Google Shape;213;p25" descr="di_tella2.png"/>
          <p:cNvPicPr/>
          <p:nvPr/>
        </p:nvPicPr>
        <p:blipFill>
          <a:blip r:embed="rId1"/>
          <a:stretch/>
        </p:blipFill>
        <p:spPr>
          <a:xfrm>
            <a:off x="8325360" y="15120"/>
            <a:ext cx="818280" cy="380520"/>
          </a:xfrm>
          <a:prstGeom prst="rect">
            <a:avLst/>
          </a:prstGeom>
          <a:ln w="0">
            <a:noFill/>
          </a:ln>
        </p:spPr>
      </p:pic>
      <p:sp>
        <p:nvSpPr>
          <p:cNvPr id="155" name="Google Shape;214;p25"/>
          <p:cNvSpPr/>
          <p:nvPr/>
        </p:nvSpPr>
        <p:spPr>
          <a:xfrm>
            <a:off x="365760" y="1208880"/>
            <a:ext cx="8088480" cy="14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30120">
              <a:lnSpc>
                <a:spcPct val="100000"/>
              </a:lnSpc>
              <a:buClr>
                <a:srgbClr val="000000"/>
              </a:buClr>
              <a:buFont typeface="Calibri"/>
              <a:buChar char="➔"/>
            </a:pP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En muchos casos, la respuesta del servidor remoto no está pensada para ser leída directamente por una persona.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Ejemplo: </a:t>
            </a:r>
            <a:r>
              <a:rPr b="0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los archivos con extensión .html (o .htm) son textos que los navegadores web (como Chrome o Firefox) interpretan para mostrar una página en pantalla.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Google Shape;215;p25"/>
          <p:cNvSpPr/>
          <p:nvPr/>
        </p:nvSpPr>
        <p:spPr>
          <a:xfrm>
            <a:off x="556200" y="2818440"/>
            <a:ext cx="6246720" cy="12499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import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requests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x = requests . get ('https :// w3schools . com / python / demopage . htm ')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6dbf"/>
                </a:solidFill>
                <a:latin typeface="Calibri"/>
                <a:ea typeface="Calibri"/>
              </a:rPr>
              <a:t>print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( x.text 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220;p26"/>
          <p:cNvSpPr/>
          <p:nvPr/>
        </p:nvSpPr>
        <p:spPr>
          <a:xfrm>
            <a:off x="0" y="0"/>
            <a:ext cx="9143640" cy="41112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Google Shape;221;p26"/>
          <p:cNvSpPr/>
          <p:nvPr/>
        </p:nvSpPr>
        <p:spPr>
          <a:xfrm>
            <a:off x="274320" y="1029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Google Shape;222;p26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Google Shape;223;p26"/>
          <p:cNvSpPr/>
          <p:nvPr/>
        </p:nvSpPr>
        <p:spPr>
          <a:xfrm>
            <a:off x="274320" y="49035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Google Shape;224;p26"/>
          <p:cNvSpPr/>
          <p:nvPr/>
        </p:nvSpPr>
        <p:spPr>
          <a:xfrm>
            <a:off x="365760" y="54864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2800" spc="-1" strike="noStrike">
                <a:solidFill>
                  <a:srgbClr val="323232"/>
                </a:solidFill>
                <a:latin typeface="Calibri"/>
                <a:ea typeface="Calibri"/>
              </a:rPr>
              <a:t>Biblioteca Requests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62" name="Google Shape;225;p26" descr="di_tella2.png"/>
          <p:cNvPicPr/>
          <p:nvPr/>
        </p:nvPicPr>
        <p:blipFill>
          <a:blip r:embed="rId1"/>
          <a:stretch/>
        </p:blipFill>
        <p:spPr>
          <a:xfrm>
            <a:off x="8325360" y="15120"/>
            <a:ext cx="818280" cy="380520"/>
          </a:xfrm>
          <a:prstGeom prst="rect">
            <a:avLst/>
          </a:prstGeom>
          <a:ln w="0">
            <a:noFill/>
          </a:ln>
        </p:spPr>
      </p:pic>
      <p:sp>
        <p:nvSpPr>
          <p:cNvPr id="163" name="Google Shape;226;p26"/>
          <p:cNvSpPr/>
          <p:nvPr/>
        </p:nvSpPr>
        <p:spPr>
          <a:xfrm>
            <a:off x="141120" y="915120"/>
            <a:ext cx="808848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30120">
              <a:lnSpc>
                <a:spcPct val="100000"/>
              </a:lnSpc>
              <a:buClr>
                <a:srgbClr val="000000"/>
              </a:buClr>
              <a:buFont typeface="Calibri"/>
              <a:buChar char="➔"/>
            </a:pP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En muchos casos, no se solicita un archivo específico, sino que se invoca una funcionalidad provista por una </a:t>
            </a: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API 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(Application Programming Interface) que corre en el servidor remoto.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oogle Shape;227;p26"/>
          <p:cNvSpPr/>
          <p:nvPr/>
        </p:nvSpPr>
        <p:spPr>
          <a:xfrm>
            <a:off x="475560" y="1722600"/>
            <a:ext cx="838836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s" sz="1600" spc="-1" strike="noStrike">
                <a:solidFill>
                  <a:srgbClr val="f1c232"/>
                </a:solidFill>
                <a:latin typeface="Calibri"/>
                <a:ea typeface="Calibri"/>
              </a:rPr>
              <a:t>API 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→  biblioteca de funciones disponibles para su uso cuya respuesta depende de cómo haya sido programada, sin seguir una estructura fija.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Google Shape;228;p26"/>
          <p:cNvSpPr/>
          <p:nvPr/>
        </p:nvSpPr>
        <p:spPr>
          <a:xfrm>
            <a:off x="274320" y="2409120"/>
            <a:ext cx="6126480" cy="23173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import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requests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def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obtener_chiste () 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url = " https :// official - joke - api . appspot . com / random_joke "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response = requests . get ( url 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return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response . text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input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(" Presiona Enter para obtener un chiste")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chiste = obtener_chiste ()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print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("\ nChiste recibido :")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print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( chiste)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Google Shape;229;p26"/>
          <p:cNvSpPr/>
          <p:nvPr/>
        </p:nvSpPr>
        <p:spPr>
          <a:xfrm>
            <a:off x="6858000" y="2409120"/>
            <a:ext cx="2086560" cy="2103840"/>
          </a:xfrm>
          <a:prstGeom prst="rect">
            <a:avLst/>
          </a:prstGeom>
          <a:solidFill>
            <a:srgbClr val="b7b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Chiste recibido : {" type ":" general ", " setup ":" Want to hear a joke about construction ?" ,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" punchline ":" Nah , I'm still working on it ." , 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" id ":151}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234;p27"/>
          <p:cNvSpPr/>
          <p:nvPr/>
        </p:nvSpPr>
        <p:spPr>
          <a:xfrm>
            <a:off x="0" y="0"/>
            <a:ext cx="9143640" cy="41112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235;p27"/>
          <p:cNvSpPr/>
          <p:nvPr/>
        </p:nvSpPr>
        <p:spPr>
          <a:xfrm>
            <a:off x="274320" y="1029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9" name="Google Shape;236;p27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0" name="Google Shape;237;p27"/>
          <p:cNvSpPr/>
          <p:nvPr/>
        </p:nvSpPr>
        <p:spPr>
          <a:xfrm>
            <a:off x="274320" y="49035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Google Shape;238;p27"/>
          <p:cNvSpPr/>
          <p:nvPr/>
        </p:nvSpPr>
        <p:spPr>
          <a:xfrm>
            <a:off x="365760" y="54864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2800" spc="-1" strike="noStrike">
                <a:solidFill>
                  <a:srgbClr val="323232"/>
                </a:solidFill>
                <a:latin typeface="Calibri"/>
                <a:ea typeface="Calibri"/>
              </a:rPr>
              <a:t>Biblioteca Requests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72" name="Google Shape;239;p27" descr="di_tella2.png"/>
          <p:cNvPicPr/>
          <p:nvPr/>
        </p:nvPicPr>
        <p:blipFill>
          <a:blip r:embed="rId1"/>
          <a:stretch/>
        </p:blipFill>
        <p:spPr>
          <a:xfrm>
            <a:off x="8325360" y="15120"/>
            <a:ext cx="818280" cy="380520"/>
          </a:xfrm>
          <a:prstGeom prst="rect">
            <a:avLst/>
          </a:prstGeom>
          <a:ln w="0">
            <a:noFill/>
          </a:ln>
        </p:spPr>
      </p:pic>
      <p:sp>
        <p:nvSpPr>
          <p:cNvPr id="173" name="Google Shape;240;p27"/>
          <p:cNvSpPr/>
          <p:nvPr/>
        </p:nvSpPr>
        <p:spPr>
          <a:xfrm>
            <a:off x="0" y="936000"/>
            <a:ext cx="9464040" cy="11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Es muy habitual que el resultado de una función de una API tenga formato </a:t>
            </a: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JSON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La clase Response tiene un método </a:t>
            </a: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res.json()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 → en caso de que la respuesta de la API tenga este formato, transforma su contenido en objetos Python del mismo modo que lo hacía la biblioteca </a:t>
            </a: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json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Google Shape;241;p27"/>
          <p:cNvSpPr/>
          <p:nvPr/>
        </p:nvSpPr>
        <p:spPr>
          <a:xfrm>
            <a:off x="6200280" y="2094120"/>
            <a:ext cx="2715120" cy="1463400"/>
          </a:xfrm>
          <a:prstGeom prst="rect">
            <a:avLst/>
          </a:prstGeom>
          <a:solidFill>
            <a:srgbClr val="b7b7b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Chiste recibido 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Why don 't you find hippopotamuses hiding in trees ? They 're really good at it .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Google Shape;242;p27"/>
          <p:cNvSpPr/>
          <p:nvPr/>
        </p:nvSpPr>
        <p:spPr>
          <a:xfrm>
            <a:off x="274320" y="1899360"/>
            <a:ext cx="5897880" cy="295776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import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requests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def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obtener_chiste () :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url = " https :// official - joke - api . appspot . com / random_joke "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response = requests . get ( url 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data = response . json ()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chiste = data [ " setup "] + " " + data [" punchline "]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return </a:t>
            </a:r>
            <a:r>
              <a:rPr b="0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chiste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input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("Presiona Enter para obtener un chiste")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chiste = obtener_chiste ()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print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("\ nChiste recibido :")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print </a:t>
            </a:r>
            <a:r>
              <a:rPr b="0" lang="es" sz="1400" spc="-1" strike="noStrike">
                <a:solidFill>
                  <a:srgbClr val="000000"/>
                </a:solidFill>
                <a:latin typeface="Calibri"/>
                <a:ea typeface="Calibri"/>
              </a:rPr>
              <a:t>( chiste)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247;p28"/>
          <p:cNvSpPr/>
          <p:nvPr/>
        </p:nvSpPr>
        <p:spPr>
          <a:xfrm>
            <a:off x="0" y="0"/>
            <a:ext cx="9143640" cy="41112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7" name="Google Shape;248;p28"/>
          <p:cNvSpPr/>
          <p:nvPr/>
        </p:nvSpPr>
        <p:spPr>
          <a:xfrm>
            <a:off x="274320" y="1029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249;p28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Google Shape;250;p28"/>
          <p:cNvSpPr/>
          <p:nvPr/>
        </p:nvSpPr>
        <p:spPr>
          <a:xfrm>
            <a:off x="274320" y="49035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0" name="Google Shape;251;p28"/>
          <p:cNvSpPr/>
          <p:nvPr/>
        </p:nvSpPr>
        <p:spPr>
          <a:xfrm>
            <a:off x="365760" y="54864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2800" spc="-1" strike="noStrike">
                <a:solidFill>
                  <a:srgbClr val="323232"/>
                </a:solidFill>
                <a:latin typeface="Calibri"/>
                <a:ea typeface="Calibri"/>
              </a:rPr>
              <a:t>HTTP: parámetros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81" name="Google Shape;252;p28" descr="di_tella2.png"/>
          <p:cNvPicPr/>
          <p:nvPr/>
        </p:nvPicPr>
        <p:blipFill>
          <a:blip r:embed="rId1"/>
          <a:stretch/>
        </p:blipFill>
        <p:spPr>
          <a:xfrm>
            <a:off x="8325360" y="15120"/>
            <a:ext cx="818280" cy="380520"/>
          </a:xfrm>
          <a:prstGeom prst="rect">
            <a:avLst/>
          </a:prstGeom>
          <a:ln w="0">
            <a:noFill/>
          </a:ln>
        </p:spPr>
      </p:pic>
      <p:sp>
        <p:nvSpPr>
          <p:cNvPr id="182" name="Google Shape;253;p28"/>
          <p:cNvSpPr/>
          <p:nvPr/>
        </p:nvSpPr>
        <p:spPr>
          <a:xfrm>
            <a:off x="0" y="998640"/>
            <a:ext cx="9317880" cy="115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Cuando hacemos un requerimiento HTTP se pueden incluir parámetros y parámetros.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→ 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al final de la URL se incluye el signo </a:t>
            </a: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? 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seguido de pares </a:t>
            </a: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clave=valor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 separados por el símbolo </a:t>
            </a: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&amp;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Google Shape;254;p28"/>
          <p:cNvSpPr/>
          <p:nvPr/>
        </p:nvSpPr>
        <p:spPr>
          <a:xfrm>
            <a:off x="2570040" y="2440080"/>
            <a:ext cx="3820680" cy="234612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{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"tamano": "grande",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"precio": 4300.00,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"adicionales": ["jamón", "morrones"],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"cliente":{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"nombre": "Nombre",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"telefono": "1132234532",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"correo": "</a:t>
            </a:r>
            <a:r>
              <a:rPr b="0" lang="es" sz="1400" spc="-1" strike="noStrike" u="sng">
                <a:solidFill>
                  <a:schemeClr val="accent5"/>
                </a:solidFill>
                <a:uFillTx/>
                <a:latin typeface="Calibri"/>
                <a:ea typeface="Calibri"/>
              </a:rPr>
              <a:t>nombre01</a:t>
            </a:r>
            <a:r>
              <a:rPr b="0" lang="es" sz="1400" spc="-1" strike="noStrike" u="sng">
                <a:solidFill>
                  <a:schemeClr val="accent5"/>
                </a:solidFill>
                <a:uFillTx/>
                <a:latin typeface="Calibri"/>
                <a:ea typeface="Calibri"/>
                <a:hlinkClick r:id="rId2"/>
              </a:rPr>
              <a:t>@em.com</a:t>
            </a: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"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}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}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Google Shape;255;p28"/>
          <p:cNvSpPr/>
          <p:nvPr/>
        </p:nvSpPr>
        <p:spPr>
          <a:xfrm>
            <a:off x="429480" y="1673280"/>
            <a:ext cx="882432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Ejemplo: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 accediendo a </a:t>
            </a: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https://pizzaloca.com/pedido?nro pedido=2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 solicitamos el segundo pedido almacenado en el servidor: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260;p29"/>
          <p:cNvSpPr/>
          <p:nvPr/>
        </p:nvSpPr>
        <p:spPr>
          <a:xfrm>
            <a:off x="0" y="0"/>
            <a:ext cx="9143640" cy="41112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6" name="Google Shape;261;p29"/>
          <p:cNvSpPr/>
          <p:nvPr/>
        </p:nvSpPr>
        <p:spPr>
          <a:xfrm>
            <a:off x="274320" y="1029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Google Shape;262;p29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Google Shape;263;p29"/>
          <p:cNvSpPr/>
          <p:nvPr/>
        </p:nvSpPr>
        <p:spPr>
          <a:xfrm>
            <a:off x="274320" y="49035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Google Shape;264;p29"/>
          <p:cNvSpPr/>
          <p:nvPr/>
        </p:nvSpPr>
        <p:spPr>
          <a:xfrm>
            <a:off x="274320" y="55692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2800" spc="-1" strike="noStrike">
                <a:solidFill>
                  <a:srgbClr val="323232"/>
                </a:solidFill>
                <a:latin typeface="Calibri"/>
                <a:ea typeface="Calibri"/>
              </a:rPr>
              <a:t>HTTP: parámetros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90" name="Google Shape;265;p29" descr="di_tella2.png"/>
          <p:cNvPicPr/>
          <p:nvPr/>
        </p:nvPicPr>
        <p:blipFill>
          <a:blip r:embed="rId1"/>
          <a:stretch/>
        </p:blipFill>
        <p:spPr>
          <a:xfrm>
            <a:off x="8325360" y="15120"/>
            <a:ext cx="818280" cy="380520"/>
          </a:xfrm>
          <a:prstGeom prst="rect">
            <a:avLst/>
          </a:prstGeom>
          <a:ln w="0">
            <a:noFill/>
          </a:ln>
        </p:spPr>
      </p:pic>
      <p:sp>
        <p:nvSpPr>
          <p:cNvPr id="191" name="Google Shape;266;p29"/>
          <p:cNvSpPr/>
          <p:nvPr/>
        </p:nvSpPr>
        <p:spPr>
          <a:xfrm>
            <a:off x="274320" y="998640"/>
            <a:ext cx="8952120" cy="14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Cuando son muchos los parámetros que se envían en un HTTP, incluirlos todos en la URL resulta desprolijo.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Google Shape;267;p29"/>
          <p:cNvSpPr/>
          <p:nvPr/>
        </p:nvSpPr>
        <p:spPr>
          <a:xfrm>
            <a:off x="274320" y="1600200"/>
            <a:ext cx="8824320" cy="66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Ejemplo: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 https://pizzaloca.com/pedido?nro pedido=2&amp;fecha=12-03-98&amp;cortada=True&amp;aceitunas=False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Google Shape;268;p29"/>
          <p:cNvSpPr/>
          <p:nvPr/>
        </p:nvSpPr>
        <p:spPr>
          <a:xfrm>
            <a:off x="274320" y="2186280"/>
            <a:ext cx="9064440" cy="91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La función </a:t>
            </a: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get(...) 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admite un parámetro opcional </a:t>
            </a: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params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, para indicar en un diccionario de Python los valores de los parámetros que son enviados al servidor. 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→ </a:t>
            </a:r>
            <a:r>
              <a:rPr b="0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las claves como los valores deben ser </a:t>
            </a:r>
            <a:r>
              <a:rPr b="1" i="1" lang="es" sz="1600" spc="-1" strike="noStrike">
                <a:solidFill>
                  <a:schemeClr val="dk1"/>
                </a:solidFill>
                <a:latin typeface="Calibri"/>
                <a:ea typeface="Calibri"/>
              </a:rPr>
              <a:t>strings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269;p29"/>
          <p:cNvSpPr/>
          <p:nvPr/>
        </p:nvSpPr>
        <p:spPr>
          <a:xfrm>
            <a:off x="274320" y="3099960"/>
            <a:ext cx="7514280" cy="1463400"/>
          </a:xfrm>
          <a:prstGeom prst="rect">
            <a:avLst/>
          </a:prstGeom>
          <a:solidFill>
            <a:schemeClr val="lt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valores_params = </a:t>
            </a:r>
            <a:r>
              <a:rPr b="0" lang="es" sz="1400" spc="-1" strike="noStrike">
                <a:solidFill>
                  <a:schemeClr val="accent1"/>
                </a:solidFill>
                <a:latin typeface="Calibri"/>
                <a:ea typeface="Calibri"/>
              </a:rPr>
              <a:t>dict </a:t>
            </a:r>
            <a:r>
              <a:rPr b="0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()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valores_params ['nro_pedido '] = '2'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valores_params ['fecha '] = '12 -03 -98 '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valores_params ['cortada '] = 'True '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valores_params ['aceitunas '] = 'False '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400" spc="-1" strike="noStrike">
                <a:solidFill>
                  <a:schemeClr val="dk1"/>
                </a:solidFill>
                <a:latin typeface="Calibri"/>
                <a:ea typeface="Calibri"/>
              </a:rPr>
              <a:t>resp = requests . get ('https :// pizzaloca . com / pedido ', params = valores_params )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274;p30"/>
          <p:cNvSpPr/>
          <p:nvPr/>
        </p:nvSpPr>
        <p:spPr>
          <a:xfrm>
            <a:off x="0" y="0"/>
            <a:ext cx="9143640" cy="411120"/>
          </a:xfrm>
          <a:prstGeom prst="rect">
            <a:avLst/>
          </a:prstGeom>
          <a:solidFill>
            <a:srgbClr val="ffd966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Google Shape;275;p30"/>
          <p:cNvSpPr/>
          <p:nvPr/>
        </p:nvSpPr>
        <p:spPr>
          <a:xfrm>
            <a:off x="274320" y="102960"/>
            <a:ext cx="4571640" cy="30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1400" spc="-1" strike="noStrike">
                <a:solidFill>
                  <a:srgbClr val="323232"/>
                </a:solidFill>
                <a:latin typeface="Calibri"/>
                <a:ea typeface="Calibri"/>
              </a:rPr>
              <a:t>Métodos Analíticos y Programación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7" name="Google Shape;276;p30"/>
          <p:cNvSpPr/>
          <p:nvPr/>
        </p:nvSpPr>
        <p:spPr>
          <a:xfrm>
            <a:off x="0" y="4869360"/>
            <a:ext cx="9143640" cy="273960"/>
          </a:xfrm>
          <a:prstGeom prst="rect">
            <a:avLst/>
          </a:prstGeom>
          <a:solidFill>
            <a:srgbClr val="282828"/>
          </a:solidFill>
          <a:ln w="0"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0"/>
          <a:fillRef idx="0"/>
          <a:effectRef idx="0"/>
          <a:fontRef idx="minor"/>
        </p:style>
        <p:txBody>
          <a:bodyPr anchor="ctr">
            <a:no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Google Shape;277;p30"/>
          <p:cNvSpPr/>
          <p:nvPr/>
        </p:nvSpPr>
        <p:spPr>
          <a:xfrm>
            <a:off x="274320" y="4903560"/>
            <a:ext cx="3657240" cy="2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s" sz="1000" spc="-1" strike="noStrike">
                <a:solidFill>
                  <a:srgbClr val="ffffff"/>
                </a:solidFill>
                <a:latin typeface="Calibri"/>
                <a:ea typeface="Calibri"/>
              </a:rPr>
              <a:t>Pablo J Piccoli Bornia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Google Shape;278;p30"/>
          <p:cNvSpPr/>
          <p:nvPr/>
        </p:nvSpPr>
        <p:spPr>
          <a:xfrm>
            <a:off x="274320" y="673560"/>
            <a:ext cx="8229240" cy="518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1" lang="es" sz="2800" spc="-1" strike="noStrike">
                <a:solidFill>
                  <a:srgbClr val="323232"/>
                </a:solidFill>
                <a:latin typeface="Calibri"/>
                <a:ea typeface="Calibri"/>
              </a:rPr>
              <a:t>Repaso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200" name="Google Shape;279;p30" descr="di_tella2.png"/>
          <p:cNvPicPr/>
          <p:nvPr/>
        </p:nvPicPr>
        <p:blipFill>
          <a:blip r:embed="rId1"/>
          <a:stretch/>
        </p:blipFill>
        <p:spPr>
          <a:xfrm>
            <a:off x="8325360" y="15120"/>
            <a:ext cx="818280" cy="380520"/>
          </a:xfrm>
          <a:prstGeom prst="rect">
            <a:avLst/>
          </a:prstGeom>
          <a:ln w="0">
            <a:noFill/>
          </a:ln>
        </p:spPr>
      </p:pic>
      <p:sp>
        <p:nvSpPr>
          <p:cNvPr id="201" name="Google Shape;280;p30"/>
          <p:cNvSpPr/>
          <p:nvPr/>
        </p:nvSpPr>
        <p:spPr>
          <a:xfrm>
            <a:off x="372600" y="1473840"/>
            <a:ext cx="7099200" cy="1554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Calibri"/>
              <a:buChar char="●"/>
            </a:pPr>
            <a:r>
              <a:rPr b="0" lang="es" sz="1800" spc="-1" strike="noStrike">
                <a:solidFill>
                  <a:schemeClr val="dk1"/>
                </a:solidFill>
                <a:latin typeface="Calibri"/>
                <a:ea typeface="Calibri"/>
              </a:rPr>
              <a:t>Redes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Calibri"/>
              <a:buChar char="●"/>
            </a:pPr>
            <a:r>
              <a:rPr b="0" lang="es" sz="1800" spc="-1" strike="noStrike">
                <a:solidFill>
                  <a:schemeClr val="dk1"/>
                </a:solidFill>
                <a:latin typeface="Calibri"/>
                <a:ea typeface="Calibri"/>
              </a:rPr>
              <a:t>Modelo de capas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Calibri"/>
              <a:buChar char="●"/>
            </a:pPr>
            <a:r>
              <a:rPr b="0" lang="es" sz="1800" spc="-1" strike="noStrike">
                <a:solidFill>
                  <a:schemeClr val="dk1"/>
                </a:solidFill>
                <a:latin typeface="Calibri"/>
                <a:ea typeface="Calibri"/>
              </a:rPr>
              <a:t>HTTP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Calibri"/>
              <a:buChar char="●"/>
            </a:pPr>
            <a:r>
              <a:rPr b="0" lang="es" sz="1800" spc="-1" strike="noStrike">
                <a:solidFill>
                  <a:schemeClr val="dk1"/>
                </a:solidFill>
                <a:latin typeface="Calibri"/>
                <a:ea typeface="Calibri"/>
              </a:rPr>
              <a:t>Biblioteca requests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Calibri"/>
              <a:buChar char="●"/>
            </a:pPr>
            <a:r>
              <a:rPr b="0" lang="es" sz="1800" spc="-1" strike="noStrike">
                <a:solidFill>
                  <a:schemeClr val="dk1"/>
                </a:solidFill>
                <a:latin typeface="Calibri"/>
                <a:ea typeface="Calibri"/>
              </a:rPr>
              <a:t>Consultas HTTP con parámetros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lastPrinted>2026-03-15T17:37:29Z</cp:lastPrinted>
  <dcterms:modified xsi:type="dcterms:W3CDTF">2026-03-15T18:45:06Z</dcterms:modified>
  <cp:revision>1</cp:revision>
  <dc:subject/>
  <dc:title/>
</cp:coreProperties>
</file>