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4" r:id="rId2"/>
    <p:sldId id="257" r:id="rId3"/>
    <p:sldId id="265" r:id="rId4"/>
    <p:sldId id="256" r:id="rId5"/>
    <p:sldId id="266" r:id="rId6"/>
    <p:sldId id="267" r:id="rId7"/>
    <p:sldId id="260" r:id="rId8"/>
    <p:sldId id="258" r:id="rId9"/>
    <p:sldId id="268" r:id="rId10"/>
    <p:sldId id="269" r:id="rId11"/>
    <p:sldId id="270" r:id="rId12"/>
    <p:sldId id="271" r:id="rId13"/>
    <p:sldId id="259" r:id="rId14"/>
    <p:sldId id="272" r:id="rId15"/>
    <p:sldId id="261" r:id="rId16"/>
    <p:sldId id="26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788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9F97D-152E-4070-8A1E-6EDE0204F16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D5610E-4B05-496B-B62A-016F90FFE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13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32c363ecf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g3c32c363ecf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8DCC0F1A-B785-83C1-0299-6DBB932BF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32c363ecf_0_33:notes">
            <a:extLst>
              <a:ext uri="{FF2B5EF4-FFF2-40B4-BE49-F238E27FC236}">
                <a16:creationId xmlns:a16="http://schemas.microsoft.com/office/drawing/2014/main" id="{A6526535-98CD-922E-88BE-05DA10766A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g3c32c363ecf_0_33:notes">
            <a:extLst>
              <a:ext uri="{FF2B5EF4-FFF2-40B4-BE49-F238E27FC236}">
                <a16:creationId xmlns:a16="http://schemas.microsoft.com/office/drawing/2014/main" id="{D1AC093C-2B9D-9C91-905D-7DA9A3BECB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1672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CD0C385-CBAC-45AD-96F6-2C3AB5D35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32c363ecf_0_33:notes">
            <a:extLst>
              <a:ext uri="{FF2B5EF4-FFF2-40B4-BE49-F238E27FC236}">
                <a16:creationId xmlns:a16="http://schemas.microsoft.com/office/drawing/2014/main" id="{9275199E-6672-A097-98DF-379968FD23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g3c32c363ecf_0_33:notes">
            <a:extLst>
              <a:ext uri="{FF2B5EF4-FFF2-40B4-BE49-F238E27FC236}">
                <a16:creationId xmlns:a16="http://schemas.microsoft.com/office/drawing/2014/main" id="{0A2B9E6E-2227-CA3A-573B-310A02B200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3157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Métodos Analíticos y Programación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5425" y="1813492"/>
            <a:ext cx="547784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23232"/>
                </a:solidFill>
              </a:defRPr>
            </a:pPr>
            <a:r>
              <a:rPr lang="en-US" dirty="0"/>
              <a:t>Clase 10: ALGORITMOS DE BÚSQUEDA</a:t>
            </a:r>
          </a:p>
        </p:txBody>
      </p:sp>
      <p:sp>
        <p:nvSpPr>
          <p:cNvPr id="9" name="Google Shape;85;p13">
            <a:extLst>
              <a:ext uri="{FF2B5EF4-FFF2-40B4-BE49-F238E27FC236}">
                <a16:creationId xmlns:a16="http://schemas.microsoft.com/office/drawing/2014/main" id="{8ED38505-8255-4E01-37FF-537B94009AC3}"/>
              </a:ext>
            </a:extLst>
          </p:cNvPr>
          <p:cNvSpPr txBox="1"/>
          <p:nvPr/>
        </p:nvSpPr>
        <p:spPr>
          <a:xfrm>
            <a:off x="1035425" y="3707947"/>
            <a:ext cx="84963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Profesor</a:t>
            </a:r>
            <a:r>
              <a:rPr lang="en-US" sz="28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: Pablo J Piccoli </a:t>
            </a:r>
            <a:r>
              <a:rPr lang="en-US" sz="28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Bornia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86;p13">
            <a:extLst>
              <a:ext uri="{FF2B5EF4-FFF2-40B4-BE49-F238E27FC236}">
                <a16:creationId xmlns:a16="http://schemas.microsoft.com/office/drawing/2014/main" id="{C147A839-7280-22F0-BB52-CADC04996E81}"/>
              </a:ext>
            </a:extLst>
          </p:cNvPr>
          <p:cNvSpPr txBox="1"/>
          <p:nvPr/>
        </p:nvSpPr>
        <p:spPr>
          <a:xfrm>
            <a:off x="1035425" y="4307280"/>
            <a:ext cx="59652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Auxiliares</a:t>
            </a:r>
            <a:r>
              <a:rPr lang="en-US" sz="24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: Daniela Longas - M Victoria Tolosa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31318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rPr dirty="0"/>
              <a:t>Pablo J Piccoli </a:t>
            </a:r>
            <a:r>
              <a:rPr dirty="0" err="1"/>
              <a:t>Bornia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6576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23232"/>
                </a:solidFill>
              </a:defRPr>
            </a:pPr>
            <a:r>
              <a:t>Outline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dirty="0"/>
              <a:t>1. </a:t>
            </a:r>
            <a:r>
              <a:rPr dirty="0" err="1"/>
              <a:t>Búsqueda</a:t>
            </a:r>
            <a:r>
              <a:rPr dirty="0"/>
              <a:t> </a:t>
            </a:r>
            <a:r>
              <a:rPr dirty="0" err="1"/>
              <a:t>secuencial</a:t>
            </a:r>
            <a:endParaRPr dirty="0"/>
          </a:p>
          <a:p>
            <a:r>
              <a:rPr dirty="0"/>
              <a:t>2. </a:t>
            </a:r>
            <a:r>
              <a:rPr dirty="0" err="1"/>
              <a:t>Búsqueda</a:t>
            </a:r>
            <a:r>
              <a:rPr dirty="0"/>
              <a:t> </a:t>
            </a:r>
            <a:r>
              <a:rPr dirty="0" err="1"/>
              <a:t>binaria</a:t>
            </a:r>
            <a:endParaRPr dirty="0"/>
          </a:p>
          <a:p>
            <a:r>
              <a:rPr dirty="0"/>
              <a:t>3. </a:t>
            </a:r>
            <a:r>
              <a:rPr dirty="0" err="1"/>
              <a:t>Ejercicios</a:t>
            </a:r>
            <a:endParaRPr dirty="0"/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F498F2D5-9126-A035-3609-CA3117A473C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04;p15">
            <a:extLst>
              <a:ext uri="{FF2B5EF4-FFF2-40B4-BE49-F238E27FC236}">
                <a16:creationId xmlns:a16="http://schemas.microsoft.com/office/drawing/2014/main" id="{37B33119-DCCD-5A51-A53E-6B9BBFC7AE76}"/>
              </a:ext>
            </a:extLst>
          </p:cNvPr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Analíticos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4" descr="di_tella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87675" y="759825"/>
            <a:ext cx="9001200" cy="5293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-132750" y="2593925"/>
            <a:ext cx="9409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Búsqueda</a:t>
            </a:r>
            <a:r>
              <a:rPr lang="en-US" sz="480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Secuencial</a:t>
            </a:r>
            <a:endParaRPr sz="480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Google Shape;93;p14" descr="di_tella2.png">
            <a:extLst>
              <a:ext uri="{FF2B5EF4-FFF2-40B4-BE49-F238E27FC236}">
                <a16:creationId xmlns:a16="http://schemas.microsoft.com/office/drawing/2014/main" id="{52674D91-9F85-957F-6516-E64A17FC58E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4;p15">
            <a:extLst>
              <a:ext uri="{FF2B5EF4-FFF2-40B4-BE49-F238E27FC236}">
                <a16:creationId xmlns:a16="http://schemas.microsoft.com/office/drawing/2014/main" id="{A00BBBD9-6A8F-6249-B60A-1D8008846119}"/>
              </a:ext>
            </a:extLst>
          </p:cNvPr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Analíticos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22;p16">
            <a:extLst>
              <a:ext uri="{FF2B5EF4-FFF2-40B4-BE49-F238E27FC236}">
                <a16:creationId xmlns:a16="http://schemas.microsoft.com/office/drawing/2014/main" id="{AE84834C-6BB6-941C-6D1E-9CAEC7D00DE0}"/>
              </a:ext>
            </a:extLst>
          </p:cNvPr>
          <p:cNvSpPr txBox="1"/>
          <p:nvPr/>
        </p:nvSpPr>
        <p:spPr>
          <a:xfrm>
            <a:off x="177800" y="65136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Bornia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C71650-BD09-E662-1ECE-988A66328E94}"/>
              </a:ext>
            </a:extLst>
          </p:cNvPr>
          <p:cNvSpPr txBox="1"/>
          <p:nvPr/>
        </p:nvSpPr>
        <p:spPr>
          <a:xfrm>
            <a:off x="254000" y="1120675"/>
            <a:ext cx="84759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A partir de ahora vamos a hacer (más) foco en:</a:t>
            </a:r>
          </a:p>
          <a:p>
            <a:pPr algn="l"/>
            <a:endParaRPr lang="es-ES" sz="1800" b="0" i="0" u="none" strike="noStrike" baseline="0" dirty="0">
              <a:solidFill>
                <a:srgbClr val="333333"/>
              </a:solidFill>
              <a:latin typeface="TeXGyrePagellaX-Regula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resolución de problemas (usando la computadora),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 err="1">
                <a:solidFill>
                  <a:srgbClr val="333333"/>
                </a:solidFill>
                <a:latin typeface="TeXGyrePagellaX-Regular"/>
              </a:rPr>
              <a:t>abstraer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 y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TeXGyrePagellaX-Regular"/>
              </a:rPr>
              <a:t>generalizar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TeXGyrePagellaX-Regular"/>
              </a:rPr>
              <a:t>conceptos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,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concentrarnos en las ideas (que luego se convertirán en código),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algorithmic thinking,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333333"/>
              </a:solidFill>
              <a:latin typeface="TeXGyrePagellaX-Regular"/>
            </a:endParaRPr>
          </a:p>
          <a:p>
            <a:pPr algn="l"/>
            <a:r>
              <a:rPr lang="en-US" sz="1800" b="0" i="0" u="none" strike="noStrike" baseline="0" dirty="0" err="1">
                <a:solidFill>
                  <a:srgbClr val="333333"/>
                </a:solidFill>
                <a:latin typeface="TeXGyrePagellaX-Regular"/>
              </a:rPr>
              <a:t>siempre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 con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TeXGyrePagellaX-Regular"/>
              </a:rPr>
              <a:t>aplicaciones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5" descr="di_tella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60200" y="742841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Ejercicio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210800" y="1213008"/>
            <a:ext cx="8829300" cy="4678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ES" dirty="0"/>
              <a:t>Implementar la función </a:t>
            </a:r>
            <a:r>
              <a:rPr lang="es-ES" dirty="0" err="1"/>
              <a:t>busqueda_secuencial</a:t>
            </a:r>
            <a:r>
              <a:rPr lang="es-ES" dirty="0"/>
              <a:t> que toma una lista, un elemento (del tipo de la lista) y devuelve </a:t>
            </a:r>
            <a:r>
              <a:rPr lang="es-ES" i="1" dirty="0"/>
              <a:t>True</a:t>
            </a:r>
            <a:r>
              <a:rPr lang="es-ES" dirty="0"/>
              <a:t> si el elemento está en la lista y </a:t>
            </a:r>
            <a:r>
              <a:rPr lang="en-US" i="1" dirty="0"/>
              <a:t>False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contrario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s-ES" sz="1600" dirty="0" err="1">
                <a:latin typeface="Courier New"/>
              </a:rPr>
              <a:t>def</a:t>
            </a:r>
            <a:r>
              <a:rPr lang="es-ES" sz="1600" dirty="0">
                <a:latin typeface="Courier New"/>
              </a:rPr>
              <a:t> </a:t>
            </a:r>
            <a:r>
              <a:rPr lang="es-ES" sz="1600" dirty="0" err="1">
                <a:latin typeface="Courier New"/>
              </a:rPr>
              <a:t>busqueda_secuencial</a:t>
            </a:r>
            <a:r>
              <a:rPr lang="es-ES" sz="1600" dirty="0">
                <a:latin typeface="Courier New"/>
              </a:rPr>
              <a:t>(</a:t>
            </a:r>
            <a:r>
              <a:rPr lang="es-ES" sz="1600" dirty="0" err="1">
                <a:latin typeface="Courier New"/>
              </a:rPr>
              <a:t>l,elem</a:t>
            </a:r>
            <a:r>
              <a:rPr lang="es-ES" sz="1600" dirty="0">
                <a:latin typeface="Courier New"/>
              </a:rPr>
              <a:t>):</a:t>
            </a:r>
          </a:p>
          <a:p>
            <a:pPr lvl="1"/>
            <a:r>
              <a:rPr lang="en-US" sz="1600" dirty="0">
                <a:latin typeface="Courier New"/>
              </a:rPr>
              <a:t>for x in l :</a:t>
            </a:r>
          </a:p>
          <a:p>
            <a:pPr lvl="2"/>
            <a:r>
              <a:rPr lang="en-US" sz="1600" dirty="0">
                <a:latin typeface="Courier New"/>
              </a:rPr>
              <a:t>if x == </a:t>
            </a:r>
            <a:r>
              <a:rPr lang="en-US" sz="1600" dirty="0" err="1">
                <a:latin typeface="Courier New"/>
              </a:rPr>
              <a:t>elem</a:t>
            </a:r>
            <a:r>
              <a:rPr lang="en-US" sz="1600" dirty="0">
                <a:latin typeface="Courier New"/>
              </a:rPr>
              <a:t>:</a:t>
            </a:r>
          </a:p>
          <a:p>
            <a:pPr lvl="2"/>
            <a:r>
              <a:rPr lang="en-US" sz="1600" dirty="0">
                <a:latin typeface="Courier New"/>
              </a:rPr>
              <a:t>	return True</a:t>
            </a:r>
          </a:p>
          <a:p>
            <a:pPr lvl="1"/>
            <a:r>
              <a:rPr lang="en-US" sz="1600" dirty="0">
                <a:latin typeface="Courier New"/>
              </a:rPr>
              <a:t>return False</a:t>
            </a:r>
          </a:p>
          <a:p>
            <a:pPr lvl="1"/>
            <a:endParaRPr lang="en-US" sz="1600" dirty="0">
              <a:latin typeface="Courier New"/>
            </a:endParaRPr>
          </a:p>
          <a:p>
            <a:r>
              <a:rPr lang="en-US" sz="1600" dirty="0">
                <a:latin typeface="Courier New"/>
              </a:rPr>
              <a:t>def main():</a:t>
            </a:r>
          </a:p>
          <a:p>
            <a:pPr lvl="1"/>
            <a:r>
              <a:rPr lang="en-US" sz="1600" dirty="0">
                <a:latin typeface="Courier New"/>
              </a:rPr>
              <a:t>l = [15,35,40,2,34,28,50]</a:t>
            </a:r>
          </a:p>
          <a:p>
            <a:pPr lvl="1"/>
            <a:r>
              <a:rPr lang="es-ES" sz="1600" dirty="0" err="1">
                <a:latin typeface="Courier New"/>
              </a:rPr>
              <a:t>busqueda_secuencial</a:t>
            </a:r>
            <a:r>
              <a:rPr lang="es-ES" sz="1600" dirty="0">
                <a:latin typeface="Courier New"/>
              </a:rPr>
              <a:t>(l,35)</a:t>
            </a:r>
          </a:p>
          <a:p>
            <a:endParaRPr lang="es-ES" sz="1600" dirty="0">
              <a:latin typeface="Courier New"/>
            </a:endParaRPr>
          </a:p>
          <a:p>
            <a:r>
              <a:rPr lang="en-US" dirty="0" err="1"/>
              <a:t>Algunas</a:t>
            </a:r>
            <a:r>
              <a:rPr lang="en-US" dirty="0"/>
              <a:t> </a:t>
            </a:r>
            <a:r>
              <a:rPr lang="en-US" dirty="0" err="1"/>
              <a:t>preguntas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Cuántas elementos tiene que revisar el algoritmo?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Cuál es el </a:t>
            </a:r>
            <a:r>
              <a:rPr lang="es-ES" i="1" dirty="0"/>
              <a:t>peor caso </a:t>
            </a:r>
            <a:r>
              <a:rPr lang="es-ES" dirty="0"/>
              <a:t>de comparaciones que debe realizar?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Si la lista l estuviera ordenada de menor a mayor, podemos reutilizar la función anterior? Podemos </a:t>
            </a:r>
            <a:r>
              <a:rPr lang="es-ES" i="1" dirty="0"/>
              <a:t>aprovechar </a:t>
            </a:r>
            <a:r>
              <a:rPr lang="es-ES" dirty="0"/>
              <a:t>esta propiedad?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EF070357-7940-1B94-259A-964DD81C2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>
            <a:extLst>
              <a:ext uri="{FF2B5EF4-FFF2-40B4-BE49-F238E27FC236}">
                <a16:creationId xmlns:a16="http://schemas.microsoft.com/office/drawing/2014/main" id="{B301C30A-4D47-26ED-8510-9BA092283DE3}"/>
              </a:ext>
            </a:extLst>
          </p:cNvPr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384130BE-21B1-B84F-5E34-384A7B1F14DA}"/>
              </a:ext>
            </a:extLst>
          </p:cNvPr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4" descr="di_tella2.png">
            <a:extLst>
              <a:ext uri="{FF2B5EF4-FFF2-40B4-BE49-F238E27FC236}">
                <a16:creationId xmlns:a16="http://schemas.microsoft.com/office/drawing/2014/main" id="{9EE16BBD-9387-843A-94D8-EBED05BDE2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E9C48463-227D-499E-5666-1F34BB80F564}"/>
              </a:ext>
            </a:extLst>
          </p:cNvPr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0C49C92E-5FDF-7A07-FB4D-F9A9AE369ABB}"/>
              </a:ext>
            </a:extLst>
          </p:cNvPr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865702AF-1792-7463-6835-B998CA23B708}"/>
              </a:ext>
            </a:extLst>
          </p:cNvPr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124340B3-677C-131C-93DC-2549771B450F}"/>
              </a:ext>
            </a:extLst>
          </p:cNvPr>
          <p:cNvSpPr/>
          <p:nvPr/>
        </p:nvSpPr>
        <p:spPr>
          <a:xfrm>
            <a:off x="87675" y="759825"/>
            <a:ext cx="9001200" cy="5293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08C843A7-3A2B-717D-4A2D-AE7B9D45C696}"/>
              </a:ext>
            </a:extLst>
          </p:cNvPr>
          <p:cNvSpPr txBox="1"/>
          <p:nvPr/>
        </p:nvSpPr>
        <p:spPr>
          <a:xfrm>
            <a:off x="-132750" y="2593925"/>
            <a:ext cx="9409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Búsqueda</a:t>
            </a:r>
            <a:r>
              <a:rPr lang="en-US" sz="4800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Binaria</a:t>
            </a:r>
            <a:endParaRPr sz="480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2934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541995"/>
              </p:ext>
            </p:extLst>
          </p:nvPr>
        </p:nvGraphicFramePr>
        <p:xfrm>
          <a:off x="1224950" y="1531067"/>
          <a:ext cx="652234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1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[2,    15,     28,     34,     35,     40,     50]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posición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0        1        2       3        4        5        6 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31320" y="2427258"/>
            <a:ext cx="84711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y queremos ver si el elemento 35 está en la lista. Una forma alternativa es pensar el problema como tratar de obtener la posición en la que se encuentra </a:t>
            </a:r>
            <a:r>
              <a:rPr lang="en-US" dirty="0"/>
              <a:t>(</a:t>
            </a:r>
            <a:r>
              <a:rPr lang="en-US" dirty="0" err="1"/>
              <a:t>si</a:t>
            </a:r>
            <a:r>
              <a:rPr lang="en-US" dirty="0"/>
              <a:t> es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).</a:t>
            </a:r>
            <a:endParaRPr dirty="0"/>
          </a:p>
        </p:txBody>
      </p:sp>
      <p:pic>
        <p:nvPicPr>
          <p:cNvPr id="12" name="Google Shape;93;p14" descr="di_tella2.png">
            <a:extLst>
              <a:ext uri="{FF2B5EF4-FFF2-40B4-BE49-F238E27FC236}">
                <a16:creationId xmlns:a16="http://schemas.microsoft.com/office/drawing/2014/main" id="{65713B0E-2827-7B0A-A32C-3908C33F403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04;p15">
            <a:extLst>
              <a:ext uri="{FF2B5EF4-FFF2-40B4-BE49-F238E27FC236}">
                <a16:creationId xmlns:a16="http://schemas.microsoft.com/office/drawing/2014/main" id="{3959B9F6-1B79-1166-CA84-D28D2BE3801E}"/>
              </a:ext>
            </a:extLst>
          </p:cNvPr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Analíticos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22;p16">
            <a:extLst>
              <a:ext uri="{FF2B5EF4-FFF2-40B4-BE49-F238E27FC236}">
                <a16:creationId xmlns:a16="http://schemas.microsoft.com/office/drawing/2014/main" id="{C9C55E34-DB2B-1C44-06C8-A8DB5F30E469}"/>
              </a:ext>
            </a:extLst>
          </p:cNvPr>
          <p:cNvSpPr txBox="1"/>
          <p:nvPr/>
        </p:nvSpPr>
        <p:spPr>
          <a:xfrm>
            <a:off x="254000" y="648774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Bornia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8AC6AE-2E87-6CAC-3825-C5A8BE6A1355}"/>
              </a:ext>
            </a:extLst>
          </p:cNvPr>
          <p:cNvSpPr txBox="1"/>
          <p:nvPr/>
        </p:nvSpPr>
        <p:spPr>
          <a:xfrm>
            <a:off x="254000" y="868680"/>
            <a:ext cx="177779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dirty="0"/>
              <a:t>Tenemos la lista l</a:t>
            </a: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391D15-B395-F30A-7FD6-BD06AA70FEFA}"/>
              </a:ext>
            </a:extLst>
          </p:cNvPr>
          <p:cNvSpPr txBox="1"/>
          <p:nvPr/>
        </p:nvSpPr>
        <p:spPr>
          <a:xfrm>
            <a:off x="499852" y="3238260"/>
            <a:ext cx="84711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La idea considerar una </a:t>
            </a:r>
            <a:r>
              <a:rPr lang="es-ES" sz="1800" b="1" i="0" u="none" strike="noStrike" baseline="0" dirty="0">
                <a:solidFill>
                  <a:srgbClr val="333333"/>
                </a:solidFill>
                <a:latin typeface="TeXGyrePagellaX-Bold"/>
              </a:rPr>
              <a:t>sucesión de intervalos</a:t>
            </a:r>
            <a:r>
              <a:rPr lang="es-E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, cada vez </a:t>
            </a:r>
            <a:r>
              <a:rPr lang="es-ES" sz="1800" b="1" i="0" u="none" strike="noStrike" baseline="0" dirty="0">
                <a:solidFill>
                  <a:srgbClr val="333333"/>
                </a:solidFill>
                <a:latin typeface="TeXGyrePagellaX-Bold"/>
              </a:rPr>
              <a:t>más chicos</a:t>
            </a:r>
            <a:r>
              <a:rPr lang="es-E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, tales qué si el número x (35) está en la lista entonces está contenido entre esos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TeXGyrePagellaX-Regular"/>
              </a:rPr>
              <a:t>índices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.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TeXGyrePagellaX-Regular"/>
              </a:rPr>
              <a:t>Representamos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 al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TeXGyrePagellaX-Regular"/>
              </a:rPr>
              <a:t>intervalo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TeXGyrePagellaX-Regular"/>
              </a:rPr>
              <a:t>como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 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Inconsolatazi4-Regular"/>
              </a:rPr>
              <a:t>[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Inconsolatazi4-Regular"/>
              </a:rPr>
              <a:t>low,high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Inconsolatazi4-Regular"/>
              </a:rPr>
              <a:t>]</a:t>
            </a:r>
          </a:p>
          <a:p>
            <a:pPr algn="l"/>
            <a:endParaRPr lang="en-US" sz="1800" b="0" i="0" u="none" strike="noStrike" baseline="0" dirty="0">
              <a:solidFill>
                <a:srgbClr val="333333"/>
              </a:solidFill>
              <a:latin typeface="Inconsolatazi4-Regular"/>
            </a:endParaRPr>
          </a:p>
          <a:p>
            <a:pPr algn="l"/>
            <a:r>
              <a:rPr lang="es-ES" sz="1800" b="1" i="0" u="none" strike="noStrike" baseline="0" dirty="0">
                <a:solidFill>
                  <a:srgbClr val="333333"/>
                </a:solidFill>
                <a:latin typeface="TeXGyrePagellaX-Bold"/>
              </a:rPr>
              <a:t>Inicialmente: </a:t>
            </a:r>
            <a:r>
              <a:rPr lang="es-E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el intervalo toma </a:t>
            </a:r>
            <a:r>
              <a:rPr lang="es-ES" sz="1800" b="0" i="0" u="none" strike="noStrike" baseline="0" dirty="0">
                <a:solidFill>
                  <a:srgbClr val="C00040"/>
                </a:solidFill>
                <a:latin typeface="TeXGyrePagellaX-Regular"/>
              </a:rPr>
              <a:t>toda la lista</a:t>
            </a:r>
            <a:r>
              <a:rPr lang="es-E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. Es decir, </a:t>
            </a:r>
            <a:r>
              <a:rPr lang="es-ES" sz="1800" b="0" i="1" u="none" strike="noStrike" baseline="0" dirty="0" err="1">
                <a:solidFill>
                  <a:srgbClr val="333333"/>
                </a:solidFill>
                <a:latin typeface="Inconsolatazi4-Regular"/>
              </a:rPr>
              <a:t>low</a:t>
            </a:r>
            <a:r>
              <a:rPr lang="es-ES" sz="1800" b="0" i="0" u="none" strike="noStrike" baseline="0" dirty="0">
                <a:solidFill>
                  <a:srgbClr val="333333"/>
                </a:solidFill>
                <a:latin typeface="Inconsolatazi4-Regular"/>
              </a:rPr>
              <a:t> = 0</a:t>
            </a:r>
            <a:r>
              <a:rPr lang="es-E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, </a:t>
            </a:r>
            <a:r>
              <a:rPr lang="es-ES" sz="1800" b="0" i="1" u="none" strike="noStrike" baseline="0" dirty="0" err="1">
                <a:solidFill>
                  <a:srgbClr val="333333"/>
                </a:solidFill>
                <a:latin typeface="Inconsolatazi4-Regular"/>
              </a:rPr>
              <a:t>high</a:t>
            </a:r>
            <a:r>
              <a:rPr lang="es-ES" sz="1800" b="0" i="0" u="none" strike="noStrike" baseline="0" dirty="0">
                <a:solidFill>
                  <a:srgbClr val="333333"/>
                </a:solidFill>
                <a:latin typeface="Inconsolatazi4-Regular"/>
              </a:rPr>
              <a:t> = 6</a:t>
            </a:r>
            <a:r>
              <a:rPr lang="es-E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. Si el</a:t>
            </a:r>
          </a:p>
          <a:p>
            <a:pPr algn="l"/>
            <a:r>
              <a:rPr lang="es-ES" sz="1800" b="0" i="0" u="none" strike="noStrike" baseline="0" dirty="0">
                <a:solidFill>
                  <a:srgbClr val="C00040"/>
                </a:solidFill>
                <a:latin typeface="TeXGyrePagellaX-Regular"/>
              </a:rPr>
              <a:t>35 está en </a:t>
            </a:r>
            <a:r>
              <a:rPr lang="es-ES" sz="1800" b="0" i="0" u="none" strike="noStrike" baseline="0" dirty="0">
                <a:solidFill>
                  <a:srgbClr val="C00040"/>
                </a:solidFill>
                <a:latin typeface="Inconsolatazi4-Regular"/>
              </a:rPr>
              <a:t>l</a:t>
            </a:r>
            <a:r>
              <a:rPr lang="es-E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, entonces </a:t>
            </a:r>
            <a:r>
              <a:rPr lang="es-ES" sz="1800" b="0" i="0" u="none" strike="noStrike" baseline="0" dirty="0">
                <a:solidFill>
                  <a:srgbClr val="C00040"/>
                </a:solidFill>
                <a:latin typeface="TeXGyrePagellaX-Regular"/>
              </a:rPr>
              <a:t>el índice del mismo está en ese intervalo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000" y="981283"/>
            <a:ext cx="872466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s-ES" dirty="0"/>
              <a:t>Inicialmente: </a:t>
            </a:r>
            <a:r>
              <a:rPr lang="es-ES" dirty="0" err="1"/>
              <a:t>low</a:t>
            </a:r>
            <a:r>
              <a:rPr lang="es-ES" dirty="0"/>
              <a:t> = 0, </a:t>
            </a:r>
            <a:r>
              <a:rPr lang="es-ES" dirty="0" err="1"/>
              <a:t>high</a:t>
            </a:r>
            <a:r>
              <a:rPr lang="es-ES" dirty="0"/>
              <a:t> = 6. Si el 35 está en l, entonces el índice del mismo está en el intervalo [</a:t>
            </a:r>
            <a:r>
              <a:rPr lang="es-ES" dirty="0" err="1"/>
              <a:t>low,high</a:t>
            </a:r>
            <a:r>
              <a:rPr lang="es-ES" dirty="0"/>
              <a:t>].</a:t>
            </a:r>
          </a:p>
          <a:p>
            <a:endParaRPr lang="es-ES" dirty="0"/>
          </a:p>
          <a:p>
            <a:pPr fontAlgn="t"/>
            <a:r>
              <a:rPr lang="es-AR" b="1" dirty="0"/>
              <a:t>L</a:t>
            </a:r>
            <a:r>
              <a:rPr lang="en-US" b="1" dirty="0"/>
              <a:t>              </a:t>
            </a:r>
            <a:r>
              <a:rPr lang="en-US" dirty="0"/>
              <a:t>[2,    15,     28,     34,     35,     40,     50]</a:t>
            </a:r>
          </a:p>
          <a:p>
            <a:pPr fontAlgn="t"/>
            <a:r>
              <a:rPr lang="es-AR" dirty="0"/>
              <a:t>Posición</a:t>
            </a:r>
            <a:r>
              <a:rPr lang="en-US" dirty="0"/>
              <a:t>  </a:t>
            </a:r>
            <a:r>
              <a:rPr lang="es-AR" dirty="0">
                <a:solidFill>
                  <a:srgbClr val="FF0000"/>
                </a:solidFill>
              </a:rPr>
              <a:t>0        1        2       3        4        5        6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                </a:t>
            </a:r>
            <a:r>
              <a:rPr lang="en-US" dirty="0">
                <a:solidFill>
                  <a:srgbClr val="FF0000"/>
                </a:solidFill>
              </a:rPr>
              <a:t>low                                                      high</a:t>
            </a:r>
          </a:p>
          <a:p>
            <a:endParaRPr lang="en-US" dirty="0"/>
          </a:p>
          <a:p>
            <a:r>
              <a:rPr lang="es-ES" dirty="0"/>
              <a:t>Ahora, partimos el intervalo a la mitad tomando el elemento ubicado en el medio, </a:t>
            </a:r>
            <a:r>
              <a:rPr lang="es-ES" dirty="0" err="1"/>
              <a:t>mid</a:t>
            </a:r>
            <a:r>
              <a:rPr lang="es-ES" dirty="0"/>
              <a:t> = (0 + 6)/2 = 3, y analizamos el elemento en esa posición.</a:t>
            </a:r>
          </a:p>
          <a:p>
            <a:endParaRPr lang="es-ES" dirty="0"/>
          </a:p>
          <a:p>
            <a:pPr fontAlgn="t"/>
            <a:r>
              <a:rPr lang="es-AR" b="1" dirty="0"/>
              <a:t>L</a:t>
            </a:r>
            <a:r>
              <a:rPr lang="en-US" b="1" dirty="0"/>
              <a:t>              </a:t>
            </a:r>
            <a:r>
              <a:rPr lang="en-US" dirty="0"/>
              <a:t>[2,    15,     28,     34,     35,     40,     50]</a:t>
            </a:r>
          </a:p>
          <a:p>
            <a:pPr fontAlgn="t"/>
            <a:r>
              <a:rPr lang="es-AR" dirty="0"/>
              <a:t>Posición</a:t>
            </a:r>
            <a:r>
              <a:rPr lang="en-US" dirty="0"/>
              <a:t>  </a:t>
            </a:r>
            <a:r>
              <a:rPr lang="es-AR" dirty="0">
                <a:solidFill>
                  <a:srgbClr val="FF0000"/>
                </a:solidFill>
              </a:rPr>
              <a:t>0        1        2       </a:t>
            </a:r>
            <a:r>
              <a:rPr lang="es-AR" dirty="0">
                <a:solidFill>
                  <a:srgbClr val="FFC000"/>
                </a:solidFill>
              </a:rPr>
              <a:t>3</a:t>
            </a:r>
            <a:r>
              <a:rPr lang="es-AR" dirty="0">
                <a:solidFill>
                  <a:srgbClr val="FF0000"/>
                </a:solidFill>
              </a:rPr>
              <a:t>        4        5        6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              low                      </a:t>
            </a:r>
            <a:r>
              <a:rPr lang="en-US" dirty="0">
                <a:solidFill>
                  <a:srgbClr val="FFC000"/>
                </a:solidFill>
              </a:rPr>
              <a:t>mid</a:t>
            </a:r>
            <a:r>
              <a:rPr lang="en-US" dirty="0">
                <a:solidFill>
                  <a:srgbClr val="FF0000"/>
                </a:solidFill>
              </a:rPr>
              <a:t>                         high</a:t>
            </a:r>
          </a:p>
          <a:p>
            <a:endParaRPr lang="en-US" dirty="0"/>
          </a:p>
          <a:p>
            <a:r>
              <a:rPr lang="en-US" dirty="0"/>
              <a:t>Nos </a:t>
            </a:r>
            <a:r>
              <a:rPr lang="en-US" dirty="0" err="1"/>
              <a:t>hacemos</a:t>
            </a:r>
            <a:r>
              <a:rPr lang="en-US" dirty="0"/>
              <a:t> dos </a:t>
            </a:r>
            <a:r>
              <a:rPr lang="en-US" dirty="0" err="1"/>
              <a:t>preguntas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elemento en la posición </a:t>
            </a:r>
            <a:r>
              <a:rPr lang="es-ES" dirty="0" err="1"/>
              <a:t>mid</a:t>
            </a:r>
            <a:r>
              <a:rPr lang="es-ES" dirty="0"/>
              <a:t> es el buscado? Si lo fuese, qué podemos </a:t>
            </a:r>
            <a:r>
              <a:rPr lang="en-US" dirty="0" err="1"/>
              <a:t>decir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Si no es el buscado, en cuál intervalo podemos garantizar que </a:t>
            </a:r>
            <a:r>
              <a:rPr lang="es-ES" i="1" dirty="0"/>
              <a:t>podría </a:t>
            </a:r>
            <a:r>
              <a:rPr lang="en-US" dirty="0" err="1"/>
              <a:t>estar</a:t>
            </a:r>
            <a:r>
              <a:rPr lang="en-US" dirty="0"/>
              <a:t>? Por </a:t>
            </a:r>
            <a:r>
              <a:rPr lang="en-US" dirty="0" err="1"/>
              <a:t>qué</a:t>
            </a:r>
            <a:r>
              <a:rPr lang="en-US" dirty="0"/>
              <a:t>?</a:t>
            </a:r>
            <a:endParaRPr dirty="0"/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256E5F75-F987-6E76-CBFC-39C9985E1A6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4;p15">
            <a:extLst>
              <a:ext uri="{FF2B5EF4-FFF2-40B4-BE49-F238E27FC236}">
                <a16:creationId xmlns:a16="http://schemas.microsoft.com/office/drawing/2014/main" id="{148090C4-9163-C117-20E6-620B649A719A}"/>
              </a:ext>
            </a:extLst>
          </p:cNvPr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Analíticos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22;p16">
            <a:extLst>
              <a:ext uri="{FF2B5EF4-FFF2-40B4-BE49-F238E27FC236}">
                <a16:creationId xmlns:a16="http://schemas.microsoft.com/office/drawing/2014/main" id="{69FB6077-5536-5F28-8C34-B1C8CAB5CC96}"/>
              </a:ext>
            </a:extLst>
          </p:cNvPr>
          <p:cNvSpPr txBox="1"/>
          <p:nvPr/>
        </p:nvSpPr>
        <p:spPr>
          <a:xfrm>
            <a:off x="177800" y="65502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Bornia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4251E-CA6C-D193-8B1D-2EDEA0143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D8E349-4086-B6EA-5F3A-A728F67F9BE2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0F6B06-094E-EC99-E702-62E8D0720ED3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1AFCA0-05FF-62C9-6C7C-CA8D18299ADA}"/>
              </a:ext>
            </a:extLst>
          </p:cNvPr>
          <p:cNvSpPr txBox="1"/>
          <p:nvPr/>
        </p:nvSpPr>
        <p:spPr>
          <a:xfrm>
            <a:off x="209670" y="842784"/>
            <a:ext cx="872466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s-ES" dirty="0"/>
              <a:t>Correcto! </a:t>
            </a:r>
            <a:r>
              <a:rPr lang="es-ES" dirty="0" err="1"/>
              <a:t>low</a:t>
            </a:r>
            <a:r>
              <a:rPr lang="es-ES" dirty="0"/>
              <a:t> = mid+1 = 4, </a:t>
            </a:r>
            <a:r>
              <a:rPr lang="es-ES" dirty="0" err="1"/>
              <a:t>high</a:t>
            </a:r>
            <a:r>
              <a:rPr lang="es-ES" dirty="0"/>
              <a:t> = 6. Podemos descartar la primera mitad de la lista. Si el 35 está en l, entonces el índice del mismo está en el intervalo</a:t>
            </a:r>
          </a:p>
          <a:p>
            <a:r>
              <a:rPr lang="en-US" dirty="0">
                <a:solidFill>
                  <a:schemeClr val="accent2"/>
                </a:solidFill>
              </a:rPr>
              <a:t>[</a:t>
            </a:r>
            <a:r>
              <a:rPr lang="en-US" dirty="0" err="1">
                <a:solidFill>
                  <a:schemeClr val="accent2"/>
                </a:solidFill>
              </a:rPr>
              <a:t>low,high</a:t>
            </a:r>
            <a:r>
              <a:rPr lang="en-US" dirty="0">
                <a:solidFill>
                  <a:schemeClr val="accent2"/>
                </a:solidFill>
              </a:rPr>
              <a:t>] = [4,6].</a:t>
            </a:r>
          </a:p>
          <a:p>
            <a:endParaRPr lang="es-ES" dirty="0">
              <a:solidFill>
                <a:schemeClr val="accent2"/>
              </a:solidFill>
            </a:endParaRPr>
          </a:p>
          <a:p>
            <a:pPr fontAlgn="t"/>
            <a:r>
              <a:rPr lang="es-AR" b="1" dirty="0"/>
              <a:t>L</a:t>
            </a:r>
            <a:r>
              <a:rPr lang="en-US" b="1" dirty="0"/>
              <a:t>              </a:t>
            </a:r>
            <a:r>
              <a:rPr lang="en-US" dirty="0"/>
              <a:t>[2,    15,     28,     34,     35,     40,     50]</a:t>
            </a:r>
          </a:p>
          <a:p>
            <a:pPr fontAlgn="t"/>
            <a:r>
              <a:rPr lang="es-AR" dirty="0"/>
              <a:t>Posición</a:t>
            </a:r>
            <a:r>
              <a:rPr lang="en-US" dirty="0"/>
              <a:t>  </a:t>
            </a:r>
            <a:r>
              <a:rPr lang="es-AR" dirty="0"/>
              <a:t>0        1        2       3       </a:t>
            </a:r>
            <a:r>
              <a:rPr lang="es-AR" dirty="0">
                <a:solidFill>
                  <a:srgbClr val="FF0000"/>
                </a:solidFill>
              </a:rPr>
              <a:t> 4        5        6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                                                        </a:t>
            </a:r>
            <a:r>
              <a:rPr lang="en-US" dirty="0">
                <a:solidFill>
                  <a:srgbClr val="FF0000"/>
                </a:solidFill>
              </a:rPr>
              <a:t>low        high</a:t>
            </a:r>
            <a:endParaRPr lang="en-US" dirty="0"/>
          </a:p>
          <a:p>
            <a:r>
              <a:rPr lang="es-ES" dirty="0"/>
              <a:t>Aplicamos nuevamente el mismo razonamiento y partimos el intervalo a la mitad tomando el elemento ubicado en el medio, </a:t>
            </a:r>
            <a:r>
              <a:rPr lang="es-ES" dirty="0" err="1"/>
              <a:t>mid</a:t>
            </a:r>
            <a:r>
              <a:rPr lang="es-ES" dirty="0"/>
              <a:t> = (4 + 6)/2 = 5, y analizamos el elemento en esa posición</a:t>
            </a:r>
          </a:p>
          <a:p>
            <a:endParaRPr lang="es-ES" dirty="0"/>
          </a:p>
          <a:p>
            <a:pPr fontAlgn="t"/>
            <a:r>
              <a:rPr lang="es-AR" b="1" dirty="0"/>
              <a:t>L</a:t>
            </a:r>
            <a:r>
              <a:rPr lang="en-US" b="1" dirty="0"/>
              <a:t>              </a:t>
            </a:r>
            <a:r>
              <a:rPr lang="en-US" dirty="0"/>
              <a:t>[2,    15,     28,     34,     35,     40,     50]</a:t>
            </a:r>
          </a:p>
          <a:p>
            <a:pPr fontAlgn="t"/>
            <a:r>
              <a:rPr lang="es-AR" dirty="0"/>
              <a:t>Posición</a:t>
            </a:r>
            <a:r>
              <a:rPr lang="en-US" dirty="0"/>
              <a:t>  </a:t>
            </a:r>
            <a:r>
              <a:rPr lang="es-AR" dirty="0"/>
              <a:t>0        1        2       3        </a:t>
            </a:r>
            <a:r>
              <a:rPr lang="es-AR" dirty="0">
                <a:solidFill>
                  <a:srgbClr val="FF0000"/>
                </a:solidFill>
              </a:rPr>
              <a:t>4        5        6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                                                     low   </a:t>
            </a:r>
            <a:r>
              <a:rPr lang="en-US" dirty="0">
                <a:solidFill>
                  <a:srgbClr val="FFC000"/>
                </a:solidFill>
              </a:rPr>
              <a:t>mid</a:t>
            </a:r>
            <a:r>
              <a:rPr lang="en-US" dirty="0">
                <a:solidFill>
                  <a:srgbClr val="FF0000"/>
                </a:solidFill>
              </a:rPr>
              <a:t>  high</a:t>
            </a:r>
          </a:p>
          <a:p>
            <a:endParaRPr lang="en-US" dirty="0"/>
          </a:p>
          <a:p>
            <a:r>
              <a:rPr lang="en-US" dirty="0"/>
              <a:t>Nos </a:t>
            </a:r>
            <a:r>
              <a:rPr lang="en-US" dirty="0" err="1"/>
              <a:t>hacemos</a:t>
            </a:r>
            <a:r>
              <a:rPr lang="en-US" dirty="0"/>
              <a:t> dos </a:t>
            </a:r>
            <a:r>
              <a:rPr lang="en-US" dirty="0" err="1"/>
              <a:t>preguntas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elemento en la posición </a:t>
            </a:r>
            <a:r>
              <a:rPr lang="es-ES" dirty="0" err="1"/>
              <a:t>mid</a:t>
            </a:r>
            <a:r>
              <a:rPr lang="es-ES" dirty="0"/>
              <a:t> es el buscado? Si lo fuese, qué podemos </a:t>
            </a:r>
            <a:r>
              <a:rPr lang="en-US" dirty="0" err="1"/>
              <a:t>decir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Si no es el buscado, en cuál intervalo podemos garantizar que </a:t>
            </a:r>
            <a:r>
              <a:rPr lang="es-ES" i="1" dirty="0"/>
              <a:t>podría </a:t>
            </a:r>
            <a:r>
              <a:rPr lang="en-US" dirty="0" err="1"/>
              <a:t>estar</a:t>
            </a:r>
            <a:r>
              <a:rPr lang="en-US" dirty="0"/>
              <a:t>? Por </a:t>
            </a:r>
            <a:r>
              <a:rPr lang="en-US" dirty="0" err="1"/>
              <a:t>qué</a:t>
            </a:r>
            <a:r>
              <a:rPr lang="en-US" dirty="0"/>
              <a:t>?</a:t>
            </a:r>
            <a:endParaRPr dirty="0"/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12FC8D41-FAC3-E68D-72D0-93DD0A052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4;p15">
            <a:extLst>
              <a:ext uri="{FF2B5EF4-FFF2-40B4-BE49-F238E27FC236}">
                <a16:creationId xmlns:a16="http://schemas.microsoft.com/office/drawing/2014/main" id="{CCD26CBB-6683-9EB5-3E80-818594BC6C68}"/>
              </a:ext>
            </a:extLst>
          </p:cNvPr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Analíticos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22;p16">
            <a:extLst>
              <a:ext uri="{FF2B5EF4-FFF2-40B4-BE49-F238E27FC236}">
                <a16:creationId xmlns:a16="http://schemas.microsoft.com/office/drawing/2014/main" id="{59C0EE85-9A92-6F88-39B3-90164359A83D}"/>
              </a:ext>
            </a:extLst>
          </p:cNvPr>
          <p:cNvSpPr txBox="1"/>
          <p:nvPr/>
        </p:nvSpPr>
        <p:spPr>
          <a:xfrm>
            <a:off x="177800" y="65502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Bornia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5343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3B279-4516-2C05-6A52-9AE514DB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80DFC7-6471-04F1-744F-E2BCD5179755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5A1E0A-F31E-97CB-BEB3-1EC51C2AC196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609D28-7DF5-5548-DC04-5E131BE44853}"/>
              </a:ext>
            </a:extLst>
          </p:cNvPr>
          <p:cNvSpPr txBox="1"/>
          <p:nvPr/>
        </p:nvSpPr>
        <p:spPr>
          <a:xfrm>
            <a:off x="209670" y="842784"/>
            <a:ext cx="87246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n-US" dirty="0" err="1"/>
              <a:t>Correcto</a:t>
            </a:r>
            <a:r>
              <a:rPr lang="en-US" dirty="0"/>
              <a:t>! </a:t>
            </a:r>
            <a:r>
              <a:rPr lang="en-US" dirty="0">
                <a:solidFill>
                  <a:schemeClr val="accent2"/>
                </a:solidFill>
              </a:rPr>
              <a:t>low = 4, high = mid - 1 = 4</a:t>
            </a:r>
            <a:r>
              <a:rPr lang="en-US" dirty="0"/>
              <a:t>. Podemos </a:t>
            </a:r>
            <a:r>
              <a:rPr lang="en-US" dirty="0" err="1"/>
              <a:t>descartar</a:t>
            </a:r>
            <a:r>
              <a:rPr lang="en-US" dirty="0"/>
              <a:t> la </a:t>
            </a:r>
            <a:r>
              <a:rPr lang="en-US" dirty="0" err="1"/>
              <a:t>segunda</a:t>
            </a:r>
            <a:r>
              <a:rPr lang="en-US" dirty="0"/>
              <a:t> </a:t>
            </a:r>
            <a:r>
              <a:rPr lang="en-US" dirty="0" err="1"/>
              <a:t>mitad</a:t>
            </a:r>
            <a:r>
              <a:rPr lang="en-US" dirty="0"/>
              <a:t> </a:t>
            </a:r>
            <a:r>
              <a:rPr lang="es-ES" dirty="0"/>
              <a:t>de la lista. Si el </a:t>
            </a:r>
            <a:r>
              <a:rPr lang="es-ES" dirty="0">
                <a:solidFill>
                  <a:schemeClr val="accent3"/>
                </a:solidFill>
              </a:rPr>
              <a:t>35</a:t>
            </a:r>
            <a:r>
              <a:rPr lang="es-ES" dirty="0"/>
              <a:t> está en l, entonces el índice del mismo está en el intervalo</a:t>
            </a:r>
          </a:p>
          <a:p>
            <a:r>
              <a:rPr lang="en-US" dirty="0">
                <a:solidFill>
                  <a:schemeClr val="accent2"/>
                </a:solidFill>
              </a:rPr>
              <a:t>[</a:t>
            </a:r>
            <a:r>
              <a:rPr lang="en-US" dirty="0" err="1">
                <a:solidFill>
                  <a:schemeClr val="accent2"/>
                </a:solidFill>
              </a:rPr>
              <a:t>low,high</a:t>
            </a:r>
            <a:r>
              <a:rPr lang="en-US" dirty="0">
                <a:solidFill>
                  <a:schemeClr val="accent2"/>
                </a:solidFill>
              </a:rPr>
              <a:t>] = [4,4</a:t>
            </a:r>
            <a:r>
              <a:rPr lang="en-US" dirty="0"/>
              <a:t>].</a:t>
            </a:r>
          </a:p>
          <a:p>
            <a:endParaRPr lang="es-ES" dirty="0">
              <a:solidFill>
                <a:schemeClr val="accent2"/>
              </a:solidFill>
            </a:endParaRPr>
          </a:p>
          <a:p>
            <a:pPr fontAlgn="t"/>
            <a:r>
              <a:rPr lang="es-AR" b="1" dirty="0"/>
              <a:t>L</a:t>
            </a:r>
            <a:r>
              <a:rPr lang="en-US" b="1" dirty="0"/>
              <a:t>              </a:t>
            </a:r>
            <a:r>
              <a:rPr lang="en-US" dirty="0"/>
              <a:t>[2,    15,     28,     34,     35,     40,     50]</a:t>
            </a:r>
          </a:p>
          <a:p>
            <a:pPr fontAlgn="t"/>
            <a:r>
              <a:rPr lang="es-AR" dirty="0"/>
              <a:t>Posición</a:t>
            </a:r>
            <a:r>
              <a:rPr lang="en-US" dirty="0"/>
              <a:t>  </a:t>
            </a:r>
            <a:r>
              <a:rPr lang="es-AR" dirty="0"/>
              <a:t>0        1        2       3       </a:t>
            </a:r>
            <a:r>
              <a:rPr lang="es-AR" dirty="0">
                <a:solidFill>
                  <a:srgbClr val="FF0000"/>
                </a:solidFill>
              </a:rPr>
              <a:t> 4        </a:t>
            </a:r>
            <a:r>
              <a:rPr lang="es-AR" dirty="0"/>
              <a:t>5        6 </a:t>
            </a:r>
            <a:endParaRPr lang="en-US" dirty="0"/>
          </a:p>
          <a:p>
            <a:r>
              <a:rPr lang="en-US" dirty="0"/>
              <a:t>                                                        </a:t>
            </a:r>
            <a:r>
              <a:rPr lang="en-US" dirty="0">
                <a:solidFill>
                  <a:srgbClr val="FF0000"/>
                </a:solidFill>
              </a:rPr>
              <a:t>low</a:t>
            </a:r>
          </a:p>
          <a:p>
            <a:r>
              <a:rPr lang="en-US" dirty="0">
                <a:solidFill>
                  <a:srgbClr val="FFC000"/>
                </a:solidFill>
              </a:rPr>
              <a:t>                                                        mid</a:t>
            </a:r>
          </a:p>
          <a:p>
            <a:r>
              <a:rPr lang="en-US" dirty="0">
                <a:solidFill>
                  <a:srgbClr val="FF0000"/>
                </a:solidFill>
              </a:rPr>
              <a:t>                                                        high</a:t>
            </a:r>
            <a:endParaRPr lang="en-US" dirty="0"/>
          </a:p>
          <a:p>
            <a:r>
              <a:rPr lang="es-ES" dirty="0"/>
              <a:t>Aplicamos nuevamente el mismo razonamiento y partimos el intervalo a la mitad tomando el elemento ubicado en el medio, </a:t>
            </a:r>
            <a:r>
              <a:rPr lang="es-ES" dirty="0" err="1">
                <a:solidFill>
                  <a:srgbClr val="FFC000"/>
                </a:solidFill>
              </a:rPr>
              <a:t>mid</a:t>
            </a:r>
            <a:r>
              <a:rPr lang="es-ES" dirty="0">
                <a:solidFill>
                  <a:srgbClr val="FFC000"/>
                </a:solidFill>
              </a:rPr>
              <a:t> = (4 + 4)/2 = 4</a:t>
            </a:r>
            <a:r>
              <a:rPr lang="es-ES" dirty="0"/>
              <a:t>, y analizamos el elemento en esa posición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elemento en la posición </a:t>
            </a:r>
            <a:r>
              <a:rPr lang="es-ES" dirty="0" err="1">
                <a:solidFill>
                  <a:srgbClr val="FFC000"/>
                </a:solidFill>
              </a:rPr>
              <a:t>mid</a:t>
            </a:r>
            <a:r>
              <a:rPr lang="es-ES" dirty="0"/>
              <a:t> es el buscado?</a:t>
            </a:r>
            <a:endParaRPr dirty="0"/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4D1AC6CD-7DE6-C630-8603-A32ECDB4718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4;p15">
            <a:extLst>
              <a:ext uri="{FF2B5EF4-FFF2-40B4-BE49-F238E27FC236}">
                <a16:creationId xmlns:a16="http://schemas.microsoft.com/office/drawing/2014/main" id="{37BB5008-68D5-38AF-6C79-C075F4AAA8EF}"/>
              </a:ext>
            </a:extLst>
          </p:cNvPr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Analíticos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22;p16">
            <a:extLst>
              <a:ext uri="{FF2B5EF4-FFF2-40B4-BE49-F238E27FC236}">
                <a16:creationId xmlns:a16="http://schemas.microsoft.com/office/drawing/2014/main" id="{5AD4EB5D-77C8-1DD7-AB42-5FAFAFF66D15}"/>
              </a:ext>
            </a:extLst>
          </p:cNvPr>
          <p:cNvSpPr txBox="1"/>
          <p:nvPr/>
        </p:nvSpPr>
        <p:spPr>
          <a:xfrm>
            <a:off x="177800" y="65502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Bornia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3194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E0BA7-1779-4DA7-B666-E41B12796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BB2D1B-6712-2BA6-43F3-4A0C687A2784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B7ECF2-B354-E283-2CA6-6760CF2827E7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3B2807-78AE-A54C-31D7-0F3823C0C379}"/>
              </a:ext>
            </a:extLst>
          </p:cNvPr>
          <p:cNvSpPr txBox="1"/>
          <p:nvPr/>
        </p:nvSpPr>
        <p:spPr>
          <a:xfrm>
            <a:off x="209670" y="842784"/>
            <a:ext cx="87246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s-ES" dirty="0"/>
              <a:t>Supongamos ahora que estamos buscando el número </a:t>
            </a:r>
            <a:r>
              <a:rPr lang="es-ES" dirty="0">
                <a:solidFill>
                  <a:schemeClr val="accent3"/>
                </a:solidFill>
              </a:rPr>
              <a:t>36</a:t>
            </a:r>
            <a:r>
              <a:rPr lang="es-ES" dirty="0"/>
              <a:t>. Los pasos son exactamente los mismos hasta el punto de la </a:t>
            </a:r>
            <a:r>
              <a:rPr lang="es-ES" dirty="0" err="1"/>
              <a:t>slide</a:t>
            </a:r>
            <a:r>
              <a:rPr lang="es-ES" dirty="0"/>
              <a:t> anterior.</a:t>
            </a:r>
          </a:p>
          <a:p>
            <a:r>
              <a:rPr lang="es-ES" dirty="0"/>
              <a:t>Si el </a:t>
            </a:r>
            <a:r>
              <a:rPr lang="es-ES" dirty="0">
                <a:solidFill>
                  <a:schemeClr val="accent3"/>
                </a:solidFill>
              </a:rPr>
              <a:t>36</a:t>
            </a:r>
            <a:r>
              <a:rPr lang="es-ES" dirty="0"/>
              <a:t> está en l, entonces el índice del mismo está en el intervalo </a:t>
            </a:r>
            <a:r>
              <a:rPr lang="en-US" dirty="0">
                <a:solidFill>
                  <a:schemeClr val="accent2"/>
                </a:solidFill>
              </a:rPr>
              <a:t>[</a:t>
            </a:r>
            <a:r>
              <a:rPr lang="en-US" dirty="0" err="1">
                <a:solidFill>
                  <a:schemeClr val="accent2"/>
                </a:solidFill>
              </a:rPr>
              <a:t>low,high</a:t>
            </a:r>
            <a:r>
              <a:rPr lang="en-US" dirty="0">
                <a:solidFill>
                  <a:schemeClr val="accent2"/>
                </a:solidFill>
              </a:rPr>
              <a:t>] = [4,4]</a:t>
            </a:r>
            <a:r>
              <a:rPr lang="en-US" dirty="0"/>
              <a:t>.</a:t>
            </a:r>
          </a:p>
          <a:p>
            <a:endParaRPr lang="es-ES" dirty="0">
              <a:solidFill>
                <a:schemeClr val="accent2"/>
              </a:solidFill>
            </a:endParaRPr>
          </a:p>
          <a:p>
            <a:pPr fontAlgn="t"/>
            <a:r>
              <a:rPr lang="es-AR" b="1" dirty="0"/>
              <a:t>L</a:t>
            </a:r>
            <a:r>
              <a:rPr lang="en-US" b="1" dirty="0"/>
              <a:t>              </a:t>
            </a:r>
            <a:r>
              <a:rPr lang="en-US" dirty="0"/>
              <a:t>[2,    15,     28,     34,     35,     40,     50]</a:t>
            </a:r>
          </a:p>
          <a:p>
            <a:pPr fontAlgn="t"/>
            <a:r>
              <a:rPr lang="es-AR" dirty="0"/>
              <a:t>Posición</a:t>
            </a:r>
            <a:r>
              <a:rPr lang="en-US" dirty="0"/>
              <a:t>  </a:t>
            </a:r>
            <a:r>
              <a:rPr lang="es-AR" dirty="0"/>
              <a:t>0        1        2       3       </a:t>
            </a:r>
            <a:r>
              <a:rPr lang="es-AR" dirty="0">
                <a:solidFill>
                  <a:srgbClr val="FF0000"/>
                </a:solidFill>
              </a:rPr>
              <a:t> 4        </a:t>
            </a:r>
            <a:r>
              <a:rPr lang="es-AR" dirty="0"/>
              <a:t>5        6 </a:t>
            </a:r>
            <a:endParaRPr lang="en-US" dirty="0"/>
          </a:p>
          <a:p>
            <a:r>
              <a:rPr lang="en-US" dirty="0"/>
              <a:t>                                                        </a:t>
            </a:r>
            <a:r>
              <a:rPr lang="en-US" dirty="0">
                <a:solidFill>
                  <a:srgbClr val="FF0000"/>
                </a:solidFill>
              </a:rPr>
              <a:t>low</a:t>
            </a:r>
          </a:p>
          <a:p>
            <a:r>
              <a:rPr lang="en-US" dirty="0">
                <a:solidFill>
                  <a:srgbClr val="FFC000"/>
                </a:solidFill>
              </a:rPr>
              <a:t>                                                        mid</a:t>
            </a:r>
          </a:p>
          <a:p>
            <a:r>
              <a:rPr lang="en-US" dirty="0">
                <a:solidFill>
                  <a:srgbClr val="FF0000"/>
                </a:solidFill>
              </a:rPr>
              <a:t>                                                        high</a:t>
            </a:r>
          </a:p>
          <a:p>
            <a:endParaRPr lang="en-US" dirty="0"/>
          </a:p>
          <a:p>
            <a:r>
              <a:rPr lang="es-ES" dirty="0"/>
              <a:t>Aplicamos nuevamente el mismo razonamiento y partimos el intervalo a la mitad tomando el elemento ubicado en el medio, </a:t>
            </a:r>
            <a:r>
              <a:rPr lang="es-ES" dirty="0" err="1">
                <a:solidFill>
                  <a:srgbClr val="FFC000"/>
                </a:solidFill>
              </a:rPr>
              <a:t>mid</a:t>
            </a:r>
            <a:r>
              <a:rPr lang="es-ES" dirty="0">
                <a:solidFill>
                  <a:srgbClr val="FFC000"/>
                </a:solidFill>
              </a:rPr>
              <a:t> = (4 + 4)/2 = 4</a:t>
            </a:r>
            <a:r>
              <a:rPr lang="es-ES" dirty="0"/>
              <a:t>, y analizamos el elemento en esa posición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elemento en la posición </a:t>
            </a:r>
            <a:r>
              <a:rPr lang="es-ES" dirty="0" err="1">
                <a:solidFill>
                  <a:srgbClr val="FFC000"/>
                </a:solidFill>
              </a:rPr>
              <a:t>mid</a:t>
            </a:r>
            <a:r>
              <a:rPr lang="es-ES" dirty="0"/>
              <a:t> es el buscado?</a:t>
            </a:r>
            <a:endParaRPr dirty="0"/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4927B46C-1BE8-788C-C41F-ADC363505A6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4;p15">
            <a:extLst>
              <a:ext uri="{FF2B5EF4-FFF2-40B4-BE49-F238E27FC236}">
                <a16:creationId xmlns:a16="http://schemas.microsoft.com/office/drawing/2014/main" id="{932F5376-5BD9-0566-A7EE-C8B9D09C2587}"/>
              </a:ext>
            </a:extLst>
          </p:cNvPr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Analíticos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22;p16">
            <a:extLst>
              <a:ext uri="{FF2B5EF4-FFF2-40B4-BE49-F238E27FC236}">
                <a16:creationId xmlns:a16="http://schemas.microsoft.com/office/drawing/2014/main" id="{3CF3D46F-F26A-F469-95B2-FE51ACFE66EE}"/>
              </a:ext>
            </a:extLst>
          </p:cNvPr>
          <p:cNvSpPr txBox="1"/>
          <p:nvPr/>
        </p:nvSpPr>
        <p:spPr>
          <a:xfrm>
            <a:off x="177800" y="65502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Bornia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6913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E07DE-83E3-8924-5AD1-98DB43CD4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54213E-8D4A-CD4A-303D-0FB5DFEEBB44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7A67F9-1A5B-27E3-3FCD-1E4A8178F4FC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DF0EA-D2EA-A560-FE9F-C9DA131247DE}"/>
              </a:ext>
            </a:extLst>
          </p:cNvPr>
          <p:cNvSpPr txBox="1"/>
          <p:nvPr/>
        </p:nvSpPr>
        <p:spPr>
          <a:xfrm>
            <a:off x="209670" y="842784"/>
            <a:ext cx="872466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s-ES" dirty="0"/>
              <a:t>Supongamos ahora que estamos buscando el número </a:t>
            </a:r>
            <a:r>
              <a:rPr lang="es-ES" dirty="0">
                <a:solidFill>
                  <a:schemeClr val="accent3"/>
                </a:solidFill>
              </a:rPr>
              <a:t>36</a:t>
            </a:r>
            <a:r>
              <a:rPr lang="es-ES" dirty="0"/>
              <a:t>. Los pasos son exactamente los mismos hasta el punto de la </a:t>
            </a:r>
            <a:r>
              <a:rPr lang="es-ES" dirty="0" err="1"/>
              <a:t>slide</a:t>
            </a:r>
            <a:r>
              <a:rPr lang="es-ES" dirty="0"/>
              <a:t> anterior.</a:t>
            </a:r>
          </a:p>
          <a:p>
            <a:r>
              <a:rPr lang="es-ES" dirty="0"/>
              <a:t>Si el </a:t>
            </a:r>
            <a:r>
              <a:rPr lang="es-ES" dirty="0">
                <a:solidFill>
                  <a:schemeClr val="accent3"/>
                </a:solidFill>
              </a:rPr>
              <a:t>36</a:t>
            </a:r>
            <a:r>
              <a:rPr lang="es-ES" dirty="0"/>
              <a:t> está en l, entonces el índice del mismo está en el intervalo </a:t>
            </a:r>
            <a:r>
              <a:rPr lang="en-US" dirty="0">
                <a:solidFill>
                  <a:schemeClr val="accent2"/>
                </a:solidFill>
              </a:rPr>
              <a:t>[</a:t>
            </a:r>
            <a:r>
              <a:rPr lang="en-US" dirty="0" err="1">
                <a:solidFill>
                  <a:schemeClr val="accent2"/>
                </a:solidFill>
              </a:rPr>
              <a:t>low,high</a:t>
            </a:r>
            <a:r>
              <a:rPr lang="en-US" dirty="0">
                <a:solidFill>
                  <a:schemeClr val="accent2"/>
                </a:solidFill>
              </a:rPr>
              <a:t>] = [4,4]</a:t>
            </a:r>
            <a:r>
              <a:rPr lang="en-US" dirty="0"/>
              <a:t>.</a:t>
            </a:r>
          </a:p>
          <a:p>
            <a:endParaRPr lang="es-ES" dirty="0">
              <a:solidFill>
                <a:schemeClr val="accent2"/>
              </a:solidFill>
            </a:endParaRPr>
          </a:p>
          <a:p>
            <a:pPr fontAlgn="t"/>
            <a:r>
              <a:rPr lang="es-AR" b="1" dirty="0"/>
              <a:t>L</a:t>
            </a:r>
            <a:r>
              <a:rPr lang="en-US" b="1" dirty="0"/>
              <a:t>              </a:t>
            </a:r>
            <a:r>
              <a:rPr lang="en-US" dirty="0"/>
              <a:t>[2,    15,     28,     34,     35,     40,     50]</a:t>
            </a:r>
          </a:p>
          <a:p>
            <a:pPr fontAlgn="t"/>
            <a:r>
              <a:rPr lang="es-AR" dirty="0"/>
              <a:t>Posición</a:t>
            </a:r>
            <a:r>
              <a:rPr lang="en-US" dirty="0"/>
              <a:t>  </a:t>
            </a:r>
            <a:r>
              <a:rPr lang="es-AR" dirty="0"/>
              <a:t>0        1        2       3       </a:t>
            </a:r>
            <a:r>
              <a:rPr lang="es-AR" dirty="0">
                <a:solidFill>
                  <a:srgbClr val="FF0000"/>
                </a:solidFill>
              </a:rPr>
              <a:t> 4        </a:t>
            </a:r>
            <a:r>
              <a:rPr lang="es-AR" dirty="0"/>
              <a:t>5        6 </a:t>
            </a:r>
            <a:endParaRPr lang="en-US" dirty="0"/>
          </a:p>
          <a:p>
            <a:r>
              <a:rPr lang="en-US" dirty="0"/>
              <a:t>                                                        </a:t>
            </a:r>
            <a:r>
              <a:rPr lang="en-US" dirty="0">
                <a:solidFill>
                  <a:srgbClr val="FF0000"/>
                </a:solidFill>
              </a:rPr>
              <a:t>low</a:t>
            </a:r>
          </a:p>
          <a:p>
            <a:r>
              <a:rPr lang="en-US" dirty="0">
                <a:solidFill>
                  <a:srgbClr val="FFC000"/>
                </a:solidFill>
              </a:rPr>
              <a:t>                                                        mid</a:t>
            </a:r>
          </a:p>
          <a:p>
            <a:r>
              <a:rPr lang="en-US" dirty="0">
                <a:solidFill>
                  <a:srgbClr val="FF0000"/>
                </a:solidFill>
              </a:rPr>
              <a:t>                                                        high</a:t>
            </a:r>
          </a:p>
          <a:p>
            <a:endParaRPr lang="en-US" dirty="0"/>
          </a:p>
          <a:p>
            <a:r>
              <a:rPr lang="es-ES" dirty="0"/>
              <a:t>Aplicamos nuevamente el mismo razonamiento y partimos el intervalo a la mitad tomando el elemento ubicado en el medio, </a:t>
            </a:r>
            <a:r>
              <a:rPr lang="es-ES" dirty="0" err="1">
                <a:solidFill>
                  <a:srgbClr val="FFC000"/>
                </a:solidFill>
              </a:rPr>
              <a:t>mid</a:t>
            </a:r>
            <a:r>
              <a:rPr lang="es-ES" dirty="0">
                <a:solidFill>
                  <a:srgbClr val="FFC000"/>
                </a:solidFill>
              </a:rPr>
              <a:t> = (4 + 4)/2 = 4</a:t>
            </a:r>
            <a:r>
              <a:rPr lang="es-ES" dirty="0"/>
              <a:t>, y analizamos el elemento en esa posición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elemento en la posición </a:t>
            </a:r>
            <a:r>
              <a:rPr lang="es-ES" dirty="0" err="1">
                <a:solidFill>
                  <a:srgbClr val="FFC000"/>
                </a:solidFill>
              </a:rPr>
              <a:t>mid</a:t>
            </a:r>
            <a:r>
              <a:rPr lang="es-ES" dirty="0"/>
              <a:t> es el buscado? </a:t>
            </a:r>
            <a:r>
              <a:rPr lang="en-US" dirty="0">
                <a:solidFill>
                  <a:schemeClr val="accent2"/>
                </a:solidFill>
              </a:rPr>
              <a:t>NO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s-ES" dirty="0"/>
              <a:t>Dado que </a:t>
            </a:r>
            <a:r>
              <a:rPr lang="es-ES" dirty="0">
                <a:solidFill>
                  <a:schemeClr val="accent3"/>
                </a:solidFill>
              </a:rPr>
              <a:t>36</a:t>
            </a:r>
            <a:r>
              <a:rPr lang="es-ES" dirty="0"/>
              <a:t> es mayor a </a:t>
            </a:r>
            <a:r>
              <a:rPr lang="es-ES" dirty="0" err="1">
                <a:solidFill>
                  <a:srgbClr val="FFC000"/>
                </a:solidFill>
              </a:rPr>
              <a:t>mid</a:t>
            </a:r>
            <a:r>
              <a:rPr lang="es-ES" dirty="0"/>
              <a:t>, entonces actualizamos el intervalo a </a:t>
            </a:r>
            <a:r>
              <a:rPr lang="es-ES" dirty="0">
                <a:solidFill>
                  <a:srgbClr val="C00000"/>
                </a:solidFill>
              </a:rPr>
              <a:t>[</a:t>
            </a:r>
            <a:r>
              <a:rPr lang="es-ES" dirty="0" err="1">
                <a:solidFill>
                  <a:srgbClr val="C00000"/>
                </a:solidFill>
              </a:rPr>
              <a:t>low,high</a:t>
            </a:r>
            <a:r>
              <a:rPr lang="es-ES" dirty="0">
                <a:solidFill>
                  <a:srgbClr val="C00000"/>
                </a:solidFill>
              </a:rPr>
              <a:t>] =</a:t>
            </a:r>
          </a:p>
          <a:p>
            <a:r>
              <a:rPr lang="en-US" dirty="0">
                <a:solidFill>
                  <a:srgbClr val="C00000"/>
                </a:solidFill>
              </a:rPr>
              <a:t>[mid+1,high] = [5,4].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BACE6E3D-74AA-FD4E-B26B-BDC42A4A57B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4;p15">
            <a:extLst>
              <a:ext uri="{FF2B5EF4-FFF2-40B4-BE49-F238E27FC236}">
                <a16:creationId xmlns:a16="http://schemas.microsoft.com/office/drawing/2014/main" id="{971B7C7C-2281-32C2-F94B-68F436442AA3}"/>
              </a:ext>
            </a:extLst>
          </p:cNvPr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Analíticos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22;p16">
            <a:extLst>
              <a:ext uri="{FF2B5EF4-FFF2-40B4-BE49-F238E27FC236}">
                <a16:creationId xmlns:a16="http://schemas.microsoft.com/office/drawing/2014/main" id="{ACAA5A37-1A7C-FCAB-207A-E5EA5C8C2555}"/>
              </a:ext>
            </a:extLst>
          </p:cNvPr>
          <p:cNvSpPr txBox="1"/>
          <p:nvPr/>
        </p:nvSpPr>
        <p:spPr>
          <a:xfrm>
            <a:off x="177800" y="65502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Bornia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9037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731520"/>
            <a:ext cx="2611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23232"/>
                </a:solidFill>
              </a:defRPr>
            </a:pPr>
            <a:r>
              <a:rPr dirty="0" err="1"/>
              <a:t>Búsqueda</a:t>
            </a:r>
            <a:r>
              <a:rPr dirty="0"/>
              <a:t> </a:t>
            </a:r>
            <a:r>
              <a:rPr lang="es-AR" dirty="0"/>
              <a:t>Binaria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65760" y="1448249"/>
            <a:ext cx="834174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Qué podemos deducir del intervalo [5,4]?</a:t>
            </a:r>
          </a:p>
          <a:p>
            <a:pPr algn="ctr"/>
            <a:r>
              <a:rPr lang="en-US" dirty="0"/>
              <a:t>Y </a:t>
            </a:r>
            <a:r>
              <a:rPr lang="en-US" dirty="0" err="1"/>
              <a:t>esto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?</a:t>
            </a:r>
          </a:p>
          <a:p>
            <a:pPr algn="ctr"/>
            <a:r>
              <a:rPr lang="es-ES" dirty="0"/>
              <a:t>Cómo podemos justificar esto </a:t>
            </a:r>
            <a:r>
              <a:rPr lang="es-ES" dirty="0" err="1"/>
              <a:t>úlitmo</a:t>
            </a:r>
            <a:r>
              <a:rPr lang="es-ES" dirty="0"/>
              <a:t>?</a:t>
            </a:r>
          </a:p>
          <a:p>
            <a:endParaRPr lang="es-ES" dirty="0"/>
          </a:p>
          <a:p>
            <a:r>
              <a:rPr lang="en-US" dirty="0" err="1"/>
              <a:t>Resumiendo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Si el elemento está, entonces en algún momento lo encontramos al tomar el punto medio </a:t>
            </a:r>
            <a:r>
              <a:rPr lang="es-ES" dirty="0" err="1">
                <a:solidFill>
                  <a:srgbClr val="FFC000"/>
                </a:solidFill>
              </a:rPr>
              <a:t>mid</a:t>
            </a:r>
            <a:r>
              <a:rPr lang="es-ES" dirty="0"/>
              <a:t> y verificando el valor de la lista en esa posición.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Si no está, en algún momento </a:t>
            </a:r>
            <a:r>
              <a:rPr lang="es-ES" dirty="0" err="1">
                <a:solidFill>
                  <a:srgbClr val="C00000"/>
                </a:solidFill>
              </a:rPr>
              <a:t>low</a:t>
            </a:r>
            <a:r>
              <a:rPr lang="es-ES" dirty="0">
                <a:solidFill>
                  <a:srgbClr val="C00000"/>
                </a:solidFill>
              </a:rPr>
              <a:t> &gt; </a:t>
            </a:r>
            <a:r>
              <a:rPr lang="es-ES" dirty="0" err="1">
                <a:solidFill>
                  <a:srgbClr val="C00000"/>
                </a:solidFill>
              </a:rPr>
              <a:t>high</a:t>
            </a:r>
            <a:r>
              <a:rPr lang="es-E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Cuidado: al tomar el punto medio, utilizar división entera (//) para evitar problemas en caso que el rango </a:t>
            </a:r>
            <a:r>
              <a:rPr lang="es-ES" dirty="0">
                <a:solidFill>
                  <a:srgbClr val="C00000"/>
                </a:solidFill>
              </a:rPr>
              <a:t>[</a:t>
            </a:r>
            <a:r>
              <a:rPr lang="es-ES" dirty="0" err="1">
                <a:solidFill>
                  <a:srgbClr val="C00000"/>
                </a:solidFill>
              </a:rPr>
              <a:t>low,high</a:t>
            </a:r>
            <a:r>
              <a:rPr lang="es-ES" dirty="0">
                <a:solidFill>
                  <a:srgbClr val="C00000"/>
                </a:solidFill>
              </a:rPr>
              <a:t>] </a:t>
            </a:r>
            <a:r>
              <a:rPr lang="es-ES" dirty="0"/>
              <a:t>tenga una cantidad par de posiciones (y, por lo tanto, no hay un único elemento en el medio).</a:t>
            </a:r>
          </a:p>
          <a:p>
            <a:endParaRPr lang="es-ES" dirty="0"/>
          </a:p>
          <a:p>
            <a:pPr algn="ctr"/>
            <a:r>
              <a:rPr lang="es-ES" b="1" dirty="0"/>
              <a:t>Sabemos </a:t>
            </a:r>
            <a:r>
              <a:rPr lang="es-ES" b="1" i="1" dirty="0"/>
              <a:t>a priori </a:t>
            </a:r>
            <a:r>
              <a:rPr lang="es-ES" b="1" dirty="0"/>
              <a:t>cuántas iteraciones vamos a hacer en el peor de los casos?</a:t>
            </a:r>
          </a:p>
          <a:p>
            <a:pPr algn="ctr"/>
            <a:r>
              <a:rPr lang="es-ES" b="1" dirty="0"/>
              <a:t>Cómo sabemos cuándo vamos a terminar de iterar?</a:t>
            </a:r>
            <a:endParaRPr dirty="0"/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F4495B30-493D-4C11-5DC5-54F1C28393E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4;p15">
            <a:extLst>
              <a:ext uri="{FF2B5EF4-FFF2-40B4-BE49-F238E27FC236}">
                <a16:creationId xmlns:a16="http://schemas.microsoft.com/office/drawing/2014/main" id="{F347AB51-437E-A163-BA36-8A65C647698C}"/>
              </a:ext>
            </a:extLst>
          </p:cNvPr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Analíticos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22;p16">
            <a:extLst>
              <a:ext uri="{FF2B5EF4-FFF2-40B4-BE49-F238E27FC236}">
                <a16:creationId xmlns:a16="http://schemas.microsoft.com/office/drawing/2014/main" id="{B0BE0831-8542-3EA8-B575-7811F4E4D542}"/>
              </a:ext>
            </a:extLst>
          </p:cNvPr>
          <p:cNvSpPr txBox="1"/>
          <p:nvPr/>
        </p:nvSpPr>
        <p:spPr>
          <a:xfrm>
            <a:off x="177800" y="65502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Bornia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DAA9903A-E2EB-3422-E8D4-1A5FE81CA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>
            <a:extLst>
              <a:ext uri="{FF2B5EF4-FFF2-40B4-BE49-F238E27FC236}">
                <a16:creationId xmlns:a16="http://schemas.microsoft.com/office/drawing/2014/main" id="{07F27F0A-376B-BA65-05C6-E6804E0BDA15}"/>
              </a:ext>
            </a:extLst>
          </p:cNvPr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37767A7E-3922-BCA1-A65E-C586BE4E6420}"/>
              </a:ext>
            </a:extLst>
          </p:cNvPr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4" descr="di_tella2.png">
            <a:extLst>
              <a:ext uri="{FF2B5EF4-FFF2-40B4-BE49-F238E27FC236}">
                <a16:creationId xmlns:a16="http://schemas.microsoft.com/office/drawing/2014/main" id="{2F14FCC0-6A77-DE8D-B47A-56A0C6EB87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877F4825-1824-56A0-ED84-476AD11567D6}"/>
              </a:ext>
            </a:extLst>
          </p:cNvPr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49F8ADAA-D15A-7BEC-5A88-FFCE055DAE39}"/>
              </a:ext>
            </a:extLst>
          </p:cNvPr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2B23216B-E88E-130F-FAB9-58A338F1B126}"/>
              </a:ext>
            </a:extLst>
          </p:cNvPr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9E850B49-AE01-9C62-3465-EEFC4BEC8AFE}"/>
              </a:ext>
            </a:extLst>
          </p:cNvPr>
          <p:cNvSpPr/>
          <p:nvPr/>
        </p:nvSpPr>
        <p:spPr>
          <a:xfrm>
            <a:off x="87675" y="759825"/>
            <a:ext cx="9001200" cy="5293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DFDE0CD2-216C-4071-FC48-8848B4D9E1B7}"/>
              </a:ext>
            </a:extLst>
          </p:cNvPr>
          <p:cNvSpPr txBox="1"/>
          <p:nvPr/>
        </p:nvSpPr>
        <p:spPr>
          <a:xfrm>
            <a:off x="-132750" y="2593925"/>
            <a:ext cx="9409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Ejercicio</a:t>
            </a:r>
            <a:endParaRPr sz="4800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1817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7799" y="962942"/>
            <a:ext cx="896620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s-ES" dirty="0"/>
              <a:t>Implementar el algoritmo de </a:t>
            </a:r>
            <a:r>
              <a:rPr lang="es-ES" i="1" dirty="0"/>
              <a:t>búsqueda secuencial</a:t>
            </a:r>
            <a:r>
              <a:rPr lang="es-ES" dirty="0"/>
              <a:t>, que toma una lista (no necesariamente ordenada) l y un elemento x y devuelve True en caso de x esté en l, y False en caso contrario.</a:t>
            </a:r>
          </a:p>
          <a:p>
            <a:pPr marL="342900" indent="-342900">
              <a:buAutoNum type="arabicPeriod"/>
            </a:pPr>
            <a:endParaRPr lang="es-ES" dirty="0"/>
          </a:p>
          <a:p>
            <a:r>
              <a:rPr lang="en-US" dirty="0"/>
              <a:t>2. </a:t>
            </a:r>
            <a:r>
              <a:rPr lang="en-US" dirty="0" err="1"/>
              <a:t>Implementar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i="1" dirty="0" err="1"/>
              <a:t>búsqueda</a:t>
            </a:r>
            <a:r>
              <a:rPr lang="en-US" i="1" dirty="0"/>
              <a:t> </a:t>
            </a:r>
            <a:r>
              <a:rPr lang="en-US" i="1" dirty="0" err="1"/>
              <a:t>binaria</a:t>
            </a:r>
            <a:r>
              <a:rPr lang="en-US" i="1" dirty="0"/>
              <a:t> </a:t>
            </a:r>
            <a:r>
              <a:rPr lang="en-US" dirty="0"/>
              <a:t>de forma </a:t>
            </a:r>
            <a:r>
              <a:rPr lang="en-US" dirty="0" err="1"/>
              <a:t>iterativa</a:t>
            </a:r>
            <a:r>
              <a:rPr lang="en-US" dirty="0"/>
              <a:t>,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toma</a:t>
            </a:r>
            <a:r>
              <a:rPr lang="en-US" dirty="0"/>
              <a:t> </a:t>
            </a:r>
            <a:r>
              <a:rPr lang="es-ES" dirty="0"/>
              <a:t>una lista ordenada (en forma ascendente) l y un elemento x (del tipo de los elementos de la lista) y devuelve True en caso que x esté en l, y False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contrario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s-ES" dirty="0"/>
              <a:t>3. Implementar el algoritmo de </a:t>
            </a:r>
            <a:r>
              <a:rPr lang="es-ES" i="1" dirty="0"/>
              <a:t>búsqueda binaria </a:t>
            </a:r>
            <a:r>
              <a:rPr lang="es-ES" dirty="0"/>
              <a:t>usando recursión.</a:t>
            </a:r>
          </a:p>
          <a:p>
            <a:r>
              <a:rPr lang="es-ES" i="1" dirty="0"/>
              <a:t>Sugerencia, agregar parámetros adicionales a la función para indicar los límites </a:t>
            </a:r>
            <a:r>
              <a:rPr lang="en-US" dirty="0"/>
              <a:t>low y high.</a:t>
            </a:r>
          </a:p>
          <a:p>
            <a:endParaRPr lang="en-US" dirty="0"/>
          </a:p>
          <a:p>
            <a:r>
              <a:rPr lang="en-US" i="1" dirty="0"/>
              <a:t>def</a:t>
            </a:r>
            <a:r>
              <a:rPr lang="en-US" dirty="0"/>
              <a:t> </a:t>
            </a:r>
            <a:r>
              <a:rPr lang="en-US" dirty="0" err="1"/>
              <a:t>busqueda_binaria_recursiva</a:t>
            </a:r>
            <a:r>
              <a:rPr lang="en-US" dirty="0"/>
              <a:t> (l, x, low, high):</a:t>
            </a:r>
          </a:p>
          <a:p>
            <a:r>
              <a:rPr lang="en-US" dirty="0"/>
              <a:t>	Pass</a:t>
            </a:r>
          </a:p>
          <a:p>
            <a:endParaRPr lang="en-US" dirty="0"/>
          </a:p>
          <a:p>
            <a:r>
              <a:rPr lang="en-US" dirty="0"/>
              <a:t>4. </a:t>
            </a:r>
            <a:r>
              <a:rPr lang="en-US" dirty="0" err="1"/>
              <a:t>Ejercicio</a:t>
            </a:r>
            <a:r>
              <a:rPr lang="en-US" dirty="0"/>
              <a:t> 10.10.</a:t>
            </a:r>
            <a:endParaRPr dirty="0"/>
          </a:p>
        </p:txBody>
      </p:sp>
      <p:pic>
        <p:nvPicPr>
          <p:cNvPr id="12" name="Google Shape;93;p14" descr="di_tella2.png">
            <a:extLst>
              <a:ext uri="{FF2B5EF4-FFF2-40B4-BE49-F238E27FC236}">
                <a16:creationId xmlns:a16="http://schemas.microsoft.com/office/drawing/2014/main" id="{5EB5B960-D4EE-5386-12FE-1169EB1EE56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04;p15">
            <a:extLst>
              <a:ext uri="{FF2B5EF4-FFF2-40B4-BE49-F238E27FC236}">
                <a16:creationId xmlns:a16="http://schemas.microsoft.com/office/drawing/2014/main" id="{E3E440C1-5CE1-4D56-8050-72D7B1393D61}"/>
              </a:ext>
            </a:extLst>
          </p:cNvPr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Analíticos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22;p16">
            <a:extLst>
              <a:ext uri="{FF2B5EF4-FFF2-40B4-BE49-F238E27FC236}">
                <a16:creationId xmlns:a16="http://schemas.microsoft.com/office/drawing/2014/main" id="{11B3D5D3-ED2D-8BF4-72A7-D76634A5FA71}"/>
              </a:ext>
            </a:extLst>
          </p:cNvPr>
          <p:cNvSpPr txBox="1"/>
          <p:nvPr/>
        </p:nvSpPr>
        <p:spPr>
          <a:xfrm>
            <a:off x="177800" y="65136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Bornia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7B6C7793-9DE0-881F-943D-E514CCEEF92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4;p15">
            <a:extLst>
              <a:ext uri="{FF2B5EF4-FFF2-40B4-BE49-F238E27FC236}">
                <a16:creationId xmlns:a16="http://schemas.microsoft.com/office/drawing/2014/main" id="{BDBA0B20-3340-5802-5013-DD49B383CA7E}"/>
              </a:ext>
            </a:extLst>
          </p:cNvPr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Analíticos</a:t>
            </a:r>
            <a:r>
              <a:rPr lang="en-US" sz="1800" b="1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800" b="1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2;p16">
            <a:extLst>
              <a:ext uri="{FF2B5EF4-FFF2-40B4-BE49-F238E27FC236}">
                <a16:creationId xmlns:a16="http://schemas.microsoft.com/office/drawing/2014/main" id="{047A7E71-3404-873D-3D79-3F399CA116C1}"/>
              </a:ext>
            </a:extLst>
          </p:cNvPr>
          <p:cNvSpPr txBox="1"/>
          <p:nvPr/>
        </p:nvSpPr>
        <p:spPr>
          <a:xfrm>
            <a:off x="177800" y="649224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Bornia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F26606-8687-6B48-6CD6-72D8326C429F}"/>
              </a:ext>
            </a:extLst>
          </p:cNvPr>
          <p:cNvSpPr txBox="1"/>
          <p:nvPr/>
        </p:nvSpPr>
        <p:spPr>
          <a:xfrm>
            <a:off x="569343" y="1052423"/>
            <a:ext cx="819509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0" u="none" strike="noStrike" baseline="0" dirty="0">
                <a:solidFill>
                  <a:srgbClr val="0000FF"/>
                </a:solidFill>
                <a:latin typeface="TeXGyrePagellaX-Regular"/>
              </a:rPr>
              <a:t>def </a:t>
            </a:r>
            <a:r>
              <a:rPr lang="pt-BR" sz="2000" b="0" i="0" u="none" strike="noStrike" baseline="0" dirty="0">
                <a:solidFill>
                  <a:srgbClr val="333333"/>
                </a:solidFill>
                <a:latin typeface="TeXGyrePagellaX-Regular"/>
              </a:rPr>
              <a:t>busqueda_binaria ( l , t a r g e t ) :</a:t>
            </a:r>
          </a:p>
          <a:p>
            <a:pPr lvl="1"/>
            <a:r>
              <a:rPr lang="pt-BR" sz="2000" b="0" i="0" u="none" strike="noStrike" baseline="0" dirty="0">
                <a:solidFill>
                  <a:srgbClr val="009A00"/>
                </a:solidFill>
                <a:latin typeface="TeXGyrePagellaX-Regular"/>
              </a:rPr>
              <a:t># Inicializamos las variables del intervalo.</a:t>
            </a:r>
          </a:p>
          <a:p>
            <a:pPr lvl="1"/>
            <a:r>
              <a:rPr lang="en-US" sz="2000" b="0" i="0" u="none" strike="noStrike" baseline="0" dirty="0">
                <a:solidFill>
                  <a:srgbClr val="333333"/>
                </a:solidFill>
                <a:latin typeface="TeXGyrePagellaX-Regular"/>
              </a:rPr>
              <a:t>low = 0</a:t>
            </a:r>
          </a:p>
          <a:p>
            <a:pPr lvl="1"/>
            <a:r>
              <a:rPr lang="en-US" sz="2000" b="0" i="0" u="none" strike="noStrike" baseline="0" dirty="0">
                <a:solidFill>
                  <a:srgbClr val="333333"/>
                </a:solidFill>
                <a:latin typeface="TeXGyrePagellaX-Regular"/>
              </a:rPr>
              <a:t>high = </a:t>
            </a:r>
            <a:r>
              <a:rPr lang="en-US" sz="2000" b="0" i="0" u="none" strike="noStrike" baseline="0" dirty="0" err="1">
                <a:solidFill>
                  <a:srgbClr val="0000FF"/>
                </a:solidFill>
                <a:latin typeface="TeXGyrePagellaX-Regular"/>
              </a:rPr>
              <a:t>len</a:t>
            </a:r>
            <a:r>
              <a:rPr lang="en-US" sz="2000" b="0" i="0" u="none" strike="noStrike" baseline="0" dirty="0">
                <a:solidFill>
                  <a:srgbClr val="0000FF"/>
                </a:solidFill>
                <a:latin typeface="TeXGyrePagellaX-Regular"/>
              </a:rPr>
              <a:t> </a:t>
            </a:r>
            <a:r>
              <a:rPr lang="en-US" sz="2000" b="0" i="0" u="none" strike="noStrike" baseline="0" dirty="0">
                <a:solidFill>
                  <a:srgbClr val="333333"/>
                </a:solidFill>
                <a:latin typeface="TeXGyrePagellaX-Regular"/>
              </a:rPr>
              <a:t>( l )</a:t>
            </a:r>
            <a:r>
              <a:rPr lang="en-US" sz="2000" b="0" i="0" u="none" strike="noStrike" baseline="0" dirty="0">
                <a:solidFill>
                  <a:srgbClr val="333333"/>
                </a:solidFill>
                <a:latin typeface="pxsys"/>
              </a:rPr>
              <a:t>􀀀</a:t>
            </a:r>
            <a:r>
              <a:rPr lang="en-US" sz="2000" b="0" i="0" u="none" strike="noStrike" baseline="0" dirty="0">
                <a:solidFill>
                  <a:srgbClr val="333333"/>
                </a:solidFill>
                <a:latin typeface="TeXGyrePagellaX-Regular"/>
              </a:rPr>
              <a:t>1</a:t>
            </a:r>
          </a:p>
          <a:p>
            <a:pPr lvl="1"/>
            <a:r>
              <a:rPr lang="en-US" sz="2000" b="0" i="0" u="none" strike="noStrike" baseline="0" dirty="0">
                <a:solidFill>
                  <a:srgbClr val="0000FF"/>
                </a:solidFill>
                <a:latin typeface="TeXGyrePagellaX-Regular"/>
              </a:rPr>
              <a:t>while </a:t>
            </a:r>
            <a:r>
              <a:rPr lang="en-US" sz="2000" b="0" i="0" u="none" strike="noStrike" baseline="0" dirty="0">
                <a:solidFill>
                  <a:srgbClr val="333333"/>
                </a:solidFill>
                <a:latin typeface="TeXGyrePagellaX-Regular"/>
              </a:rPr>
              <a:t>low &lt;= high :</a:t>
            </a:r>
          </a:p>
          <a:p>
            <a:pPr lvl="2"/>
            <a:r>
              <a:rPr lang="en-US" sz="2000" b="0" i="0" u="none" strike="noStrike" baseline="0" dirty="0">
                <a:solidFill>
                  <a:srgbClr val="333333"/>
                </a:solidFill>
                <a:latin typeface="TeXGyrePagellaX-Regular"/>
              </a:rPr>
              <a:t>mid = low + </a:t>
            </a:r>
            <a:r>
              <a:rPr lang="en-US" sz="2000" b="0" i="0" u="none" strike="noStrike" baseline="0" dirty="0" err="1">
                <a:solidFill>
                  <a:srgbClr val="0000FF"/>
                </a:solidFill>
                <a:latin typeface="TeXGyrePagellaX-Regular"/>
              </a:rPr>
              <a:t>i</a:t>
            </a:r>
            <a:r>
              <a:rPr lang="en-US" sz="2000" b="0" i="0" u="none" strike="noStrike" baseline="0" dirty="0">
                <a:solidFill>
                  <a:srgbClr val="0000FF"/>
                </a:solidFill>
                <a:latin typeface="TeXGyrePagellaX-Regular"/>
              </a:rPr>
              <a:t> n t </a:t>
            </a:r>
            <a:r>
              <a:rPr lang="en-US" sz="2000" b="0" i="0" u="none" strike="noStrike" baseline="0" dirty="0">
                <a:solidFill>
                  <a:srgbClr val="333333"/>
                </a:solidFill>
                <a:latin typeface="TeXGyrePagellaX-Regular"/>
              </a:rPr>
              <a:t>( ( high </a:t>
            </a:r>
            <a:r>
              <a:rPr lang="en-US" sz="2000" b="0" i="0" u="none" strike="noStrike" baseline="0" dirty="0">
                <a:solidFill>
                  <a:srgbClr val="333333"/>
                </a:solidFill>
                <a:latin typeface="pxsys"/>
              </a:rPr>
              <a:t>􀀀 </a:t>
            </a:r>
            <a:r>
              <a:rPr lang="en-US" sz="2000" b="0" i="0" u="none" strike="noStrike" baseline="0" dirty="0">
                <a:solidFill>
                  <a:srgbClr val="333333"/>
                </a:solidFill>
                <a:latin typeface="TeXGyrePagellaX-Regular"/>
              </a:rPr>
              <a:t>low) /2)</a:t>
            </a:r>
          </a:p>
          <a:p>
            <a:pPr lvl="2"/>
            <a:r>
              <a:rPr lang="pt-BR" sz="2000" b="0" i="0" u="none" strike="noStrike" baseline="0" dirty="0">
                <a:solidFill>
                  <a:srgbClr val="0000FF"/>
                </a:solidFill>
                <a:latin typeface="TeXGyrePagellaX-Regular"/>
              </a:rPr>
              <a:t>if </a:t>
            </a:r>
            <a:r>
              <a:rPr lang="pt-BR" sz="2000" b="0" i="0" u="none" strike="noStrike" baseline="0" dirty="0">
                <a:solidFill>
                  <a:srgbClr val="333333"/>
                </a:solidFill>
                <a:latin typeface="TeXGyrePagellaX-Regular"/>
              </a:rPr>
              <a:t>l [mid] == t a r g e t :</a:t>
            </a:r>
          </a:p>
          <a:p>
            <a:pPr lvl="3"/>
            <a:r>
              <a:rPr lang="es-ES" sz="2000" b="0" i="0" u="none" strike="noStrike" baseline="0" dirty="0" err="1">
                <a:solidFill>
                  <a:srgbClr val="0000FF"/>
                </a:solidFill>
                <a:latin typeface="TeXGyrePagellaX-Regular"/>
              </a:rPr>
              <a:t>return</a:t>
            </a:r>
            <a:r>
              <a:rPr lang="es-ES" sz="2000" b="0" i="0" u="none" strike="noStrike" baseline="0" dirty="0">
                <a:solidFill>
                  <a:srgbClr val="0000FF"/>
                </a:solidFill>
                <a:latin typeface="TeXGyrePagellaX-Regular"/>
              </a:rPr>
              <a:t> </a:t>
            </a:r>
            <a:r>
              <a:rPr lang="es-ES" sz="2000" b="0" i="0" u="none" strike="noStrike" baseline="0" dirty="0">
                <a:solidFill>
                  <a:srgbClr val="333333"/>
                </a:solidFill>
                <a:latin typeface="TeXGyrePagellaX-Regular"/>
              </a:rPr>
              <a:t>True </a:t>
            </a:r>
            <a:r>
              <a:rPr lang="es-ES" sz="2000" b="0" i="0" u="none" strike="noStrike" baseline="0" dirty="0">
                <a:solidFill>
                  <a:srgbClr val="009A00"/>
                </a:solidFill>
                <a:latin typeface="TeXGyrePagellaX-Regular"/>
              </a:rPr>
              <a:t># Si es el mismo valor, lo encontramos .</a:t>
            </a:r>
          </a:p>
          <a:p>
            <a:pPr lvl="2"/>
            <a:r>
              <a:rPr lang="pt-BR" sz="2000" b="0" i="0" u="none" strike="noStrike" baseline="0" dirty="0">
                <a:solidFill>
                  <a:srgbClr val="0000FF"/>
                </a:solidFill>
                <a:latin typeface="TeXGyrePagellaX-Regular"/>
              </a:rPr>
              <a:t>elif </a:t>
            </a:r>
            <a:r>
              <a:rPr lang="pt-BR" sz="2000" b="0" i="0" u="none" strike="noStrike" baseline="0" dirty="0">
                <a:solidFill>
                  <a:srgbClr val="333333"/>
                </a:solidFill>
                <a:latin typeface="TeXGyrePagellaX-Regular"/>
              </a:rPr>
              <a:t>l [mid] &lt; t a r g e t :</a:t>
            </a:r>
          </a:p>
          <a:p>
            <a:pPr lvl="3"/>
            <a:r>
              <a:rPr lang="pt-BR" sz="2000" b="0" i="0" u="none" strike="noStrike" baseline="0" dirty="0">
                <a:solidFill>
                  <a:srgbClr val="333333"/>
                </a:solidFill>
                <a:latin typeface="TeXGyrePagellaX-Regular"/>
              </a:rPr>
              <a:t>low = mid+1 </a:t>
            </a:r>
            <a:r>
              <a:rPr lang="pt-BR" sz="2000" b="0" i="0" u="none" strike="noStrike" baseline="0" dirty="0">
                <a:solidFill>
                  <a:srgbClr val="009A00"/>
                </a:solidFill>
                <a:latin typeface="TeXGyrePagellaX-Regular"/>
              </a:rPr>
              <a:t># Descartamos valores menores a target</a:t>
            </a:r>
          </a:p>
          <a:p>
            <a:pPr lvl="2"/>
            <a:r>
              <a:rPr lang="pt-BR" sz="2000" b="0" i="0" u="none" strike="noStrike" baseline="0" dirty="0">
                <a:solidFill>
                  <a:srgbClr val="0000FF"/>
                </a:solidFill>
                <a:latin typeface="TeXGyrePagellaX-Regular"/>
              </a:rPr>
              <a:t>else</a:t>
            </a:r>
            <a:r>
              <a:rPr lang="pt-BR" sz="2000" b="0" i="0" u="none" strike="noStrike" baseline="0" dirty="0">
                <a:solidFill>
                  <a:srgbClr val="333333"/>
                </a:solidFill>
                <a:latin typeface="TeXGyrePagellaX-Regular"/>
              </a:rPr>
              <a:t>:</a:t>
            </a:r>
          </a:p>
          <a:p>
            <a:pPr lvl="2"/>
            <a:r>
              <a:rPr lang="pt-BR" sz="2000" dirty="0">
                <a:solidFill>
                  <a:srgbClr val="333333"/>
                </a:solidFill>
                <a:latin typeface="TeXGyrePagellaX-Regular"/>
              </a:rPr>
              <a:t>	</a:t>
            </a:r>
            <a:r>
              <a:rPr lang="pt-BR" sz="2000" b="0" i="0" u="none" strike="noStrike" baseline="0" dirty="0">
                <a:solidFill>
                  <a:srgbClr val="333333"/>
                </a:solidFill>
                <a:latin typeface="TeXGyrePagellaX-Regular"/>
              </a:rPr>
              <a:t>high = mid-1 </a:t>
            </a:r>
            <a:r>
              <a:rPr lang="pt-BR" sz="2000" b="0" i="0" u="none" strike="noStrike" baseline="0" dirty="0">
                <a:solidFill>
                  <a:srgbClr val="009A00"/>
                </a:solidFill>
                <a:latin typeface="TeXGyrePagellaX-Regular"/>
              </a:rPr>
              <a:t># Descartamos valores mayores a target</a:t>
            </a:r>
          </a:p>
          <a:p>
            <a:pPr lvl="2"/>
            <a:r>
              <a:rPr lang="en-US" sz="2000" b="0" i="0" u="none" strike="noStrike" baseline="0" dirty="0">
                <a:solidFill>
                  <a:srgbClr val="0000FF"/>
                </a:solidFill>
                <a:latin typeface="TeXGyrePagellaX-Regular"/>
              </a:rPr>
              <a:t>return </a:t>
            </a:r>
            <a:r>
              <a:rPr lang="en-US" sz="2000" b="0" i="0" u="none" strike="noStrike" baseline="0" dirty="0">
                <a:solidFill>
                  <a:srgbClr val="333333"/>
                </a:solidFill>
                <a:latin typeface="TeXGyrePagellaX-Regular"/>
              </a:rPr>
              <a:t>Fal s e </a:t>
            </a:r>
            <a:r>
              <a:rPr lang="en-US" sz="2000" b="0" i="0" u="none" strike="noStrike" baseline="0" dirty="0">
                <a:solidFill>
                  <a:srgbClr val="009A00"/>
                </a:solidFill>
                <a:latin typeface="TeXGyrePagellaX-Regular"/>
              </a:rPr>
              <a:t># </a:t>
            </a:r>
            <a:r>
              <a:rPr lang="en-US" sz="2000" b="0" i="0" u="none" strike="noStrike" baseline="0" dirty="0" err="1">
                <a:solidFill>
                  <a:srgbClr val="009A00"/>
                </a:solidFill>
                <a:latin typeface="TeXGyrePagellaX-Regular"/>
              </a:rPr>
              <a:t>Termino</a:t>
            </a:r>
            <a:r>
              <a:rPr lang="en-US" sz="2000" b="0" i="0" u="none" strike="noStrike" baseline="0" dirty="0">
                <a:solidFill>
                  <a:srgbClr val="009A00"/>
                </a:solidFill>
                <a:latin typeface="TeXGyrePagellaX-Regular"/>
              </a:rPr>
              <a:t> e l while , low &gt; high . target no </a:t>
            </a:r>
            <a:r>
              <a:rPr lang="en-US" sz="2000" b="0" i="0" u="none" strike="noStrike" baseline="0" dirty="0" err="1">
                <a:solidFill>
                  <a:srgbClr val="009A00"/>
                </a:solidFill>
                <a:latin typeface="TeXGyrePagellaX-Regular"/>
              </a:rPr>
              <a:t>esta</a:t>
            </a:r>
            <a:r>
              <a:rPr lang="en-US" sz="2000" b="0" i="0" u="none" strike="noStrike" baseline="0" dirty="0">
                <a:solidFill>
                  <a:srgbClr val="009A00"/>
                </a:solidFill>
                <a:latin typeface="TeXGyrePagellaX-Regular"/>
              </a:rPr>
              <a:t> </a:t>
            </a:r>
            <a:r>
              <a:rPr lang="en-US" sz="2000" b="0" i="0" u="none" strike="noStrike" baseline="0" dirty="0" err="1">
                <a:solidFill>
                  <a:srgbClr val="009A00"/>
                </a:solidFill>
                <a:latin typeface="TeXGyrePagellaX-Regular"/>
              </a:rPr>
              <a:t>en</a:t>
            </a:r>
            <a:r>
              <a:rPr lang="en-US" sz="2000" b="0" i="0" u="none" strike="noStrike" baseline="0" dirty="0">
                <a:solidFill>
                  <a:srgbClr val="009A00"/>
                </a:solidFill>
                <a:latin typeface="TeXGyrePagellaX-Regular"/>
              </a:rPr>
              <a:t> l 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1647</Words>
  <Application>Microsoft Office PowerPoint</Application>
  <PresentationFormat>On-screen Show (4:3)</PresentationFormat>
  <Paragraphs>190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Calibri</vt:lpstr>
      <vt:lpstr>Courier New</vt:lpstr>
      <vt:lpstr>Inconsolatazi4-Regular</vt:lpstr>
      <vt:lpstr>pxsys</vt:lpstr>
      <vt:lpstr>TeXGyrePagellaX-Bold</vt:lpstr>
      <vt:lpstr>TeXGyrePagellaX-Regular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Longas, Daniela</cp:lastModifiedBy>
  <cp:revision>9</cp:revision>
  <dcterms:created xsi:type="dcterms:W3CDTF">2013-01-27T09:14:16Z</dcterms:created>
  <dcterms:modified xsi:type="dcterms:W3CDTF">2026-02-12T15:32:03Z</dcterms:modified>
  <cp:category/>
</cp:coreProperties>
</file>