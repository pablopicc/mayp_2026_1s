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858000" cy="9144000"/>
  <p:embeddedFontLst>
    <p:embeddedFont>
      <p:font typeface="Inconsolata"/>
      <p:regular r:id="rId22"/>
      <p:bold r:id="rId23"/>
    </p:embeddedFont>
    <p:embeddedFont>
      <p:font typeface="Tahoma"/>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824F20-3975-442B-862C-1B1190EDF900}">
  <a:tblStyle styleId="{4B824F20-3975-442B-862C-1B1190EDF90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consolata-regular.fntdata"/><Relationship Id="rId21" Type="http://schemas.openxmlformats.org/officeDocument/2006/relationships/slide" Target="slides/slide15.xml"/><Relationship Id="rId24" Type="http://schemas.openxmlformats.org/officeDocument/2006/relationships/font" Target="fonts/Tahoma-regular.fntdata"/><Relationship Id="rId23" Type="http://schemas.openxmlformats.org/officeDocument/2006/relationships/font" Target="fonts/Inconsolat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Tahoma-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121" name="Google Shape;12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eb0b7c00b_0_6:notes"/>
          <p:cNvSpPr txBox="1"/>
          <p:nvPr>
            <p:ph idx="1" type="body"/>
          </p:nvPr>
        </p:nvSpPr>
        <p:spPr>
          <a:xfrm>
            <a:off x="685785" y="4343383"/>
            <a:ext cx="5486700" cy="4114800"/>
          </a:xfrm>
          <a:prstGeom prst="rect">
            <a:avLst/>
          </a:prstGeom>
          <a:noFill/>
          <a:ln>
            <a:noFill/>
          </a:ln>
        </p:spPr>
        <p:txBody>
          <a:bodyPr anchorCtr="0" anchor="t" bIns="171200" lIns="171200" spcFirstLastPara="1" rIns="171200" wrap="square" tIns="171200">
            <a:noAutofit/>
          </a:bodyPr>
          <a:lstStyle/>
          <a:p>
            <a:pPr indent="0" lvl="0" marL="0" rtl="0" algn="l">
              <a:lnSpc>
                <a:spcPct val="100000"/>
              </a:lnSpc>
              <a:spcBef>
                <a:spcPts val="0"/>
              </a:spcBef>
              <a:spcAft>
                <a:spcPts val="0"/>
              </a:spcAft>
              <a:buSzPts val="2100"/>
              <a:buNone/>
            </a:pPr>
            <a:r>
              <a:t/>
            </a:r>
            <a:endParaRPr/>
          </a:p>
        </p:txBody>
      </p:sp>
      <p:sp>
        <p:nvSpPr>
          <p:cNvPr id="133" name="Google Shape;133;g3beb0b7c00b_0_6:notes"/>
          <p:cNvSpPr/>
          <p:nvPr>
            <p:ph idx="2" type="sldImg"/>
          </p:nvPr>
        </p:nvSpPr>
        <p:spPr>
          <a:xfrm>
            <a:off x="1141124" y="685783"/>
            <a:ext cx="4576200" cy="3429000"/>
          </a:xfrm>
          <a:custGeom>
            <a:rect b="b" l="l" r="r" t="t"/>
            <a:pathLst>
              <a:path extrusionOk="0" h="120000" w="120000">
                <a:moveTo>
                  <a:pt x="0" y="0"/>
                </a:moveTo>
                <a:lnTo>
                  <a:pt x="120000" y="0"/>
                </a:lnTo>
                <a:lnTo>
                  <a:pt x="120000" y="120000"/>
                </a:lnTo>
                <a:lnTo>
                  <a:pt x="0" y="120000"/>
                </a:lnTo>
                <a:close/>
              </a:path>
            </a:pathLst>
          </a:custGeom>
          <a:noFill/>
          <a:ln cap="flat" cmpd="sng" w="178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beb0b7c00b_0_96:notes"/>
          <p:cNvSpPr txBox="1"/>
          <p:nvPr>
            <p:ph idx="1" type="body"/>
          </p:nvPr>
        </p:nvSpPr>
        <p:spPr>
          <a:xfrm>
            <a:off x="685785" y="4343383"/>
            <a:ext cx="5486700" cy="4114800"/>
          </a:xfrm>
          <a:prstGeom prst="rect">
            <a:avLst/>
          </a:prstGeom>
          <a:noFill/>
          <a:ln>
            <a:noFill/>
          </a:ln>
        </p:spPr>
        <p:txBody>
          <a:bodyPr anchorCtr="0" anchor="t" bIns="171200" lIns="171200" spcFirstLastPara="1" rIns="171200" wrap="square" tIns="171200">
            <a:noAutofit/>
          </a:bodyPr>
          <a:lstStyle/>
          <a:p>
            <a:pPr indent="0" lvl="0" marL="0" rtl="0" algn="l">
              <a:lnSpc>
                <a:spcPct val="100000"/>
              </a:lnSpc>
              <a:spcBef>
                <a:spcPts val="0"/>
              </a:spcBef>
              <a:spcAft>
                <a:spcPts val="0"/>
              </a:spcAft>
              <a:buSzPts val="2100"/>
              <a:buNone/>
            </a:pPr>
            <a:r>
              <a:t/>
            </a:r>
            <a:endParaRPr/>
          </a:p>
        </p:txBody>
      </p:sp>
      <p:sp>
        <p:nvSpPr>
          <p:cNvPr id="217" name="Google Shape;217;g3beb0b7c00b_0_96:notes"/>
          <p:cNvSpPr/>
          <p:nvPr>
            <p:ph idx="2" type="sldImg"/>
          </p:nvPr>
        </p:nvSpPr>
        <p:spPr>
          <a:xfrm>
            <a:off x="1141124" y="685783"/>
            <a:ext cx="4576200" cy="3429000"/>
          </a:xfrm>
          <a:custGeom>
            <a:rect b="b" l="l" r="r" t="t"/>
            <a:pathLst>
              <a:path extrusionOk="0" h="120000" w="120000">
                <a:moveTo>
                  <a:pt x="0" y="0"/>
                </a:moveTo>
                <a:lnTo>
                  <a:pt x="120000" y="0"/>
                </a:lnTo>
                <a:lnTo>
                  <a:pt x="120000" y="120000"/>
                </a:lnTo>
                <a:lnTo>
                  <a:pt x="0" y="120000"/>
                </a:lnTo>
                <a:close/>
              </a:path>
            </a:pathLst>
          </a:custGeom>
          <a:noFill/>
          <a:ln cap="flat" cmpd="sng" w="178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p:cSld name="Blank">
    <p:bg>
      <p:bgPr>
        <a:solidFill>
          <a:schemeClr val="lt1"/>
        </a:solidFill>
      </p:bgPr>
    </p:bg>
    <p:spTree>
      <p:nvGrpSpPr>
        <p:cNvPr id="84" name="Shape 84"/>
        <p:cNvGrpSpPr/>
        <p:nvPr/>
      </p:nvGrpSpPr>
      <p:grpSpPr>
        <a:xfrm>
          <a:off x="0" y="0"/>
          <a:ext cx="0" cy="0"/>
          <a:chOff x="0" y="0"/>
          <a:chExt cx="0" cy="0"/>
        </a:xfrm>
      </p:grpSpPr>
      <p:sp>
        <p:nvSpPr>
          <p:cNvPr id="85" name="Google Shape;85;p13"/>
          <p:cNvSpPr/>
          <p:nvPr/>
        </p:nvSpPr>
        <p:spPr>
          <a:xfrm>
            <a:off x="0" y="0"/>
            <a:ext cx="9135747" cy="6852123"/>
          </a:xfrm>
          <a:custGeom>
            <a:rect b="b" l="l" r="r" t="t"/>
            <a:pathLst>
              <a:path extrusionOk="0" h="3456304" w="4608195">
                <a:moveTo>
                  <a:pt x="4608004" y="0"/>
                </a:moveTo>
                <a:lnTo>
                  <a:pt x="0" y="0"/>
                </a:lnTo>
                <a:lnTo>
                  <a:pt x="0" y="3456000"/>
                </a:lnTo>
                <a:lnTo>
                  <a:pt x="4608004" y="3456000"/>
                </a:lnTo>
                <a:lnTo>
                  <a:pt x="4608004" y="0"/>
                </a:lnTo>
                <a:close/>
              </a:path>
            </a:pathLst>
          </a:custGeom>
          <a:solidFill>
            <a:srgbClr val="33333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86" name="Google Shape;86;p13"/>
          <p:cNvSpPr txBox="1"/>
          <p:nvPr>
            <p:ph idx="11" type="ftr"/>
          </p:nvPr>
        </p:nvSpPr>
        <p:spPr>
          <a:xfrm>
            <a:off x="3108960" y="6377939"/>
            <a:ext cx="2925900" cy="3429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2800"/>
              <a:buFont typeface="Arial"/>
              <a:buNone/>
              <a:defRPr b="0" i="0" sz="28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87" name="Google Shape;87;p13"/>
          <p:cNvSpPr txBox="1"/>
          <p:nvPr>
            <p:ph idx="10" type="dt"/>
          </p:nvPr>
        </p:nvSpPr>
        <p:spPr>
          <a:xfrm>
            <a:off x="457200" y="6377939"/>
            <a:ext cx="2103000" cy="342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2800"/>
              <a:buFont typeface="Arial"/>
              <a:buNone/>
              <a:defRPr b="0" i="0" sz="28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88" name="Google Shape;88;p13"/>
          <p:cNvSpPr txBox="1"/>
          <p:nvPr>
            <p:ph idx="12" type="sldNum"/>
          </p:nvPr>
        </p:nvSpPr>
        <p:spPr>
          <a:xfrm>
            <a:off x="8724559" y="6622449"/>
            <a:ext cx="302400" cy="153900"/>
          </a:xfrm>
          <a:prstGeom prst="rect">
            <a:avLst/>
          </a:prstGeom>
          <a:noFill/>
          <a:ln>
            <a:noFill/>
          </a:ln>
        </p:spPr>
        <p:txBody>
          <a:bodyPr anchorCtr="0" anchor="t" bIns="0" lIns="0" spcFirstLastPara="1" rIns="0" wrap="square" tIns="0">
            <a:spAutoFit/>
          </a:bodyPr>
          <a:lstStyle>
            <a:lvl1pPr indent="0" lvl="0"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1pPr>
            <a:lvl2pPr indent="0" lvl="1"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2pPr>
            <a:lvl3pPr indent="0" lvl="2"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3pPr>
            <a:lvl4pPr indent="0" lvl="3"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4pPr>
            <a:lvl5pPr indent="0" lvl="4"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5pPr>
            <a:lvl6pPr indent="0" lvl="5"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6pPr>
            <a:lvl7pPr indent="0" lvl="6"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7pPr>
            <a:lvl8pPr indent="0" lvl="7"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8pPr>
            <a:lvl9pPr indent="0" lvl="8" marL="139700" marR="0" algn="r">
              <a:lnSpc>
                <a:spcPct val="100000"/>
              </a:lnSpc>
              <a:spcBef>
                <a:spcPts val="0"/>
              </a:spcBef>
              <a:spcAft>
                <a:spcPts val="0"/>
              </a:spcAft>
              <a:buClr>
                <a:srgbClr val="000000"/>
              </a:buClr>
              <a:buSzPts val="1000"/>
              <a:buFont typeface="Arial"/>
              <a:buNone/>
              <a:defRPr b="0" i="0" sz="1000" u="none" cap="none" strike="noStrike">
                <a:solidFill>
                  <a:srgbClr val="333333"/>
                </a:solidFill>
                <a:latin typeface="Times New Roman"/>
                <a:ea typeface="Times New Roman"/>
                <a:cs typeface="Times New Roman"/>
                <a:sym typeface="Times New Roman"/>
              </a:defRPr>
            </a:lvl9pPr>
          </a:lstStyle>
          <a:p>
            <a:pPr indent="0" lvl="0" marL="139700" rtl="0" algn="r">
              <a:spcBef>
                <a:spcPts val="0"/>
              </a:spcBef>
              <a:spcAft>
                <a:spcPts val="0"/>
              </a:spcAft>
              <a:buNone/>
            </a:pPr>
            <a:fld id="{00000000-1234-1234-1234-123412341234}" type="slidenum">
              <a:rPr lang="en-US"/>
              <a:t>‹#›</a:t>
            </a:fld>
            <a:endParaRPr sz="1200">
              <a:solidFill>
                <a:schemeClr val="dk2"/>
              </a:solidFill>
              <a:latin typeface="Arial"/>
              <a:ea typeface="Arial"/>
              <a:cs typeface="Arial"/>
              <a:sym typeface="Arial"/>
            </a:endParaRPr>
          </a:p>
        </p:txBody>
      </p:sp>
      <p:sp>
        <p:nvSpPr>
          <p:cNvPr id="89" name="Google Shape;89;p13"/>
          <p:cNvSpPr/>
          <p:nvPr/>
        </p:nvSpPr>
        <p:spPr>
          <a:xfrm flipH="1" rot="10800000">
            <a:off x="-16364" y="6294231"/>
            <a:ext cx="9176700" cy="328200"/>
          </a:xfrm>
          <a:prstGeom prst="rect">
            <a:avLst/>
          </a:prstGeom>
          <a:solidFill>
            <a:srgbClr val="2D2D2D"/>
          </a:solidFill>
          <a:ln>
            <a:noFill/>
          </a:ln>
          <a:effectLst>
            <a:outerShdw blurRad="79315" rotWithShape="0" dir="5400000" dist="45606">
              <a:srgbClr val="000000">
                <a:alpha val="34510"/>
              </a:srgbClr>
            </a:outerShdw>
          </a:effectLst>
        </p:spPr>
        <p:txBody>
          <a:bodyPr anchorCtr="0" anchor="ctr" bIns="90625" lIns="181275" spcFirstLastPara="1" rIns="181275" wrap="square" tIns="90625">
            <a:noAutofit/>
          </a:bodyPr>
          <a:lstStyle/>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Calibri"/>
              <a:ea typeface="Calibri"/>
              <a:cs typeface="Calibri"/>
              <a:sym typeface="Calibri"/>
            </a:endParaRPr>
          </a:p>
        </p:txBody>
      </p:sp>
      <p:sp>
        <p:nvSpPr>
          <p:cNvPr id="90" name="Google Shape;90;p13"/>
          <p:cNvSpPr txBox="1"/>
          <p:nvPr/>
        </p:nvSpPr>
        <p:spPr>
          <a:xfrm>
            <a:off x="151240" y="6343001"/>
            <a:ext cx="1588800" cy="221400"/>
          </a:xfrm>
          <a:prstGeom prst="rect">
            <a:avLst/>
          </a:prstGeom>
          <a:noFill/>
          <a:ln>
            <a:noFill/>
          </a:ln>
        </p:spPr>
        <p:txBody>
          <a:bodyPr anchorCtr="0" anchor="t" bIns="0" lIns="0" spcFirstLastPara="1" rIns="0" wrap="square" tIns="36475">
            <a:spAutoFit/>
          </a:bodyPr>
          <a:lstStyle/>
          <a:p>
            <a:pPr indent="0" lvl="0" marL="0" marR="0" rtl="0" algn="l">
              <a:lnSpc>
                <a:spcPct val="100000"/>
              </a:lnSpc>
              <a:spcBef>
                <a:spcPts val="0"/>
              </a:spcBef>
              <a:spcAft>
                <a:spcPts val="0"/>
              </a:spcAft>
              <a:buClr>
                <a:srgbClr val="000000"/>
              </a:buClr>
              <a:buSzPts val="5600"/>
              <a:buFont typeface="Arial"/>
              <a:buNone/>
            </a:pPr>
            <a:r>
              <a:rPr b="0" i="0" lang="en-US" sz="1200" u="none" cap="none" strike="noStrike">
                <a:solidFill>
                  <a:schemeClr val="lt1"/>
                </a:solidFill>
                <a:latin typeface="Calibri"/>
                <a:ea typeface="Calibri"/>
                <a:cs typeface="Calibri"/>
                <a:sym typeface="Calibri"/>
              </a:rPr>
              <a:t>Pablo J Piccoli Bornia</a:t>
            </a:r>
            <a:endParaRPr b="0" i="0" sz="600" u="none" cap="none" strike="noStrike">
              <a:solidFill>
                <a:schemeClr val="lt1"/>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nvSpPr>
        <p:spPr>
          <a:xfrm>
            <a:off x="274320" y="137160"/>
            <a:ext cx="4572000" cy="274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323232"/>
                </a:solidFill>
                <a:latin typeface="Calibri"/>
                <a:ea typeface="Calibri"/>
                <a:cs typeface="Calibri"/>
                <a:sym typeface="Calibri"/>
              </a:rPr>
              <a:t>Métodos Analíticos y Programación</a:t>
            </a:r>
            <a:endParaRPr/>
          </a:p>
        </p:txBody>
      </p:sp>
      <p:sp>
        <p:nvSpPr>
          <p:cNvPr id="96" name="Google Shape;96;p14"/>
          <p:cNvSpPr txBox="1"/>
          <p:nvPr/>
        </p:nvSpPr>
        <p:spPr>
          <a:xfrm>
            <a:off x="1035425" y="1813492"/>
            <a:ext cx="5477846"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323232"/>
                </a:solidFill>
                <a:latin typeface="Calibri"/>
                <a:ea typeface="Calibri"/>
                <a:cs typeface="Calibri"/>
                <a:sym typeface="Calibri"/>
              </a:rPr>
              <a:t>Clase 10: ALGORITMOS DE BÚSQUEDA</a:t>
            </a:r>
            <a:endParaRPr/>
          </a:p>
        </p:txBody>
      </p:sp>
      <p:sp>
        <p:nvSpPr>
          <p:cNvPr id="97" name="Google Shape;97;p14"/>
          <p:cNvSpPr txBox="1"/>
          <p:nvPr/>
        </p:nvSpPr>
        <p:spPr>
          <a:xfrm>
            <a:off x="1035425" y="3707947"/>
            <a:ext cx="8496300" cy="520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D2D2D"/>
                </a:solidFill>
                <a:latin typeface="Calibri"/>
                <a:ea typeface="Calibri"/>
                <a:cs typeface="Calibri"/>
                <a:sym typeface="Calibri"/>
              </a:rPr>
              <a:t>Profesor: Pablo J Piccoli Bornia</a:t>
            </a:r>
            <a:endParaRPr b="0" i="0" sz="1400" u="none" cap="none" strike="noStrike">
              <a:solidFill>
                <a:srgbClr val="000000"/>
              </a:solidFill>
              <a:latin typeface="Arial"/>
              <a:ea typeface="Arial"/>
              <a:cs typeface="Arial"/>
              <a:sym typeface="Arial"/>
            </a:endParaRPr>
          </a:p>
        </p:txBody>
      </p:sp>
      <p:sp>
        <p:nvSpPr>
          <p:cNvPr id="98" name="Google Shape;98;p14"/>
          <p:cNvSpPr txBox="1"/>
          <p:nvPr/>
        </p:nvSpPr>
        <p:spPr>
          <a:xfrm>
            <a:off x="1035425" y="4307280"/>
            <a:ext cx="5965271"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2D2D2D"/>
                </a:solidFill>
                <a:latin typeface="Calibri"/>
                <a:ea typeface="Calibri"/>
                <a:cs typeface="Calibri"/>
                <a:sym typeface="Calibri"/>
              </a:rPr>
              <a:t>Auxiliares: Daniela Longas - M Victoria Tolosa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15"/>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15"/>
          <p:cNvSpPr txBox="1"/>
          <p:nvPr/>
        </p:nvSpPr>
        <p:spPr>
          <a:xfrm>
            <a:off x="274320" y="6537960"/>
            <a:ext cx="1313180"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000" u="none" cap="none" strike="noStrike">
                <a:solidFill>
                  <a:srgbClr val="FFFFFF"/>
                </a:solidFill>
                <a:latin typeface="Calibri"/>
                <a:ea typeface="Calibri"/>
                <a:cs typeface="Calibri"/>
                <a:sym typeface="Calibri"/>
              </a:rPr>
              <a:t>Pablo J Piccoli Bornia</a:t>
            </a:r>
            <a:endParaRPr b="0" i="0" sz="1800" u="none" cap="none" strike="noStrike">
              <a:solidFill>
                <a:schemeClr val="dk1"/>
              </a:solidFill>
              <a:latin typeface="Calibri"/>
              <a:ea typeface="Calibri"/>
              <a:cs typeface="Calibri"/>
              <a:sym typeface="Calibri"/>
            </a:endParaRPr>
          </a:p>
        </p:txBody>
      </p:sp>
      <p:sp>
        <p:nvSpPr>
          <p:cNvPr id="106" name="Google Shape;106;p15"/>
          <p:cNvSpPr txBox="1"/>
          <p:nvPr/>
        </p:nvSpPr>
        <p:spPr>
          <a:xfrm>
            <a:off x="365760" y="731520"/>
            <a:ext cx="822960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600" u="none" cap="none" strike="noStrike">
                <a:solidFill>
                  <a:srgbClr val="323232"/>
                </a:solidFill>
                <a:latin typeface="Calibri"/>
                <a:ea typeface="Calibri"/>
                <a:cs typeface="Calibri"/>
                <a:sym typeface="Calibri"/>
              </a:rPr>
              <a:t>Outline</a:t>
            </a:r>
            <a:endParaRPr/>
          </a:p>
        </p:txBody>
      </p:sp>
      <p:sp>
        <p:nvSpPr>
          <p:cNvPr id="107" name="Google Shape;107;p15"/>
          <p:cNvSpPr txBox="1"/>
          <p:nvPr/>
        </p:nvSpPr>
        <p:spPr>
          <a:xfrm>
            <a:off x="914400" y="1828800"/>
            <a:ext cx="5486400" cy="274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1. Búsqueda secuencial</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2. Búsqueda binaria</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3. Ejercicios</a:t>
            </a:r>
            <a:endParaRPr sz="1800">
              <a:solidFill>
                <a:schemeClr val="dk1"/>
              </a:solidFill>
              <a:latin typeface="Calibri"/>
              <a:ea typeface="Calibri"/>
              <a:cs typeface="Calibri"/>
              <a:sym typeface="Calibri"/>
            </a:endParaRPr>
          </a:p>
        </p:txBody>
      </p:sp>
      <p:sp>
        <p:nvSpPr>
          <p:cNvPr id="108" name="Google Shape;108;p15"/>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16"/>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di_tella2.png" id="115" name="Google Shape;115;p16"/>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116" name="Google Shape;116;p16"/>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117" name="Google Shape;117;p16"/>
          <p:cNvSpPr txBox="1"/>
          <p:nvPr/>
        </p:nvSpPr>
        <p:spPr>
          <a:xfrm>
            <a:off x="177800" y="65136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18" name="Google Shape;118;p16"/>
          <p:cNvSpPr txBox="1"/>
          <p:nvPr/>
        </p:nvSpPr>
        <p:spPr>
          <a:xfrm>
            <a:off x="254000" y="1120675"/>
            <a:ext cx="8475932"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strike="noStrike">
                <a:solidFill>
                  <a:srgbClr val="333333"/>
                </a:solidFill>
                <a:latin typeface="Arial"/>
                <a:ea typeface="Arial"/>
                <a:cs typeface="Arial"/>
                <a:sym typeface="Arial"/>
              </a:rPr>
              <a:t>A partir de ahora vamos a hacer (más) foco en:</a:t>
            </a:r>
            <a:endParaRPr/>
          </a:p>
          <a:p>
            <a:pPr indent="0" lvl="0" marL="0" marR="0" rtl="0" algn="l">
              <a:spcBef>
                <a:spcPts val="0"/>
              </a:spcBef>
              <a:spcAft>
                <a:spcPts val="0"/>
              </a:spcAft>
              <a:buNone/>
            </a:pPr>
            <a:r>
              <a:t/>
            </a:r>
            <a:endParaRPr b="0" i="0" sz="1800" u="none" strike="noStrike">
              <a:solidFill>
                <a:srgbClr val="333333"/>
              </a:solidFill>
              <a:latin typeface="Arial"/>
              <a:ea typeface="Arial"/>
              <a:cs typeface="Arial"/>
              <a:sym typeface="Arial"/>
            </a:endParaRPr>
          </a:p>
          <a:p>
            <a:pPr indent="-285750" lvl="0" marL="285750" marR="0" rtl="0" algn="l">
              <a:spcBef>
                <a:spcPts val="0"/>
              </a:spcBef>
              <a:spcAft>
                <a:spcPts val="0"/>
              </a:spcAft>
              <a:buClr>
                <a:srgbClr val="333333"/>
              </a:buClr>
              <a:buSzPts val="1800"/>
              <a:buFont typeface="Arial"/>
              <a:buChar char="•"/>
            </a:pPr>
            <a:r>
              <a:rPr b="0" i="0" lang="en-US" sz="1800" u="none" strike="noStrike">
                <a:solidFill>
                  <a:srgbClr val="333333"/>
                </a:solidFill>
                <a:latin typeface="Arial"/>
                <a:ea typeface="Arial"/>
                <a:cs typeface="Arial"/>
                <a:sym typeface="Arial"/>
              </a:rPr>
              <a:t>resolución de problemas (usando la computadora),</a:t>
            </a:r>
            <a:endParaRPr/>
          </a:p>
          <a:p>
            <a:pPr indent="-285750" lvl="0" marL="285750" marR="0" rtl="0" algn="l">
              <a:spcBef>
                <a:spcPts val="0"/>
              </a:spcBef>
              <a:spcAft>
                <a:spcPts val="0"/>
              </a:spcAft>
              <a:buClr>
                <a:srgbClr val="333333"/>
              </a:buClr>
              <a:buSzPts val="1800"/>
              <a:buFont typeface="Arial"/>
              <a:buChar char="•"/>
            </a:pPr>
            <a:r>
              <a:rPr b="0" i="0" lang="en-US" sz="1800" u="none" strike="noStrike">
                <a:solidFill>
                  <a:srgbClr val="333333"/>
                </a:solidFill>
                <a:latin typeface="Arial"/>
                <a:ea typeface="Arial"/>
                <a:cs typeface="Arial"/>
                <a:sym typeface="Arial"/>
              </a:rPr>
              <a:t>abstraer y generalizar conceptos,</a:t>
            </a:r>
            <a:endParaRPr/>
          </a:p>
          <a:p>
            <a:pPr indent="-285750" lvl="0" marL="285750" marR="0" rtl="0" algn="l">
              <a:spcBef>
                <a:spcPts val="0"/>
              </a:spcBef>
              <a:spcAft>
                <a:spcPts val="0"/>
              </a:spcAft>
              <a:buClr>
                <a:srgbClr val="333333"/>
              </a:buClr>
              <a:buSzPts val="1800"/>
              <a:buFont typeface="Arial"/>
              <a:buChar char="•"/>
            </a:pPr>
            <a:r>
              <a:rPr b="0" i="0" lang="en-US" sz="1800" u="none" strike="noStrike">
                <a:solidFill>
                  <a:srgbClr val="333333"/>
                </a:solidFill>
                <a:latin typeface="Arial"/>
                <a:ea typeface="Arial"/>
                <a:cs typeface="Arial"/>
                <a:sym typeface="Arial"/>
              </a:rPr>
              <a:t>concentrarnos en las ideas (que luego se convertirán en código),</a:t>
            </a:r>
            <a:endParaRPr/>
          </a:p>
          <a:p>
            <a:pPr indent="-285750" lvl="0" marL="285750" marR="0" rtl="0" algn="l">
              <a:spcBef>
                <a:spcPts val="0"/>
              </a:spcBef>
              <a:spcAft>
                <a:spcPts val="0"/>
              </a:spcAft>
              <a:buClr>
                <a:srgbClr val="333333"/>
              </a:buClr>
              <a:buSzPts val="1800"/>
              <a:buFont typeface="Arial"/>
              <a:buChar char="•"/>
            </a:pPr>
            <a:r>
              <a:rPr b="0" i="0" lang="en-US" sz="1800" u="none" strike="noStrike">
                <a:solidFill>
                  <a:srgbClr val="333333"/>
                </a:solidFill>
                <a:latin typeface="Arial"/>
                <a:ea typeface="Arial"/>
                <a:cs typeface="Arial"/>
                <a:sym typeface="Arial"/>
              </a:rPr>
              <a:t>algorithmic thinking,</a:t>
            </a:r>
            <a:endParaRPr/>
          </a:p>
          <a:p>
            <a:pPr indent="-171450" lvl="0" marL="285750" marR="0" rtl="0" algn="l">
              <a:spcBef>
                <a:spcPts val="0"/>
              </a:spcBef>
              <a:spcAft>
                <a:spcPts val="0"/>
              </a:spcAft>
              <a:buClr>
                <a:schemeClr val="dk1"/>
              </a:buClr>
              <a:buSzPts val="1800"/>
              <a:buFont typeface="Arial"/>
              <a:buNone/>
            </a:pPr>
            <a:r>
              <a:t/>
            </a:r>
            <a:endParaRPr b="0" i="0" sz="1800" u="none" strike="noStrike">
              <a:solidFill>
                <a:srgbClr val="333333"/>
              </a:solidFill>
              <a:latin typeface="Arial"/>
              <a:ea typeface="Arial"/>
              <a:cs typeface="Arial"/>
              <a:sym typeface="Arial"/>
            </a:endParaRPr>
          </a:p>
          <a:p>
            <a:pPr indent="0" lvl="0" marL="0" marR="0" rtl="0" algn="l">
              <a:spcBef>
                <a:spcPts val="0"/>
              </a:spcBef>
              <a:spcAft>
                <a:spcPts val="0"/>
              </a:spcAft>
              <a:buNone/>
            </a:pPr>
            <a:r>
              <a:rPr b="0" i="0" lang="en-US" sz="1800" u="none" strike="noStrike">
                <a:solidFill>
                  <a:srgbClr val="333333"/>
                </a:solidFill>
                <a:latin typeface="Arial"/>
                <a:ea typeface="Arial"/>
                <a:cs typeface="Arial"/>
                <a:sym typeface="Arial"/>
              </a:rPr>
              <a:t>siempre con aplicaciones.</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7"/>
          <p:cNvSpPr/>
          <p:nvPr/>
        </p:nvSpPr>
        <p:spPr>
          <a:xfrm>
            <a:off x="0" y="0"/>
            <a:ext cx="9144000" cy="571500"/>
          </a:xfrm>
          <a:prstGeom prst="rect">
            <a:avLst/>
          </a:prstGeom>
          <a:solidFill>
            <a:srgbClr val="FFDC64"/>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 name="Google Shape;124;p17"/>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pic>
        <p:nvPicPr>
          <p:cNvPr descr="di_tella2.png" id="125" name="Google Shape;125;p17"/>
          <p:cNvPicPr preferRelativeResize="0"/>
          <p:nvPr/>
        </p:nvPicPr>
        <p:blipFill rotWithShape="1">
          <a:blip r:embed="rId3">
            <a:alphaModFix/>
          </a:blip>
          <a:srcRect b="0" l="0" r="0" t="0"/>
          <a:stretch/>
        </p:blipFill>
        <p:spPr>
          <a:xfrm>
            <a:off x="8221450" y="31750"/>
            <a:ext cx="818650" cy="508001"/>
          </a:xfrm>
          <a:prstGeom prst="rect">
            <a:avLst/>
          </a:prstGeom>
          <a:noFill/>
          <a:ln>
            <a:noFill/>
          </a:ln>
        </p:spPr>
      </p:pic>
      <p:sp>
        <p:nvSpPr>
          <p:cNvPr id="126" name="Google Shape;126;p17"/>
          <p:cNvSpPr/>
          <p:nvPr/>
        </p:nvSpPr>
        <p:spPr>
          <a:xfrm>
            <a:off x="0" y="6286500"/>
            <a:ext cx="9144000" cy="384048"/>
          </a:xfrm>
          <a:prstGeom prst="rect">
            <a:avLst/>
          </a:prstGeom>
          <a:solidFill>
            <a:srgbClr val="2D2D2D"/>
          </a:solidFill>
          <a:ln>
            <a:noFill/>
          </a:ln>
          <a:effectLst>
            <a:outerShdw blurRad="40000" rotWithShape="0" dir="5400000" dist="23000">
              <a:srgbClr val="00000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17"/>
          <p:cNvSpPr txBox="1"/>
          <p:nvPr/>
        </p:nvSpPr>
        <p:spPr>
          <a:xfrm>
            <a:off x="254000" y="8509000"/>
            <a:ext cx="5715000" cy="17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28" name="Google Shape;128;p17"/>
          <p:cNvSpPr txBox="1"/>
          <p:nvPr/>
        </p:nvSpPr>
        <p:spPr>
          <a:xfrm>
            <a:off x="177800" y="6375400"/>
            <a:ext cx="5715000" cy="17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29" name="Google Shape;129;p17"/>
          <p:cNvSpPr txBox="1"/>
          <p:nvPr/>
        </p:nvSpPr>
        <p:spPr>
          <a:xfrm>
            <a:off x="160200" y="742841"/>
            <a:ext cx="8508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lang="en-US" sz="2800">
                <a:solidFill>
                  <a:srgbClr val="2D2D2D"/>
                </a:solidFill>
                <a:latin typeface="Calibri"/>
                <a:ea typeface="Calibri"/>
                <a:cs typeface="Calibri"/>
                <a:sym typeface="Calibri"/>
              </a:rPr>
              <a:t>Ejercicio</a:t>
            </a:r>
            <a:endParaRPr b="0" i="0" sz="1400" u="none" cap="none" strike="noStrike">
              <a:solidFill>
                <a:srgbClr val="000000"/>
              </a:solidFill>
              <a:latin typeface="Arial"/>
              <a:ea typeface="Arial"/>
              <a:cs typeface="Arial"/>
              <a:sym typeface="Arial"/>
            </a:endParaRPr>
          </a:p>
        </p:txBody>
      </p:sp>
      <p:sp>
        <p:nvSpPr>
          <p:cNvPr id="130" name="Google Shape;130;p17"/>
          <p:cNvSpPr txBox="1"/>
          <p:nvPr/>
        </p:nvSpPr>
        <p:spPr>
          <a:xfrm>
            <a:off x="210800" y="1213008"/>
            <a:ext cx="8829300" cy="467820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Implementar la función busqueda_secuencial que toma una lista, un elemento (del tipo de la lista) y devuelve </a:t>
            </a:r>
            <a:r>
              <a:rPr i="1" lang="en-US" sz="1800">
                <a:solidFill>
                  <a:schemeClr val="dk1"/>
                </a:solidFill>
                <a:latin typeface="Calibri"/>
                <a:ea typeface="Calibri"/>
                <a:cs typeface="Calibri"/>
                <a:sym typeface="Calibri"/>
              </a:rPr>
              <a:t>True</a:t>
            </a:r>
            <a:r>
              <a:rPr lang="en-US" sz="1800">
                <a:solidFill>
                  <a:schemeClr val="dk1"/>
                </a:solidFill>
                <a:latin typeface="Calibri"/>
                <a:ea typeface="Calibri"/>
                <a:cs typeface="Calibri"/>
                <a:sym typeface="Calibri"/>
              </a:rPr>
              <a:t> si el elemento está en la lista y </a:t>
            </a:r>
            <a:r>
              <a:rPr i="1" lang="en-US" sz="1800">
                <a:solidFill>
                  <a:schemeClr val="dk1"/>
                </a:solidFill>
                <a:latin typeface="Calibri"/>
                <a:ea typeface="Calibri"/>
                <a:cs typeface="Calibri"/>
                <a:sym typeface="Calibri"/>
              </a:rPr>
              <a:t>False</a:t>
            </a:r>
            <a:r>
              <a:rPr lang="en-US" sz="1800">
                <a:solidFill>
                  <a:schemeClr val="dk1"/>
                </a:solidFill>
                <a:latin typeface="Calibri"/>
                <a:ea typeface="Calibri"/>
                <a:cs typeface="Calibri"/>
                <a:sym typeface="Calibri"/>
              </a:rPr>
              <a:t> en caso contrario.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ourier New"/>
                <a:ea typeface="Courier New"/>
                <a:cs typeface="Courier New"/>
                <a:sym typeface="Courier New"/>
              </a:rPr>
              <a:t>def busqueda_secuencial(l,elem):</a:t>
            </a:r>
            <a:endParaRPr/>
          </a:p>
          <a:p>
            <a:pPr indent="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for x in l :</a:t>
            </a:r>
            <a:endParaRPr/>
          </a:p>
          <a:p>
            <a:pPr indent="0" lvl="2" marL="9144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if x == elem:</a:t>
            </a:r>
            <a:endParaRPr/>
          </a:p>
          <a:p>
            <a:pPr indent="0" lvl="2" marL="9144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	return True</a:t>
            </a:r>
            <a:endParaRPr/>
          </a:p>
          <a:p>
            <a:pPr indent="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return False</a:t>
            </a:r>
            <a:endParaRPr/>
          </a:p>
          <a:p>
            <a:pPr indent="0" lvl="1" marL="457200" marR="0" rtl="0" algn="l">
              <a:spcBef>
                <a:spcPts val="0"/>
              </a:spcBef>
              <a:spcAft>
                <a:spcPts val="0"/>
              </a:spcAft>
              <a:buNone/>
            </a:pPr>
            <a:r>
              <a:t/>
            </a:r>
            <a:endParaRPr b="0" i="0" sz="1600" u="none" cap="none" strike="noStrike">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600">
                <a:solidFill>
                  <a:schemeClr val="dk1"/>
                </a:solidFill>
                <a:latin typeface="Courier New"/>
                <a:ea typeface="Courier New"/>
                <a:cs typeface="Courier New"/>
                <a:sym typeface="Courier New"/>
              </a:rPr>
              <a:t>def main():</a:t>
            </a:r>
            <a:endParaRPr/>
          </a:p>
          <a:p>
            <a:pPr indent="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l = [15,35,40,2,34,28,50]</a:t>
            </a:r>
            <a:endParaRPr/>
          </a:p>
          <a:p>
            <a:pPr indent="0" lvl="1" marL="457200" marR="0" rtl="0" algn="l">
              <a:spcBef>
                <a:spcPts val="0"/>
              </a:spcBef>
              <a:spcAft>
                <a:spcPts val="0"/>
              </a:spcAft>
              <a:buNone/>
            </a:pPr>
            <a:r>
              <a:rPr b="0" i="0" lang="en-US" sz="1600" u="none" cap="none" strike="noStrike">
                <a:solidFill>
                  <a:schemeClr val="dk1"/>
                </a:solidFill>
                <a:latin typeface="Courier New"/>
                <a:ea typeface="Courier New"/>
                <a:cs typeface="Courier New"/>
                <a:sym typeface="Courier New"/>
              </a:rPr>
              <a:t>busqueda_secuencial(l,35)</a:t>
            </a:r>
            <a:endParaRPr/>
          </a:p>
          <a:p>
            <a:pPr indent="0" lvl="0" marL="0" marR="0" rtl="0" algn="l">
              <a:spcBef>
                <a:spcPts val="0"/>
              </a:spcBef>
              <a:spcAft>
                <a:spcPts val="0"/>
              </a:spcAft>
              <a:buNone/>
            </a:pPr>
            <a:r>
              <a:t/>
            </a:r>
            <a:endParaRPr sz="1600">
              <a:solidFill>
                <a:schemeClr val="dk1"/>
              </a:solidFill>
              <a:latin typeface="Courier New"/>
              <a:ea typeface="Courier New"/>
              <a:cs typeface="Courier New"/>
              <a:sym typeface="Courier New"/>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Algunas preguntas: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Cuántas elementos tiene que revisar el algoritmo?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Cuál es el </a:t>
            </a:r>
            <a:r>
              <a:rPr i="1" lang="en-US" sz="1800">
                <a:solidFill>
                  <a:schemeClr val="dk1"/>
                </a:solidFill>
                <a:latin typeface="Calibri"/>
                <a:ea typeface="Calibri"/>
                <a:cs typeface="Calibri"/>
                <a:sym typeface="Calibri"/>
              </a:rPr>
              <a:t>peor caso </a:t>
            </a:r>
            <a:r>
              <a:rPr lang="en-US" sz="1800">
                <a:solidFill>
                  <a:schemeClr val="dk1"/>
                </a:solidFill>
                <a:latin typeface="Calibri"/>
                <a:ea typeface="Calibri"/>
                <a:cs typeface="Calibri"/>
                <a:sym typeface="Calibri"/>
              </a:rPr>
              <a:t>de comparaciones que debe realizar?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Si la lista l estuviera ordenada de menor a mayor, podemos reutilizar la función anterior? Podemos </a:t>
            </a:r>
            <a:r>
              <a:rPr i="1" lang="en-US" sz="1800">
                <a:solidFill>
                  <a:schemeClr val="dk1"/>
                </a:solidFill>
                <a:latin typeface="Calibri"/>
                <a:ea typeface="Calibri"/>
                <a:cs typeface="Calibri"/>
                <a:sym typeface="Calibri"/>
              </a:rPr>
              <a:t>aprovechar </a:t>
            </a:r>
            <a:r>
              <a:rPr lang="en-US" sz="1800">
                <a:solidFill>
                  <a:schemeClr val="dk1"/>
                </a:solidFill>
                <a:latin typeface="Calibri"/>
                <a:ea typeface="Calibri"/>
                <a:cs typeface="Calibri"/>
                <a:sym typeface="Calibri"/>
              </a:rPr>
              <a:t>esta propiedad?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nvSpPr>
        <p:spPr>
          <a:xfrm>
            <a:off x="2240672" y="3207687"/>
            <a:ext cx="3676800" cy="361500"/>
          </a:xfrm>
          <a:prstGeom prst="rect">
            <a:avLst/>
          </a:prstGeom>
          <a:noFill/>
          <a:ln>
            <a:noFill/>
          </a:ln>
        </p:spPr>
        <p:txBody>
          <a:bodyPr anchorCtr="0" anchor="t" bIns="0" lIns="0" spcFirstLastPara="1" rIns="0" wrap="square" tIns="22650">
            <a:spAutoFit/>
          </a:bodyPr>
          <a:lstStyle/>
          <a:p>
            <a:pPr indent="0" lvl="0" marL="25400" marR="0" rtl="0" algn="l">
              <a:lnSpc>
                <a:spcPct val="100000"/>
              </a:lnSpc>
              <a:spcBef>
                <a:spcPts val="0"/>
              </a:spcBef>
              <a:spcAft>
                <a:spcPts val="0"/>
              </a:spcAft>
              <a:buClr>
                <a:srgbClr val="000000"/>
              </a:buClr>
              <a:buSzPts val="2200"/>
              <a:buFont typeface="Arial"/>
              <a:buNone/>
            </a:pPr>
            <a:r>
              <a:rPr lang="en-US" sz="2200" cap="small">
                <a:solidFill>
                  <a:srgbClr val="F4F2ED"/>
                </a:solidFill>
                <a:latin typeface="Tahoma"/>
                <a:ea typeface="Tahoma"/>
                <a:cs typeface="Tahoma"/>
                <a:sym typeface="Tahoma"/>
              </a:rPr>
              <a:t>BÚSQUEDA BINARIA</a:t>
            </a:r>
            <a:endParaRPr b="0" i="0" sz="2200" u="none" cap="none" strike="noStrike">
              <a:solidFill>
                <a:srgbClr val="000000"/>
              </a:solidFill>
              <a:latin typeface="Tahoma"/>
              <a:ea typeface="Tahoma"/>
              <a:cs typeface="Tahoma"/>
              <a:sym typeface="Tahoma"/>
            </a:endParaRPr>
          </a:p>
        </p:txBody>
      </p:sp>
      <p:grpSp>
        <p:nvGrpSpPr>
          <p:cNvPr id="136" name="Google Shape;136;p18"/>
          <p:cNvGrpSpPr/>
          <p:nvPr/>
        </p:nvGrpSpPr>
        <p:grpSpPr>
          <a:xfrm>
            <a:off x="2260855" y="3600041"/>
            <a:ext cx="4642600" cy="50335"/>
            <a:chOff x="1133919" y="1518500"/>
            <a:chExt cx="2340610" cy="25400"/>
          </a:xfrm>
        </p:grpSpPr>
        <p:sp>
          <p:nvSpPr>
            <p:cNvPr id="137" name="Google Shape;137;p18"/>
            <p:cNvSpPr/>
            <p:nvPr/>
          </p:nvSpPr>
          <p:spPr>
            <a:xfrm>
              <a:off x="1133919" y="1518500"/>
              <a:ext cx="2340610" cy="25400"/>
            </a:xfrm>
            <a:custGeom>
              <a:rect b="b" l="l" r="r" t="t"/>
              <a:pathLst>
                <a:path extrusionOk="0" h="25400" w="2340610">
                  <a:moveTo>
                    <a:pt x="0" y="25305"/>
                  </a:moveTo>
                  <a:lnTo>
                    <a:pt x="0" y="0"/>
                  </a:lnTo>
                  <a:lnTo>
                    <a:pt x="2340180" y="0"/>
                  </a:lnTo>
                  <a:lnTo>
                    <a:pt x="2340180" y="25305"/>
                  </a:lnTo>
                  <a:lnTo>
                    <a:pt x="0" y="25305"/>
                  </a:lnTo>
                  <a:close/>
                </a:path>
              </a:pathLst>
            </a:custGeom>
            <a:solidFill>
              <a:srgbClr val="F4F2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8" name="Google Shape;138;p18"/>
            <p:cNvSpPr/>
            <p:nvPr/>
          </p:nvSpPr>
          <p:spPr>
            <a:xfrm>
              <a:off x="1133919" y="1518500"/>
              <a:ext cx="2340610" cy="25400"/>
            </a:xfrm>
            <a:custGeom>
              <a:rect b="b" l="l" r="r" t="t"/>
              <a:pathLst>
                <a:path extrusionOk="0" h="25400" w="2340610">
                  <a:moveTo>
                    <a:pt x="0" y="25305"/>
                  </a:moveTo>
                  <a:lnTo>
                    <a:pt x="0" y="0"/>
                  </a:lnTo>
                  <a:lnTo>
                    <a:pt x="2340180" y="0"/>
                  </a:lnTo>
                  <a:lnTo>
                    <a:pt x="2340180" y="25305"/>
                  </a:lnTo>
                  <a:lnTo>
                    <a:pt x="0" y="25305"/>
                  </a:lnTo>
                  <a:close/>
                </a:path>
              </a:pathLst>
            </a:custGeom>
            <a:noFill/>
            <a:ln cap="flat" cmpd="sng" w="18875">
              <a:solidFill>
                <a:srgbClr val="F4F2E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39" name="Google Shape;139;p18"/>
            <p:cNvSpPr/>
            <p:nvPr/>
          </p:nvSpPr>
          <p:spPr>
            <a:xfrm>
              <a:off x="1133919" y="1518500"/>
              <a:ext cx="1221105" cy="25400"/>
            </a:xfrm>
            <a:custGeom>
              <a:rect b="b" l="l" r="r" t="t"/>
              <a:pathLst>
                <a:path extrusionOk="0" h="25400" w="1221105">
                  <a:moveTo>
                    <a:pt x="0" y="25305"/>
                  </a:moveTo>
                  <a:lnTo>
                    <a:pt x="0" y="0"/>
                  </a:lnTo>
                  <a:lnTo>
                    <a:pt x="1220943" y="0"/>
                  </a:lnTo>
                  <a:lnTo>
                    <a:pt x="1220943" y="25305"/>
                  </a:lnTo>
                  <a:lnTo>
                    <a:pt x="0" y="25305"/>
                  </a:lnTo>
                  <a:close/>
                </a:path>
              </a:pathLst>
            </a:custGeom>
            <a:solidFill>
              <a:srgbClr val="006DB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40" name="Google Shape;140;p18"/>
            <p:cNvSpPr/>
            <p:nvPr/>
          </p:nvSpPr>
          <p:spPr>
            <a:xfrm>
              <a:off x="1133919" y="1518500"/>
              <a:ext cx="1221105" cy="25400"/>
            </a:xfrm>
            <a:custGeom>
              <a:rect b="b" l="l" r="r" t="t"/>
              <a:pathLst>
                <a:path extrusionOk="0" h="25400" w="1221105">
                  <a:moveTo>
                    <a:pt x="0" y="25305"/>
                  </a:moveTo>
                  <a:lnTo>
                    <a:pt x="0" y="0"/>
                  </a:lnTo>
                  <a:lnTo>
                    <a:pt x="1220943" y="0"/>
                  </a:lnTo>
                  <a:lnTo>
                    <a:pt x="1220943" y="25305"/>
                  </a:lnTo>
                  <a:lnTo>
                    <a:pt x="0" y="25305"/>
                  </a:lnTo>
                  <a:close/>
                </a:path>
              </a:pathLst>
            </a:custGeom>
            <a:solidFill>
              <a:srgbClr val="FFD966"/>
            </a:solidFill>
            <a:ln cap="flat" cmpd="sng" w="18875">
              <a:solidFill>
                <a:srgbClr val="F1C23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6" name="Google Shape;146;p19"/>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147" name="Google Shape;147;p19"/>
          <p:cNvGraphicFramePr/>
          <p:nvPr/>
        </p:nvGraphicFramePr>
        <p:xfrm>
          <a:off x="1224950" y="1531067"/>
          <a:ext cx="3000000" cy="3000000"/>
        </p:xfrm>
        <a:graphic>
          <a:graphicData uri="http://schemas.openxmlformats.org/drawingml/2006/table">
            <a:tbl>
              <a:tblPr bandRow="1" firstRow="1">
                <a:noFill/>
                <a:tableStyleId>{4B824F20-3975-442B-862C-1B1190EDF900}</a:tableStyleId>
              </a:tblPr>
              <a:tblGrid>
                <a:gridCol w="1000675"/>
                <a:gridCol w="5521675"/>
              </a:tblGrid>
              <a:tr h="365750">
                <a:tc>
                  <a:txBody>
                    <a:bodyPr/>
                    <a:lstStyle/>
                    <a:p>
                      <a:pPr indent="0" lvl="0" marL="0" marR="0" rtl="0" algn="ctr">
                        <a:spcBef>
                          <a:spcPts val="0"/>
                        </a:spcBef>
                        <a:spcAft>
                          <a:spcPts val="0"/>
                        </a:spcAft>
                        <a:buNone/>
                      </a:pPr>
                      <a:r>
                        <a:rPr lang="en-US" sz="1800" u="none" cap="none" strike="noStrike"/>
                        <a:t>l</a:t>
                      </a:r>
                      <a:endParaRPr sz="1800" u="none" cap="none" strike="noStrike"/>
                    </a:p>
                  </a:txBody>
                  <a:tcPr marT="45725" marB="45725" marR="91450" marL="91450"/>
                </a:tc>
                <a:tc>
                  <a:txBody>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[2,    15,     28,     34,     35,     40,     50]</a:t>
                      </a:r>
                      <a:endParaRPr sz="1800" u="none" cap="none" strike="noStrike"/>
                    </a:p>
                  </a:txBody>
                  <a:tcPr marT="45725" marB="45725" marR="91450" marL="91450"/>
                </a:tc>
              </a:tr>
              <a:tr h="365750">
                <a:tc>
                  <a:txBody>
                    <a:bodyPr/>
                    <a:lstStyle/>
                    <a:p>
                      <a:pPr indent="0" lvl="0" marL="0" marR="0" rtl="0" algn="ctr">
                        <a:spcBef>
                          <a:spcPts val="0"/>
                        </a:spcBef>
                        <a:spcAft>
                          <a:spcPts val="0"/>
                        </a:spcAft>
                        <a:buNone/>
                      </a:pPr>
                      <a:r>
                        <a:rPr lang="en-US" sz="1800" u="none" cap="none" strike="noStrike"/>
                        <a:t>posición</a:t>
                      </a:r>
                      <a:endParaRPr sz="1800" u="none" cap="none" strike="noStrike"/>
                    </a:p>
                  </a:txBody>
                  <a:tcPr marT="45725" marB="45725" marR="91450" marL="91450"/>
                </a:tc>
                <a:tc>
                  <a:txBody>
                    <a:bodyPr/>
                    <a:lstStyle/>
                    <a:p>
                      <a:pPr indent="0" lvl="0" marL="0" marR="0" rtl="0" algn="ctr">
                        <a:spcBef>
                          <a:spcPts val="0"/>
                        </a:spcBef>
                        <a:spcAft>
                          <a:spcPts val="0"/>
                        </a:spcAft>
                        <a:buNone/>
                      </a:pPr>
                      <a:r>
                        <a:rPr lang="en-US" sz="1800" u="none" cap="none" strike="noStrike"/>
                        <a:t>0        1        2       3        4        5        6 </a:t>
                      </a:r>
                      <a:endParaRPr sz="1800" u="none" cap="none" strike="noStrike"/>
                    </a:p>
                  </a:txBody>
                  <a:tcPr marT="45725" marB="45725" marR="91450" marL="91450"/>
                </a:tc>
              </a:tr>
            </a:tbl>
          </a:graphicData>
        </a:graphic>
      </p:graphicFrame>
      <p:sp>
        <p:nvSpPr>
          <p:cNvPr id="148" name="Google Shape;148;p19"/>
          <p:cNvSpPr txBox="1"/>
          <p:nvPr/>
        </p:nvSpPr>
        <p:spPr>
          <a:xfrm>
            <a:off x="431320" y="2427258"/>
            <a:ext cx="84711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y queremos ver si el elemento 35 está en la lista. Una forma alternativa es pensar el problema como tratar de obtener la posición en la que se encuentra (si es que está).</a:t>
            </a:r>
            <a:endParaRPr sz="1800">
              <a:solidFill>
                <a:schemeClr val="dk1"/>
              </a:solidFill>
              <a:latin typeface="Calibri"/>
              <a:ea typeface="Calibri"/>
              <a:cs typeface="Calibri"/>
              <a:sym typeface="Calibri"/>
            </a:endParaRPr>
          </a:p>
        </p:txBody>
      </p:sp>
      <p:pic>
        <p:nvPicPr>
          <p:cNvPr descr="di_tella2.png" id="149" name="Google Shape;149;p19"/>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150" name="Google Shape;150;p19"/>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151" name="Google Shape;151;p19"/>
          <p:cNvSpPr txBox="1"/>
          <p:nvPr/>
        </p:nvSpPr>
        <p:spPr>
          <a:xfrm>
            <a:off x="254000" y="648774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152" name="Google Shape;152;p19"/>
          <p:cNvSpPr txBox="1"/>
          <p:nvPr/>
        </p:nvSpPr>
        <p:spPr>
          <a:xfrm>
            <a:off x="254000" y="868680"/>
            <a:ext cx="17777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Tenemos la lista l</a:t>
            </a:r>
            <a:endParaRPr sz="1800">
              <a:solidFill>
                <a:schemeClr val="dk1"/>
              </a:solidFill>
              <a:latin typeface="Calibri"/>
              <a:ea typeface="Calibri"/>
              <a:cs typeface="Calibri"/>
              <a:sym typeface="Calibri"/>
            </a:endParaRPr>
          </a:p>
        </p:txBody>
      </p:sp>
      <p:sp>
        <p:nvSpPr>
          <p:cNvPr id="153" name="Google Shape;153;p19"/>
          <p:cNvSpPr txBox="1"/>
          <p:nvPr/>
        </p:nvSpPr>
        <p:spPr>
          <a:xfrm>
            <a:off x="499852" y="3238260"/>
            <a:ext cx="847114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strike="noStrike">
                <a:solidFill>
                  <a:srgbClr val="333333"/>
                </a:solidFill>
                <a:latin typeface="Arial"/>
                <a:ea typeface="Arial"/>
                <a:cs typeface="Arial"/>
                <a:sym typeface="Arial"/>
              </a:rPr>
              <a:t>La idea considerar una </a:t>
            </a:r>
            <a:r>
              <a:rPr b="1" i="0" lang="en-US" sz="1800" u="none" strike="noStrike">
                <a:solidFill>
                  <a:srgbClr val="333333"/>
                </a:solidFill>
                <a:latin typeface="Arial"/>
                <a:ea typeface="Arial"/>
                <a:cs typeface="Arial"/>
                <a:sym typeface="Arial"/>
              </a:rPr>
              <a:t>sucesión de intervalos</a:t>
            </a:r>
            <a:r>
              <a:rPr b="0" i="0" lang="en-US" sz="1800" u="none" strike="noStrike">
                <a:solidFill>
                  <a:srgbClr val="333333"/>
                </a:solidFill>
                <a:latin typeface="Arial"/>
                <a:ea typeface="Arial"/>
                <a:cs typeface="Arial"/>
                <a:sym typeface="Arial"/>
              </a:rPr>
              <a:t>, cada vez </a:t>
            </a:r>
            <a:r>
              <a:rPr b="1" i="0" lang="en-US" sz="1800" u="none" strike="noStrike">
                <a:solidFill>
                  <a:srgbClr val="333333"/>
                </a:solidFill>
                <a:latin typeface="Arial"/>
                <a:ea typeface="Arial"/>
                <a:cs typeface="Arial"/>
                <a:sym typeface="Arial"/>
              </a:rPr>
              <a:t>más chicos</a:t>
            </a:r>
            <a:r>
              <a:rPr b="0" i="0" lang="en-US" sz="1800" u="none" strike="noStrike">
                <a:solidFill>
                  <a:srgbClr val="333333"/>
                </a:solidFill>
                <a:latin typeface="Arial"/>
                <a:ea typeface="Arial"/>
                <a:cs typeface="Arial"/>
                <a:sym typeface="Arial"/>
              </a:rPr>
              <a:t>, tales qué si el número x (35) está en la lista entonces está contenido entre esos índices. Representamos al intervalo como </a:t>
            </a:r>
            <a:r>
              <a:rPr b="0" i="0" lang="en-US" sz="1800" u="none" strike="noStrike">
                <a:solidFill>
                  <a:srgbClr val="333333"/>
                </a:solidFill>
                <a:latin typeface="Inconsolata"/>
                <a:ea typeface="Inconsolata"/>
                <a:cs typeface="Inconsolata"/>
                <a:sym typeface="Inconsolata"/>
              </a:rPr>
              <a:t>[low,high]</a:t>
            </a:r>
            <a:endParaRPr/>
          </a:p>
          <a:p>
            <a:pPr indent="0" lvl="0" marL="0" marR="0" rtl="0" algn="l">
              <a:spcBef>
                <a:spcPts val="0"/>
              </a:spcBef>
              <a:spcAft>
                <a:spcPts val="0"/>
              </a:spcAft>
              <a:buNone/>
            </a:pPr>
            <a:r>
              <a:t/>
            </a:r>
            <a:endParaRPr b="0" i="0" sz="1800" u="none" strike="noStrike">
              <a:solidFill>
                <a:srgbClr val="333333"/>
              </a:solidFill>
              <a:latin typeface="Inconsolata"/>
              <a:ea typeface="Inconsolata"/>
              <a:cs typeface="Inconsolata"/>
              <a:sym typeface="Inconsolata"/>
            </a:endParaRPr>
          </a:p>
          <a:p>
            <a:pPr indent="0" lvl="0" marL="0" marR="0" rtl="0" algn="l">
              <a:spcBef>
                <a:spcPts val="0"/>
              </a:spcBef>
              <a:spcAft>
                <a:spcPts val="0"/>
              </a:spcAft>
              <a:buNone/>
            </a:pPr>
            <a:r>
              <a:rPr b="1" i="0" lang="en-US" sz="1800" u="none" strike="noStrike">
                <a:solidFill>
                  <a:srgbClr val="333333"/>
                </a:solidFill>
                <a:latin typeface="Arial"/>
                <a:ea typeface="Arial"/>
                <a:cs typeface="Arial"/>
                <a:sym typeface="Arial"/>
              </a:rPr>
              <a:t>Inicialmente: </a:t>
            </a:r>
            <a:r>
              <a:rPr b="0" i="0" lang="en-US" sz="1800" u="none" strike="noStrike">
                <a:solidFill>
                  <a:srgbClr val="333333"/>
                </a:solidFill>
                <a:latin typeface="Arial"/>
                <a:ea typeface="Arial"/>
                <a:cs typeface="Arial"/>
                <a:sym typeface="Arial"/>
              </a:rPr>
              <a:t>el intervalo toma </a:t>
            </a:r>
            <a:r>
              <a:rPr b="0" i="0" lang="en-US" sz="1800" u="none" strike="noStrike">
                <a:solidFill>
                  <a:srgbClr val="C00040"/>
                </a:solidFill>
                <a:latin typeface="Arial"/>
                <a:ea typeface="Arial"/>
                <a:cs typeface="Arial"/>
                <a:sym typeface="Arial"/>
              </a:rPr>
              <a:t>toda la lista</a:t>
            </a:r>
            <a:r>
              <a:rPr b="0" i="0" lang="en-US" sz="1800" u="none" strike="noStrike">
                <a:solidFill>
                  <a:srgbClr val="333333"/>
                </a:solidFill>
                <a:latin typeface="Arial"/>
                <a:ea typeface="Arial"/>
                <a:cs typeface="Arial"/>
                <a:sym typeface="Arial"/>
              </a:rPr>
              <a:t>. Es decir, </a:t>
            </a:r>
            <a:r>
              <a:rPr b="0" i="1" lang="en-US" sz="1800" u="none" strike="noStrike">
                <a:solidFill>
                  <a:srgbClr val="333333"/>
                </a:solidFill>
                <a:latin typeface="Inconsolata"/>
                <a:ea typeface="Inconsolata"/>
                <a:cs typeface="Inconsolata"/>
                <a:sym typeface="Inconsolata"/>
              </a:rPr>
              <a:t>low</a:t>
            </a:r>
            <a:r>
              <a:rPr b="0" i="0" lang="en-US" sz="1800" u="none" strike="noStrike">
                <a:solidFill>
                  <a:srgbClr val="333333"/>
                </a:solidFill>
                <a:latin typeface="Inconsolata"/>
                <a:ea typeface="Inconsolata"/>
                <a:cs typeface="Inconsolata"/>
                <a:sym typeface="Inconsolata"/>
              </a:rPr>
              <a:t> = 0</a:t>
            </a:r>
            <a:r>
              <a:rPr b="0" i="0" lang="en-US" sz="1800" u="none" strike="noStrike">
                <a:solidFill>
                  <a:srgbClr val="333333"/>
                </a:solidFill>
                <a:latin typeface="Arial"/>
                <a:ea typeface="Arial"/>
                <a:cs typeface="Arial"/>
                <a:sym typeface="Arial"/>
              </a:rPr>
              <a:t>, </a:t>
            </a:r>
            <a:r>
              <a:rPr b="0" i="1" lang="en-US" sz="1800" u="none" strike="noStrike">
                <a:solidFill>
                  <a:srgbClr val="333333"/>
                </a:solidFill>
                <a:latin typeface="Inconsolata"/>
                <a:ea typeface="Inconsolata"/>
                <a:cs typeface="Inconsolata"/>
                <a:sym typeface="Inconsolata"/>
              </a:rPr>
              <a:t>high</a:t>
            </a:r>
            <a:r>
              <a:rPr b="0" i="0" lang="en-US" sz="1800" u="none" strike="noStrike">
                <a:solidFill>
                  <a:srgbClr val="333333"/>
                </a:solidFill>
                <a:latin typeface="Inconsolata"/>
                <a:ea typeface="Inconsolata"/>
                <a:cs typeface="Inconsolata"/>
                <a:sym typeface="Inconsolata"/>
              </a:rPr>
              <a:t> = 6</a:t>
            </a:r>
            <a:r>
              <a:rPr b="0" i="0" lang="en-US" sz="1800" u="none" strike="noStrike">
                <a:solidFill>
                  <a:srgbClr val="333333"/>
                </a:solidFill>
                <a:latin typeface="Arial"/>
                <a:ea typeface="Arial"/>
                <a:cs typeface="Arial"/>
                <a:sym typeface="Arial"/>
              </a:rPr>
              <a:t>. Si el</a:t>
            </a:r>
            <a:endParaRPr/>
          </a:p>
          <a:p>
            <a:pPr indent="0" lvl="0" marL="0" marR="0" rtl="0" algn="l">
              <a:spcBef>
                <a:spcPts val="0"/>
              </a:spcBef>
              <a:spcAft>
                <a:spcPts val="0"/>
              </a:spcAft>
              <a:buNone/>
            </a:pPr>
            <a:r>
              <a:rPr b="0" i="0" lang="en-US" sz="1800" u="none" strike="noStrike">
                <a:solidFill>
                  <a:srgbClr val="C00040"/>
                </a:solidFill>
                <a:latin typeface="Arial"/>
                <a:ea typeface="Arial"/>
                <a:cs typeface="Arial"/>
                <a:sym typeface="Arial"/>
              </a:rPr>
              <a:t>35 está en </a:t>
            </a:r>
            <a:r>
              <a:rPr b="0" i="0" lang="en-US" sz="1800" u="none" strike="noStrike">
                <a:solidFill>
                  <a:srgbClr val="C00040"/>
                </a:solidFill>
                <a:latin typeface="Inconsolata"/>
                <a:ea typeface="Inconsolata"/>
                <a:cs typeface="Inconsolata"/>
                <a:sym typeface="Inconsolata"/>
              </a:rPr>
              <a:t>l</a:t>
            </a:r>
            <a:r>
              <a:rPr b="0" i="0" lang="en-US" sz="1800" u="none" strike="noStrike">
                <a:solidFill>
                  <a:srgbClr val="333333"/>
                </a:solidFill>
                <a:latin typeface="Arial"/>
                <a:ea typeface="Arial"/>
                <a:cs typeface="Arial"/>
                <a:sym typeface="Arial"/>
              </a:rPr>
              <a:t>, entonces </a:t>
            </a:r>
            <a:r>
              <a:rPr b="0" i="0" lang="en-US" sz="1800" u="none" strike="noStrike">
                <a:solidFill>
                  <a:srgbClr val="C00040"/>
                </a:solidFill>
                <a:latin typeface="Arial"/>
                <a:ea typeface="Arial"/>
                <a:cs typeface="Arial"/>
                <a:sym typeface="Arial"/>
              </a:rPr>
              <a:t>el índice del mismo está en ese intervalo</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0"/>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20"/>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20"/>
          <p:cNvSpPr txBox="1"/>
          <p:nvPr/>
        </p:nvSpPr>
        <p:spPr>
          <a:xfrm>
            <a:off x="254000" y="981283"/>
            <a:ext cx="8724660" cy="50783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Inicialmente: low = 0, high = 6. Si el 35 está en l, entonces el índice del mismo está en el intervalo [low,high].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L              </a:t>
            </a:r>
            <a:r>
              <a:rPr lang="en-US" sz="1800">
                <a:solidFill>
                  <a:schemeClr val="dk1"/>
                </a:solidFill>
                <a:latin typeface="Calibri"/>
                <a:ea typeface="Calibri"/>
                <a:cs typeface="Calibri"/>
                <a:sym typeface="Calibri"/>
              </a:rPr>
              <a:t>[2,    15,     28,     34,     35,     40,     50]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Posición  </a:t>
            </a:r>
            <a:r>
              <a:rPr lang="en-US" sz="1800">
                <a:solidFill>
                  <a:srgbClr val="FF0000"/>
                </a:solidFill>
                <a:latin typeface="Calibri"/>
                <a:ea typeface="Calibri"/>
                <a:cs typeface="Calibri"/>
                <a:sym typeface="Calibri"/>
              </a:rPr>
              <a:t>0        1        2       3        4        5        6 </a:t>
            </a:r>
            <a:endParaRPr sz="1800">
              <a:solidFill>
                <a:srgbClr val="FF0000"/>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low                                                      high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Ahora, partimos el intervalo a la mitad tomando el elemento ubicado en el medio, mid = (0 + 6)/2 = 3, y analizamos el elemento en esa posición.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L              </a:t>
            </a:r>
            <a:r>
              <a:rPr lang="en-US" sz="1800">
                <a:solidFill>
                  <a:schemeClr val="dk1"/>
                </a:solidFill>
                <a:latin typeface="Calibri"/>
                <a:ea typeface="Calibri"/>
                <a:cs typeface="Calibri"/>
                <a:sym typeface="Calibri"/>
              </a:rPr>
              <a:t>[2,    15,     28,     34,     35,     40,     50]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Posición  </a:t>
            </a:r>
            <a:r>
              <a:rPr lang="en-US" sz="1800">
                <a:solidFill>
                  <a:srgbClr val="FF0000"/>
                </a:solidFill>
                <a:latin typeface="Calibri"/>
                <a:ea typeface="Calibri"/>
                <a:cs typeface="Calibri"/>
                <a:sym typeface="Calibri"/>
              </a:rPr>
              <a:t>0        1        2       </a:t>
            </a:r>
            <a:r>
              <a:rPr lang="en-US" sz="1800">
                <a:solidFill>
                  <a:srgbClr val="FFC000"/>
                </a:solidFill>
                <a:latin typeface="Calibri"/>
                <a:ea typeface="Calibri"/>
                <a:cs typeface="Calibri"/>
                <a:sym typeface="Calibri"/>
              </a:rPr>
              <a:t>3</a:t>
            </a:r>
            <a:r>
              <a:rPr lang="en-US" sz="1800">
                <a:solidFill>
                  <a:srgbClr val="FF0000"/>
                </a:solidFill>
                <a:latin typeface="Calibri"/>
                <a:ea typeface="Calibri"/>
                <a:cs typeface="Calibri"/>
                <a:sym typeface="Calibri"/>
              </a:rPr>
              <a:t>        4        5        6 </a:t>
            </a:r>
            <a:endParaRPr sz="1800">
              <a:solidFill>
                <a:srgbClr val="FF0000"/>
              </a:solidFill>
              <a:latin typeface="Calibri"/>
              <a:ea typeface="Calibri"/>
              <a:cs typeface="Calibri"/>
              <a:sym typeface="Calibri"/>
            </a:endParaRPr>
          </a:p>
          <a:p>
            <a:pPr indent="0" lvl="0" marL="0" marR="0" rtl="0" algn="l">
              <a:spcBef>
                <a:spcPts val="0"/>
              </a:spcBef>
              <a:spcAft>
                <a:spcPts val="0"/>
              </a:spcAft>
              <a:buNone/>
            </a:pPr>
            <a:r>
              <a:rPr lang="en-US" sz="1800">
                <a:solidFill>
                  <a:srgbClr val="FF0000"/>
                </a:solidFill>
                <a:latin typeface="Calibri"/>
                <a:ea typeface="Calibri"/>
                <a:cs typeface="Calibri"/>
                <a:sym typeface="Calibri"/>
              </a:rPr>
              <a:t>                low                      </a:t>
            </a:r>
            <a:r>
              <a:rPr lang="en-US" sz="1800">
                <a:solidFill>
                  <a:srgbClr val="FFC000"/>
                </a:solidFill>
                <a:latin typeface="Calibri"/>
                <a:ea typeface="Calibri"/>
                <a:cs typeface="Calibri"/>
                <a:sym typeface="Calibri"/>
              </a:rPr>
              <a:t>mid</a:t>
            </a:r>
            <a:r>
              <a:rPr lang="en-US" sz="1800">
                <a:solidFill>
                  <a:srgbClr val="FF0000"/>
                </a:solidFill>
                <a:latin typeface="Calibri"/>
                <a:ea typeface="Calibri"/>
                <a:cs typeface="Calibri"/>
                <a:sym typeface="Calibri"/>
              </a:rPr>
              <a:t>                         high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Nos hacemos dos preguntas: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 elemento en la posición mid es el buscado? Si lo fuese, qué podemos decir?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Si no es el buscado, en cuál intervalo podemos garantizar que </a:t>
            </a:r>
            <a:r>
              <a:rPr i="1" lang="en-US" sz="1800">
                <a:solidFill>
                  <a:schemeClr val="dk1"/>
                </a:solidFill>
                <a:latin typeface="Calibri"/>
                <a:ea typeface="Calibri"/>
                <a:cs typeface="Calibri"/>
                <a:sym typeface="Calibri"/>
              </a:rPr>
              <a:t>podría </a:t>
            </a:r>
            <a:r>
              <a:rPr lang="en-US" sz="1800">
                <a:solidFill>
                  <a:schemeClr val="dk1"/>
                </a:solidFill>
                <a:latin typeface="Calibri"/>
                <a:ea typeface="Calibri"/>
                <a:cs typeface="Calibri"/>
                <a:sym typeface="Calibri"/>
              </a:rPr>
              <a:t>estar? Por qué?</a:t>
            </a:r>
            <a:endParaRPr sz="1800">
              <a:solidFill>
                <a:schemeClr val="dk1"/>
              </a:solidFill>
              <a:latin typeface="Calibri"/>
              <a:ea typeface="Calibri"/>
              <a:cs typeface="Calibri"/>
              <a:sym typeface="Calibri"/>
            </a:endParaRPr>
          </a:p>
        </p:txBody>
      </p:sp>
      <p:pic>
        <p:nvPicPr>
          <p:cNvPr descr="di_tella2.png" id="161" name="Google Shape;161;p20"/>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162" name="Google Shape;162;p20"/>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163" name="Google Shape;163;p20"/>
          <p:cNvSpPr txBox="1"/>
          <p:nvPr/>
        </p:nvSpPr>
        <p:spPr>
          <a:xfrm>
            <a:off x="177800" y="65502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21"/>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21"/>
          <p:cNvSpPr txBox="1"/>
          <p:nvPr/>
        </p:nvSpPr>
        <p:spPr>
          <a:xfrm>
            <a:off x="209670" y="842784"/>
            <a:ext cx="8724660"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Correcto! low = mid+1 = 4, high = 6. Podemos descartar la primera mitad de la lista. Si el 35 está en l, entonces el índice del mismo está en el intervalo</a:t>
            </a:r>
            <a:endParaRPr/>
          </a:p>
          <a:p>
            <a:pPr indent="0" lvl="0" marL="0" marR="0" rtl="0" algn="l">
              <a:spcBef>
                <a:spcPts val="0"/>
              </a:spcBef>
              <a:spcAft>
                <a:spcPts val="0"/>
              </a:spcAft>
              <a:buNone/>
            </a:pPr>
            <a:r>
              <a:rPr lang="en-US" sz="1800">
                <a:solidFill>
                  <a:schemeClr val="accent2"/>
                </a:solidFill>
                <a:latin typeface="Calibri"/>
                <a:ea typeface="Calibri"/>
                <a:cs typeface="Calibri"/>
                <a:sym typeface="Calibri"/>
              </a:rPr>
              <a:t>[low,high] = [4,6].</a:t>
            </a:r>
            <a:endParaRPr/>
          </a:p>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L              </a:t>
            </a:r>
            <a:r>
              <a:rPr lang="en-US" sz="1800">
                <a:solidFill>
                  <a:schemeClr val="dk1"/>
                </a:solidFill>
                <a:latin typeface="Calibri"/>
                <a:ea typeface="Calibri"/>
                <a:cs typeface="Calibri"/>
                <a:sym typeface="Calibri"/>
              </a:rPr>
              <a:t>[2,    15,     28,     34,     35,     40,     50]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Posición  0        1        2       3       </a:t>
            </a:r>
            <a:r>
              <a:rPr lang="en-US" sz="1800">
                <a:solidFill>
                  <a:srgbClr val="FF0000"/>
                </a:solidFill>
                <a:latin typeface="Calibri"/>
                <a:ea typeface="Calibri"/>
                <a:cs typeface="Calibri"/>
                <a:sym typeface="Calibri"/>
              </a:rPr>
              <a:t> 4        5        6 </a:t>
            </a:r>
            <a:endParaRPr sz="1800">
              <a:solidFill>
                <a:srgbClr val="FF0000"/>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low        high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Aplicamos nuevamente el mismo razonamiento y partimos el intervalo a la mitad tomando el elemento ubicado en el medio, mid = (4 + 6)/2 = 5, y analizamos el elemento en esa posición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L              </a:t>
            </a:r>
            <a:r>
              <a:rPr lang="en-US" sz="1800">
                <a:solidFill>
                  <a:schemeClr val="dk1"/>
                </a:solidFill>
                <a:latin typeface="Calibri"/>
                <a:ea typeface="Calibri"/>
                <a:cs typeface="Calibri"/>
                <a:sym typeface="Calibri"/>
              </a:rPr>
              <a:t>[2,    15,     28,     34,     35,     40,     50]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Posición  0        1        2       3        </a:t>
            </a:r>
            <a:r>
              <a:rPr lang="en-US" sz="1800">
                <a:solidFill>
                  <a:srgbClr val="FF0000"/>
                </a:solidFill>
                <a:latin typeface="Calibri"/>
                <a:ea typeface="Calibri"/>
                <a:cs typeface="Calibri"/>
                <a:sym typeface="Calibri"/>
              </a:rPr>
              <a:t>4        5        6 </a:t>
            </a:r>
            <a:endParaRPr sz="1800">
              <a:solidFill>
                <a:srgbClr val="FF0000"/>
              </a:solidFill>
              <a:latin typeface="Calibri"/>
              <a:ea typeface="Calibri"/>
              <a:cs typeface="Calibri"/>
              <a:sym typeface="Calibri"/>
            </a:endParaRPr>
          </a:p>
          <a:p>
            <a:pPr indent="0" lvl="0" marL="0" marR="0" rtl="0" algn="l">
              <a:spcBef>
                <a:spcPts val="0"/>
              </a:spcBef>
              <a:spcAft>
                <a:spcPts val="0"/>
              </a:spcAft>
              <a:buNone/>
            </a:pPr>
            <a:r>
              <a:rPr lang="en-US" sz="1800">
                <a:solidFill>
                  <a:srgbClr val="FF0000"/>
                </a:solidFill>
                <a:latin typeface="Calibri"/>
                <a:ea typeface="Calibri"/>
                <a:cs typeface="Calibri"/>
                <a:sym typeface="Calibri"/>
              </a:rPr>
              <a:t>                                                       low   </a:t>
            </a:r>
            <a:r>
              <a:rPr lang="en-US" sz="1800">
                <a:solidFill>
                  <a:srgbClr val="FFC000"/>
                </a:solidFill>
                <a:latin typeface="Calibri"/>
                <a:ea typeface="Calibri"/>
                <a:cs typeface="Calibri"/>
                <a:sym typeface="Calibri"/>
              </a:rPr>
              <a:t>mid</a:t>
            </a:r>
            <a:r>
              <a:rPr lang="en-US" sz="1800">
                <a:solidFill>
                  <a:srgbClr val="FF0000"/>
                </a:solidFill>
                <a:latin typeface="Calibri"/>
                <a:ea typeface="Calibri"/>
                <a:cs typeface="Calibri"/>
                <a:sym typeface="Calibri"/>
              </a:rPr>
              <a:t>  high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Nos hacemos dos preguntas: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 elemento en la posición mid es el buscado? Si lo fuese, qué podemos decir?</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Si no es el buscado, en cuál intervalo podemos garantizar que </a:t>
            </a:r>
            <a:r>
              <a:rPr i="1" lang="en-US" sz="1800">
                <a:solidFill>
                  <a:schemeClr val="dk1"/>
                </a:solidFill>
                <a:latin typeface="Calibri"/>
                <a:ea typeface="Calibri"/>
                <a:cs typeface="Calibri"/>
                <a:sym typeface="Calibri"/>
              </a:rPr>
              <a:t>podría </a:t>
            </a:r>
            <a:r>
              <a:rPr lang="en-US" sz="1800">
                <a:solidFill>
                  <a:schemeClr val="dk1"/>
                </a:solidFill>
                <a:latin typeface="Calibri"/>
                <a:ea typeface="Calibri"/>
                <a:cs typeface="Calibri"/>
                <a:sym typeface="Calibri"/>
              </a:rPr>
              <a:t>estar? Por qué?</a:t>
            </a:r>
            <a:endParaRPr sz="1800">
              <a:solidFill>
                <a:schemeClr val="dk1"/>
              </a:solidFill>
              <a:latin typeface="Calibri"/>
              <a:ea typeface="Calibri"/>
              <a:cs typeface="Calibri"/>
              <a:sym typeface="Calibri"/>
            </a:endParaRPr>
          </a:p>
        </p:txBody>
      </p:sp>
      <p:pic>
        <p:nvPicPr>
          <p:cNvPr descr="di_tella2.png" id="171" name="Google Shape;171;p21"/>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172" name="Google Shape;172;p21"/>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173" name="Google Shape;173;p21"/>
          <p:cNvSpPr txBox="1"/>
          <p:nvPr/>
        </p:nvSpPr>
        <p:spPr>
          <a:xfrm>
            <a:off x="177800" y="65502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2"/>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9" name="Google Shape;179;p22"/>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0" name="Google Shape;180;p22"/>
          <p:cNvSpPr txBox="1"/>
          <p:nvPr/>
        </p:nvSpPr>
        <p:spPr>
          <a:xfrm>
            <a:off x="209670" y="842784"/>
            <a:ext cx="872466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Correcto! </a:t>
            </a:r>
            <a:r>
              <a:rPr lang="en-US" sz="1800">
                <a:solidFill>
                  <a:schemeClr val="accent2"/>
                </a:solidFill>
                <a:latin typeface="Calibri"/>
                <a:ea typeface="Calibri"/>
                <a:cs typeface="Calibri"/>
                <a:sym typeface="Calibri"/>
              </a:rPr>
              <a:t>low = 4, high = mid - 1 = 4</a:t>
            </a:r>
            <a:r>
              <a:rPr lang="en-US" sz="1800">
                <a:solidFill>
                  <a:schemeClr val="dk1"/>
                </a:solidFill>
                <a:latin typeface="Calibri"/>
                <a:ea typeface="Calibri"/>
                <a:cs typeface="Calibri"/>
                <a:sym typeface="Calibri"/>
              </a:rPr>
              <a:t>. Podemos descartar la segunda mitad de la lista. Si el </a:t>
            </a:r>
            <a:r>
              <a:rPr lang="en-US" sz="1800">
                <a:solidFill>
                  <a:schemeClr val="accent3"/>
                </a:solidFill>
                <a:latin typeface="Calibri"/>
                <a:ea typeface="Calibri"/>
                <a:cs typeface="Calibri"/>
                <a:sym typeface="Calibri"/>
              </a:rPr>
              <a:t>35</a:t>
            </a:r>
            <a:r>
              <a:rPr lang="en-US" sz="1800">
                <a:solidFill>
                  <a:schemeClr val="dk1"/>
                </a:solidFill>
                <a:latin typeface="Calibri"/>
                <a:ea typeface="Calibri"/>
                <a:cs typeface="Calibri"/>
                <a:sym typeface="Calibri"/>
              </a:rPr>
              <a:t> está en l, entonces el índice del mismo está en el intervalo</a:t>
            </a:r>
            <a:endParaRPr/>
          </a:p>
          <a:p>
            <a:pPr indent="0" lvl="0" marL="0" marR="0" rtl="0" algn="l">
              <a:spcBef>
                <a:spcPts val="0"/>
              </a:spcBef>
              <a:spcAft>
                <a:spcPts val="0"/>
              </a:spcAft>
              <a:buNone/>
            </a:pPr>
            <a:r>
              <a:rPr lang="en-US" sz="1800">
                <a:solidFill>
                  <a:schemeClr val="accent2"/>
                </a:solidFill>
                <a:latin typeface="Calibri"/>
                <a:ea typeface="Calibri"/>
                <a:cs typeface="Calibri"/>
                <a:sym typeface="Calibri"/>
              </a:rPr>
              <a:t>[low,high] = [4,4</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L              </a:t>
            </a:r>
            <a:r>
              <a:rPr lang="en-US" sz="1800">
                <a:solidFill>
                  <a:schemeClr val="dk1"/>
                </a:solidFill>
                <a:latin typeface="Calibri"/>
                <a:ea typeface="Calibri"/>
                <a:cs typeface="Calibri"/>
                <a:sym typeface="Calibri"/>
              </a:rPr>
              <a:t>[2,    15,     28,     34,     35,     40,     50]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Posición  0        1        2       3       </a:t>
            </a:r>
            <a:r>
              <a:rPr lang="en-US" sz="1800">
                <a:solidFill>
                  <a:srgbClr val="FF0000"/>
                </a:solidFill>
                <a:latin typeface="Calibri"/>
                <a:ea typeface="Calibri"/>
                <a:cs typeface="Calibri"/>
                <a:sym typeface="Calibri"/>
              </a:rPr>
              <a:t> 4        </a:t>
            </a:r>
            <a:r>
              <a:rPr lang="en-US" sz="1800">
                <a:solidFill>
                  <a:schemeClr val="dk1"/>
                </a:solidFill>
                <a:latin typeface="Calibri"/>
                <a:ea typeface="Calibri"/>
                <a:cs typeface="Calibri"/>
                <a:sym typeface="Calibri"/>
              </a:rPr>
              <a:t>5        6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low</a:t>
            </a:r>
            <a:endParaRPr/>
          </a:p>
          <a:p>
            <a:pPr indent="0" lvl="0" marL="0" marR="0" rtl="0" algn="l">
              <a:spcBef>
                <a:spcPts val="0"/>
              </a:spcBef>
              <a:spcAft>
                <a:spcPts val="0"/>
              </a:spcAft>
              <a:buNone/>
            </a:pPr>
            <a:r>
              <a:rPr lang="en-US" sz="1800">
                <a:solidFill>
                  <a:srgbClr val="FFC000"/>
                </a:solidFill>
                <a:latin typeface="Calibri"/>
                <a:ea typeface="Calibri"/>
                <a:cs typeface="Calibri"/>
                <a:sym typeface="Calibri"/>
              </a:rPr>
              <a:t>                                                        mid</a:t>
            </a:r>
            <a:endParaRPr/>
          </a:p>
          <a:p>
            <a:pPr indent="0" lvl="0" marL="0" marR="0" rtl="0" algn="l">
              <a:spcBef>
                <a:spcPts val="0"/>
              </a:spcBef>
              <a:spcAft>
                <a:spcPts val="0"/>
              </a:spcAft>
              <a:buNone/>
            </a:pPr>
            <a:r>
              <a:rPr lang="en-US" sz="1800">
                <a:solidFill>
                  <a:srgbClr val="FF0000"/>
                </a:solidFill>
                <a:latin typeface="Calibri"/>
                <a:ea typeface="Calibri"/>
                <a:cs typeface="Calibri"/>
                <a:sym typeface="Calibri"/>
              </a:rPr>
              <a:t>                                                        high</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Aplicamos nuevamente el mismo razonamiento y partimos el intervalo a la mitad tomando el elemento ubicado en el medio, </a:t>
            </a:r>
            <a:r>
              <a:rPr lang="en-US" sz="1800">
                <a:solidFill>
                  <a:srgbClr val="FFC000"/>
                </a:solidFill>
                <a:latin typeface="Calibri"/>
                <a:ea typeface="Calibri"/>
                <a:cs typeface="Calibri"/>
                <a:sym typeface="Calibri"/>
              </a:rPr>
              <a:t>mid = (4 + 4)/2 = 4</a:t>
            </a:r>
            <a:r>
              <a:rPr lang="en-US" sz="1800">
                <a:solidFill>
                  <a:schemeClr val="dk1"/>
                </a:solidFill>
                <a:latin typeface="Calibri"/>
                <a:ea typeface="Calibri"/>
                <a:cs typeface="Calibri"/>
                <a:sym typeface="Calibri"/>
              </a:rPr>
              <a:t>, y analizamos el elemento en esa posición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 elemento en la posición </a:t>
            </a:r>
            <a:r>
              <a:rPr lang="en-US" sz="1800">
                <a:solidFill>
                  <a:srgbClr val="FFC000"/>
                </a:solidFill>
                <a:latin typeface="Calibri"/>
                <a:ea typeface="Calibri"/>
                <a:cs typeface="Calibri"/>
                <a:sym typeface="Calibri"/>
              </a:rPr>
              <a:t>mid</a:t>
            </a:r>
            <a:r>
              <a:rPr lang="en-US" sz="1800">
                <a:solidFill>
                  <a:schemeClr val="dk1"/>
                </a:solidFill>
                <a:latin typeface="Calibri"/>
                <a:ea typeface="Calibri"/>
                <a:cs typeface="Calibri"/>
                <a:sym typeface="Calibri"/>
              </a:rPr>
              <a:t> es el buscado?</a:t>
            </a:r>
            <a:endParaRPr sz="1800">
              <a:solidFill>
                <a:schemeClr val="dk1"/>
              </a:solidFill>
              <a:latin typeface="Calibri"/>
              <a:ea typeface="Calibri"/>
              <a:cs typeface="Calibri"/>
              <a:sym typeface="Calibri"/>
            </a:endParaRPr>
          </a:p>
        </p:txBody>
      </p:sp>
      <p:pic>
        <p:nvPicPr>
          <p:cNvPr descr="di_tella2.png" id="181" name="Google Shape;181;p22"/>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182" name="Google Shape;182;p22"/>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183" name="Google Shape;183;p22"/>
          <p:cNvSpPr txBox="1"/>
          <p:nvPr/>
        </p:nvSpPr>
        <p:spPr>
          <a:xfrm>
            <a:off x="177800" y="65502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3"/>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23"/>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0" name="Google Shape;190;p23"/>
          <p:cNvSpPr txBox="1"/>
          <p:nvPr/>
        </p:nvSpPr>
        <p:spPr>
          <a:xfrm>
            <a:off x="209670" y="842784"/>
            <a:ext cx="872466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Supongamos ahora que estamos buscando el número </a:t>
            </a:r>
            <a:r>
              <a:rPr lang="en-US" sz="1800">
                <a:solidFill>
                  <a:schemeClr val="accent3"/>
                </a:solidFill>
                <a:latin typeface="Calibri"/>
                <a:ea typeface="Calibri"/>
                <a:cs typeface="Calibri"/>
                <a:sym typeface="Calibri"/>
              </a:rPr>
              <a:t>36</a:t>
            </a:r>
            <a:r>
              <a:rPr lang="en-US" sz="1800">
                <a:solidFill>
                  <a:schemeClr val="dk1"/>
                </a:solidFill>
                <a:latin typeface="Calibri"/>
                <a:ea typeface="Calibri"/>
                <a:cs typeface="Calibri"/>
                <a:sym typeface="Calibri"/>
              </a:rPr>
              <a:t>. Los pasos son exactamente los mismos hasta el punto de la slide anterior.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Si el </a:t>
            </a:r>
            <a:r>
              <a:rPr lang="en-US" sz="1800">
                <a:solidFill>
                  <a:schemeClr val="accent3"/>
                </a:solidFill>
                <a:latin typeface="Calibri"/>
                <a:ea typeface="Calibri"/>
                <a:cs typeface="Calibri"/>
                <a:sym typeface="Calibri"/>
              </a:rPr>
              <a:t>36</a:t>
            </a:r>
            <a:r>
              <a:rPr lang="en-US" sz="1800">
                <a:solidFill>
                  <a:schemeClr val="dk1"/>
                </a:solidFill>
                <a:latin typeface="Calibri"/>
                <a:ea typeface="Calibri"/>
                <a:cs typeface="Calibri"/>
                <a:sym typeface="Calibri"/>
              </a:rPr>
              <a:t> está en l, entonces el índice del mismo está en el intervalo </a:t>
            </a:r>
            <a:r>
              <a:rPr lang="en-US" sz="1800">
                <a:solidFill>
                  <a:schemeClr val="accent2"/>
                </a:solidFill>
                <a:latin typeface="Calibri"/>
                <a:ea typeface="Calibri"/>
                <a:cs typeface="Calibri"/>
                <a:sym typeface="Calibri"/>
              </a:rPr>
              <a:t>[low,high] = [4,4]</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L              </a:t>
            </a:r>
            <a:r>
              <a:rPr lang="en-US" sz="1800">
                <a:solidFill>
                  <a:schemeClr val="dk1"/>
                </a:solidFill>
                <a:latin typeface="Calibri"/>
                <a:ea typeface="Calibri"/>
                <a:cs typeface="Calibri"/>
                <a:sym typeface="Calibri"/>
              </a:rPr>
              <a:t>[2,    15,     28,     34,     35,     40,     50]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Posición  0        1        2       3       </a:t>
            </a:r>
            <a:r>
              <a:rPr lang="en-US" sz="1800">
                <a:solidFill>
                  <a:srgbClr val="FF0000"/>
                </a:solidFill>
                <a:latin typeface="Calibri"/>
                <a:ea typeface="Calibri"/>
                <a:cs typeface="Calibri"/>
                <a:sym typeface="Calibri"/>
              </a:rPr>
              <a:t> 4        </a:t>
            </a:r>
            <a:r>
              <a:rPr lang="en-US" sz="1800">
                <a:solidFill>
                  <a:schemeClr val="dk1"/>
                </a:solidFill>
                <a:latin typeface="Calibri"/>
                <a:ea typeface="Calibri"/>
                <a:cs typeface="Calibri"/>
                <a:sym typeface="Calibri"/>
              </a:rPr>
              <a:t>5        6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low</a:t>
            </a:r>
            <a:endParaRPr/>
          </a:p>
          <a:p>
            <a:pPr indent="0" lvl="0" marL="0" marR="0" rtl="0" algn="l">
              <a:spcBef>
                <a:spcPts val="0"/>
              </a:spcBef>
              <a:spcAft>
                <a:spcPts val="0"/>
              </a:spcAft>
              <a:buNone/>
            </a:pPr>
            <a:r>
              <a:rPr lang="en-US" sz="1800">
                <a:solidFill>
                  <a:srgbClr val="FFC000"/>
                </a:solidFill>
                <a:latin typeface="Calibri"/>
                <a:ea typeface="Calibri"/>
                <a:cs typeface="Calibri"/>
                <a:sym typeface="Calibri"/>
              </a:rPr>
              <a:t>                                                        mid</a:t>
            </a:r>
            <a:endParaRPr/>
          </a:p>
          <a:p>
            <a:pPr indent="0" lvl="0" marL="0" marR="0" rtl="0" algn="l">
              <a:spcBef>
                <a:spcPts val="0"/>
              </a:spcBef>
              <a:spcAft>
                <a:spcPts val="0"/>
              </a:spcAft>
              <a:buNone/>
            </a:pPr>
            <a:r>
              <a:rPr lang="en-US" sz="1800">
                <a:solidFill>
                  <a:srgbClr val="FF0000"/>
                </a:solidFill>
                <a:latin typeface="Calibri"/>
                <a:ea typeface="Calibri"/>
                <a:cs typeface="Calibri"/>
                <a:sym typeface="Calibri"/>
              </a:rPr>
              <a:t>                                                        high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Aplicamos nuevamente el mismo razonamiento y partimos el intervalo a la mitad tomando el elemento ubicado en el medio, </a:t>
            </a:r>
            <a:r>
              <a:rPr lang="en-US" sz="1800">
                <a:solidFill>
                  <a:srgbClr val="FFC000"/>
                </a:solidFill>
                <a:latin typeface="Calibri"/>
                <a:ea typeface="Calibri"/>
                <a:cs typeface="Calibri"/>
                <a:sym typeface="Calibri"/>
              </a:rPr>
              <a:t>mid = (4 + 4)/2 = 4</a:t>
            </a:r>
            <a:r>
              <a:rPr lang="en-US" sz="1800">
                <a:solidFill>
                  <a:schemeClr val="dk1"/>
                </a:solidFill>
                <a:latin typeface="Calibri"/>
                <a:ea typeface="Calibri"/>
                <a:cs typeface="Calibri"/>
                <a:sym typeface="Calibri"/>
              </a:rPr>
              <a:t>, y analizamos el elemento en esa posición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 elemento en la posición </a:t>
            </a:r>
            <a:r>
              <a:rPr lang="en-US" sz="1800">
                <a:solidFill>
                  <a:srgbClr val="FFC000"/>
                </a:solidFill>
                <a:latin typeface="Calibri"/>
                <a:ea typeface="Calibri"/>
                <a:cs typeface="Calibri"/>
                <a:sym typeface="Calibri"/>
              </a:rPr>
              <a:t>mid</a:t>
            </a:r>
            <a:r>
              <a:rPr lang="en-US" sz="1800">
                <a:solidFill>
                  <a:schemeClr val="dk1"/>
                </a:solidFill>
                <a:latin typeface="Calibri"/>
                <a:ea typeface="Calibri"/>
                <a:cs typeface="Calibri"/>
                <a:sym typeface="Calibri"/>
              </a:rPr>
              <a:t> es el buscado?</a:t>
            </a:r>
            <a:endParaRPr sz="1800">
              <a:solidFill>
                <a:schemeClr val="dk1"/>
              </a:solidFill>
              <a:latin typeface="Calibri"/>
              <a:ea typeface="Calibri"/>
              <a:cs typeface="Calibri"/>
              <a:sym typeface="Calibri"/>
            </a:endParaRPr>
          </a:p>
        </p:txBody>
      </p:sp>
      <p:pic>
        <p:nvPicPr>
          <p:cNvPr descr="di_tella2.png" id="191" name="Google Shape;191;p23"/>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192" name="Google Shape;192;p23"/>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193" name="Google Shape;193;p23"/>
          <p:cNvSpPr txBox="1"/>
          <p:nvPr/>
        </p:nvSpPr>
        <p:spPr>
          <a:xfrm>
            <a:off x="177800" y="65502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24"/>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24"/>
          <p:cNvSpPr txBox="1"/>
          <p:nvPr/>
        </p:nvSpPr>
        <p:spPr>
          <a:xfrm>
            <a:off x="209670" y="842784"/>
            <a:ext cx="8724660"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Supongamos ahora que estamos buscando el número </a:t>
            </a:r>
            <a:r>
              <a:rPr lang="en-US" sz="1800">
                <a:solidFill>
                  <a:schemeClr val="accent3"/>
                </a:solidFill>
                <a:latin typeface="Calibri"/>
                <a:ea typeface="Calibri"/>
                <a:cs typeface="Calibri"/>
                <a:sym typeface="Calibri"/>
              </a:rPr>
              <a:t>36</a:t>
            </a:r>
            <a:r>
              <a:rPr lang="en-US" sz="1800">
                <a:solidFill>
                  <a:schemeClr val="dk1"/>
                </a:solidFill>
                <a:latin typeface="Calibri"/>
                <a:ea typeface="Calibri"/>
                <a:cs typeface="Calibri"/>
                <a:sym typeface="Calibri"/>
              </a:rPr>
              <a:t>. Los pasos son exactamente los mismos hasta el punto de la slide anterior.</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Si el </a:t>
            </a:r>
            <a:r>
              <a:rPr lang="en-US" sz="1800">
                <a:solidFill>
                  <a:schemeClr val="accent3"/>
                </a:solidFill>
                <a:latin typeface="Calibri"/>
                <a:ea typeface="Calibri"/>
                <a:cs typeface="Calibri"/>
                <a:sym typeface="Calibri"/>
              </a:rPr>
              <a:t>36</a:t>
            </a:r>
            <a:r>
              <a:rPr lang="en-US" sz="1800">
                <a:solidFill>
                  <a:schemeClr val="dk1"/>
                </a:solidFill>
                <a:latin typeface="Calibri"/>
                <a:ea typeface="Calibri"/>
                <a:cs typeface="Calibri"/>
                <a:sym typeface="Calibri"/>
              </a:rPr>
              <a:t> está en l, entonces el índice del mismo está en el intervalo </a:t>
            </a:r>
            <a:r>
              <a:rPr lang="en-US" sz="1800">
                <a:solidFill>
                  <a:schemeClr val="accent2"/>
                </a:solidFill>
                <a:latin typeface="Calibri"/>
                <a:ea typeface="Calibri"/>
                <a:cs typeface="Calibri"/>
                <a:sym typeface="Calibri"/>
              </a:rPr>
              <a:t>[low,high] = [4,4]</a:t>
            </a: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accent2"/>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L              </a:t>
            </a:r>
            <a:r>
              <a:rPr lang="en-US" sz="1800">
                <a:solidFill>
                  <a:schemeClr val="dk1"/>
                </a:solidFill>
                <a:latin typeface="Calibri"/>
                <a:ea typeface="Calibri"/>
                <a:cs typeface="Calibri"/>
                <a:sym typeface="Calibri"/>
              </a:rPr>
              <a:t>[2,    15,     28,     34,     35,     40,     50]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Posición  0        1        2       3       </a:t>
            </a:r>
            <a:r>
              <a:rPr lang="en-US" sz="1800">
                <a:solidFill>
                  <a:srgbClr val="FF0000"/>
                </a:solidFill>
                <a:latin typeface="Calibri"/>
                <a:ea typeface="Calibri"/>
                <a:cs typeface="Calibri"/>
                <a:sym typeface="Calibri"/>
              </a:rPr>
              <a:t> 4        </a:t>
            </a:r>
            <a:r>
              <a:rPr lang="en-US" sz="1800">
                <a:solidFill>
                  <a:schemeClr val="dk1"/>
                </a:solidFill>
                <a:latin typeface="Calibri"/>
                <a:ea typeface="Calibri"/>
                <a:cs typeface="Calibri"/>
                <a:sym typeface="Calibri"/>
              </a:rPr>
              <a:t>5        6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rgbClr val="FF0000"/>
                </a:solidFill>
                <a:latin typeface="Calibri"/>
                <a:ea typeface="Calibri"/>
                <a:cs typeface="Calibri"/>
                <a:sym typeface="Calibri"/>
              </a:rPr>
              <a:t>low</a:t>
            </a:r>
            <a:endParaRPr/>
          </a:p>
          <a:p>
            <a:pPr indent="0" lvl="0" marL="0" marR="0" rtl="0" algn="l">
              <a:spcBef>
                <a:spcPts val="0"/>
              </a:spcBef>
              <a:spcAft>
                <a:spcPts val="0"/>
              </a:spcAft>
              <a:buNone/>
            </a:pPr>
            <a:r>
              <a:rPr lang="en-US" sz="1800">
                <a:solidFill>
                  <a:srgbClr val="FFC000"/>
                </a:solidFill>
                <a:latin typeface="Calibri"/>
                <a:ea typeface="Calibri"/>
                <a:cs typeface="Calibri"/>
                <a:sym typeface="Calibri"/>
              </a:rPr>
              <a:t>                                                        mid</a:t>
            </a:r>
            <a:endParaRPr/>
          </a:p>
          <a:p>
            <a:pPr indent="0" lvl="0" marL="0" marR="0" rtl="0" algn="l">
              <a:spcBef>
                <a:spcPts val="0"/>
              </a:spcBef>
              <a:spcAft>
                <a:spcPts val="0"/>
              </a:spcAft>
              <a:buNone/>
            </a:pPr>
            <a:r>
              <a:rPr lang="en-US" sz="1800">
                <a:solidFill>
                  <a:srgbClr val="FF0000"/>
                </a:solidFill>
                <a:latin typeface="Calibri"/>
                <a:ea typeface="Calibri"/>
                <a:cs typeface="Calibri"/>
                <a:sym typeface="Calibri"/>
              </a:rPr>
              <a:t>                                                        high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Aplicamos nuevamente el mismo razonamiento y partimos el intervalo a la mitad tomando el elemento ubicado en el medio, </a:t>
            </a:r>
            <a:r>
              <a:rPr lang="en-US" sz="1800">
                <a:solidFill>
                  <a:srgbClr val="FFC000"/>
                </a:solidFill>
                <a:latin typeface="Calibri"/>
                <a:ea typeface="Calibri"/>
                <a:cs typeface="Calibri"/>
                <a:sym typeface="Calibri"/>
              </a:rPr>
              <a:t>mid = (4 + 4)/2 = 4</a:t>
            </a:r>
            <a:r>
              <a:rPr lang="en-US" sz="1800">
                <a:solidFill>
                  <a:schemeClr val="dk1"/>
                </a:solidFill>
                <a:latin typeface="Calibri"/>
                <a:ea typeface="Calibri"/>
                <a:cs typeface="Calibri"/>
                <a:sym typeface="Calibri"/>
              </a:rPr>
              <a:t>, y analizamos el elemento en esa posición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 elemento en la posición </a:t>
            </a:r>
            <a:r>
              <a:rPr lang="en-US" sz="1800">
                <a:solidFill>
                  <a:srgbClr val="FFC000"/>
                </a:solidFill>
                <a:latin typeface="Calibri"/>
                <a:ea typeface="Calibri"/>
                <a:cs typeface="Calibri"/>
                <a:sym typeface="Calibri"/>
              </a:rPr>
              <a:t>mid</a:t>
            </a:r>
            <a:r>
              <a:rPr lang="en-US" sz="1800">
                <a:solidFill>
                  <a:schemeClr val="dk1"/>
                </a:solidFill>
                <a:latin typeface="Calibri"/>
                <a:ea typeface="Calibri"/>
                <a:cs typeface="Calibri"/>
                <a:sym typeface="Calibri"/>
              </a:rPr>
              <a:t> es el buscado? </a:t>
            </a:r>
            <a:r>
              <a:rPr lang="en-US" sz="1800">
                <a:solidFill>
                  <a:schemeClr val="accent2"/>
                </a:solidFill>
                <a:latin typeface="Calibri"/>
                <a:ea typeface="Calibri"/>
                <a:cs typeface="Calibri"/>
                <a:sym typeface="Calibri"/>
              </a:rPr>
              <a:t>NO</a:t>
            </a:r>
            <a:r>
              <a:rPr lang="en-US" sz="1800">
                <a:solidFill>
                  <a:schemeClr val="dk1"/>
                </a:solidFill>
                <a:latin typeface="Calibri"/>
                <a:ea typeface="Calibri"/>
                <a:cs typeface="Calibri"/>
                <a:sym typeface="Calibri"/>
              </a:rPr>
              <a:t>.</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Dado que </a:t>
            </a:r>
            <a:r>
              <a:rPr lang="en-US" sz="1800">
                <a:solidFill>
                  <a:schemeClr val="accent3"/>
                </a:solidFill>
                <a:latin typeface="Calibri"/>
                <a:ea typeface="Calibri"/>
                <a:cs typeface="Calibri"/>
                <a:sym typeface="Calibri"/>
              </a:rPr>
              <a:t>36</a:t>
            </a:r>
            <a:r>
              <a:rPr lang="en-US" sz="1800">
                <a:solidFill>
                  <a:schemeClr val="dk1"/>
                </a:solidFill>
                <a:latin typeface="Calibri"/>
                <a:ea typeface="Calibri"/>
                <a:cs typeface="Calibri"/>
                <a:sym typeface="Calibri"/>
              </a:rPr>
              <a:t> es mayor a </a:t>
            </a:r>
            <a:r>
              <a:rPr lang="en-US" sz="1800">
                <a:solidFill>
                  <a:srgbClr val="FFC000"/>
                </a:solidFill>
                <a:latin typeface="Calibri"/>
                <a:ea typeface="Calibri"/>
                <a:cs typeface="Calibri"/>
                <a:sym typeface="Calibri"/>
              </a:rPr>
              <a:t>mid</a:t>
            </a:r>
            <a:r>
              <a:rPr lang="en-US" sz="1800">
                <a:solidFill>
                  <a:schemeClr val="dk1"/>
                </a:solidFill>
                <a:latin typeface="Calibri"/>
                <a:ea typeface="Calibri"/>
                <a:cs typeface="Calibri"/>
                <a:sym typeface="Calibri"/>
              </a:rPr>
              <a:t>, entonces actualizamos el intervalo a </a:t>
            </a:r>
            <a:r>
              <a:rPr lang="en-US" sz="1800">
                <a:solidFill>
                  <a:srgbClr val="C00000"/>
                </a:solidFill>
                <a:latin typeface="Calibri"/>
                <a:ea typeface="Calibri"/>
                <a:cs typeface="Calibri"/>
                <a:sym typeface="Calibri"/>
              </a:rPr>
              <a:t>[low,high] =</a:t>
            </a:r>
            <a:endParaRPr/>
          </a:p>
          <a:p>
            <a:pPr indent="0" lvl="0" marL="0" marR="0" rtl="0" algn="l">
              <a:spcBef>
                <a:spcPts val="0"/>
              </a:spcBef>
              <a:spcAft>
                <a:spcPts val="0"/>
              </a:spcAft>
              <a:buNone/>
            </a:pPr>
            <a:r>
              <a:rPr lang="en-US" sz="1800">
                <a:solidFill>
                  <a:srgbClr val="C00000"/>
                </a:solidFill>
                <a:latin typeface="Calibri"/>
                <a:ea typeface="Calibri"/>
                <a:cs typeface="Calibri"/>
                <a:sym typeface="Calibri"/>
              </a:rPr>
              <a:t>[mid+1,high] = [5,4].</a:t>
            </a:r>
            <a:endParaRPr sz="1800">
              <a:solidFill>
                <a:srgbClr val="C00000"/>
              </a:solidFill>
              <a:latin typeface="Calibri"/>
              <a:ea typeface="Calibri"/>
              <a:cs typeface="Calibri"/>
              <a:sym typeface="Calibri"/>
            </a:endParaRPr>
          </a:p>
        </p:txBody>
      </p:sp>
      <p:pic>
        <p:nvPicPr>
          <p:cNvPr descr="di_tella2.png" id="201" name="Google Shape;201;p24"/>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202" name="Google Shape;202;p24"/>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203" name="Google Shape;203;p24"/>
          <p:cNvSpPr txBox="1"/>
          <p:nvPr/>
        </p:nvSpPr>
        <p:spPr>
          <a:xfrm>
            <a:off x="177800" y="65502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9" name="Google Shape;209;p25"/>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0" name="Google Shape;210;p25"/>
          <p:cNvSpPr txBox="1"/>
          <p:nvPr/>
        </p:nvSpPr>
        <p:spPr>
          <a:xfrm>
            <a:off x="365760" y="731520"/>
            <a:ext cx="2611612" cy="4924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00">
                <a:solidFill>
                  <a:srgbClr val="323232"/>
                </a:solidFill>
                <a:latin typeface="Calibri"/>
                <a:ea typeface="Calibri"/>
                <a:cs typeface="Calibri"/>
                <a:sym typeface="Calibri"/>
              </a:rPr>
              <a:t>Búsqueda Binaria</a:t>
            </a:r>
            <a:endParaRPr sz="1800">
              <a:solidFill>
                <a:schemeClr val="dk1"/>
              </a:solidFill>
              <a:latin typeface="Calibri"/>
              <a:ea typeface="Calibri"/>
              <a:cs typeface="Calibri"/>
              <a:sym typeface="Calibri"/>
            </a:endParaRPr>
          </a:p>
        </p:txBody>
      </p:sp>
      <p:sp>
        <p:nvSpPr>
          <p:cNvPr id="211" name="Google Shape;211;p25"/>
          <p:cNvSpPr txBox="1"/>
          <p:nvPr/>
        </p:nvSpPr>
        <p:spPr>
          <a:xfrm>
            <a:off x="365760" y="1448249"/>
            <a:ext cx="8341743" cy="39703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Qué podemos deducir del intervalo [5,4]?</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Y esto qué significa?</a:t>
            </a:r>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Cómo podemos justificar esto úlitmo?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Resumiendo:</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Si el elemento está, entonces en algún momento lo encontramos al tomar el punto medio </a:t>
            </a:r>
            <a:r>
              <a:rPr lang="en-US" sz="1800">
                <a:solidFill>
                  <a:srgbClr val="FFC000"/>
                </a:solidFill>
                <a:latin typeface="Calibri"/>
                <a:ea typeface="Calibri"/>
                <a:cs typeface="Calibri"/>
                <a:sym typeface="Calibri"/>
              </a:rPr>
              <a:t>mid</a:t>
            </a:r>
            <a:r>
              <a:rPr lang="en-US" sz="1800">
                <a:solidFill>
                  <a:schemeClr val="dk1"/>
                </a:solidFill>
                <a:latin typeface="Calibri"/>
                <a:ea typeface="Calibri"/>
                <a:cs typeface="Calibri"/>
                <a:sym typeface="Calibri"/>
              </a:rPr>
              <a:t> y verificando el valor de la lista en esa posición.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Si no está, en algún momento </a:t>
            </a:r>
            <a:r>
              <a:rPr lang="en-US" sz="1800">
                <a:solidFill>
                  <a:srgbClr val="C00000"/>
                </a:solidFill>
                <a:latin typeface="Calibri"/>
                <a:ea typeface="Calibri"/>
                <a:cs typeface="Calibri"/>
                <a:sym typeface="Calibri"/>
              </a:rPr>
              <a:t>low &gt; high</a:t>
            </a:r>
            <a:r>
              <a:rPr lang="en-US" sz="1800">
                <a:solidFill>
                  <a:schemeClr val="dk1"/>
                </a:solidFill>
                <a:latin typeface="Calibri"/>
                <a:ea typeface="Calibri"/>
                <a:cs typeface="Calibri"/>
                <a:sym typeface="Calibri"/>
              </a:rPr>
              <a:t>.</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Cuidado: al tomar el punto medio, utilizar división entera (//) para evitar problemas en caso que el rango </a:t>
            </a:r>
            <a:r>
              <a:rPr lang="en-US" sz="1800">
                <a:solidFill>
                  <a:srgbClr val="C00000"/>
                </a:solidFill>
                <a:latin typeface="Calibri"/>
                <a:ea typeface="Calibri"/>
                <a:cs typeface="Calibri"/>
                <a:sym typeface="Calibri"/>
              </a:rPr>
              <a:t>[low,high] </a:t>
            </a:r>
            <a:r>
              <a:rPr lang="en-US" sz="1800">
                <a:solidFill>
                  <a:schemeClr val="dk1"/>
                </a:solidFill>
                <a:latin typeface="Calibri"/>
                <a:ea typeface="Calibri"/>
                <a:cs typeface="Calibri"/>
                <a:sym typeface="Calibri"/>
              </a:rPr>
              <a:t>tenga una cantidad par de posiciones (y, por lo tanto, no hay un único elemento en el medio).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b="1" lang="en-US" sz="1800">
                <a:solidFill>
                  <a:schemeClr val="dk1"/>
                </a:solidFill>
                <a:latin typeface="Calibri"/>
                <a:ea typeface="Calibri"/>
                <a:cs typeface="Calibri"/>
                <a:sym typeface="Calibri"/>
              </a:rPr>
              <a:t>Sabemos </a:t>
            </a:r>
            <a:r>
              <a:rPr b="1" i="1" lang="en-US" sz="1800">
                <a:solidFill>
                  <a:schemeClr val="dk1"/>
                </a:solidFill>
                <a:latin typeface="Calibri"/>
                <a:ea typeface="Calibri"/>
                <a:cs typeface="Calibri"/>
                <a:sym typeface="Calibri"/>
              </a:rPr>
              <a:t>a priori </a:t>
            </a:r>
            <a:r>
              <a:rPr b="1" lang="en-US" sz="1800">
                <a:solidFill>
                  <a:schemeClr val="dk1"/>
                </a:solidFill>
                <a:latin typeface="Calibri"/>
                <a:ea typeface="Calibri"/>
                <a:cs typeface="Calibri"/>
                <a:sym typeface="Calibri"/>
              </a:rPr>
              <a:t>cuántas iteraciones vamos a hacer en el peor de los casos?</a:t>
            </a:r>
            <a:endParaRPr/>
          </a:p>
          <a:p>
            <a:pPr indent="0" lvl="0" marL="0" marR="0" rtl="0" algn="ctr">
              <a:spcBef>
                <a:spcPts val="0"/>
              </a:spcBef>
              <a:spcAft>
                <a:spcPts val="0"/>
              </a:spcAft>
              <a:buNone/>
            </a:pPr>
            <a:r>
              <a:rPr b="1" lang="en-US" sz="1800">
                <a:solidFill>
                  <a:schemeClr val="dk1"/>
                </a:solidFill>
                <a:latin typeface="Calibri"/>
                <a:ea typeface="Calibri"/>
                <a:cs typeface="Calibri"/>
                <a:sym typeface="Calibri"/>
              </a:rPr>
              <a:t>Cómo sabemos cuándo vamos a terminar de iterar?</a:t>
            </a:r>
            <a:endParaRPr sz="1800">
              <a:solidFill>
                <a:schemeClr val="dk1"/>
              </a:solidFill>
              <a:latin typeface="Calibri"/>
              <a:ea typeface="Calibri"/>
              <a:cs typeface="Calibri"/>
              <a:sym typeface="Calibri"/>
            </a:endParaRPr>
          </a:p>
        </p:txBody>
      </p:sp>
      <p:pic>
        <p:nvPicPr>
          <p:cNvPr descr="di_tella2.png" id="212" name="Google Shape;212;p25"/>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213" name="Google Shape;213;p25"/>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214" name="Google Shape;214;p25"/>
          <p:cNvSpPr txBox="1"/>
          <p:nvPr/>
        </p:nvSpPr>
        <p:spPr>
          <a:xfrm>
            <a:off x="177800" y="65502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nvSpPr>
        <p:spPr>
          <a:xfrm>
            <a:off x="2240672" y="3207687"/>
            <a:ext cx="3676800" cy="361500"/>
          </a:xfrm>
          <a:prstGeom prst="rect">
            <a:avLst/>
          </a:prstGeom>
          <a:noFill/>
          <a:ln>
            <a:noFill/>
          </a:ln>
        </p:spPr>
        <p:txBody>
          <a:bodyPr anchorCtr="0" anchor="t" bIns="0" lIns="0" spcFirstLastPara="1" rIns="0" wrap="square" tIns="22650">
            <a:spAutoFit/>
          </a:bodyPr>
          <a:lstStyle/>
          <a:p>
            <a:pPr indent="0" lvl="0" marL="25400" marR="0" rtl="0" algn="l">
              <a:lnSpc>
                <a:spcPct val="100000"/>
              </a:lnSpc>
              <a:spcBef>
                <a:spcPts val="0"/>
              </a:spcBef>
              <a:spcAft>
                <a:spcPts val="0"/>
              </a:spcAft>
              <a:buClr>
                <a:srgbClr val="000000"/>
              </a:buClr>
              <a:buSzPts val="2200"/>
              <a:buFont typeface="Arial"/>
              <a:buNone/>
            </a:pPr>
            <a:r>
              <a:rPr lang="en-US" sz="2200" cap="small">
                <a:solidFill>
                  <a:srgbClr val="F4F2ED"/>
                </a:solidFill>
                <a:latin typeface="Tahoma"/>
                <a:ea typeface="Tahoma"/>
                <a:cs typeface="Tahoma"/>
                <a:sym typeface="Tahoma"/>
              </a:rPr>
              <a:t>EJERCICIO</a:t>
            </a:r>
            <a:endParaRPr b="0" i="0" sz="2200" u="none" cap="none" strike="noStrike">
              <a:solidFill>
                <a:srgbClr val="000000"/>
              </a:solidFill>
              <a:latin typeface="Tahoma"/>
              <a:ea typeface="Tahoma"/>
              <a:cs typeface="Tahoma"/>
              <a:sym typeface="Tahoma"/>
            </a:endParaRPr>
          </a:p>
        </p:txBody>
      </p:sp>
      <p:grpSp>
        <p:nvGrpSpPr>
          <p:cNvPr id="220" name="Google Shape;220;p26"/>
          <p:cNvGrpSpPr/>
          <p:nvPr/>
        </p:nvGrpSpPr>
        <p:grpSpPr>
          <a:xfrm>
            <a:off x="2260855" y="3600041"/>
            <a:ext cx="4642600" cy="50335"/>
            <a:chOff x="1133919" y="1518500"/>
            <a:chExt cx="2340610" cy="25400"/>
          </a:xfrm>
        </p:grpSpPr>
        <p:sp>
          <p:nvSpPr>
            <p:cNvPr id="221" name="Google Shape;221;p26"/>
            <p:cNvSpPr/>
            <p:nvPr/>
          </p:nvSpPr>
          <p:spPr>
            <a:xfrm>
              <a:off x="1133919" y="1518500"/>
              <a:ext cx="2340610" cy="25400"/>
            </a:xfrm>
            <a:custGeom>
              <a:rect b="b" l="l" r="r" t="t"/>
              <a:pathLst>
                <a:path extrusionOk="0" h="25400" w="2340610">
                  <a:moveTo>
                    <a:pt x="0" y="25305"/>
                  </a:moveTo>
                  <a:lnTo>
                    <a:pt x="0" y="0"/>
                  </a:lnTo>
                  <a:lnTo>
                    <a:pt x="2340180" y="0"/>
                  </a:lnTo>
                  <a:lnTo>
                    <a:pt x="2340180" y="25305"/>
                  </a:lnTo>
                  <a:lnTo>
                    <a:pt x="0" y="25305"/>
                  </a:lnTo>
                  <a:close/>
                </a:path>
              </a:pathLst>
            </a:custGeom>
            <a:solidFill>
              <a:srgbClr val="F4F2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2" name="Google Shape;222;p26"/>
            <p:cNvSpPr/>
            <p:nvPr/>
          </p:nvSpPr>
          <p:spPr>
            <a:xfrm>
              <a:off x="1133919" y="1518500"/>
              <a:ext cx="2340610" cy="25400"/>
            </a:xfrm>
            <a:custGeom>
              <a:rect b="b" l="l" r="r" t="t"/>
              <a:pathLst>
                <a:path extrusionOk="0" h="25400" w="2340610">
                  <a:moveTo>
                    <a:pt x="0" y="25305"/>
                  </a:moveTo>
                  <a:lnTo>
                    <a:pt x="0" y="0"/>
                  </a:lnTo>
                  <a:lnTo>
                    <a:pt x="2340180" y="0"/>
                  </a:lnTo>
                  <a:lnTo>
                    <a:pt x="2340180" y="25305"/>
                  </a:lnTo>
                  <a:lnTo>
                    <a:pt x="0" y="25305"/>
                  </a:lnTo>
                  <a:close/>
                </a:path>
              </a:pathLst>
            </a:custGeom>
            <a:noFill/>
            <a:ln cap="flat" cmpd="sng" w="18875">
              <a:solidFill>
                <a:srgbClr val="F4F2ED"/>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3" name="Google Shape;223;p26"/>
            <p:cNvSpPr/>
            <p:nvPr/>
          </p:nvSpPr>
          <p:spPr>
            <a:xfrm>
              <a:off x="1133919" y="1518500"/>
              <a:ext cx="1221105" cy="25400"/>
            </a:xfrm>
            <a:custGeom>
              <a:rect b="b" l="l" r="r" t="t"/>
              <a:pathLst>
                <a:path extrusionOk="0" h="25400" w="1221105">
                  <a:moveTo>
                    <a:pt x="0" y="25305"/>
                  </a:moveTo>
                  <a:lnTo>
                    <a:pt x="0" y="0"/>
                  </a:lnTo>
                  <a:lnTo>
                    <a:pt x="1220943" y="0"/>
                  </a:lnTo>
                  <a:lnTo>
                    <a:pt x="1220943" y="25305"/>
                  </a:lnTo>
                  <a:lnTo>
                    <a:pt x="0" y="25305"/>
                  </a:lnTo>
                  <a:close/>
                </a:path>
              </a:pathLst>
            </a:custGeom>
            <a:solidFill>
              <a:srgbClr val="006DB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4" name="Google Shape;224;p26"/>
            <p:cNvSpPr/>
            <p:nvPr/>
          </p:nvSpPr>
          <p:spPr>
            <a:xfrm>
              <a:off x="1133919" y="1518500"/>
              <a:ext cx="1221105" cy="25400"/>
            </a:xfrm>
            <a:custGeom>
              <a:rect b="b" l="l" r="r" t="t"/>
              <a:pathLst>
                <a:path extrusionOk="0" h="25400" w="1221105">
                  <a:moveTo>
                    <a:pt x="0" y="25305"/>
                  </a:moveTo>
                  <a:lnTo>
                    <a:pt x="0" y="0"/>
                  </a:lnTo>
                  <a:lnTo>
                    <a:pt x="1220943" y="0"/>
                  </a:lnTo>
                  <a:lnTo>
                    <a:pt x="1220943" y="25305"/>
                  </a:lnTo>
                  <a:lnTo>
                    <a:pt x="0" y="25305"/>
                  </a:lnTo>
                  <a:close/>
                </a:path>
              </a:pathLst>
            </a:custGeom>
            <a:solidFill>
              <a:srgbClr val="FFD966"/>
            </a:solidFill>
            <a:ln cap="flat" cmpd="sng" w="18875">
              <a:solidFill>
                <a:srgbClr val="F1C232"/>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gr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7"/>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27"/>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27"/>
          <p:cNvSpPr txBox="1"/>
          <p:nvPr/>
        </p:nvSpPr>
        <p:spPr>
          <a:xfrm>
            <a:off x="177799" y="962942"/>
            <a:ext cx="8966201" cy="424731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Implementar el algoritmo de </a:t>
            </a:r>
            <a:r>
              <a:rPr i="1" lang="en-US" sz="1800">
                <a:solidFill>
                  <a:schemeClr val="dk1"/>
                </a:solidFill>
                <a:latin typeface="Calibri"/>
                <a:ea typeface="Calibri"/>
                <a:cs typeface="Calibri"/>
                <a:sym typeface="Calibri"/>
              </a:rPr>
              <a:t>búsqueda secuencial</a:t>
            </a:r>
            <a:r>
              <a:rPr lang="en-US" sz="1800">
                <a:solidFill>
                  <a:schemeClr val="dk1"/>
                </a:solidFill>
                <a:latin typeface="Calibri"/>
                <a:ea typeface="Calibri"/>
                <a:cs typeface="Calibri"/>
                <a:sym typeface="Calibri"/>
              </a:rPr>
              <a:t>, que toma una lista (no necesariamente ordenada) l y un elemento x y devuelve True en caso de x esté en l, y False en caso contrario.</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2. Implementar el algoritmo </a:t>
            </a:r>
            <a:r>
              <a:rPr i="1" lang="en-US" sz="1800">
                <a:solidFill>
                  <a:schemeClr val="dk1"/>
                </a:solidFill>
                <a:latin typeface="Calibri"/>
                <a:ea typeface="Calibri"/>
                <a:cs typeface="Calibri"/>
                <a:sym typeface="Calibri"/>
              </a:rPr>
              <a:t>búsqueda binaria </a:t>
            </a:r>
            <a:r>
              <a:rPr lang="en-US" sz="1800">
                <a:solidFill>
                  <a:schemeClr val="dk1"/>
                </a:solidFill>
                <a:latin typeface="Calibri"/>
                <a:ea typeface="Calibri"/>
                <a:cs typeface="Calibri"/>
                <a:sym typeface="Calibri"/>
              </a:rPr>
              <a:t>de forma iterativa, que toma una lista ordenada (en forma ascendente) l y un elemento x (del tipo de los elementos de la lista) y devuelve True en caso que x esté en l, y False en caso contrario.</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3. Implementar el algoritmo de </a:t>
            </a:r>
            <a:r>
              <a:rPr i="1" lang="en-US" sz="1800">
                <a:solidFill>
                  <a:schemeClr val="dk1"/>
                </a:solidFill>
                <a:latin typeface="Calibri"/>
                <a:ea typeface="Calibri"/>
                <a:cs typeface="Calibri"/>
                <a:sym typeface="Calibri"/>
              </a:rPr>
              <a:t>búsqueda binaria </a:t>
            </a:r>
            <a:r>
              <a:rPr lang="en-US" sz="1800">
                <a:solidFill>
                  <a:schemeClr val="dk1"/>
                </a:solidFill>
                <a:latin typeface="Calibri"/>
                <a:ea typeface="Calibri"/>
                <a:cs typeface="Calibri"/>
                <a:sym typeface="Calibri"/>
              </a:rPr>
              <a:t>usando recursión.</a:t>
            </a:r>
            <a:endParaRPr/>
          </a:p>
          <a:p>
            <a:pPr indent="0" lvl="0" marL="0" marR="0" rtl="0" algn="l">
              <a:spcBef>
                <a:spcPts val="0"/>
              </a:spcBef>
              <a:spcAft>
                <a:spcPts val="0"/>
              </a:spcAft>
              <a:buNone/>
            </a:pPr>
            <a:r>
              <a:rPr i="1" lang="en-US" sz="1800">
                <a:solidFill>
                  <a:schemeClr val="dk1"/>
                </a:solidFill>
                <a:latin typeface="Calibri"/>
                <a:ea typeface="Calibri"/>
                <a:cs typeface="Calibri"/>
                <a:sym typeface="Calibri"/>
              </a:rPr>
              <a:t>Sugerencia, agregar parámetros adicionales a la función para indicar los límites </a:t>
            </a:r>
            <a:r>
              <a:rPr lang="en-US" sz="1800">
                <a:solidFill>
                  <a:schemeClr val="dk1"/>
                </a:solidFill>
                <a:latin typeface="Calibri"/>
                <a:ea typeface="Calibri"/>
                <a:cs typeface="Calibri"/>
                <a:sym typeface="Calibri"/>
              </a:rPr>
              <a:t>low y high.</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800">
                <a:solidFill>
                  <a:schemeClr val="dk1"/>
                </a:solidFill>
                <a:latin typeface="Calibri"/>
                <a:ea typeface="Calibri"/>
                <a:cs typeface="Calibri"/>
                <a:sym typeface="Calibri"/>
              </a:rPr>
              <a:t>def</a:t>
            </a:r>
            <a:r>
              <a:rPr lang="en-US" sz="1800">
                <a:solidFill>
                  <a:schemeClr val="dk1"/>
                </a:solidFill>
                <a:latin typeface="Calibri"/>
                <a:ea typeface="Calibri"/>
                <a:cs typeface="Calibri"/>
                <a:sym typeface="Calibri"/>
              </a:rPr>
              <a:t> busqueda_binaria_recursiva (l, x, low, high):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Pass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4. Ejercicio 10.10.</a:t>
            </a:r>
            <a:endParaRPr sz="1800">
              <a:solidFill>
                <a:schemeClr val="dk1"/>
              </a:solidFill>
              <a:latin typeface="Calibri"/>
              <a:ea typeface="Calibri"/>
              <a:cs typeface="Calibri"/>
              <a:sym typeface="Calibri"/>
            </a:endParaRPr>
          </a:p>
        </p:txBody>
      </p:sp>
      <p:pic>
        <p:nvPicPr>
          <p:cNvPr descr="di_tella2.png" id="232" name="Google Shape;232;p27"/>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233" name="Google Shape;233;p27"/>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234" name="Google Shape;234;p27"/>
          <p:cNvSpPr txBox="1"/>
          <p:nvPr/>
        </p:nvSpPr>
        <p:spPr>
          <a:xfrm>
            <a:off x="177800" y="651360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8"/>
          <p:cNvSpPr/>
          <p:nvPr/>
        </p:nvSpPr>
        <p:spPr>
          <a:xfrm>
            <a:off x="0" y="0"/>
            <a:ext cx="9144000" cy="548640"/>
          </a:xfrm>
          <a:prstGeom prst="rect">
            <a:avLst/>
          </a:prstGeom>
          <a:solidFill>
            <a:srgbClr val="FFD96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28"/>
          <p:cNvSpPr/>
          <p:nvPr/>
        </p:nvSpPr>
        <p:spPr>
          <a:xfrm>
            <a:off x="0" y="6492240"/>
            <a:ext cx="9144000" cy="365760"/>
          </a:xfrm>
          <a:prstGeom prst="rect">
            <a:avLst/>
          </a:prstGeom>
          <a:solidFill>
            <a:srgbClr val="282828"/>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di_tella2.png" id="241" name="Google Shape;241;p28"/>
          <p:cNvPicPr preferRelativeResize="0"/>
          <p:nvPr/>
        </p:nvPicPr>
        <p:blipFill rotWithShape="1">
          <a:blip r:embed="rId3">
            <a:alphaModFix/>
          </a:blip>
          <a:srcRect b="0" l="0" r="0" t="0"/>
          <a:stretch/>
        </p:blipFill>
        <p:spPr>
          <a:xfrm>
            <a:off x="8325350" y="20319"/>
            <a:ext cx="818650" cy="508001"/>
          </a:xfrm>
          <a:prstGeom prst="rect">
            <a:avLst/>
          </a:prstGeom>
          <a:noFill/>
          <a:ln>
            <a:noFill/>
          </a:ln>
        </p:spPr>
      </p:pic>
      <p:sp>
        <p:nvSpPr>
          <p:cNvPr id="242" name="Google Shape;242;p28"/>
          <p:cNvSpPr txBox="1"/>
          <p:nvPr/>
        </p:nvSpPr>
        <p:spPr>
          <a:xfrm>
            <a:off x="254000" y="190500"/>
            <a:ext cx="5715000" cy="266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2D2D2D"/>
                </a:solidFill>
                <a:latin typeface="Calibri"/>
                <a:ea typeface="Calibri"/>
                <a:cs typeface="Calibri"/>
                <a:sym typeface="Calibri"/>
              </a:rPr>
              <a:t>Métodos Analíticos y Programación</a:t>
            </a:r>
            <a:endParaRPr b="0" i="0" sz="1400" u="none" cap="none" strike="noStrike">
              <a:solidFill>
                <a:srgbClr val="000000"/>
              </a:solidFill>
              <a:latin typeface="Arial"/>
              <a:ea typeface="Arial"/>
              <a:cs typeface="Arial"/>
              <a:sym typeface="Arial"/>
            </a:endParaRPr>
          </a:p>
        </p:txBody>
      </p:sp>
      <p:sp>
        <p:nvSpPr>
          <p:cNvPr id="243" name="Google Shape;243;p28"/>
          <p:cNvSpPr txBox="1"/>
          <p:nvPr/>
        </p:nvSpPr>
        <p:spPr>
          <a:xfrm>
            <a:off x="177800" y="6492240"/>
            <a:ext cx="5715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Calibri"/>
                <a:ea typeface="Calibri"/>
                <a:cs typeface="Calibri"/>
                <a:sym typeface="Calibri"/>
              </a:rPr>
              <a:t>Pablo J Piccoli Bornia</a:t>
            </a:r>
            <a:endParaRPr b="0" i="0" sz="1400" u="none" cap="none" strike="noStrike">
              <a:solidFill>
                <a:srgbClr val="000000"/>
              </a:solidFill>
              <a:latin typeface="Arial"/>
              <a:ea typeface="Arial"/>
              <a:cs typeface="Arial"/>
              <a:sym typeface="Arial"/>
            </a:endParaRPr>
          </a:p>
        </p:txBody>
      </p:sp>
      <p:sp>
        <p:nvSpPr>
          <p:cNvPr id="244" name="Google Shape;244;p28"/>
          <p:cNvSpPr txBox="1"/>
          <p:nvPr/>
        </p:nvSpPr>
        <p:spPr>
          <a:xfrm>
            <a:off x="569343" y="1052423"/>
            <a:ext cx="8195095" cy="40934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strike="noStrike">
                <a:solidFill>
                  <a:srgbClr val="0000FF"/>
                </a:solidFill>
                <a:latin typeface="Arial"/>
                <a:ea typeface="Arial"/>
                <a:cs typeface="Arial"/>
                <a:sym typeface="Arial"/>
              </a:rPr>
              <a:t>def </a:t>
            </a:r>
            <a:r>
              <a:rPr b="0" i="0" lang="en-US" sz="2000" u="none" strike="noStrike">
                <a:solidFill>
                  <a:srgbClr val="333333"/>
                </a:solidFill>
                <a:latin typeface="Arial"/>
                <a:ea typeface="Arial"/>
                <a:cs typeface="Arial"/>
                <a:sym typeface="Arial"/>
              </a:rPr>
              <a:t>busqueda_binaria ( l , t a r g e t ) :</a:t>
            </a:r>
            <a:endParaRPr/>
          </a:p>
          <a:p>
            <a:pPr indent="0" lvl="1" marL="457200" marR="0" rtl="0" algn="l">
              <a:spcBef>
                <a:spcPts val="0"/>
              </a:spcBef>
              <a:spcAft>
                <a:spcPts val="0"/>
              </a:spcAft>
              <a:buNone/>
            </a:pPr>
            <a:r>
              <a:rPr b="0" i="0" lang="en-US" sz="2000" u="none" cap="none" strike="noStrike">
                <a:solidFill>
                  <a:srgbClr val="009A00"/>
                </a:solidFill>
                <a:latin typeface="Arial"/>
                <a:ea typeface="Arial"/>
                <a:cs typeface="Arial"/>
                <a:sym typeface="Arial"/>
              </a:rPr>
              <a:t># Inicializamos las variables del intervalo.</a:t>
            </a:r>
            <a:endParaRPr/>
          </a:p>
          <a:p>
            <a:pPr indent="0" lvl="1" marL="457200" marR="0" rtl="0" algn="l">
              <a:spcBef>
                <a:spcPts val="0"/>
              </a:spcBef>
              <a:spcAft>
                <a:spcPts val="0"/>
              </a:spcAft>
              <a:buNone/>
            </a:pPr>
            <a:r>
              <a:rPr b="0" i="0" lang="en-US" sz="2000" u="none" cap="none" strike="noStrike">
                <a:solidFill>
                  <a:srgbClr val="333333"/>
                </a:solidFill>
                <a:latin typeface="Arial"/>
                <a:ea typeface="Arial"/>
                <a:cs typeface="Arial"/>
                <a:sym typeface="Arial"/>
              </a:rPr>
              <a:t>low = 0</a:t>
            </a:r>
            <a:endParaRPr/>
          </a:p>
          <a:p>
            <a:pPr indent="0" lvl="1" marL="457200" marR="0" rtl="0" algn="l">
              <a:spcBef>
                <a:spcPts val="0"/>
              </a:spcBef>
              <a:spcAft>
                <a:spcPts val="0"/>
              </a:spcAft>
              <a:buNone/>
            </a:pPr>
            <a:r>
              <a:rPr b="0" i="0" lang="en-US" sz="2000" u="none" cap="none" strike="noStrike">
                <a:solidFill>
                  <a:srgbClr val="333333"/>
                </a:solidFill>
                <a:latin typeface="Arial"/>
                <a:ea typeface="Arial"/>
                <a:cs typeface="Arial"/>
                <a:sym typeface="Arial"/>
              </a:rPr>
              <a:t>high = </a:t>
            </a:r>
            <a:r>
              <a:rPr b="0" i="0" lang="en-US" sz="2000" u="none" cap="none" strike="noStrike">
                <a:solidFill>
                  <a:srgbClr val="0000FF"/>
                </a:solidFill>
                <a:latin typeface="Arial"/>
                <a:ea typeface="Arial"/>
                <a:cs typeface="Arial"/>
                <a:sym typeface="Arial"/>
              </a:rPr>
              <a:t>len </a:t>
            </a:r>
            <a:r>
              <a:rPr b="0" i="0" lang="en-US" sz="2000" u="none" cap="none" strike="noStrike">
                <a:solidFill>
                  <a:srgbClr val="333333"/>
                </a:solidFill>
                <a:latin typeface="Arial"/>
                <a:ea typeface="Arial"/>
                <a:cs typeface="Arial"/>
                <a:sym typeface="Arial"/>
              </a:rPr>
              <a:t>( l )􀀀1</a:t>
            </a:r>
            <a:endParaRPr/>
          </a:p>
          <a:p>
            <a:pPr indent="0" lvl="1" marL="457200" marR="0" rtl="0" algn="l">
              <a:spcBef>
                <a:spcPts val="0"/>
              </a:spcBef>
              <a:spcAft>
                <a:spcPts val="0"/>
              </a:spcAft>
              <a:buNone/>
            </a:pPr>
            <a:r>
              <a:rPr b="0" i="0" lang="en-US" sz="2000" u="none" cap="none" strike="noStrike">
                <a:solidFill>
                  <a:srgbClr val="0000FF"/>
                </a:solidFill>
                <a:latin typeface="Arial"/>
                <a:ea typeface="Arial"/>
                <a:cs typeface="Arial"/>
                <a:sym typeface="Arial"/>
              </a:rPr>
              <a:t>while </a:t>
            </a:r>
            <a:r>
              <a:rPr b="0" i="0" lang="en-US" sz="2000" u="none" cap="none" strike="noStrike">
                <a:solidFill>
                  <a:srgbClr val="333333"/>
                </a:solidFill>
                <a:latin typeface="Arial"/>
                <a:ea typeface="Arial"/>
                <a:cs typeface="Arial"/>
                <a:sym typeface="Arial"/>
              </a:rPr>
              <a:t>low &lt;= high :</a:t>
            </a:r>
            <a:endParaRPr/>
          </a:p>
          <a:p>
            <a:pPr indent="0" lvl="2" marL="914400" marR="0" rtl="0" algn="l">
              <a:spcBef>
                <a:spcPts val="0"/>
              </a:spcBef>
              <a:spcAft>
                <a:spcPts val="0"/>
              </a:spcAft>
              <a:buNone/>
            </a:pPr>
            <a:r>
              <a:rPr b="0" i="0" lang="en-US" sz="2000" u="none" cap="none" strike="noStrike">
                <a:solidFill>
                  <a:srgbClr val="333333"/>
                </a:solidFill>
                <a:latin typeface="Arial"/>
                <a:ea typeface="Arial"/>
                <a:cs typeface="Arial"/>
                <a:sym typeface="Arial"/>
              </a:rPr>
              <a:t>mid = low + </a:t>
            </a:r>
            <a:r>
              <a:rPr b="0" i="0" lang="en-US" sz="2000" u="none" cap="none" strike="noStrike">
                <a:solidFill>
                  <a:srgbClr val="0000FF"/>
                </a:solidFill>
                <a:latin typeface="Arial"/>
                <a:ea typeface="Arial"/>
                <a:cs typeface="Arial"/>
                <a:sym typeface="Arial"/>
              </a:rPr>
              <a:t>i n t </a:t>
            </a:r>
            <a:r>
              <a:rPr b="0" i="0" lang="en-US" sz="2000" u="none" cap="none" strike="noStrike">
                <a:solidFill>
                  <a:srgbClr val="333333"/>
                </a:solidFill>
                <a:latin typeface="Arial"/>
                <a:ea typeface="Arial"/>
                <a:cs typeface="Arial"/>
                <a:sym typeface="Arial"/>
              </a:rPr>
              <a:t>( ( high 􀀀 low) /2)</a:t>
            </a:r>
            <a:endParaRPr/>
          </a:p>
          <a:p>
            <a:pPr indent="0" lvl="2" marL="914400" marR="0" rtl="0" algn="l">
              <a:spcBef>
                <a:spcPts val="0"/>
              </a:spcBef>
              <a:spcAft>
                <a:spcPts val="0"/>
              </a:spcAft>
              <a:buNone/>
            </a:pPr>
            <a:r>
              <a:rPr b="0" i="0" lang="en-US" sz="2000" u="none" cap="none" strike="noStrike">
                <a:solidFill>
                  <a:srgbClr val="0000FF"/>
                </a:solidFill>
                <a:latin typeface="Arial"/>
                <a:ea typeface="Arial"/>
                <a:cs typeface="Arial"/>
                <a:sym typeface="Arial"/>
              </a:rPr>
              <a:t>if </a:t>
            </a:r>
            <a:r>
              <a:rPr b="0" i="0" lang="en-US" sz="2000" u="none" cap="none" strike="noStrike">
                <a:solidFill>
                  <a:srgbClr val="333333"/>
                </a:solidFill>
                <a:latin typeface="Arial"/>
                <a:ea typeface="Arial"/>
                <a:cs typeface="Arial"/>
                <a:sym typeface="Arial"/>
              </a:rPr>
              <a:t>l [mid] == t a r g e t :</a:t>
            </a:r>
            <a:endParaRPr/>
          </a:p>
          <a:p>
            <a:pPr indent="0" lvl="3" marL="1371600" marR="0" rtl="0" algn="l">
              <a:spcBef>
                <a:spcPts val="0"/>
              </a:spcBef>
              <a:spcAft>
                <a:spcPts val="0"/>
              </a:spcAft>
              <a:buNone/>
            </a:pPr>
            <a:r>
              <a:rPr b="0" i="0" lang="en-US" sz="2000" u="none" cap="none" strike="noStrike">
                <a:solidFill>
                  <a:srgbClr val="0000FF"/>
                </a:solidFill>
                <a:latin typeface="Arial"/>
                <a:ea typeface="Arial"/>
                <a:cs typeface="Arial"/>
                <a:sym typeface="Arial"/>
              </a:rPr>
              <a:t>return </a:t>
            </a:r>
            <a:r>
              <a:rPr b="0" i="0" lang="en-US" sz="2000" u="none" cap="none" strike="noStrike">
                <a:solidFill>
                  <a:srgbClr val="333333"/>
                </a:solidFill>
                <a:latin typeface="Arial"/>
                <a:ea typeface="Arial"/>
                <a:cs typeface="Arial"/>
                <a:sym typeface="Arial"/>
              </a:rPr>
              <a:t>True </a:t>
            </a:r>
            <a:r>
              <a:rPr b="0" i="0" lang="en-US" sz="2000" u="none" cap="none" strike="noStrike">
                <a:solidFill>
                  <a:srgbClr val="009A00"/>
                </a:solidFill>
                <a:latin typeface="Arial"/>
                <a:ea typeface="Arial"/>
                <a:cs typeface="Arial"/>
                <a:sym typeface="Arial"/>
              </a:rPr>
              <a:t># Si es el mismo valor, lo encontramos .</a:t>
            </a:r>
            <a:endParaRPr/>
          </a:p>
          <a:p>
            <a:pPr indent="0" lvl="2" marL="914400" marR="0" rtl="0" algn="l">
              <a:spcBef>
                <a:spcPts val="0"/>
              </a:spcBef>
              <a:spcAft>
                <a:spcPts val="0"/>
              </a:spcAft>
              <a:buNone/>
            </a:pPr>
            <a:r>
              <a:rPr b="0" i="0" lang="en-US" sz="2000" u="none" cap="none" strike="noStrike">
                <a:solidFill>
                  <a:srgbClr val="0000FF"/>
                </a:solidFill>
                <a:latin typeface="Arial"/>
                <a:ea typeface="Arial"/>
                <a:cs typeface="Arial"/>
                <a:sym typeface="Arial"/>
              </a:rPr>
              <a:t>elif </a:t>
            </a:r>
            <a:r>
              <a:rPr b="0" i="0" lang="en-US" sz="2000" u="none" cap="none" strike="noStrike">
                <a:solidFill>
                  <a:srgbClr val="333333"/>
                </a:solidFill>
                <a:latin typeface="Arial"/>
                <a:ea typeface="Arial"/>
                <a:cs typeface="Arial"/>
                <a:sym typeface="Arial"/>
              </a:rPr>
              <a:t>l [mid] &lt; t a r g e t :</a:t>
            </a:r>
            <a:endParaRPr/>
          </a:p>
          <a:p>
            <a:pPr indent="0" lvl="3" marL="1371600" marR="0" rtl="0" algn="l">
              <a:spcBef>
                <a:spcPts val="0"/>
              </a:spcBef>
              <a:spcAft>
                <a:spcPts val="0"/>
              </a:spcAft>
              <a:buNone/>
            </a:pPr>
            <a:r>
              <a:rPr b="0" i="0" lang="en-US" sz="2000" u="none" cap="none" strike="noStrike">
                <a:solidFill>
                  <a:srgbClr val="333333"/>
                </a:solidFill>
                <a:latin typeface="Arial"/>
                <a:ea typeface="Arial"/>
                <a:cs typeface="Arial"/>
                <a:sym typeface="Arial"/>
              </a:rPr>
              <a:t>low = mid+1 </a:t>
            </a:r>
            <a:r>
              <a:rPr b="0" i="0" lang="en-US" sz="2000" u="none" cap="none" strike="noStrike">
                <a:solidFill>
                  <a:srgbClr val="009A00"/>
                </a:solidFill>
                <a:latin typeface="Arial"/>
                <a:ea typeface="Arial"/>
                <a:cs typeface="Arial"/>
                <a:sym typeface="Arial"/>
              </a:rPr>
              <a:t># Descartamos valores menores a target</a:t>
            </a:r>
            <a:endParaRPr/>
          </a:p>
          <a:p>
            <a:pPr indent="0" lvl="2" marL="914400" marR="0" rtl="0" algn="l">
              <a:spcBef>
                <a:spcPts val="0"/>
              </a:spcBef>
              <a:spcAft>
                <a:spcPts val="0"/>
              </a:spcAft>
              <a:buNone/>
            </a:pPr>
            <a:r>
              <a:rPr b="0" i="0" lang="en-US" sz="2000" u="none" cap="none" strike="noStrike">
                <a:solidFill>
                  <a:srgbClr val="0000FF"/>
                </a:solidFill>
                <a:latin typeface="Arial"/>
                <a:ea typeface="Arial"/>
                <a:cs typeface="Arial"/>
                <a:sym typeface="Arial"/>
              </a:rPr>
              <a:t>else</a:t>
            </a:r>
            <a:r>
              <a:rPr b="0" i="0" lang="en-US" sz="2000" u="none" cap="none" strike="noStrike">
                <a:solidFill>
                  <a:srgbClr val="333333"/>
                </a:solidFill>
                <a:latin typeface="Arial"/>
                <a:ea typeface="Arial"/>
                <a:cs typeface="Arial"/>
                <a:sym typeface="Arial"/>
              </a:rPr>
              <a:t>:</a:t>
            </a:r>
            <a:endParaRPr/>
          </a:p>
          <a:p>
            <a:pPr indent="0" lvl="2" marL="914400" marR="0" rtl="0" algn="l">
              <a:spcBef>
                <a:spcPts val="0"/>
              </a:spcBef>
              <a:spcAft>
                <a:spcPts val="0"/>
              </a:spcAft>
              <a:buNone/>
            </a:pPr>
            <a:r>
              <a:rPr b="0" i="0" lang="en-US" sz="2000" u="none" cap="none" strike="noStrike">
                <a:solidFill>
                  <a:srgbClr val="333333"/>
                </a:solidFill>
                <a:latin typeface="Arial"/>
                <a:ea typeface="Arial"/>
                <a:cs typeface="Arial"/>
                <a:sym typeface="Arial"/>
              </a:rPr>
              <a:t>	high = mid-1 </a:t>
            </a:r>
            <a:r>
              <a:rPr b="0" i="0" lang="en-US" sz="2000" u="none" cap="none" strike="noStrike">
                <a:solidFill>
                  <a:srgbClr val="009A00"/>
                </a:solidFill>
                <a:latin typeface="Arial"/>
                <a:ea typeface="Arial"/>
                <a:cs typeface="Arial"/>
                <a:sym typeface="Arial"/>
              </a:rPr>
              <a:t># Descartamos valores mayores a target</a:t>
            </a:r>
            <a:endParaRPr/>
          </a:p>
          <a:p>
            <a:pPr indent="0" lvl="2" marL="914400" marR="0" rtl="0" algn="l">
              <a:spcBef>
                <a:spcPts val="0"/>
              </a:spcBef>
              <a:spcAft>
                <a:spcPts val="0"/>
              </a:spcAft>
              <a:buNone/>
            </a:pPr>
            <a:r>
              <a:rPr b="0" i="0" lang="en-US" sz="2000" u="none" cap="none" strike="noStrike">
                <a:solidFill>
                  <a:srgbClr val="0000FF"/>
                </a:solidFill>
                <a:latin typeface="Arial"/>
                <a:ea typeface="Arial"/>
                <a:cs typeface="Arial"/>
                <a:sym typeface="Arial"/>
              </a:rPr>
              <a:t>return </a:t>
            </a:r>
            <a:r>
              <a:rPr b="0" i="0" lang="en-US" sz="2000" u="none" cap="none" strike="noStrike">
                <a:solidFill>
                  <a:srgbClr val="333333"/>
                </a:solidFill>
                <a:latin typeface="Arial"/>
                <a:ea typeface="Arial"/>
                <a:cs typeface="Arial"/>
                <a:sym typeface="Arial"/>
              </a:rPr>
              <a:t>Fal s e </a:t>
            </a:r>
            <a:r>
              <a:rPr b="0" i="0" lang="en-US" sz="2000" u="none" cap="none" strike="noStrike">
                <a:solidFill>
                  <a:srgbClr val="009A00"/>
                </a:solidFill>
                <a:latin typeface="Arial"/>
                <a:ea typeface="Arial"/>
                <a:cs typeface="Arial"/>
                <a:sym typeface="Arial"/>
              </a:rPr>
              <a:t># Termino e l while , low &gt; high . target no esta en l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