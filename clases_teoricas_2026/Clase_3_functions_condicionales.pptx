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slide" Target="slides/slide41.xml"/><Relationship Id="rId23" Type="http://schemas.openxmlformats.org/officeDocument/2006/relationships/slide" Target="slides/slide18.xml"/><Relationship Id="rId45" Type="http://schemas.openxmlformats.org/officeDocument/2006/relationships/slide" Target="slides/slide40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c32c363ecf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9" name="Google Shape;89;g3c32c363ecf_0_3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1" name="Google Shape;10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c2b1852b8b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5" name="Google Shape;115;g3c2b1852b8b_0_1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c2b1852b8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0" name="Google Shape;130;g3c2b1852b8b_0_3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c2b1852b8b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2" name="Google Shape;142;g3c2b1852b8b_0_4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c2b1852b8b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6" name="Google Shape;156;g3c2b1852b8b_0_5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c2b1852b8b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0" name="Google Shape;170;g3c2b1852b8b_0_7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c2b1852b8b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2" name="Google Shape;182;g3c2b1852b8b_0_8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c2b1852b8b_0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4" name="Google Shape;194;g3c2b1852b8b_0_10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c2b1852b8b_0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7" name="Google Shape;207;g3c2b1852b8b_0_1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c2b1852b8b_0_1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9" name="Google Shape;219;g3c2b1852b8b_0_14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c2b1852b8b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3" name="Google Shape;233;g3c2b1852b8b_0_16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c2b1852b8b_0_1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6" name="Google Shape;246;g3c2b1852b8b_0_18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c2b1852b8b_0_1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8" name="Google Shape;258;g3c2b1852b8b_0_19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c2b1852b8b_0_2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2" name="Google Shape;272;g3c2b1852b8b_0_20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32c363ecf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4" name="Google Shape;284;g3c32c363ecf_0_1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c32c363ecf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6" name="Google Shape;296;g3c32c363ecf_0_4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c32c363ecf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0" name="Google Shape;310;g3c32c363ecf_0_5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c32c363ecf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2" name="Google Shape;322;g3c32c363ecf_0_8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c32c363ecf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34" name="Google Shape;334;g3c32c363ecf_0_9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c32c363ecf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48" name="Google Shape;348;g3c32c363ecf_0_10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3c32c363ecf_0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60" name="Google Shape;360;g3c32c363ecf_0_1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c32c363ecf_0_2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75" name="Google Shape;375;g3c32c363ecf_0_26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3c32c363ecf_0_1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89" name="Google Shape;389;g3c32c363ecf_0_14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c32c363ecf_0_1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01" name="Google Shape;401;g3c32c363ecf_0_16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3c32c363ecf_0_1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13" name="Google Shape;413;g3c32c363ecf_0_18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3c32c363ecf_0_1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25" name="Google Shape;425;g3c32c363ecf_0_15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3c32c363ecf_0_1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37" name="Google Shape;437;g3c32c363ecf_0_19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c32c363ecf_0_2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49" name="Google Shape;449;g3c32c363ecf_0_20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g3c32c363ecf_0_2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61" name="Google Shape;461;g3c32c363ecf_0_2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3c32c363ecf_0_2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77" name="Google Shape;477;g3c32c363ecf_0_25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3c32c363ecf_0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92" name="Google Shape;492;g3c32c363ecf_0_13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g3c32c363ecf_0_2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04" name="Google Shape;504;g3c32c363ecf_0_23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3c32c363ecf_0_2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16" name="Google Shape;516;g3c32c363ecf_0_24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3c32c363ecf_0_2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29" name="Google Shape;529;g3c32c363ecf_0_28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3c32c363ecf_0_3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48" name="Google Shape;548;g3c32c363ecf_0_30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g3c32c363ecf_0_3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62" name="Google Shape;562;g3c32c363ecf_0_33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3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g3c32c363ecf_0_3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75" name="Google Shape;575;g3c32c363ecf_0_35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6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g3c32c363ecf_0_3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88" name="Google Shape;588;g3c32c363ecf_0_3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g3c32c363ecf_0_3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99" name="Google Shape;599;g3c32c363ecf_0_36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Relationship Id="rId4" Type="http://schemas.openxmlformats.org/officeDocument/2006/relationships/image" Target="../media/image18.png"/><Relationship Id="rId5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11.png"/><Relationship Id="rId5" Type="http://schemas.openxmlformats.org/officeDocument/2006/relationships/image" Target="../media/image2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.png"/><Relationship Id="rId4" Type="http://schemas.openxmlformats.org/officeDocument/2006/relationships/image" Target="../media/image12.png"/><Relationship Id="rId5" Type="http://schemas.openxmlformats.org/officeDocument/2006/relationships/image" Target="../media/image15.png"/><Relationship Id="rId6" Type="http://schemas.openxmlformats.org/officeDocument/2006/relationships/image" Target="../media/image7.png"/><Relationship Id="rId7" Type="http://schemas.openxmlformats.org/officeDocument/2006/relationships/image" Target="../media/image14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17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.png"/><Relationship Id="rId4" Type="http://schemas.openxmlformats.org/officeDocument/2006/relationships/image" Target="../media/image19.jp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2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635000" y="1905000"/>
            <a:ext cx="85089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Clase </a:t>
            </a: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b="1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Funciones + condicional (if statement) + recursividad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635000" y="3556000"/>
            <a:ext cx="8496300" cy="52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Profesor: 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635000" y="4318000"/>
            <a:ext cx="8496300" cy="11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Auxiliares: Daniela Longas M Victoria Tolosa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4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93" name="Google Shape;9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>
            <a:off x="87675" y="759825"/>
            <a:ext cx="9001200" cy="5293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-132750" y="2593925"/>
            <a:ext cx="94095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Functions</a:t>
            </a:r>
            <a:endParaRPr sz="48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5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5"/>
          <p:cNvSpPr txBox="1"/>
          <p:nvPr/>
        </p:nvSpPr>
        <p:spPr>
          <a:xfrm>
            <a:off x="254000" y="190500"/>
            <a:ext cx="5715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105" name="Google Shape;10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5"/>
          <p:cNvSpPr/>
          <p:nvPr/>
        </p:nvSpPr>
        <p:spPr>
          <a:xfrm>
            <a:off x="0" y="6286500"/>
            <a:ext cx="9144000" cy="384048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5"/>
          <p:cNvSpPr txBox="1"/>
          <p:nvPr/>
        </p:nvSpPr>
        <p:spPr>
          <a:xfrm>
            <a:off x="254000" y="85090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15"/>
          <p:cNvSpPr txBox="1"/>
          <p:nvPr/>
        </p:nvSpPr>
        <p:spPr>
          <a:xfrm>
            <a:off x="177800" y="63754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5"/>
          <p:cNvSpPr txBox="1"/>
          <p:nvPr/>
        </p:nvSpPr>
        <p:spPr>
          <a:xfrm>
            <a:off x="371975" y="9297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Función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5"/>
          <p:cNvSpPr txBox="1"/>
          <p:nvPr/>
        </p:nvSpPr>
        <p:spPr>
          <a:xfrm>
            <a:off x="301975" y="1719150"/>
            <a:ext cx="88293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Una función es una </a:t>
            </a:r>
            <a:r>
              <a:rPr b="1"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secuencia de instrucciones </a:t>
            </a:r>
            <a:r>
              <a:rPr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que realiza un cómputo a la</a:t>
            </a:r>
            <a:endParaRPr sz="20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que se le ha asignado un nombre. Luego, este cómputo puede ser invocado</a:t>
            </a:r>
            <a:endParaRPr sz="20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llamando a la función por su nombre.</a:t>
            </a:r>
            <a:endParaRPr sz="20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5"/>
          <p:cNvSpPr txBox="1"/>
          <p:nvPr/>
        </p:nvSpPr>
        <p:spPr>
          <a:xfrm>
            <a:off x="254000" y="280642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Para pensar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15"/>
          <p:cNvSpPr txBox="1"/>
          <p:nvPr/>
        </p:nvSpPr>
        <p:spPr>
          <a:xfrm>
            <a:off x="301975" y="3496200"/>
            <a:ext cx="8829300" cy="30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Soy un norteamericano que vive en Argentina y quiero pasar Celsius a </a:t>
            </a:r>
            <a:r>
              <a:rPr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Fahrenheit</a:t>
            </a:r>
            <a:r>
              <a:rPr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día a día.</a:t>
            </a:r>
            <a:endParaRPr sz="20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(20*9/5)+32</a:t>
            </a:r>
            <a:endParaRPr sz="20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(22*9/5)+32</a:t>
            </a:r>
            <a:endParaRPr sz="20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(18*9/5)+32</a:t>
            </a:r>
            <a:endParaRPr sz="20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Realizar estos cálculos de manera directa en Python</a:t>
            </a:r>
            <a:endParaRPr sz="20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6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6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119" name="Google Shape;119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6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6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6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6"/>
          <p:cNvSpPr txBox="1"/>
          <p:nvPr/>
        </p:nvSpPr>
        <p:spPr>
          <a:xfrm>
            <a:off x="371975" y="9297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Sintaxis de una función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6"/>
          <p:cNvSpPr txBox="1"/>
          <p:nvPr/>
        </p:nvSpPr>
        <p:spPr>
          <a:xfrm>
            <a:off x="301975" y="1719150"/>
            <a:ext cx="882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Claramente podría hacer una función que haga el pasaje de Celsius a </a:t>
            </a:r>
            <a:r>
              <a:rPr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Fahrenheit</a:t>
            </a:r>
            <a:r>
              <a:rPr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20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5" name="Google Shape;125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50600" y="2159850"/>
            <a:ext cx="6072400" cy="1323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6"/>
          <p:cNvSpPr txBox="1"/>
          <p:nvPr/>
        </p:nvSpPr>
        <p:spPr>
          <a:xfrm>
            <a:off x="211775" y="3888025"/>
            <a:ext cx="88293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1"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def: </a:t>
            </a:r>
            <a:r>
              <a:rPr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Palabra reservada por python para definir una función.</a:t>
            </a:r>
            <a:endParaRPr sz="20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1"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pasaje_c_f:</a:t>
            </a:r>
            <a:r>
              <a:rPr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Nombre de la función. Uno le puede poner cualquier nombre.</a:t>
            </a:r>
            <a:endParaRPr sz="20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1"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sz="2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 </a:t>
            </a:r>
            <a:r>
              <a:rPr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de la función, que también puede tener cualquier nombre, lo que importa es lo que significa.</a:t>
            </a:r>
            <a:endParaRPr sz="20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1"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return:</a:t>
            </a:r>
            <a:r>
              <a:rPr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palabra clave para explicitar el </a:t>
            </a:r>
            <a:r>
              <a:rPr lang="en-US" sz="2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output </a:t>
            </a:r>
            <a:r>
              <a:rPr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de la función.</a:t>
            </a:r>
            <a:endParaRPr sz="20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6"/>
          <p:cNvSpPr txBox="1"/>
          <p:nvPr/>
        </p:nvSpPr>
        <p:spPr>
          <a:xfrm>
            <a:off x="211775" y="5593575"/>
            <a:ext cx="882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Hay 2 elementos ocultos que estamos ignorando</a:t>
            </a:r>
            <a:r>
              <a:rPr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r>
              <a:rPr b="1" lang="en-US" sz="2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 dan cuenta cu</a:t>
            </a:r>
            <a:r>
              <a:rPr b="1" lang="en-US" sz="2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áles son?</a:t>
            </a:r>
            <a:endParaRPr b="1" sz="20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7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134" name="Google Shape;13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7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17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17"/>
          <p:cNvSpPr txBox="1"/>
          <p:nvPr/>
        </p:nvSpPr>
        <p:spPr>
          <a:xfrm>
            <a:off x="371975" y="9297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Sintaxis de una función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17"/>
          <p:cNvSpPr txBox="1"/>
          <p:nvPr/>
        </p:nvSpPr>
        <p:spPr>
          <a:xfrm>
            <a:off x="254000" y="1637750"/>
            <a:ext cx="88293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1"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“:” + indentación: </a:t>
            </a:r>
            <a:r>
              <a:rPr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La manera que tiene Python de decir “estas líneas de código pertenecen a esta función que se define más arriba” es mediante indentación. La misma es una suerte de “sangría”. También la utilizaremos al hablar del </a:t>
            </a:r>
            <a:r>
              <a:rPr b="1"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for</a:t>
            </a:r>
            <a:r>
              <a:rPr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b="1"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while</a:t>
            </a:r>
            <a:r>
              <a:rPr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loop más adelante</a:t>
            </a:r>
            <a:endParaRPr sz="20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8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8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146" name="Google Shape;14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8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8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8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18"/>
          <p:cNvSpPr txBox="1"/>
          <p:nvPr/>
        </p:nvSpPr>
        <p:spPr>
          <a:xfrm>
            <a:off x="371975" y="9297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Para pensar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18"/>
          <p:cNvSpPr txBox="1"/>
          <p:nvPr/>
        </p:nvSpPr>
        <p:spPr>
          <a:xfrm>
            <a:off x="254000" y="1637750"/>
            <a:ext cx="8829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1"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Es necesario que una función tenga uno o más inputs?</a:t>
            </a:r>
            <a:endParaRPr b="1" sz="20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1"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Es necesario que una función tenga uno o más outputs?</a:t>
            </a:r>
            <a:endParaRPr b="1" sz="20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8"/>
          <p:cNvSpPr txBox="1"/>
          <p:nvPr/>
        </p:nvSpPr>
        <p:spPr>
          <a:xfrm>
            <a:off x="254000" y="253022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Ejercicio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8"/>
          <p:cNvSpPr txBox="1"/>
          <p:nvPr/>
        </p:nvSpPr>
        <p:spPr>
          <a:xfrm>
            <a:off x="254000" y="3105325"/>
            <a:ext cx="882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Crear una función que printee por pantalla tu nombre y apellido</a:t>
            </a:r>
            <a:endParaRPr b="1" sz="20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9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9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160" name="Google Shape;160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9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9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9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4" name="Google Shape;164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3350" y="714175"/>
            <a:ext cx="7679750" cy="158275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9"/>
          <p:cNvSpPr txBox="1"/>
          <p:nvPr/>
        </p:nvSpPr>
        <p:spPr>
          <a:xfrm>
            <a:off x="177800" y="2451300"/>
            <a:ext cx="85089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Para pensar: Cu</a:t>
            </a: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ál es el tipo de datos de m? Cuánto vale? Qué vemos por pantalla?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19"/>
          <p:cNvSpPr txBox="1"/>
          <p:nvPr/>
        </p:nvSpPr>
        <p:spPr>
          <a:xfrm>
            <a:off x="177800" y="3428988"/>
            <a:ext cx="85089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situación1:</a:t>
            </a:r>
            <a:endParaRPr b="1" sz="20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presentacion()</a:t>
            </a:r>
            <a:endParaRPr b="1" sz="20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m=presentacion()</a:t>
            </a:r>
            <a:endParaRPr b="1" sz="20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type(m)</a:t>
            </a:r>
            <a:endParaRPr b="1" sz="20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9"/>
          <p:cNvSpPr txBox="1"/>
          <p:nvPr/>
        </p:nvSpPr>
        <p:spPr>
          <a:xfrm>
            <a:off x="78775" y="4857738"/>
            <a:ext cx="85089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situación1:</a:t>
            </a:r>
            <a:endParaRPr b="1" sz="20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presentacion_2()</a:t>
            </a:r>
            <a:endParaRPr b="1" sz="20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m=presentacion_2()</a:t>
            </a:r>
            <a:endParaRPr b="1" sz="20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type(m)</a:t>
            </a:r>
            <a:endParaRPr b="1" sz="20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0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174" name="Google Shape;174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20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0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20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0"/>
          <p:cNvSpPr txBox="1"/>
          <p:nvPr/>
        </p:nvSpPr>
        <p:spPr>
          <a:xfrm>
            <a:off x="254000" y="8049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Ejercicio: Reloj  californiano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0"/>
          <p:cNvSpPr txBox="1"/>
          <p:nvPr/>
        </p:nvSpPr>
        <p:spPr>
          <a:xfrm>
            <a:off x="254000" y="1687975"/>
            <a:ext cx="85089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Codear una function cuyo input sean las horas y minutos en Buenos Aires y su output sea su hora y minutos en California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1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1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186" name="Google Shape;18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21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1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21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21"/>
          <p:cNvSpPr txBox="1"/>
          <p:nvPr/>
        </p:nvSpPr>
        <p:spPr>
          <a:xfrm>
            <a:off x="254000" y="8049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Por qué usar functions?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21"/>
          <p:cNvSpPr txBox="1"/>
          <p:nvPr/>
        </p:nvSpPr>
        <p:spPr>
          <a:xfrm>
            <a:off x="254000" y="1687975"/>
            <a:ext cx="8508900" cy="37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Expandir el lenguaje con nuevas funcionalidades/herramientas.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Construir programas en base a piezas simples, pequeñas.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Ordenar conceptualmente el código.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Reutilización del código: construir nuevos programas en base a otros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existentes.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Facilitar el debug: búsqueda (y corrección) de errores en un único lugar.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Facilitar el mantenimiento del código a largo plazo.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sz="28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2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2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198" name="Google Shape;198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22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2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2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2"/>
          <p:cNvSpPr txBox="1"/>
          <p:nvPr/>
        </p:nvSpPr>
        <p:spPr>
          <a:xfrm>
            <a:off x="254000" y="8049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Variables locales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22"/>
          <p:cNvSpPr txBox="1"/>
          <p:nvPr/>
        </p:nvSpPr>
        <p:spPr>
          <a:xfrm>
            <a:off x="98125" y="4074625"/>
            <a:ext cx="85089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Qué hace la function? 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Qué estoy tratando de calcular?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Por qué esto falla?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4" name="Google Shape;204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75663" y="1438938"/>
            <a:ext cx="7192675" cy="2432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3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3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211" name="Google Shape;211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3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3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23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23"/>
          <p:cNvSpPr txBox="1"/>
          <p:nvPr/>
        </p:nvSpPr>
        <p:spPr>
          <a:xfrm>
            <a:off x="254000" y="8049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Variables locales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23"/>
          <p:cNvSpPr txBox="1"/>
          <p:nvPr/>
        </p:nvSpPr>
        <p:spPr>
          <a:xfrm>
            <a:off x="98125" y="1337275"/>
            <a:ext cx="8508900" cy="14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Toda variable definida dentro de una función tiene validez sólo dentro de esa función. Se la llama variable local.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La manera de “sacar hacia afuera” una variable local es returnearla básicamente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4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4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223" name="Google Shape;223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4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4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24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4"/>
          <p:cNvSpPr txBox="1"/>
          <p:nvPr/>
        </p:nvSpPr>
        <p:spPr>
          <a:xfrm>
            <a:off x="254000" y="8049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Orden de parámetros y contexto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24"/>
          <p:cNvSpPr txBox="1"/>
          <p:nvPr/>
        </p:nvSpPr>
        <p:spPr>
          <a:xfrm>
            <a:off x="98125" y="1337275"/>
            <a:ext cx="85089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Una función no tiene manera de 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sacar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por contexto el significado de un input. Para que todo funcione como se pretende, la manera es pasar los inputs en orden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4"/>
          <p:cNvSpPr txBox="1"/>
          <p:nvPr/>
        </p:nvSpPr>
        <p:spPr>
          <a:xfrm>
            <a:off x="177800" y="4499800"/>
            <a:ext cx="8508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Este script arroja un error? Returnea lo que queremos?</a:t>
            </a:r>
            <a:endParaRPr sz="24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0" name="Google Shape;230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2597875"/>
            <a:ext cx="8839201" cy="15720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5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5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237" name="Google Shape;23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5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5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25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25"/>
          <p:cNvSpPr txBox="1"/>
          <p:nvPr/>
        </p:nvSpPr>
        <p:spPr>
          <a:xfrm>
            <a:off x="254000" y="8049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Función main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25"/>
          <p:cNvSpPr txBox="1"/>
          <p:nvPr/>
        </p:nvSpPr>
        <p:spPr>
          <a:xfrm>
            <a:off x="98125" y="1337275"/>
            <a:ext cx="85089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Hay varias maneras de ejecutar un script. La cátedra sigue la siguiente estructura.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3" name="Google Shape;243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48600" y="2076175"/>
            <a:ext cx="6052926" cy="360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6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6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250" name="Google Shape;250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26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6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26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26"/>
          <p:cNvSpPr txBox="1"/>
          <p:nvPr/>
        </p:nvSpPr>
        <p:spPr>
          <a:xfrm>
            <a:off x="254000" y="8049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Función main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26"/>
          <p:cNvSpPr txBox="1"/>
          <p:nvPr/>
        </p:nvSpPr>
        <p:spPr>
          <a:xfrm>
            <a:off x="98125" y="1337275"/>
            <a:ext cx="85089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Al comenzar la ejecución, python realiza un screen de todas las functions creadas.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Acto seguido, nota el inicializador y triggerea la function main()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La idea es que main sea la function donde la lógica del script sea explicada y las variables sean definidas.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7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7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262" name="Google Shape;262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7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7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27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27"/>
          <p:cNvSpPr txBox="1"/>
          <p:nvPr/>
        </p:nvSpPr>
        <p:spPr>
          <a:xfrm>
            <a:off x="254000" y="8049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Reutilización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27"/>
          <p:cNvSpPr txBox="1"/>
          <p:nvPr/>
        </p:nvSpPr>
        <p:spPr>
          <a:xfrm>
            <a:off x="98125" y="1337275"/>
            <a:ext cx="85089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Si prestaron atención, </a:t>
            </a:r>
            <a:r>
              <a:rPr b="1"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invocamos una función dentro de otra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Esto es perfectamente factible, se llama reutilizar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7"/>
          <p:cNvSpPr txBox="1"/>
          <p:nvPr/>
        </p:nvSpPr>
        <p:spPr>
          <a:xfrm>
            <a:off x="1132450" y="5448450"/>
            <a:ext cx="6651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Qué hace esta pieza de código?</a:t>
            </a:r>
            <a:endParaRPr sz="24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9" name="Google Shape;269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51200" y="2173800"/>
            <a:ext cx="5663275" cy="3263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8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8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276" name="Google Shape;276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28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8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28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28"/>
          <p:cNvSpPr txBox="1"/>
          <p:nvPr/>
        </p:nvSpPr>
        <p:spPr>
          <a:xfrm>
            <a:off x="254000" y="8049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Ejercicio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28"/>
          <p:cNvSpPr txBox="1"/>
          <p:nvPr/>
        </p:nvSpPr>
        <p:spPr>
          <a:xfrm>
            <a:off x="78650" y="2593925"/>
            <a:ext cx="85089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Realizar un script que calcule el retorno de comprar una acción y luego venderla.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29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29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288" name="Google Shape;28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29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9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29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29"/>
          <p:cNvSpPr/>
          <p:nvPr/>
        </p:nvSpPr>
        <p:spPr>
          <a:xfrm>
            <a:off x="87675" y="759825"/>
            <a:ext cx="9001200" cy="5293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9"/>
          <p:cNvSpPr txBox="1"/>
          <p:nvPr/>
        </p:nvSpPr>
        <p:spPr>
          <a:xfrm>
            <a:off x="-132750" y="2593925"/>
            <a:ext cx="94095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Estructura condicional (</a:t>
            </a:r>
            <a:r>
              <a:rPr lang="en-US" sz="48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if </a:t>
            </a:r>
            <a:r>
              <a:rPr lang="en-US" sz="4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statement)</a:t>
            </a:r>
            <a:endParaRPr sz="48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3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30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300" name="Google Shape;300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30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30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30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30"/>
          <p:cNvSpPr txBox="1"/>
          <p:nvPr/>
        </p:nvSpPr>
        <p:spPr>
          <a:xfrm>
            <a:off x="254000" y="8049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Condicional (if)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30"/>
          <p:cNvSpPr txBox="1"/>
          <p:nvPr/>
        </p:nvSpPr>
        <p:spPr>
          <a:xfrm>
            <a:off x="98150" y="1405450"/>
            <a:ext cx="85089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La cláusula if te permite alterar el flujo de ejecución dependiendo del resultado de una operación booleana.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6" name="Google Shape;306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56550" y="2238300"/>
            <a:ext cx="3909800" cy="2655975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0"/>
          <p:cNvSpPr txBox="1"/>
          <p:nvPr/>
        </p:nvSpPr>
        <p:spPr>
          <a:xfrm>
            <a:off x="1613300" y="5250178"/>
            <a:ext cx="5478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Qué dicen que hace esta pieza de código?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31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31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314" name="Google Shape;314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31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31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31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31"/>
          <p:cNvSpPr txBox="1"/>
          <p:nvPr/>
        </p:nvSpPr>
        <p:spPr>
          <a:xfrm>
            <a:off x="254000" y="8049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Condicional (if)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31"/>
          <p:cNvSpPr txBox="1"/>
          <p:nvPr/>
        </p:nvSpPr>
        <p:spPr>
          <a:xfrm>
            <a:off x="98150" y="1405450"/>
            <a:ext cx="8508900" cy="36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If es una palabra reservada que sirve para plantear una condición.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En caso de que la operación booleana que esta inmediatamente despuś (corolario) sea verdadera, se ejecuta lo que está indentado dentro.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b="1"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Puede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haber otras palabras que formen parte de la misma estructura condicional, todas ellas con su propia indentación: </a:t>
            </a:r>
            <a:r>
              <a:rPr b="1"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elif y else.</a:t>
            </a:r>
            <a:endParaRPr b="1"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Elif, al igual que el if, tiene un corolario. Else no, ya que else es la opción de descarte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32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32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326" name="Google Shape;32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32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32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32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32"/>
          <p:cNvSpPr txBox="1"/>
          <p:nvPr/>
        </p:nvSpPr>
        <p:spPr>
          <a:xfrm>
            <a:off x="254000" y="8049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Ejercicio sencillo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32"/>
          <p:cNvSpPr txBox="1"/>
          <p:nvPr/>
        </p:nvSpPr>
        <p:spPr>
          <a:xfrm>
            <a:off x="662750" y="1469550"/>
            <a:ext cx="7691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Crear una function que reciba 2 números y devuelva el mínimo entre los 2. 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33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33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338" name="Google Shape;338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33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33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33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33"/>
          <p:cNvSpPr txBox="1"/>
          <p:nvPr/>
        </p:nvSpPr>
        <p:spPr>
          <a:xfrm>
            <a:off x="254000" y="8049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Sobre el if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3" name="Google Shape;343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4000" y="1378750"/>
            <a:ext cx="4373200" cy="1689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4" name="Google Shape;344;p3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750400" y="1378750"/>
            <a:ext cx="4373200" cy="1689935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33"/>
          <p:cNvSpPr txBox="1"/>
          <p:nvPr/>
        </p:nvSpPr>
        <p:spPr>
          <a:xfrm>
            <a:off x="594575" y="3310700"/>
            <a:ext cx="7691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Qué printea cada bloque de código por pantalla?</a:t>
            </a:r>
            <a:endParaRPr b="1"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34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34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352" name="Google Shape;35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p34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34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34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34"/>
          <p:cNvSpPr txBox="1"/>
          <p:nvPr/>
        </p:nvSpPr>
        <p:spPr>
          <a:xfrm>
            <a:off x="254000" y="8049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Sobre el if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34"/>
          <p:cNvSpPr txBox="1"/>
          <p:nvPr/>
        </p:nvSpPr>
        <p:spPr>
          <a:xfrm>
            <a:off x="117250" y="1576700"/>
            <a:ext cx="8270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Cada vez que tenemos un if, comienza una estructura condicional nueva, 2 ifs no es equivalente a un if+ un elif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35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35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364" name="Google Shape;364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Google Shape;365;p35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35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35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35"/>
          <p:cNvSpPr txBox="1"/>
          <p:nvPr/>
        </p:nvSpPr>
        <p:spPr>
          <a:xfrm>
            <a:off x="254000" y="8049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Sobre el if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35"/>
          <p:cNvSpPr txBox="1"/>
          <p:nvPr/>
        </p:nvSpPr>
        <p:spPr>
          <a:xfrm>
            <a:off x="117250" y="1576700"/>
            <a:ext cx="8508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Y aca? Hay alguna diferencia en correr estas 2 piezas de código?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Google Shape;370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475" y="2361425"/>
            <a:ext cx="4794425" cy="116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475" y="3666775"/>
            <a:ext cx="4794407" cy="1165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35"/>
          <p:cNvSpPr txBox="1"/>
          <p:nvPr/>
        </p:nvSpPr>
        <p:spPr>
          <a:xfrm>
            <a:off x="5026600" y="2504450"/>
            <a:ext cx="40134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En la primera estamos viendo un if </a:t>
            </a:r>
            <a:r>
              <a:rPr b="1"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anidado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En la 2da estamos viendo un if con un </a:t>
            </a:r>
            <a:r>
              <a:rPr b="1"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corolario de 2ble condición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36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36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379" name="Google Shape;379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80" name="Google Shape;380;p36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36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36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36"/>
          <p:cNvSpPr txBox="1"/>
          <p:nvPr/>
        </p:nvSpPr>
        <p:spPr>
          <a:xfrm>
            <a:off x="254000" y="8049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Sobre el if y el return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36"/>
          <p:cNvSpPr txBox="1"/>
          <p:nvPr/>
        </p:nvSpPr>
        <p:spPr>
          <a:xfrm>
            <a:off x="117250" y="1576700"/>
            <a:ext cx="8508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Qué piensan 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que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sucede en esta 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línea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de código?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85" name="Google Shape;385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42250" y="2098400"/>
            <a:ext cx="3002267" cy="2349600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36"/>
          <p:cNvSpPr txBox="1"/>
          <p:nvPr/>
        </p:nvSpPr>
        <p:spPr>
          <a:xfrm>
            <a:off x="55350" y="4748950"/>
            <a:ext cx="85089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Cuando la ejecución de una </a:t>
            </a:r>
            <a:r>
              <a:rPr b="1"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función</a:t>
            </a:r>
            <a:r>
              <a:rPr b="1"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se topa con un return, devuelve el valor interrumpiendo la operatoria</a:t>
            </a:r>
            <a:endParaRPr b="1"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37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37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393" name="Google Shape;39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37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37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37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37"/>
          <p:cNvSpPr/>
          <p:nvPr/>
        </p:nvSpPr>
        <p:spPr>
          <a:xfrm>
            <a:off x="87675" y="759825"/>
            <a:ext cx="9001200" cy="5293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37"/>
          <p:cNvSpPr txBox="1"/>
          <p:nvPr/>
        </p:nvSpPr>
        <p:spPr>
          <a:xfrm>
            <a:off x="219450" y="2632900"/>
            <a:ext cx="8705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División entera y resto </a:t>
            </a:r>
            <a:endParaRPr sz="48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38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38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405" name="Google Shape;405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38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8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38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38"/>
          <p:cNvSpPr txBox="1"/>
          <p:nvPr/>
        </p:nvSpPr>
        <p:spPr>
          <a:xfrm>
            <a:off x="254000" y="8049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2 operadores importantes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38"/>
          <p:cNvSpPr txBox="1"/>
          <p:nvPr/>
        </p:nvSpPr>
        <p:spPr>
          <a:xfrm>
            <a:off x="117250" y="1576700"/>
            <a:ext cx="8508900" cy="14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La </a:t>
            </a:r>
            <a:r>
              <a:rPr b="1"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división entera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“//” devuelve la parte entera del float que se genera al realizar una división. Siempre redondea hacia abajo.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El </a:t>
            </a:r>
            <a:r>
              <a:rPr b="1"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resto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“%” devuelve, valga la redundancia, el resto de una división entera entre 2 números.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39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39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417" name="Google Shape;417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18" name="Google Shape;418;p39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39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39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39"/>
          <p:cNvSpPr txBox="1"/>
          <p:nvPr/>
        </p:nvSpPr>
        <p:spPr>
          <a:xfrm>
            <a:off x="254000" y="8049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Ejercicio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39"/>
          <p:cNvSpPr txBox="1"/>
          <p:nvPr/>
        </p:nvSpPr>
        <p:spPr>
          <a:xfrm>
            <a:off x="117250" y="1576700"/>
            <a:ext cx="85089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Crear un script que devuelva horas y minutos a partir de minutos.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Ej: Input 105 minutos. Output 1 hs y 45 min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4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40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429" name="Google Shape;429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30" name="Google Shape;430;p40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40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40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40"/>
          <p:cNvSpPr/>
          <p:nvPr/>
        </p:nvSpPr>
        <p:spPr>
          <a:xfrm>
            <a:off x="87675" y="759825"/>
            <a:ext cx="9001200" cy="5293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40"/>
          <p:cNvSpPr txBox="1"/>
          <p:nvPr/>
        </p:nvSpPr>
        <p:spPr>
          <a:xfrm>
            <a:off x="219450" y="2632900"/>
            <a:ext cx="8705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Módulos, librerías y paquetes</a:t>
            </a:r>
            <a:r>
              <a:rPr lang="en-US" sz="4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48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41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41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441" name="Google Shape;441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p41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41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41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41"/>
          <p:cNvSpPr txBox="1"/>
          <p:nvPr/>
        </p:nvSpPr>
        <p:spPr>
          <a:xfrm>
            <a:off x="254000" y="8049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Built - in functions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41"/>
          <p:cNvSpPr txBox="1"/>
          <p:nvPr/>
        </p:nvSpPr>
        <p:spPr>
          <a:xfrm>
            <a:off x="117250" y="1576700"/>
            <a:ext cx="8508900" cy="22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Es importante notar que, si bien recién hoy nos enteramos de lo que una function es y como crearla, ya venimos usando funciones.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type(), print(), str()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Estas son llamadas built-in functions y son funciones pre-programadas que ya vienen dentro de python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2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42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453" name="Google Shape;45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54" name="Google Shape;454;p42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42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42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42"/>
          <p:cNvSpPr txBox="1"/>
          <p:nvPr/>
        </p:nvSpPr>
        <p:spPr>
          <a:xfrm>
            <a:off x="254000" y="8049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Módulo/librería/paquete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42"/>
          <p:cNvSpPr txBox="1"/>
          <p:nvPr/>
        </p:nvSpPr>
        <p:spPr>
          <a:xfrm>
            <a:off x="117250" y="1576700"/>
            <a:ext cx="8508900" cy="22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Usaremos los 3 términos como sinónimos.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Son un conjunto de variables, constantes y funciones empaquetados en una carpeta. El mismo es mantenido por una comunidad y puede ser importado a tu código en python.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Hay </a:t>
            </a:r>
            <a:r>
              <a:rPr b="1"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muchas maneras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de llamar a una librería para usarla en tu código.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43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43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465" name="Google Shape;465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66" name="Google Shape;466;p43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43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43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43"/>
          <p:cNvSpPr txBox="1"/>
          <p:nvPr/>
        </p:nvSpPr>
        <p:spPr>
          <a:xfrm>
            <a:off x="254000" y="803700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Import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70" name="Google Shape;470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387200"/>
            <a:ext cx="4076700" cy="97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1" name="Google Shape;471;p4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7800" y="2457450"/>
            <a:ext cx="4076700" cy="97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2" name="Google Shape;472;p4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2400" y="3581400"/>
            <a:ext cx="3524250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3" name="Google Shape;473;p4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42875" y="4786975"/>
            <a:ext cx="3543300" cy="990600"/>
          </a:xfrm>
          <a:prstGeom prst="rect">
            <a:avLst/>
          </a:prstGeom>
          <a:noFill/>
          <a:ln>
            <a:noFill/>
          </a:ln>
        </p:spPr>
      </p:pic>
      <p:sp>
        <p:nvSpPr>
          <p:cNvPr id="474" name="Google Shape;474;p43"/>
          <p:cNvSpPr txBox="1"/>
          <p:nvPr/>
        </p:nvSpPr>
        <p:spPr>
          <a:xfrm>
            <a:off x="4644150" y="3062375"/>
            <a:ext cx="38796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Qué potencial problema tiene la importación sin alias ni nombre completo?</a:t>
            </a:r>
            <a:endParaRPr sz="24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44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44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481" name="Google Shape;48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44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44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44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44"/>
          <p:cNvSpPr txBox="1"/>
          <p:nvPr/>
        </p:nvSpPr>
        <p:spPr>
          <a:xfrm>
            <a:off x="254000" y="803700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Crear tu propio módulo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44"/>
          <p:cNvSpPr txBox="1"/>
          <p:nvPr/>
        </p:nvSpPr>
        <p:spPr>
          <a:xfrm>
            <a:off x="3422550" y="1478700"/>
            <a:ext cx="26757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Guardo esto en mi en un script llamado funciones_locas.py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7" name="Google Shape;487;p4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4000" y="1467000"/>
            <a:ext cx="2946425" cy="135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8" name="Google Shape;488;p4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4000" y="3057225"/>
            <a:ext cx="2973475" cy="126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44"/>
          <p:cNvSpPr txBox="1"/>
          <p:nvPr/>
        </p:nvSpPr>
        <p:spPr>
          <a:xfrm>
            <a:off x="3422550" y="3057225"/>
            <a:ext cx="5159700" cy="14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 la misma carpeta puedo crear otro script e importar estas funciones dentro de un paquete que se llamará igual que el .py donde guardaste las funciones.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45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45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496" name="Google Shape;496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97" name="Google Shape;497;p45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45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45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45"/>
          <p:cNvSpPr txBox="1"/>
          <p:nvPr/>
        </p:nvSpPr>
        <p:spPr>
          <a:xfrm>
            <a:off x="254000" y="8049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Ejercicio dificultad alta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45"/>
          <p:cNvSpPr txBox="1"/>
          <p:nvPr/>
        </p:nvSpPr>
        <p:spPr>
          <a:xfrm>
            <a:off x="117250" y="1576700"/>
            <a:ext cx="85089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Crear un script que nos diga si este año en el que estamos es o no 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bisiesto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46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46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508" name="Google Shape;508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509" name="Google Shape;509;p46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46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p46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p46"/>
          <p:cNvSpPr/>
          <p:nvPr/>
        </p:nvSpPr>
        <p:spPr>
          <a:xfrm>
            <a:off x="87675" y="759825"/>
            <a:ext cx="9001200" cy="5293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46"/>
          <p:cNvSpPr txBox="1"/>
          <p:nvPr/>
        </p:nvSpPr>
        <p:spPr>
          <a:xfrm>
            <a:off x="219450" y="2632900"/>
            <a:ext cx="8705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Recursión</a:t>
            </a:r>
            <a:r>
              <a:rPr lang="en-US" sz="4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48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47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47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520" name="Google Shape;52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521" name="Google Shape;521;p47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47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523;p47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p47"/>
          <p:cNvSpPr txBox="1"/>
          <p:nvPr/>
        </p:nvSpPr>
        <p:spPr>
          <a:xfrm>
            <a:off x="254000" y="8049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Recursión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p47"/>
          <p:cNvSpPr txBox="1"/>
          <p:nvPr/>
        </p:nvSpPr>
        <p:spPr>
          <a:xfrm>
            <a:off x="127000" y="1430575"/>
            <a:ext cx="85089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Como vimos en la intro a la materia, unas de las cosas que siempre se busca hacer computacionalmente son cálculos iterativos que costaría mucho realizar uno a uno.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47"/>
          <p:cNvSpPr txBox="1"/>
          <p:nvPr/>
        </p:nvSpPr>
        <p:spPr>
          <a:xfrm>
            <a:off x="254000" y="2919350"/>
            <a:ext cx="8508900" cy="14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Una forma de hacerlo es creando estructuras que llamamos loops (los veremos en la próxima clase)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Otra forma de hacerlo es mediante una técnica llamada recursión.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48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48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533" name="Google Shape;533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534" name="Google Shape;534;p48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48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48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7" name="Google Shape;537;p48"/>
          <p:cNvSpPr txBox="1"/>
          <p:nvPr/>
        </p:nvSpPr>
        <p:spPr>
          <a:xfrm>
            <a:off x="254000" y="8049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Recursión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48"/>
          <p:cNvSpPr txBox="1"/>
          <p:nvPr/>
        </p:nvSpPr>
        <p:spPr>
          <a:xfrm>
            <a:off x="127000" y="1430575"/>
            <a:ext cx="85089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Una función recursiva es una función que se llama a sí misma hasta tocar un caso base. Este caso base delimita el fin de la ejecución.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9" name="Google Shape;539;p48" title="mamushka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9475" y="2516700"/>
            <a:ext cx="1679000" cy="3066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0" name="Google Shape;540;p48" title="mamushka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49675" y="3286275"/>
            <a:ext cx="1289000" cy="2354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1" name="Google Shape;541;p48" title="mamushka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35600" y="3908100"/>
            <a:ext cx="970800" cy="1772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2" name="Google Shape;542;p48" title="mamushka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69000" y="4373950"/>
            <a:ext cx="753075" cy="1375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3" name="Google Shape;543;p48" title="mamushka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82325" y="4776775"/>
            <a:ext cx="559150" cy="10212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44" name="Google Shape;544;p48"/>
          <p:cNvCxnSpPr/>
          <p:nvPr/>
        </p:nvCxnSpPr>
        <p:spPr>
          <a:xfrm flipH="1">
            <a:off x="7523525" y="3662800"/>
            <a:ext cx="39000" cy="1003500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545" name="Google Shape;545;p48"/>
          <p:cNvSpPr txBox="1"/>
          <p:nvPr/>
        </p:nvSpPr>
        <p:spPr>
          <a:xfrm>
            <a:off x="6990925" y="3288475"/>
            <a:ext cx="1523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Caso base</a:t>
            </a:r>
            <a:endParaRPr b="1"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49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49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49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552" name="Google Shape;552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553" name="Google Shape;553;p49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49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p49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p49"/>
          <p:cNvSpPr txBox="1"/>
          <p:nvPr/>
        </p:nvSpPr>
        <p:spPr>
          <a:xfrm>
            <a:off x="254000" y="8049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Ejemplo: calcular el factorial de un número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57" name="Google Shape;557;p4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36300" y="1417700"/>
            <a:ext cx="6111375" cy="1251150"/>
          </a:xfrm>
          <a:prstGeom prst="rect">
            <a:avLst/>
          </a:prstGeom>
          <a:noFill/>
          <a:ln>
            <a:noFill/>
          </a:ln>
        </p:spPr>
      </p:pic>
      <p:sp>
        <p:nvSpPr>
          <p:cNvPr id="558" name="Google Shape;558;p49"/>
          <p:cNvSpPr txBox="1"/>
          <p:nvPr/>
        </p:nvSpPr>
        <p:spPr>
          <a:xfrm>
            <a:off x="177800" y="3059550"/>
            <a:ext cx="4839000" cy="33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Osea: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9!= 9x8x7x6x5x4x3x2x1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3!= 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3x2x1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12!= 12x11x10x</a:t>
            </a: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9x8x7x6x5x4x3x2x1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49"/>
          <p:cNvSpPr txBox="1"/>
          <p:nvPr/>
        </p:nvSpPr>
        <p:spPr>
          <a:xfrm>
            <a:off x="5668525" y="3798450"/>
            <a:ext cx="34299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Cuánto es 0! ?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Hay factorial de números no-naturales?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3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5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50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566" name="Google Shape;566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567" name="Google Shape;567;p50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50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50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50"/>
          <p:cNvSpPr txBox="1"/>
          <p:nvPr/>
        </p:nvSpPr>
        <p:spPr>
          <a:xfrm>
            <a:off x="254000" y="8049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Ejemplo: calcular el factorial de un número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1" name="Google Shape;571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34650" y="1359250"/>
            <a:ext cx="4258150" cy="1962600"/>
          </a:xfrm>
          <a:prstGeom prst="rect">
            <a:avLst/>
          </a:prstGeom>
          <a:noFill/>
          <a:ln>
            <a:noFill/>
          </a:ln>
        </p:spPr>
      </p:pic>
      <p:sp>
        <p:nvSpPr>
          <p:cNvPr id="572" name="Google Shape;572;p50"/>
          <p:cNvSpPr txBox="1"/>
          <p:nvPr/>
        </p:nvSpPr>
        <p:spPr>
          <a:xfrm>
            <a:off x="352775" y="3497200"/>
            <a:ext cx="7868700" cy="22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Qué podemos ver aca?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Como ya dijimos, la function se llama a sí misma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La function devuelve un output (return) a cada iteración.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El primer if delimita el caso base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76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p51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51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579" name="Google Shape;579;p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580" name="Google Shape;580;p51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51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Google Shape;582;p51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51"/>
          <p:cNvSpPr txBox="1"/>
          <p:nvPr/>
        </p:nvSpPr>
        <p:spPr>
          <a:xfrm>
            <a:off x="254000" y="8049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Ejemplo: calcular el factorial de un número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84" name="Google Shape;584;p5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34650" y="1359250"/>
            <a:ext cx="4258150" cy="1962600"/>
          </a:xfrm>
          <a:prstGeom prst="rect">
            <a:avLst/>
          </a:prstGeom>
          <a:noFill/>
          <a:ln>
            <a:noFill/>
          </a:ln>
        </p:spPr>
      </p:pic>
      <p:sp>
        <p:nvSpPr>
          <p:cNvPr id="585" name="Google Shape;585;p51"/>
          <p:cNvSpPr txBox="1"/>
          <p:nvPr/>
        </p:nvSpPr>
        <p:spPr>
          <a:xfrm>
            <a:off x="294325" y="3358300"/>
            <a:ext cx="7868700" cy="36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f(6). Procedimiento, estos pasos va realizando el algoritmo:</a:t>
            </a:r>
            <a:endParaRPr b="1" sz="24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6 * fact(5)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6*5*fact(4)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6*5*4*fact(3)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6*5*4*3*fact(2)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6*5*4*3*2*fact(1)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6*5*4*3*2*1*fact(0)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6*5*4*3*2*1*1 = 720</a:t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52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52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592" name="Google Shape;592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593" name="Google Shape;593;p52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52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5" name="Google Shape;595;p52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6" name="Google Shape;596;p52"/>
          <p:cNvSpPr txBox="1"/>
          <p:nvPr/>
        </p:nvSpPr>
        <p:spPr>
          <a:xfrm>
            <a:off x="177800" y="2567100"/>
            <a:ext cx="85089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Qué pasa si tenemos una función recursiva y no tenemos ningún caso base?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53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53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603" name="Google Shape;603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53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1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53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53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53"/>
          <p:cNvSpPr txBox="1"/>
          <p:nvPr/>
        </p:nvSpPr>
        <p:spPr>
          <a:xfrm>
            <a:off x="138825" y="1252000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Ejercicio dificultad alta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Google Shape;608;p53"/>
          <p:cNvSpPr txBox="1"/>
          <p:nvPr/>
        </p:nvSpPr>
        <p:spPr>
          <a:xfrm>
            <a:off x="138825" y="2173975"/>
            <a:ext cx="8508900" cy="301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Crear una function que devuelva el n puesto de la serie de Fibonacci</a:t>
            </a:r>
            <a:endParaRPr sz="28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sz="28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Ej:</a:t>
            </a:r>
            <a:endParaRPr sz="28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fibo(8)= 21</a:t>
            </a:r>
            <a:endParaRPr sz="28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fibo(7)= 13</a:t>
            </a:r>
            <a:endParaRPr sz="28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sz="280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