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77FF76-D463-4AEA-BFAE-CB6D0520CB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23C0B0A-F0AE-4261-BEC0-DA68EC4119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F3065D7-2E3B-46ED-B342-BAFCB3DDF2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1894373-671A-42B0-A7FB-E57642446E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97A4315-96CC-45E0-9B09-1696C97DF3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E557082-8E30-4E62-A46D-1F34B81214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715EF83-4D80-40BE-A28D-4F709B59DB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6DCE7CF-ABA8-4E62-A854-2B70F57469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3744C26-2CD0-402F-89BB-7F08811CCD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053DF5D-130C-40EE-9BE4-3CE04754BE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338BCEA8-E278-44B8-B48F-84574EF538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DA63BD97-7B12-424B-91AB-55D7DC57E9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38A3820D-9A1F-4A31-B034-BF2AB76D91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4FF6E474-B943-4C04-BE17-9EAB08D638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D8539486-961B-460C-AC2B-DA5EFFDF64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D367ED82-37D1-4F0C-B0FD-AE87214BC4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A5BE3489-3DD0-4779-8449-E890FF4AC6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4C14DCFF-6DA4-427D-AEEF-C889C194A3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7A7DB81A-0F08-47B3-AD31-31766E8F08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45C30538-3373-4082-B146-4EDA78F85B5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A41AE67D-7D34-46FD-8993-3796D3E8DD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6"/>
          </p:nvPr>
        </p:nvSpPr>
        <p:spPr/>
        <p:txBody>
          <a:bodyPr/>
          <a:p>
            <a:fld id="{7C07E368-F25E-44AC-8F40-B299E45F3C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9"/>
          </p:nvPr>
        </p:nvSpPr>
        <p:spPr/>
        <p:txBody>
          <a:bodyPr/>
          <a:p>
            <a:fld id="{493E2324-BBB3-430D-984A-12BC47E2E5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2"/>
          </p:nvPr>
        </p:nvSpPr>
        <p:spPr/>
        <p:txBody>
          <a:bodyPr/>
          <a:p>
            <a:fld id="{40E3AB66-3C36-45CB-88E7-C00D5CE6CE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DBB3EC-50BD-4FB1-8572-F7EA97BE0E1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9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8ADA94-1DE6-4E57-BD4E-C52BD07F71F1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4D2B45-C5E8-4233-B748-8A5FD98B822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81;p13"/>
          <p:cNvSpPr/>
          <p:nvPr/>
        </p:nvSpPr>
        <p:spPr>
          <a:xfrm>
            <a:off x="0" y="0"/>
            <a:ext cx="9135360" cy="6851880"/>
          </a:xfrm>
          <a:custGeom>
            <a:avLst/>
            <a:gdLst>
              <a:gd name="textAreaLeft" fmla="*/ 0 w 9135360"/>
              <a:gd name="textAreaRight" fmla="*/ 9135720 w 9135360"/>
              <a:gd name="textAreaTop" fmla="*/ 0 h 6851880"/>
              <a:gd name="textAreaBottom" fmla="*/ 6852240 h 6851880"/>
            </a:gdLst>
            <a:ahLst/>
            <a:rect l="textAreaLeft" t="textAreaTop" r="textAreaRight" b="textAreaBottom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10"/>
          </p:nvPr>
        </p:nvSpPr>
        <p:spPr>
          <a:xfrm>
            <a:off x="3108960" y="6377760"/>
            <a:ext cx="292572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11"/>
          </p:nvPr>
        </p:nvSpPr>
        <p:spPr>
          <a:xfrm>
            <a:off x="457200" y="6377760"/>
            <a:ext cx="21027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2"/>
          </p:nvPr>
        </p:nvSpPr>
        <p:spPr>
          <a:xfrm>
            <a:off x="8724600" y="6622560"/>
            <a:ext cx="30204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139680"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333333"/>
                </a:solidFill>
                <a:latin typeface="Times New Roman"/>
                <a:ea typeface="Times New Roman"/>
              </a:defRPr>
            </a:lvl1pPr>
          </a:lstStyle>
          <a:p>
            <a:pPr marL="139680" indent="0" algn="r">
              <a:lnSpc>
                <a:spcPct val="100000"/>
              </a:lnSpc>
              <a:buNone/>
              <a:tabLst>
                <a:tab algn="l" pos="0"/>
              </a:tabLst>
            </a:pPr>
            <a:fld id="{B824F01B-A16B-45D7-82A3-04A627DD770D}" type="slidenum">
              <a:rPr b="0" lang="en-US" sz="1000" spc="-1" strike="noStrike">
                <a:solidFill>
                  <a:srgbClr val="333333"/>
                </a:solidFill>
                <a:latin typeface="Times New Roman"/>
                <a:ea typeface="Times New Roman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Google Shape;85;p13"/>
          <p:cNvSpPr/>
          <p:nvPr/>
        </p:nvSpPr>
        <p:spPr>
          <a:xfrm flipH="1" rot="10800000">
            <a:off x="-16200" y="6294600"/>
            <a:ext cx="9176400" cy="327960"/>
          </a:xfrm>
          <a:prstGeom prst="rect">
            <a:avLst/>
          </a:prstGeom>
          <a:solidFill>
            <a:srgbClr val="2d2d2d"/>
          </a:solidFill>
          <a:ln w="0">
            <a:noFill/>
          </a:ln>
          <a:effectLst>
            <a:outerShdw blurRad="79200" dir="5400000" dist="4572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81440" rIns="181440" tIns="90720" bIns="90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Google Shape;86;p13"/>
          <p:cNvSpPr/>
          <p:nvPr/>
        </p:nvSpPr>
        <p:spPr>
          <a:xfrm>
            <a:off x="151200" y="6342840"/>
            <a:ext cx="15883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36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Calibri"/>
              </a:rPr>
              <a:t>Pablo J Piccoli Bornia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53CDD1-0664-4A2F-8B88-D91D5091616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1649B0-B071-4A0A-82CC-935C8E7465C1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4347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6A55BE-C715-414E-9B87-D9D34F9A0D1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C01940-B123-44C5-89FD-24C60553A7B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7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7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78A109-CF50-4BDF-B83B-40B520E99705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45DED5-4A48-4854-961C-AA2B4A505DD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74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B38578-876D-47E7-8745-9798E9BA505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4994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5095E4-F802-4D35-8B93-8AEE1B32941A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dt" idx="3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ftr" idx="3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3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A4FAF9-F067-4E23-9449-05873F117FDF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 rot="5400000">
            <a:off x="2309040" y="-251280"/>
            <a:ext cx="452592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9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dt" idx="4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ftr" idx="4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6D7A62-9EBF-4B97-89B1-8E4618259FD2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dt" idx="4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ftr" idx="4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sldNum" idx="4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214DF8-E823-41E4-B415-69B7EA4AB5CA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163;p26"/>
          <p:cNvSpPr/>
          <p:nvPr/>
        </p:nvSpPr>
        <p:spPr>
          <a:xfrm>
            <a:off x="0" y="0"/>
            <a:ext cx="9135360" cy="6851880"/>
          </a:xfrm>
          <a:custGeom>
            <a:avLst/>
            <a:gdLst>
              <a:gd name="textAreaLeft" fmla="*/ 0 w 9135360"/>
              <a:gd name="textAreaRight" fmla="*/ 9135720 w 9135360"/>
              <a:gd name="textAreaTop" fmla="*/ 0 h 6851880"/>
              <a:gd name="textAreaBottom" fmla="*/ 6852240 h 6851880"/>
            </a:gdLst>
            <a:ahLst/>
            <a:rect l="textAreaLeft" t="textAreaTop" r="textAreaRight" b="textAreaBottom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ftr" idx="46"/>
          </p:nvPr>
        </p:nvSpPr>
        <p:spPr>
          <a:xfrm>
            <a:off x="3108960" y="6377760"/>
            <a:ext cx="292572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dt" idx="47"/>
          </p:nvPr>
        </p:nvSpPr>
        <p:spPr>
          <a:xfrm>
            <a:off x="457200" y="6377760"/>
            <a:ext cx="21027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48"/>
          </p:nvPr>
        </p:nvSpPr>
        <p:spPr>
          <a:xfrm>
            <a:off x="8724600" y="6622560"/>
            <a:ext cx="30204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139680"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333333"/>
                </a:solidFill>
                <a:latin typeface="Times New Roman"/>
                <a:ea typeface="Times New Roman"/>
              </a:defRPr>
            </a:lvl1pPr>
          </a:lstStyle>
          <a:p>
            <a:pPr marL="139680" indent="0" algn="r">
              <a:lnSpc>
                <a:spcPct val="100000"/>
              </a:lnSpc>
              <a:buNone/>
              <a:tabLst>
                <a:tab algn="l" pos="0"/>
              </a:tabLst>
            </a:pPr>
            <a:fld id="{AF7CD45C-38BC-4DE2-AF70-3074D7CF6C2F}" type="slidenum">
              <a:rPr b="0" lang="en-US" sz="1000" spc="-1" strike="noStrike">
                <a:solidFill>
                  <a:srgbClr val="333333"/>
                </a:solidFill>
                <a:latin typeface="Times New Roman"/>
                <a:ea typeface="Times New Roman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Google Shape;167;p26"/>
          <p:cNvSpPr/>
          <p:nvPr/>
        </p:nvSpPr>
        <p:spPr>
          <a:xfrm flipH="1" rot="10800000">
            <a:off x="-16200" y="6294600"/>
            <a:ext cx="9176400" cy="327960"/>
          </a:xfrm>
          <a:prstGeom prst="rect">
            <a:avLst/>
          </a:prstGeom>
          <a:solidFill>
            <a:srgbClr val="2d2d2d"/>
          </a:solidFill>
          <a:ln w="0">
            <a:noFill/>
          </a:ln>
          <a:effectLst>
            <a:outerShdw blurRad="79200" dir="5400000" dist="4572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81440" rIns="181440" tIns="90720" bIns="90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Google Shape;168;p26"/>
          <p:cNvSpPr/>
          <p:nvPr/>
        </p:nvSpPr>
        <p:spPr>
          <a:xfrm>
            <a:off x="151200" y="6342840"/>
            <a:ext cx="15883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36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Calibri"/>
              </a:rPr>
              <a:t>Pablo J Piccoli Bornia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dt" idx="4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ftr" idx="5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sldNum" idx="5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4B7FBA-848F-409C-8FF7-0730D883553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ftr" idx="5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sldNum" idx="5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2040FB-0518-49D9-9F6F-7DEC7DED15B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50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4347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dt" idx="5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ftr" idx="5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sldNum" idx="5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06E54A-2F8A-4E5C-B32B-149AE39D118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5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 type="ftr" idx="5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 type="sldNum" idx="6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CD0E5A-4FE9-4699-81B9-B2E4B6EDCB6F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7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720" cy="63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7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7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dt" idx="6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7"/>
          <p:cNvSpPr>
            <a:spLocks noGrp="1"/>
          </p:cNvSpPr>
          <p:nvPr>
            <p:ph type="ftr" idx="6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PlaceHolder 8"/>
          <p:cNvSpPr>
            <a:spLocks noGrp="1"/>
          </p:cNvSpPr>
          <p:nvPr>
            <p:ph type="sldNum" idx="6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D549BF-132B-42FA-AF87-5B05D2183DA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dt" idx="6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ftr" idx="6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sldNum" idx="6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FC9A4C-0775-4547-A92E-A99312B1D2B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816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74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816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83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dt" idx="6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ftr" idx="6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6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6A134B-CDCB-4C83-919E-8088A2450BEC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4994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dt" idx="7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ftr" idx="7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sldNum" idx="7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371494-D683-4108-88CD-2D6A1B96886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73;p27"/>
          <p:cNvSpPr/>
          <p:nvPr/>
        </p:nvSpPr>
        <p:spPr>
          <a:xfrm>
            <a:off x="274320" y="13716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174;p27"/>
          <p:cNvSpPr/>
          <p:nvPr/>
        </p:nvSpPr>
        <p:spPr>
          <a:xfrm>
            <a:off x="274320" y="2004480"/>
            <a:ext cx="8229240" cy="94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323232"/>
                </a:solidFill>
                <a:latin typeface="Calibri"/>
                <a:ea typeface="Calibri"/>
              </a:rPr>
              <a:t>El mundo de Data: panorama laboral, roles, conceptos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175;p27"/>
          <p:cNvSpPr/>
          <p:nvPr/>
        </p:nvSpPr>
        <p:spPr>
          <a:xfrm>
            <a:off x="1574280" y="3620520"/>
            <a:ext cx="84960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2d2d2d"/>
                </a:solidFill>
                <a:latin typeface="Calibri"/>
                <a:ea typeface="Calibri"/>
              </a:rPr>
              <a:t>Profesor: Pablo J Piccoli Bornia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Google Shape;176;p27"/>
          <p:cNvSpPr/>
          <p:nvPr/>
        </p:nvSpPr>
        <p:spPr>
          <a:xfrm>
            <a:off x="1574280" y="4219920"/>
            <a:ext cx="84960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2d2d2d"/>
                </a:solidFill>
                <a:latin typeface="Calibri"/>
                <a:ea typeface="Calibri"/>
              </a:rPr>
              <a:t>Auxiliares: Daniela Longas - M Victoria Tolosa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81;p28"/>
          <p:cNvSpPr/>
          <p:nvPr/>
        </p:nvSpPr>
        <p:spPr>
          <a:xfrm>
            <a:off x="2240640" y="3207600"/>
            <a:ext cx="36763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2680" bIns="0" anchor="t">
            <a:spAutoFit/>
          </a:bodyPr>
          <a:p>
            <a:pPr marL="2556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 cap="small">
                <a:solidFill>
                  <a:srgbClr val="f4f2ed"/>
                </a:solidFill>
                <a:latin typeface="Tahoma"/>
                <a:ea typeface="Tahoma"/>
              </a:rPr>
              <a:t>DATA COMO DISCIPLINA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3" name="Google Shape;182;p28"/>
          <p:cNvGrpSpPr/>
          <p:nvPr/>
        </p:nvGrpSpPr>
        <p:grpSpPr>
          <a:xfrm>
            <a:off x="2260800" y="3600000"/>
            <a:ext cx="4642200" cy="50040"/>
            <a:chOff x="2260800" y="3600000"/>
            <a:chExt cx="4642200" cy="50040"/>
          </a:xfrm>
        </p:grpSpPr>
        <p:sp>
          <p:nvSpPr>
            <p:cNvPr id="154" name="Google Shape;183;p28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Google Shape;184;p28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w="18875">
              <a:solidFill>
                <a:srgbClr val="f4f2e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6" name="Google Shape;185;p28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7" name="Google Shape;186;p28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w="18875">
              <a:solidFill>
                <a:srgbClr val="f1c23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fade thruBlk="true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91;p29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192;p29"/>
          <p:cNvSpPr/>
          <p:nvPr/>
        </p:nvSpPr>
        <p:spPr>
          <a:xfrm>
            <a:off x="274320" y="13716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193;p29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194;p29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195;p29"/>
          <p:cNvSpPr/>
          <p:nvPr/>
        </p:nvSpPr>
        <p:spPr>
          <a:xfrm>
            <a:off x="365760" y="731520"/>
            <a:ext cx="822924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rial"/>
                <a:ea typeface="Arial"/>
              </a:rPr>
              <a:t>Data es un camino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3" name="Google Shape;196;p29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164" name="Google Shape;197;p29"/>
          <p:cNvSpPr/>
          <p:nvPr/>
        </p:nvSpPr>
        <p:spPr>
          <a:xfrm>
            <a:off x="297720" y="1681920"/>
            <a:ext cx="8365320" cy="36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Distintos productos digitales generan datos cuando la gente interactúa con ellos.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Así como existen personas que desarrollan estos productos digitales (ing de software, frontend, backend) también existen personas interesadas en sacar el mayor provecho de estos datos generados.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202;p3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203;p30"/>
          <p:cNvSpPr/>
          <p:nvPr/>
        </p:nvSpPr>
        <p:spPr>
          <a:xfrm>
            <a:off x="274320" y="13716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Google Shape;204;p30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Google Shape;205;p30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Google Shape;206;p30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170" name="Google Shape;207;p30"/>
          <p:cNvSpPr/>
          <p:nvPr/>
        </p:nvSpPr>
        <p:spPr>
          <a:xfrm>
            <a:off x="274320" y="6318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es un camino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208;p30"/>
          <p:cNvSpPr/>
          <p:nvPr/>
        </p:nvSpPr>
        <p:spPr>
          <a:xfrm>
            <a:off x="274320" y="1501560"/>
            <a:ext cx="8525520" cy="42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Usualmente los datos están “crudos”, desparramados en mil y un fuentes distintas.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Alguien/es debe ordenarlos, limpiarlos, moverlos, centralizarlos, y hacerlos accesibles.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Luego, otras personas obtendrán insights a partir de estos datos. Usando diferentes métodos: tableros, informes, modelos de predicción, etc.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213;p31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Google Shape;214;p31"/>
          <p:cNvSpPr/>
          <p:nvPr/>
        </p:nvSpPr>
        <p:spPr>
          <a:xfrm>
            <a:off x="274320" y="13716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Google Shape;215;p31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Google Shape;216;p31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" name="Google Shape;217;p31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177" name="Google Shape;218;p31"/>
          <p:cNvSpPr/>
          <p:nvPr/>
        </p:nvSpPr>
        <p:spPr>
          <a:xfrm>
            <a:off x="274320" y="44496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es un camino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Google Shape;219;p31" descr=""/>
          <p:cNvPicPr/>
          <p:nvPr/>
        </p:nvPicPr>
        <p:blipFill>
          <a:blip r:embed="rId2"/>
          <a:stretch/>
        </p:blipFill>
        <p:spPr>
          <a:xfrm>
            <a:off x="468360" y="1498680"/>
            <a:ext cx="8207280" cy="433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224;p32"/>
          <p:cNvSpPr/>
          <p:nvPr/>
        </p:nvSpPr>
        <p:spPr>
          <a:xfrm>
            <a:off x="2240640" y="3207600"/>
            <a:ext cx="52293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2680" bIns="0" anchor="t">
            <a:spAutoFit/>
          </a:bodyPr>
          <a:p>
            <a:pPr marL="2556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 cap="small">
                <a:solidFill>
                  <a:srgbClr val="f4f2ed"/>
                </a:solidFill>
                <a:latin typeface="Tahoma"/>
                <a:ea typeface="Tahoma"/>
              </a:rPr>
              <a:t>ROLES, HABILIDADES Y HERRAMIENTAS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0" name="Google Shape;225;p32"/>
          <p:cNvGrpSpPr/>
          <p:nvPr/>
        </p:nvGrpSpPr>
        <p:grpSpPr>
          <a:xfrm>
            <a:off x="2260800" y="3600000"/>
            <a:ext cx="4642200" cy="50040"/>
            <a:chOff x="2260800" y="3600000"/>
            <a:chExt cx="4642200" cy="50040"/>
          </a:xfrm>
        </p:grpSpPr>
        <p:sp>
          <p:nvSpPr>
            <p:cNvPr id="181" name="Google Shape;226;p32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2" name="Google Shape;227;p32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w="18875">
              <a:solidFill>
                <a:srgbClr val="f4f2e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" name="Google Shape;228;p32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4" name="Google Shape;229;p32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w="18875">
              <a:solidFill>
                <a:srgbClr val="f1c23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fade thruBlk="true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234;p33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Google Shape;235;p33"/>
          <p:cNvSpPr/>
          <p:nvPr/>
        </p:nvSpPr>
        <p:spPr>
          <a:xfrm>
            <a:off x="274320" y="13716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236;p33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Google Shape;237;p33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" name="Google Shape;238;p33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190" name="Google Shape;239;p33"/>
          <p:cNvSpPr/>
          <p:nvPr/>
        </p:nvSpPr>
        <p:spPr>
          <a:xfrm>
            <a:off x="468000" y="4986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240;p33"/>
          <p:cNvSpPr/>
          <p:nvPr/>
        </p:nvSpPr>
        <p:spPr>
          <a:xfrm>
            <a:off x="274320" y="1445040"/>
            <a:ext cx="8630280" cy="48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1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engineer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: Se encarga de extraer, mover, ordenar y almacenar datos.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12456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Analyst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: Analytics descriptivo. Con los datos ya almacenados, intenta explicar la realidad presente.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12456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Scientist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: Analytics predictivo. Con los datos ya almacenados intenta predecir la realidad futura.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245;p34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Google Shape;246;p34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247;p34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Google Shape;248;p34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Google Shape;249;p34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197" name="Google Shape;250;p34"/>
          <p:cNvSpPr/>
          <p:nvPr/>
        </p:nvSpPr>
        <p:spPr>
          <a:xfrm>
            <a:off x="54000" y="52848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Skills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251;p34"/>
          <p:cNvSpPr/>
          <p:nvPr/>
        </p:nvSpPr>
        <p:spPr>
          <a:xfrm>
            <a:off x="485280" y="1538640"/>
            <a:ext cx="8173080" cy="40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engineer: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Diseño y modelado de BBDD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Creación de data pipelines y trabajos de ETL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Procesamiento distribuido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Énfasis en tecnología/programación.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256;p35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257;p35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Google Shape;258;p35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Google Shape;259;p35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Google Shape;260;p35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04" name="Google Shape;261;p35"/>
          <p:cNvSpPr/>
          <p:nvPr/>
        </p:nvSpPr>
        <p:spPr>
          <a:xfrm>
            <a:off x="54000" y="52848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Skills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262;p35"/>
          <p:cNvSpPr/>
          <p:nvPr/>
        </p:nvSpPr>
        <p:spPr>
          <a:xfrm>
            <a:off x="504000" y="1575000"/>
            <a:ext cx="8365320" cy="47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analyst: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Business Intelligence.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Creación de reportes y dashboards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Ayuda personalizada a las áreas de negocio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Creación de querys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Creación de data marts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Énfasis en conocimiento de negocio y transmisión de ideas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67;p36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Google Shape;268;p36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Google Shape;269;p36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Google Shape;270;p36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Google Shape;271;p36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11" name="Google Shape;272;p36"/>
          <p:cNvSpPr/>
          <p:nvPr/>
        </p:nvSpPr>
        <p:spPr>
          <a:xfrm>
            <a:off x="54000" y="52848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Skills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Google Shape;273;p36"/>
          <p:cNvSpPr/>
          <p:nvPr/>
        </p:nvSpPr>
        <p:spPr>
          <a:xfrm>
            <a:off x="171720" y="1575000"/>
            <a:ext cx="8663040" cy="344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scientist: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Modelado matemático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Machine Learning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A/B testing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Énfasis en la rigurosidad estadística.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78;p37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Google Shape;279;p37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Google Shape;280;p37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Google Shape;281;p37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Google Shape;282;p37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18" name="Google Shape;283;p37"/>
          <p:cNvSpPr/>
          <p:nvPr/>
        </p:nvSpPr>
        <p:spPr>
          <a:xfrm>
            <a:off x="54000" y="1326600"/>
            <a:ext cx="8955720" cy="49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Engineer: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SQL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Python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SGBD: Oracle, Postgres, etc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D.Warehousing cloud: Bquery, Redshift, etc.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Herramientas de orquestación: Airflow,etc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Almacenamiento de objetos y Data Lake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Procesamiento distribuido: Spark Hadoop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CI/CD: Git/Github, etc.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Google Shape;284;p37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89;p38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Google Shape;290;p38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Google Shape;291;p38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Google Shape;292;p38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4" name="Google Shape;293;p38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25" name="Google Shape;294;p38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Google Shape;295;p38"/>
          <p:cNvSpPr/>
          <p:nvPr/>
        </p:nvSpPr>
        <p:spPr>
          <a:xfrm>
            <a:off x="504000" y="1326600"/>
            <a:ext cx="8085600" cy="44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Engineer: Es el rol en donde más herramientas distintas vas a encontrar. Y todos los días sale una nueva. Lo importante es que tengas las bases claras y luego vayas aprendiendo lo que necesites.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Es el rol donde más vas a interactuar con ambientes cloud.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300;p39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Google Shape;301;p39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Google Shape;302;p39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Google Shape;303;p39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Google Shape;304;p39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32" name="Google Shape;305;p39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Google Shape;306;p39"/>
          <p:cNvSpPr/>
          <p:nvPr/>
        </p:nvSpPr>
        <p:spPr>
          <a:xfrm>
            <a:off x="134280" y="1637280"/>
            <a:ext cx="8190720" cy="31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Analyst: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Lenguaje de consulta: Excel, SQL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Lenguaje de análisis: R, Python, etc.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Dashboarding: Power Bi, Tableau, etc.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311;p4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Google Shape;312;p40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Google Shape;313;p40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314;p40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8" name="Google Shape;315;p40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39" name="Google Shape;316;p40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Google Shape;317;p40"/>
          <p:cNvSpPr/>
          <p:nvPr/>
        </p:nvSpPr>
        <p:spPr>
          <a:xfrm>
            <a:off x="504000" y="1326600"/>
            <a:ext cx="8242920" cy="45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Analyst: Hace ya varios años que las herramientas en este campo son bastante inmutables.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El foco de aprendizaje en este rol es el negocio en sí mismo, al igual que la optimización de los procesos de tu área.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Aprenderás mediante la experiencia y la socialización con tu equipo.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322;p41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Google Shape;323;p41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Google Shape;324;p41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325;p41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5" name="Google Shape;326;p41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46" name="Google Shape;327;p41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Google Shape;328;p41"/>
          <p:cNvSpPr/>
          <p:nvPr/>
        </p:nvSpPr>
        <p:spPr>
          <a:xfrm>
            <a:off x="504000" y="1326600"/>
            <a:ext cx="8505720" cy="48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Scientist: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Lenguaje de consulta: Excel, SQL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Lenguaje de análisis: R, Python, etc.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1080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Profundización en Python. Librerías específicas de ML: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7" marL="1728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TensorFlow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7" marL="1728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Keras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7" marL="1728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ScikitLearn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7" marL="1728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Herramientas cloud: Sagemaker, etc.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333;p42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Google Shape;334;p42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Google Shape;335;p42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Google Shape;336;p42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Google Shape;337;p42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53" name="Google Shape;338;p42"/>
          <p:cNvSpPr/>
          <p:nvPr/>
        </p:nvSpPr>
        <p:spPr>
          <a:xfrm>
            <a:off x="189000" y="42840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clásicos - Herramientas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Google Shape;339;p42"/>
          <p:cNvSpPr/>
          <p:nvPr/>
        </p:nvSpPr>
        <p:spPr>
          <a:xfrm>
            <a:off x="416520" y="1486080"/>
            <a:ext cx="782100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Data Scientist: El foco de aprendizaje en este rol son las bases teóricas que se van renovando constantemente.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Con mucha regularidad surgen modelos nuevos que mejoran la performance el anterior.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La fuente de estudio no son libros/cursos, si no más  bien papers y artículos.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344;p43"/>
          <p:cNvSpPr/>
          <p:nvPr/>
        </p:nvSpPr>
        <p:spPr>
          <a:xfrm>
            <a:off x="2240640" y="3207600"/>
            <a:ext cx="57891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2680" bIns="0" anchor="t">
            <a:spAutoFit/>
          </a:bodyPr>
          <a:p>
            <a:pPr marL="2556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 cap="small">
                <a:solidFill>
                  <a:srgbClr val="f4f2ed"/>
                </a:solidFill>
                <a:latin typeface="Tahoma"/>
                <a:ea typeface="Tahoma"/>
              </a:rPr>
              <a:t>ROLES NUEVOS. QUIÉNES NECESITAN DATA?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6" name="Google Shape;345;p43"/>
          <p:cNvGrpSpPr/>
          <p:nvPr/>
        </p:nvGrpSpPr>
        <p:grpSpPr>
          <a:xfrm>
            <a:off x="2260800" y="3600000"/>
            <a:ext cx="4642200" cy="50040"/>
            <a:chOff x="2260800" y="3600000"/>
            <a:chExt cx="4642200" cy="50040"/>
          </a:xfrm>
        </p:grpSpPr>
        <p:sp>
          <p:nvSpPr>
            <p:cNvPr id="257" name="Google Shape;346;p43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8" name="Google Shape;347;p43"/>
            <p:cNvSpPr/>
            <p:nvPr/>
          </p:nvSpPr>
          <p:spPr>
            <a:xfrm>
              <a:off x="2260800" y="3600000"/>
              <a:ext cx="4642200" cy="50040"/>
            </a:xfrm>
            <a:custGeom>
              <a:avLst/>
              <a:gdLst>
                <a:gd name="textAreaLeft" fmla="*/ 0 w 4642200"/>
                <a:gd name="textAreaRight" fmla="*/ 4642560 w 464220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2340610" h="2540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w="18875">
              <a:solidFill>
                <a:srgbClr val="f4f2e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Google Shape;348;p43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0" name="Google Shape;349;p43"/>
            <p:cNvSpPr/>
            <p:nvPr/>
          </p:nvSpPr>
          <p:spPr>
            <a:xfrm>
              <a:off x="2260800" y="3600000"/>
              <a:ext cx="2421720" cy="50040"/>
            </a:xfrm>
            <a:custGeom>
              <a:avLst/>
              <a:gdLst>
                <a:gd name="textAreaLeft" fmla="*/ 0 w 2421720"/>
                <a:gd name="textAreaRight" fmla="*/ 2422080 w 2421720"/>
                <a:gd name="textAreaTop" fmla="*/ 0 h 50040"/>
                <a:gd name="textAreaBottom" fmla="*/ 50400 h 50040"/>
              </a:gdLst>
              <a:ahLst/>
              <a:rect l="textAreaLeft" t="textAreaTop" r="textAreaRight" b="textAreaBottom"/>
              <a:pathLst>
                <a:path w="1221105" h="2540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w="18875">
              <a:solidFill>
                <a:srgbClr val="f1c23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fade thruBlk="true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354;p44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Google Shape;355;p44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Google Shape;356;p44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Google Shape;357;p44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Google Shape;358;p44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66" name="Google Shape;359;p44"/>
          <p:cNvSpPr/>
          <p:nvPr/>
        </p:nvSpPr>
        <p:spPr>
          <a:xfrm>
            <a:off x="274320" y="483840"/>
            <a:ext cx="907128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Data Roles Recientes/Híbridos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Google Shape;360;p44"/>
          <p:cNvSpPr/>
          <p:nvPr/>
        </p:nvSpPr>
        <p:spPr>
          <a:xfrm>
            <a:off x="504000" y="1326600"/>
            <a:ext cx="8225640" cy="47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74983"/>
          </a:bodyPr>
          <a:p>
            <a:pPr marL="432000" indent="-308520">
              <a:lnSpc>
                <a:spcPct val="100000"/>
              </a:lnSpc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DBA administrator: Es un D.Engineer focalizado en el mantenimient de una o más bases. Es un rol “limitado”, debés profundizar en un SGBD en particular y en SQL. Probablemente debas saber también de servidores Linux.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0852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Data specialist: un generalista, debés saber un poco de cada rol.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0852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Data architect: Una mezcla entre D.Engineer y un Devops. Profundización en infraestructura Cloud..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0852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ML Engineer: El rol de moda en los útimos 2 años. Mezcla un D.Engineer con un D.scientist. Se enfoca en hacer d.pipelines (como los ingenieros) pero para trabajos de ML (como los data scientist).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0852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BI engineer: Focalizado en dashboards, pero deberá probablemente hacer data wrangling y otras funciones típicas de un ingeniero.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0852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Analytics engineer: Rol ligado a una herramienta en particular (DBT). Básicamente es un data analyst ultra-enfocado en SQL.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365;p45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Google Shape;366;p45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Google Shape;367;p45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Google Shape;368;p45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" name="Google Shape;369;p45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73" name="Google Shape;370;p45"/>
          <p:cNvSpPr/>
          <p:nvPr/>
        </p:nvSpPr>
        <p:spPr>
          <a:xfrm>
            <a:off x="189000" y="548640"/>
            <a:ext cx="9071280" cy="12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¿Qué clase de empresa necesita estos roles?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Google Shape;371;p45"/>
          <p:cNvSpPr/>
          <p:nvPr/>
        </p:nvSpPr>
        <p:spPr>
          <a:xfrm>
            <a:off x="189000" y="1816200"/>
            <a:ext cx="8715600" cy="428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Las empresas muy pequeñas y no-tecnológicas (mini-pymes) usualmente necesitan simplemente un data analyst.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De pyme en adelante (tecnológicas o no) se suelen necesitar analistas e ingenieros.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Los scientist suelen necesitarse solo en empresas que generan muchos datos o que son altamente tecnológicas.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376;p46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ffd966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Google Shape;377;p46"/>
          <p:cNvSpPr/>
          <p:nvPr/>
        </p:nvSpPr>
        <p:spPr>
          <a:xfrm>
            <a:off x="274320" y="120600"/>
            <a:ext cx="4571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23232"/>
                </a:solidFill>
                <a:latin typeface="Calibri"/>
                <a:ea typeface="Calibri"/>
              </a:rPr>
              <a:t>Métodos Analíticos y 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Google Shape;378;p46"/>
          <p:cNvSpPr/>
          <p:nvPr/>
        </p:nvSpPr>
        <p:spPr>
          <a:xfrm>
            <a:off x="0" y="6492240"/>
            <a:ext cx="9143640" cy="365400"/>
          </a:xfrm>
          <a:prstGeom prst="rect">
            <a:avLst/>
          </a:prstGeom>
          <a:solidFill>
            <a:srgbClr val="282828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Google Shape;379;p46"/>
          <p:cNvSpPr/>
          <p:nvPr/>
        </p:nvSpPr>
        <p:spPr>
          <a:xfrm>
            <a:off x="274320" y="6537960"/>
            <a:ext cx="3657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Pablo J Piccoli Bornia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9" name="Google Shape;380;p46" descr="di_tella2.png"/>
          <p:cNvPicPr/>
          <p:nvPr/>
        </p:nvPicPr>
        <p:blipFill>
          <a:blip r:embed="rId1"/>
          <a:stretch/>
        </p:blipFill>
        <p:spPr>
          <a:xfrm>
            <a:off x="8325360" y="20160"/>
            <a:ext cx="818280" cy="507600"/>
          </a:xfrm>
          <a:prstGeom prst="rect">
            <a:avLst/>
          </a:prstGeom>
          <a:ln w="0">
            <a:noFill/>
          </a:ln>
        </p:spPr>
      </p:pic>
      <p:sp>
        <p:nvSpPr>
          <p:cNvPr id="280" name="Google Shape;381;p46"/>
          <p:cNvSpPr/>
          <p:nvPr/>
        </p:nvSpPr>
        <p:spPr>
          <a:xfrm>
            <a:off x="-344160" y="322200"/>
            <a:ext cx="9259560" cy="12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¿Con quienes se relaciona cada rol?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Google Shape;382;p46"/>
          <p:cNvSpPr/>
          <p:nvPr/>
        </p:nvSpPr>
        <p:spPr>
          <a:xfrm>
            <a:off x="504000" y="1326600"/>
            <a:ext cx="8330760" cy="48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67841"/>
          </a:bodyPr>
          <a:p>
            <a:pPr marL="432000" indent="-296640">
              <a:lnSpc>
                <a:spcPct val="100000"/>
              </a:lnSpc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Para empezar (y como es obvio) todos los roles de data se relacionan entre si porque suelen ser parte de un mismo equipo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296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El data analyst es el más “social” suele relacionarse todos los días con las áreas operativas no-tecnológicas así como la gerencia (analistas de negocio, supply chain, ventas, marketing, UX/UI, etc).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296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El data engineer suele comunicarse más con IT (DeVops, backend, sysadmin, etc) en su día a día. Habla con áreas de negocio solo en ámbito de reuniones y para recibir “directivas”.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296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El data scientist (cuando existe) suele comunicarse con todos, pero con menos intensidad. Ya que en vez de mirar los prolemas del día a día busca “modelar una situación”.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lastPrinted>2026-03-15T17:18:51Z</cp:lastPrinted>
  <dcterms:modified xsi:type="dcterms:W3CDTF">2026-03-15T17:19:19Z</dcterms:modified>
  <cp:revision>1</cp:revision>
  <dc:subject/>
  <dc:title/>
</cp:coreProperties>
</file>