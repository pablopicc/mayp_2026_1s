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9144000"/>
  <p:notesSz cx="6858000" cy="9144000"/>
  <p:embeddedFontLst>
    <p:embeddedFont>
      <p:font typeface="Tahoma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Tahoma-bold.fntdata"/><Relationship Id="rId27" Type="http://schemas.openxmlformats.org/officeDocument/2006/relationships/font" Target="fonts/Tahoma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eb112b917_0_0:notes"/>
          <p:cNvSpPr txBox="1"/>
          <p:nvPr>
            <p:ph idx="1" type="body"/>
          </p:nvPr>
        </p:nvSpPr>
        <p:spPr>
          <a:xfrm>
            <a:off x="685785" y="4343383"/>
            <a:ext cx="548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00" lIns="171200" spcFirstLastPara="1" rIns="171200" wrap="square" tIns="1712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79" name="Google Shape;179;g3beb112b917_0_0:notes"/>
          <p:cNvSpPr/>
          <p:nvPr>
            <p:ph idx="2" type="sldImg"/>
          </p:nvPr>
        </p:nvSpPr>
        <p:spPr>
          <a:xfrm>
            <a:off x="1141124" y="685783"/>
            <a:ext cx="4576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7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eb112b917_0_98:notes"/>
          <p:cNvSpPr txBox="1"/>
          <p:nvPr>
            <p:ph idx="1" type="body"/>
          </p:nvPr>
        </p:nvSpPr>
        <p:spPr>
          <a:xfrm>
            <a:off x="685785" y="4343383"/>
            <a:ext cx="548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00" lIns="171200" spcFirstLastPara="1" rIns="171200" wrap="square" tIns="1712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222" name="Google Shape;222;g3beb112b917_0_98:notes"/>
          <p:cNvSpPr/>
          <p:nvPr>
            <p:ph idx="2" type="sldImg"/>
          </p:nvPr>
        </p:nvSpPr>
        <p:spPr>
          <a:xfrm>
            <a:off x="1141124" y="685783"/>
            <a:ext cx="4576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7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eb112b917_0_280:notes"/>
          <p:cNvSpPr txBox="1"/>
          <p:nvPr>
            <p:ph idx="1" type="body"/>
          </p:nvPr>
        </p:nvSpPr>
        <p:spPr>
          <a:xfrm>
            <a:off x="685785" y="4343383"/>
            <a:ext cx="548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00" lIns="171200" spcFirstLastPara="1" rIns="171200" wrap="square" tIns="1712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342" name="Google Shape;342;g3beb112b917_0_280:notes"/>
          <p:cNvSpPr/>
          <p:nvPr>
            <p:ph idx="2" type="sldImg"/>
          </p:nvPr>
        </p:nvSpPr>
        <p:spPr>
          <a:xfrm>
            <a:off x="1141124" y="685783"/>
            <a:ext cx="4576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7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showMasterSp="0">
  <p:cSld name="Blank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/>
          <p:nvPr/>
        </p:nvSpPr>
        <p:spPr>
          <a:xfrm>
            <a:off x="0" y="0"/>
            <a:ext cx="9135747" cy="6852123"/>
          </a:xfrm>
          <a:custGeom>
            <a:rect b="b" l="l" r="r" t="t"/>
            <a:pathLst>
              <a:path extrusionOk="0" h="3456304" w="4608195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3108960" y="6377939"/>
            <a:ext cx="2925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457200" y="6377939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8724559" y="6622449"/>
            <a:ext cx="30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1397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/>
          <p:nvPr/>
        </p:nvSpPr>
        <p:spPr>
          <a:xfrm flipH="1" rot="10800000">
            <a:off x="-16364" y="6294231"/>
            <a:ext cx="9176700" cy="3282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79315" rotWithShape="0" dir="5400000" dist="45606">
              <a:srgbClr val="000000">
                <a:alpha val="34510"/>
              </a:srgbClr>
            </a:outerShdw>
          </a:effectLst>
        </p:spPr>
        <p:txBody>
          <a:bodyPr anchorCtr="0" anchor="ctr" bIns="90625" lIns="181275" spcFirstLastPara="1" rIns="181275" wrap="square" tIns="90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51240" y="6343001"/>
            <a:ext cx="15888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9" name="Google Shape;119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20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6" name="Google Shape;126;p20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7" name="Google Shape;127;p20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8" name="Google Shape;128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9" name="Google Shape;139;p22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7" name="Google Shape;147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showMasterSp="0">
  <p:cSld name="Blank"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/>
          <p:nvPr/>
        </p:nvSpPr>
        <p:spPr>
          <a:xfrm>
            <a:off x="0" y="0"/>
            <a:ext cx="9135747" cy="6852123"/>
          </a:xfrm>
          <a:custGeom>
            <a:rect b="b" l="l" r="r" t="t"/>
            <a:pathLst>
              <a:path extrusionOk="0" h="3456304" w="4608195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6"/>
          <p:cNvSpPr txBox="1"/>
          <p:nvPr>
            <p:ph idx="11" type="ftr"/>
          </p:nvPr>
        </p:nvSpPr>
        <p:spPr>
          <a:xfrm>
            <a:off x="3108960" y="6377939"/>
            <a:ext cx="2925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5" name="Google Shape;165;p26"/>
          <p:cNvSpPr txBox="1"/>
          <p:nvPr>
            <p:ph idx="10" type="dt"/>
          </p:nvPr>
        </p:nvSpPr>
        <p:spPr>
          <a:xfrm>
            <a:off x="457200" y="6377939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p26"/>
          <p:cNvSpPr txBox="1"/>
          <p:nvPr>
            <p:ph idx="12" type="sldNum"/>
          </p:nvPr>
        </p:nvSpPr>
        <p:spPr>
          <a:xfrm>
            <a:off x="8724559" y="6622449"/>
            <a:ext cx="30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1397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6"/>
          <p:cNvSpPr/>
          <p:nvPr/>
        </p:nvSpPr>
        <p:spPr>
          <a:xfrm flipH="1" rot="10800000">
            <a:off x="-16364" y="6294231"/>
            <a:ext cx="9176700" cy="3282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79315" rotWithShape="0" dir="5400000" dist="45606">
              <a:srgbClr val="000000">
                <a:alpha val="34510"/>
              </a:srgbClr>
            </a:outerShdw>
          </a:effectLst>
        </p:spPr>
        <p:txBody>
          <a:bodyPr anchorCtr="0" anchor="ctr" bIns="90625" lIns="181275" spcFirstLastPara="1" rIns="181275" wrap="square" tIns="90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151240" y="6343001"/>
            <a:ext cx="15888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9" name="Google Shape;89;p1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274322" y="2004443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El mundo de Data: panorama laboral, roles, conceptos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1574216" y="3620557"/>
            <a:ext cx="84963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Profesor: 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1574216" y="4219890"/>
            <a:ext cx="8496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Auxiliares: Daniela Longas - M Victoria Tolosa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/>
        </p:nvSpPr>
        <p:spPr>
          <a:xfrm>
            <a:off x="2240672" y="3207687"/>
            <a:ext cx="3676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6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cap="small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rPr>
              <a:t>DATA COMO DISCIPLINA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82" name="Google Shape;182;p28"/>
          <p:cNvGrpSpPr/>
          <p:nvPr/>
        </p:nvGrpSpPr>
        <p:grpSpPr>
          <a:xfrm>
            <a:off x="2260855" y="3600041"/>
            <a:ext cx="4642600" cy="50335"/>
            <a:chOff x="1133919" y="1518500"/>
            <a:chExt cx="2340610" cy="25400"/>
          </a:xfrm>
        </p:grpSpPr>
        <p:sp>
          <p:nvSpPr>
            <p:cNvPr id="183" name="Google Shape;183;p28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8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18875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8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8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cap="flat" cmpd="sng" w="18875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9"/>
          <p:cNvSpPr txBox="1"/>
          <p:nvPr/>
        </p:nvSpPr>
        <p:spPr>
          <a:xfrm>
            <a:off x="274320" y="137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9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9"/>
          <p:cNvSpPr txBox="1"/>
          <p:nvPr/>
        </p:nvSpPr>
        <p:spPr>
          <a:xfrm>
            <a:off x="365760" y="731520"/>
            <a:ext cx="8229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es un camino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96" name="Google Shape;19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9"/>
          <p:cNvSpPr txBox="1"/>
          <p:nvPr/>
        </p:nvSpPr>
        <p:spPr>
          <a:xfrm>
            <a:off x="297650" y="1682050"/>
            <a:ext cx="8365800" cy="3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Distintos productos digitales generan datos cuando la gente interactúa con ellos.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Así como existen personas que desarrollan estos productos digitales (ing de software, frontend, backend) también existen personas interesadas en sacar el mayor provecho de estos datos generados.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0"/>
          <p:cNvSpPr txBox="1"/>
          <p:nvPr/>
        </p:nvSpPr>
        <p:spPr>
          <a:xfrm>
            <a:off x="274320" y="1371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0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0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06" name="Google Shape;20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274325" y="631942"/>
            <a:ext cx="9071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es un camino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274325" y="1501550"/>
            <a:ext cx="8525700" cy="42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Usualmente los datos están “crudos”, desparramados en mil y un fuentes distintas.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Alguien/es debe ordenarlos, limpiarlos, moverlos, centralizarlos, y hacerlos accesibles.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Luego, otras personas obtendrán insights a partir de estos datos. Usando diferentes métodos: tableros, informes, modelos de predicción, etc.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1"/>
          <p:cNvSpPr txBox="1"/>
          <p:nvPr/>
        </p:nvSpPr>
        <p:spPr>
          <a:xfrm>
            <a:off x="274320" y="1371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1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1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17" name="Google Shape;21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1"/>
          <p:cNvSpPr txBox="1"/>
          <p:nvPr/>
        </p:nvSpPr>
        <p:spPr>
          <a:xfrm>
            <a:off x="274325" y="444955"/>
            <a:ext cx="9071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es un camino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185" y="1498805"/>
            <a:ext cx="8207640" cy="4330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/>
        </p:nvSpPr>
        <p:spPr>
          <a:xfrm>
            <a:off x="2240676" y="3207675"/>
            <a:ext cx="5229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6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cap="small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rPr>
              <a:t>ROLES, HABILIDADES Y HERRAMIENTAS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25" name="Google Shape;225;p32"/>
          <p:cNvGrpSpPr/>
          <p:nvPr/>
        </p:nvGrpSpPr>
        <p:grpSpPr>
          <a:xfrm>
            <a:off x="2260855" y="3600041"/>
            <a:ext cx="4642600" cy="50335"/>
            <a:chOff x="1133919" y="1518500"/>
            <a:chExt cx="2340610" cy="25400"/>
          </a:xfrm>
        </p:grpSpPr>
        <p:sp>
          <p:nvSpPr>
            <p:cNvPr id="226" name="Google Shape;226;p32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2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18875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32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32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cap="flat" cmpd="sng" w="18875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274320" y="1371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3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3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38" name="Google Shape;23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3"/>
          <p:cNvSpPr txBox="1"/>
          <p:nvPr/>
        </p:nvSpPr>
        <p:spPr>
          <a:xfrm>
            <a:off x="468175" y="498625"/>
            <a:ext cx="9071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roles clásicos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3"/>
          <p:cNvSpPr txBox="1"/>
          <p:nvPr/>
        </p:nvSpPr>
        <p:spPr>
          <a:xfrm>
            <a:off x="274325" y="1445126"/>
            <a:ext cx="8630700" cy="48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engineer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Se encarga de extraer, mover, ordenar y almacenar datos.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456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Analyst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Analytics descriptivo. Con los datos ya almacenados, intenta explicar la realidad presente.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456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Scientist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Analytics predictivo. Con los datos ya almacenados intenta predecir la realidad futura.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4"/>
          <p:cNvSpPr txBox="1"/>
          <p:nvPr/>
        </p:nvSpPr>
        <p:spPr>
          <a:xfrm>
            <a:off x="274320" y="1204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4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49" name="Google Shape;24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4"/>
          <p:cNvSpPr txBox="1"/>
          <p:nvPr/>
        </p:nvSpPr>
        <p:spPr>
          <a:xfrm>
            <a:off x="53825" y="528330"/>
            <a:ext cx="9071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roles clásicos - Skills 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4"/>
          <p:cNvSpPr txBox="1"/>
          <p:nvPr/>
        </p:nvSpPr>
        <p:spPr>
          <a:xfrm>
            <a:off x="485250" y="1538575"/>
            <a:ext cx="8173500" cy="4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engineer: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Diseño y modelado de BBDD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Creación de data pipelines y trabajos de ETL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Procesamiento distribuido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Énfasis en tecnología/programación.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5"/>
          <p:cNvSpPr txBox="1"/>
          <p:nvPr/>
        </p:nvSpPr>
        <p:spPr>
          <a:xfrm>
            <a:off x="274320" y="1204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5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5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60" name="Google Shape;26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5"/>
          <p:cNvSpPr txBox="1"/>
          <p:nvPr/>
        </p:nvSpPr>
        <p:spPr>
          <a:xfrm>
            <a:off x="53825" y="528330"/>
            <a:ext cx="9071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roles clásicos - Skills 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5"/>
          <p:cNvSpPr txBox="1"/>
          <p:nvPr/>
        </p:nvSpPr>
        <p:spPr>
          <a:xfrm>
            <a:off x="504000" y="1574900"/>
            <a:ext cx="8365800" cy="47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analyst: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Intelligence.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Creación de reportes y dashboards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Ayuda personalizada a las áreas de negocio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Creación de querys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Creación de data marts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Énfasis en conocimiento de negocio y transmisión de ideas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6"/>
          <p:cNvSpPr txBox="1"/>
          <p:nvPr/>
        </p:nvSpPr>
        <p:spPr>
          <a:xfrm>
            <a:off x="274320" y="1204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6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6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71" name="Google Shape;27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6"/>
          <p:cNvSpPr txBox="1"/>
          <p:nvPr/>
        </p:nvSpPr>
        <p:spPr>
          <a:xfrm>
            <a:off x="53825" y="528330"/>
            <a:ext cx="9071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roles clásicos - Skills 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6"/>
          <p:cNvSpPr txBox="1"/>
          <p:nvPr/>
        </p:nvSpPr>
        <p:spPr>
          <a:xfrm>
            <a:off x="171600" y="1574900"/>
            <a:ext cx="8663400" cy="3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scientist: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Modelado matemático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A/B testing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Énfasis en la rigurosidad estadística.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7"/>
          <p:cNvSpPr txBox="1"/>
          <p:nvPr/>
        </p:nvSpPr>
        <p:spPr>
          <a:xfrm>
            <a:off x="274320" y="1204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7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7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82" name="Google Shape;28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7"/>
          <p:cNvSpPr txBox="1"/>
          <p:nvPr/>
        </p:nvSpPr>
        <p:spPr>
          <a:xfrm>
            <a:off x="53825" y="1326600"/>
            <a:ext cx="8956200" cy="4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Engineer: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SGBD: Oracle, Postgres, etc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D.Warehousing cloud: Bquery, Redshift, etc.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Herramientas de orquestación: Airflow,etc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Almacenamiento de objetos y Data Lake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Procesamiento distribuido: Spark Hadoop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CI/CD: Git/Github, etc.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7"/>
          <p:cNvSpPr txBox="1"/>
          <p:nvPr/>
        </p:nvSpPr>
        <p:spPr>
          <a:xfrm>
            <a:off x="189100" y="428255"/>
            <a:ext cx="9071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roles clásicos - Herramientas 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8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8"/>
          <p:cNvSpPr txBox="1"/>
          <p:nvPr/>
        </p:nvSpPr>
        <p:spPr>
          <a:xfrm>
            <a:off x="274320" y="1204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8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8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93" name="Google Shape;29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8"/>
          <p:cNvSpPr txBox="1"/>
          <p:nvPr/>
        </p:nvSpPr>
        <p:spPr>
          <a:xfrm>
            <a:off x="189100" y="428255"/>
            <a:ext cx="9071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roles clásicos - Herramientas 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8"/>
          <p:cNvSpPr txBox="1"/>
          <p:nvPr/>
        </p:nvSpPr>
        <p:spPr>
          <a:xfrm>
            <a:off x="504000" y="1326600"/>
            <a:ext cx="8085900" cy="4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Engineer: Es el rol en donde más herramientas distintas vas a encontrar. Y todos los días sale una nueva. Lo importante es que tengas las bases claras y luego vayas aprendiendo lo que necesites.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el rol donde más vas a interactuar con ambientes cloud.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9"/>
          <p:cNvSpPr txBox="1"/>
          <p:nvPr/>
        </p:nvSpPr>
        <p:spPr>
          <a:xfrm>
            <a:off x="274320" y="1204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9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9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04" name="Google Shape;30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9"/>
          <p:cNvSpPr txBox="1"/>
          <p:nvPr/>
        </p:nvSpPr>
        <p:spPr>
          <a:xfrm>
            <a:off x="189100" y="428255"/>
            <a:ext cx="9071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roles clásicos - Herramientas 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9"/>
          <p:cNvSpPr txBox="1"/>
          <p:nvPr/>
        </p:nvSpPr>
        <p:spPr>
          <a:xfrm>
            <a:off x="134450" y="1637175"/>
            <a:ext cx="8190900" cy="3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Analyst: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Lenguaje de consulta: Excel, SQL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Lenguaje de análisis: R, Python, etc.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Dashboarding: Power Bi, Tableau, etc.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0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0"/>
          <p:cNvSpPr txBox="1"/>
          <p:nvPr/>
        </p:nvSpPr>
        <p:spPr>
          <a:xfrm>
            <a:off x="274320" y="1204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0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0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15" name="Google Shape;31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0"/>
          <p:cNvSpPr txBox="1"/>
          <p:nvPr/>
        </p:nvSpPr>
        <p:spPr>
          <a:xfrm>
            <a:off x="189100" y="428255"/>
            <a:ext cx="9071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roles clásicos - Herramientas 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0"/>
          <p:cNvSpPr txBox="1"/>
          <p:nvPr/>
        </p:nvSpPr>
        <p:spPr>
          <a:xfrm>
            <a:off x="504000" y="1326600"/>
            <a:ext cx="8243400" cy="45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Analyst: Hace ya varios años que las herramientas en este campo son bastante inmutables.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foco de aprendizaje en este rol es el negocio en sí mismo, al igual que la optimización de los procesos de tu área.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Aprenderás mediante la experiencia y la socialización con tu equipo.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1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1"/>
          <p:cNvSpPr txBox="1"/>
          <p:nvPr/>
        </p:nvSpPr>
        <p:spPr>
          <a:xfrm>
            <a:off x="274320" y="1204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1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1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26" name="Google Shape;32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1"/>
          <p:cNvSpPr txBox="1"/>
          <p:nvPr/>
        </p:nvSpPr>
        <p:spPr>
          <a:xfrm>
            <a:off x="189100" y="428255"/>
            <a:ext cx="9071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roles clásicos - Herramientas 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41"/>
          <p:cNvSpPr txBox="1"/>
          <p:nvPr/>
        </p:nvSpPr>
        <p:spPr>
          <a:xfrm>
            <a:off x="504000" y="1326600"/>
            <a:ext cx="8505900" cy="48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Scientist: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Lenguaje de consulta: Excel, SQL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Lenguaje de análisis: R, Python, etc.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4" marL="10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Profundización en Python. Librerías específicas de ML: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7" marL="172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TensorFlow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7" marL="172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Keras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7" marL="172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ScikitLearn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7" marL="172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Herramientas cloud: Sagemaker, etc.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2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2"/>
          <p:cNvSpPr txBox="1"/>
          <p:nvPr/>
        </p:nvSpPr>
        <p:spPr>
          <a:xfrm>
            <a:off x="274320" y="1204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2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2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37" name="Google Shape;33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2"/>
          <p:cNvSpPr txBox="1"/>
          <p:nvPr/>
        </p:nvSpPr>
        <p:spPr>
          <a:xfrm>
            <a:off x="189100" y="428255"/>
            <a:ext cx="9071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roles clásicos - Herramientas 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2"/>
          <p:cNvSpPr txBox="1"/>
          <p:nvPr/>
        </p:nvSpPr>
        <p:spPr>
          <a:xfrm>
            <a:off x="416525" y="1486225"/>
            <a:ext cx="7821300" cy="41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Scientist: El foco de aprendizaje en este rol son las bases teóricas que se van renovando constantemente.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 mucha regularidad surgen modelos nuevos que mejoran la performance el anterior.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fuente de estudio no son libros/cursos, si no más  bien papers y artículos.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3"/>
          <p:cNvSpPr txBox="1"/>
          <p:nvPr/>
        </p:nvSpPr>
        <p:spPr>
          <a:xfrm>
            <a:off x="2240675" y="3207675"/>
            <a:ext cx="57894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6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cap="small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rPr>
              <a:t>ROLES NUEVOS. QUIÉNES NECESITAN DATA?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45" name="Google Shape;345;p43"/>
          <p:cNvGrpSpPr/>
          <p:nvPr/>
        </p:nvGrpSpPr>
        <p:grpSpPr>
          <a:xfrm>
            <a:off x="2260855" y="3600041"/>
            <a:ext cx="4642600" cy="50335"/>
            <a:chOff x="1133919" y="1518500"/>
            <a:chExt cx="2340610" cy="25400"/>
          </a:xfrm>
        </p:grpSpPr>
        <p:sp>
          <p:nvSpPr>
            <p:cNvPr id="346" name="Google Shape;346;p43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43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18875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43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3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cap="flat" cmpd="sng" w="18875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4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4"/>
          <p:cNvSpPr txBox="1"/>
          <p:nvPr/>
        </p:nvSpPr>
        <p:spPr>
          <a:xfrm>
            <a:off x="274320" y="1204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4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4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58" name="Google Shape;35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4"/>
          <p:cNvSpPr txBox="1"/>
          <p:nvPr/>
        </p:nvSpPr>
        <p:spPr>
          <a:xfrm>
            <a:off x="274325" y="483992"/>
            <a:ext cx="9071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Roles Recientes/Híbridos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4"/>
          <p:cNvSpPr txBox="1"/>
          <p:nvPr/>
        </p:nvSpPr>
        <p:spPr>
          <a:xfrm>
            <a:off x="504000" y="1326600"/>
            <a:ext cx="8226000" cy="47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08569" lvl="0" marL="431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DBA administrator: Es un D.Engineer focalizado en el mantenimient de una o más bases. Es un rol “limitado”, debés profundizar en un SGBD en particular y en SQL. Probablemente debas saber también de servidores Linux.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8569" lvl="0" marL="431999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specialist: un generalista, debés saber un poco de cada rol.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8569" lvl="0" marL="431999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architect: Una mezcla entre D.Engineer y un Devops. Profundización en infraestructura Cloud..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8569" lvl="0" marL="431999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Engineer: El rol de moda en los útimos 2 años. Mezcla un D.Engineer con un D.scientist. Se enfoca en hacer d.pipelines (como los ingenieros) pero para trabajos de ML (como los data scientist).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8569" lvl="0" marL="431999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 engineer: Focalizado en dashboards, pero deberá probablemente hacer data wrangling y otras funciones típicas de un ingeniero.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8569" lvl="0" marL="431999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Analytics engineer: Rol ligado a una herramienta en particular (DBT). Básicamente es un data analyst ultra-enfocado en SQL.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5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45"/>
          <p:cNvSpPr txBox="1"/>
          <p:nvPr/>
        </p:nvSpPr>
        <p:spPr>
          <a:xfrm>
            <a:off x="274320" y="1204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5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45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69" name="Google Shape;36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5"/>
          <p:cNvSpPr txBox="1"/>
          <p:nvPr/>
        </p:nvSpPr>
        <p:spPr>
          <a:xfrm>
            <a:off x="189100" y="548710"/>
            <a:ext cx="9071700" cy="12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clase de empresa necesita estos roles?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5"/>
          <p:cNvSpPr txBox="1"/>
          <p:nvPr/>
        </p:nvSpPr>
        <p:spPr>
          <a:xfrm>
            <a:off x="189100" y="1816098"/>
            <a:ext cx="8715900" cy="42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999" lvl="0" marL="431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empresas muy pequeñas y no-tecnológicas (mini-pymes) usualmente necesitan simplemente un data analyst.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999" lvl="0" marL="431999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pyme en adelante (tecnológicas o no) se suelen necesitar analistas e ingenieros.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999" lvl="0" marL="431999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scientist suelen necesitarse solo en empresas que generan muchos datos o que son altamente tecnológicas.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6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6"/>
          <p:cNvSpPr txBox="1"/>
          <p:nvPr/>
        </p:nvSpPr>
        <p:spPr>
          <a:xfrm>
            <a:off x="274320" y="12046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46"/>
          <p:cNvSpPr/>
          <p:nvPr/>
        </p:nvSpPr>
        <p:spPr>
          <a:xfrm>
            <a:off x="0" y="6492240"/>
            <a:ext cx="9144000" cy="3657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6"/>
          <p:cNvSpPr txBox="1"/>
          <p:nvPr/>
        </p:nvSpPr>
        <p:spPr>
          <a:xfrm>
            <a:off x="274320" y="653796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80" name="Google Shape;38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20319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6"/>
          <p:cNvSpPr txBox="1"/>
          <p:nvPr/>
        </p:nvSpPr>
        <p:spPr>
          <a:xfrm>
            <a:off x="-344100" y="322050"/>
            <a:ext cx="9488100" cy="12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¿Con quienes se relaciona cada rol?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6"/>
          <p:cNvSpPr txBox="1"/>
          <p:nvPr/>
        </p:nvSpPr>
        <p:spPr>
          <a:xfrm>
            <a:off x="504000" y="1326600"/>
            <a:ext cx="8331000" cy="48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20000"/>
          </a:bodyPr>
          <a:lstStyle/>
          <a:p>
            <a:pPr indent="-296567" lvl="0" marL="431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empezar (y como es obvio) todos los roles de data se relacionan entre si porque suelen ser parte de un mismo equipo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567" lvl="0" marL="431999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data analyst es el más “social” suele relacionarse todos los días con las áreas operativas no-tecnológicas así como la gerencia (analistas de negocio, supply chain, ventas, marketing, UX/UI, etc).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567" lvl="0" marL="431999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data engineer suele comunicarse más con IT (DeVops, backend, sysadmin, etc) en su día a día. Habla con áreas de negocio solo en ámbito de reuniones y para recibir “directivas”.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567" lvl="0" marL="431999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data scientist (cuando existe) suele comunicarse con todos, pero con menos intensidad. Ya que en vez de mirar los prolemas del día a día busca “modelar una situación”.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